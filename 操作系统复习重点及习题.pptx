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83" r:id="rId3"/>
    <p:sldId id="258" r:id="rId4"/>
    <p:sldId id="259" r:id="rId5"/>
    <p:sldId id="257" r:id="rId6"/>
    <p:sldId id="260"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7" r:id="rId21"/>
    <p:sldId id="278" r:id="rId22"/>
    <p:sldId id="279" r:id="rId23"/>
    <p:sldId id="280" r:id="rId24"/>
    <p:sldId id="281" r:id="rId25"/>
    <p:sldId id="282" r:id="rId26"/>
    <p:sldId id="285" r:id="rId27"/>
    <p:sldId id="286" r:id="rId28"/>
    <p:sldId id="287" r:id="rId30"/>
    <p:sldId id="288" r:id="rId31"/>
    <p:sldId id="289" r:id="rId32"/>
    <p:sldId id="290"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9" r:id="rId59"/>
    <p:sldId id="320" r:id="rId60"/>
    <p:sldId id="321" r:id="rId61"/>
    <p:sldId id="322" r:id="rId62"/>
    <p:sldId id="323" r:id="rId63"/>
    <p:sldId id="324" r:id="rId64"/>
    <p:sldId id="325" r:id="rId65"/>
    <p:sldId id="326" r:id="rId66"/>
    <p:sldId id="327" r:id="rId67"/>
    <p:sldId id="328" r:id="rId68"/>
    <p:sldId id="329" r:id="rId69"/>
    <p:sldId id="330" r:id="rId70"/>
    <p:sldId id="331" r:id="rId71"/>
    <p:sldId id="332" r:id="rId72"/>
    <p:sldId id="333" r:id="rId73"/>
    <p:sldId id="334" r:id="rId74"/>
    <p:sldId id="335" r:id="rId75"/>
    <p:sldId id="337" r:id="rId76"/>
    <p:sldId id="338" r:id="rId77"/>
    <p:sldId id="339" r:id="rId78"/>
    <p:sldId id="342" r:id="rId79"/>
    <p:sldId id="340" r:id="rId80"/>
    <p:sldId id="343" r:id="rId81"/>
    <p:sldId id="344" r:id="rId82"/>
    <p:sldId id="345" r:id="rId83"/>
    <p:sldId id="346" r:id="rId84"/>
    <p:sldId id="347" r:id="rId85"/>
    <p:sldId id="348" r:id="rId86"/>
    <p:sldId id="349" r:id="rId87"/>
    <p:sldId id="350" r:id="rId88"/>
    <p:sldId id="351" r:id="rId89"/>
    <p:sldId id="352" r:id="rId90"/>
    <p:sldId id="353" r:id="rId91"/>
    <p:sldId id="354" r:id="rId92"/>
    <p:sldId id="355" r:id="rId93"/>
    <p:sldId id="356" r:id="rId94"/>
    <p:sldId id="357" r:id="rId95"/>
    <p:sldId id="358" r:id="rId96"/>
    <p:sldId id="360" r:id="rId97"/>
    <p:sldId id="361" r:id="rId98"/>
    <p:sldId id="362" r:id="rId99"/>
    <p:sldId id="363" r:id="rId100"/>
    <p:sldId id="364" r:id="rId101"/>
    <p:sldId id="365" r:id="rId102"/>
    <p:sldId id="366" r:id="rId103"/>
    <p:sldId id="367" r:id="rId104"/>
    <p:sldId id="368" r:id="rId105"/>
    <p:sldId id="369" r:id="rId106"/>
    <p:sldId id="370" r:id="rId107"/>
    <p:sldId id="371" r:id="rId108"/>
    <p:sldId id="372" r:id="rId109"/>
    <p:sldId id="373" r:id="rId110"/>
    <p:sldId id="374" r:id="rId111"/>
    <p:sldId id="375" r:id="rId112"/>
    <p:sldId id="376" r:id="rId113"/>
    <p:sldId id="377" r:id="rId114"/>
    <p:sldId id="378" r:id="rId115"/>
    <p:sldId id="379" r:id="rId116"/>
    <p:sldId id="380" r:id="rId117"/>
    <p:sldId id="381" r:id="rId118"/>
    <p:sldId id="382" r:id="rId119"/>
    <p:sldId id="383" r:id="rId120"/>
    <p:sldId id="384" r:id="rId121"/>
    <p:sldId id="385" r:id="rId122"/>
    <p:sldId id="386" r:id="rId123"/>
    <p:sldId id="387" r:id="rId124"/>
    <p:sldId id="388" r:id="rId125"/>
    <p:sldId id="389" r:id="rId126"/>
    <p:sldId id="390" r:id="rId127"/>
    <p:sldId id="391" r:id="rId128"/>
    <p:sldId id="392" r:id="rId129"/>
    <p:sldId id="393" r:id="rId130"/>
    <p:sldId id="394" r:id="rId131"/>
    <p:sldId id="395" r:id="rId132"/>
    <p:sldId id="396" r:id="rId133"/>
    <p:sldId id="397" r:id="rId134"/>
    <p:sldId id="398" r:id="rId135"/>
    <p:sldId id="399" r:id="rId136"/>
    <p:sldId id="400" r:id="rId137"/>
    <p:sldId id="401" r:id="rId138"/>
    <p:sldId id="402" r:id="rId139"/>
    <p:sldId id="403" r:id="rId140"/>
    <p:sldId id="404" r:id="rId141"/>
    <p:sldId id="405" r:id="rId142"/>
    <p:sldId id="406" r:id="rId143"/>
    <p:sldId id="407" r:id="rId144"/>
    <p:sldId id="408" r:id="rId145"/>
    <p:sldId id="409" r:id="rId146"/>
    <p:sldId id="410" r:id="rId147"/>
    <p:sldId id="411" r:id="rId148"/>
    <p:sldId id="412" r:id="rId149"/>
    <p:sldId id="413" r:id="rId150"/>
    <p:sldId id="414" r:id="rId151"/>
    <p:sldId id="415" r:id="rId152"/>
    <p:sldId id="416" r:id="rId153"/>
    <p:sldId id="417" r:id="rId154"/>
    <p:sldId id="418" r:id="rId155"/>
    <p:sldId id="419" r:id="rId156"/>
    <p:sldId id="420" r:id="rId157"/>
    <p:sldId id="422" r:id="rId158"/>
    <p:sldId id="423" r:id="rId159"/>
    <p:sldId id="424" r:id="rId160"/>
    <p:sldId id="426" r:id="rId161"/>
    <p:sldId id="427" r:id="rId162"/>
    <p:sldId id="428" r:id="rId163"/>
    <p:sldId id="430" r:id="rId164"/>
    <p:sldId id="431" r:id="rId165"/>
    <p:sldId id="432" r:id="rId166"/>
    <p:sldId id="433" r:id="rId167"/>
    <p:sldId id="434" r:id="rId168"/>
    <p:sldId id="435" r:id="rId169"/>
    <p:sldId id="436" r:id="rId170"/>
    <p:sldId id="437" r:id="rId171"/>
    <p:sldId id="438" r:id="rId172"/>
    <p:sldId id="439" r:id="rId173"/>
    <p:sldId id="440" r:id="rId174"/>
    <p:sldId id="441" r:id="rId175"/>
    <p:sldId id="442" r:id="rId176"/>
    <p:sldId id="443" r:id="rId177"/>
    <p:sldId id="444" r:id="rId178"/>
    <p:sldId id="445" r:id="rId179"/>
    <p:sldId id="446" r:id="rId180"/>
    <p:sldId id="447" r:id="rId181"/>
    <p:sldId id="448" r:id="rId182"/>
    <p:sldId id="449" r:id="rId183"/>
    <p:sldId id="450" r:id="rId184"/>
    <p:sldId id="451" r:id="rId185"/>
    <p:sldId id="452" r:id="rId186"/>
    <p:sldId id="454" r:id="rId187"/>
    <p:sldId id="455" r:id="rId188"/>
    <p:sldId id="456" r:id="rId189"/>
    <p:sldId id="457" r:id="rId190"/>
    <p:sldId id="458" r:id="rId191"/>
    <p:sldId id="459" r:id="rId192"/>
    <p:sldId id="460" r:id="rId193"/>
    <p:sldId id="461" r:id="rId194"/>
    <p:sldId id="462" r:id="rId195"/>
    <p:sldId id="463" r:id="rId196"/>
  </p:sldIdLst>
  <p:sldSz cx="12192000" cy="6858000"/>
  <p:notesSz cx="7103745" cy="10234295"/>
  <p:custDataLst>
    <p:tags r:id="rId2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0" Type="http://schemas.openxmlformats.org/officeDocument/2006/relationships/tags" Target="tags/tag92.xml"/><Relationship Id="rId20" Type="http://schemas.openxmlformats.org/officeDocument/2006/relationships/slide" Target="slides/slide18.xml"/><Relationship Id="rId2" Type="http://schemas.openxmlformats.org/officeDocument/2006/relationships/theme" Target="theme/theme1.xml"/><Relationship Id="rId199" Type="http://schemas.openxmlformats.org/officeDocument/2006/relationships/tableStyles" Target="tableStyles.xml"/><Relationship Id="rId198" Type="http://schemas.openxmlformats.org/officeDocument/2006/relationships/viewProps" Target="viewProps.xml"/><Relationship Id="rId197" Type="http://schemas.openxmlformats.org/officeDocument/2006/relationships/presProps" Target="presProps.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7.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6.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5.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4.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3.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p:sp>
      <p:sp>
        <p:nvSpPr>
          <p:cNvPr id="337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短作业的周转时间明显的缩短，而受影响的长进程周转时间没有明显增长，从而平均周转时间和带权周转时间缩短</a:t>
            </a:r>
            <a:endParaRPr lang="zh-CN" altLang="en-US" dirty="0"/>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AF97AED-0299-47A8-BC58-9D0714917051}"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eaLnBrk="1" hangingPunct="1">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错；应为：……是指采用某种</a:t>
            </a:r>
            <a:r>
              <a:rPr lang="en-US" altLang="zh-CN" sz="1200" kern="1200" dirty="0">
                <a:solidFill>
                  <a:schemeClr val="tx1"/>
                </a:solidFill>
                <a:effectLst/>
                <a:latin typeface="Arial" panose="020B0604020202020204" pitchFamily="34" charset="0"/>
                <a:ea typeface="宋体" panose="02010600030101010101" pitchFamily="2" charset="-122"/>
                <a:cs typeface="+mn-cs"/>
              </a:rPr>
              <a:t>I/O</a:t>
            </a:r>
            <a:r>
              <a:rPr lang="zh-CN" altLang="zh-CN" sz="1200" kern="1200" dirty="0">
                <a:solidFill>
                  <a:schemeClr val="tx1"/>
                </a:solidFill>
                <a:effectLst/>
                <a:latin typeface="Arial" panose="020B0604020202020204" pitchFamily="34" charset="0"/>
                <a:ea typeface="宋体" panose="02010600030101010101" pitchFamily="2" charset="-122"/>
                <a:cs typeface="+mn-cs"/>
              </a:rPr>
              <a:t>技术，将某个独占设备改进为多用户共享的设备，以提高资源的利用率。</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eaLnBrk="1" hangingPunct="1">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错；应为：通道技术根本上是从硬件上解决操作系统的输入输出操作的控制问题。</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eaLnBrk="1" hangingPunct="1">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错；应为：……它并不特指某个具体设备，而是对应一类设备。</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eaLnBrk="1" hangingPunct="1">
              <a:buFont typeface="+mj-lt"/>
              <a:buAutoNum type="arabicPeriod"/>
            </a:pPr>
            <a:r>
              <a:rPr lang="zh-CN" altLang="en-US" sz="1200" kern="1200" dirty="0">
                <a:solidFill>
                  <a:schemeClr val="tx1"/>
                </a:solidFill>
                <a:effectLst/>
                <a:latin typeface="Arial" panose="020B0604020202020204" pitchFamily="34" charset="0"/>
                <a:ea typeface="宋体" panose="02010600030101010101" pitchFamily="2" charset="-122"/>
                <a:cs typeface="+mn-cs"/>
              </a:rPr>
              <a:t>对</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eaLnBrk="1" hangingPunct="1">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错；应为：用户在使用</a:t>
            </a:r>
            <a:r>
              <a:rPr lang="en-US" altLang="zh-CN" sz="1200" kern="1200" dirty="0">
                <a:solidFill>
                  <a:schemeClr val="tx1"/>
                </a:solidFill>
                <a:effectLst/>
                <a:latin typeface="Arial" panose="020B0604020202020204" pitchFamily="34" charset="0"/>
                <a:ea typeface="宋体" panose="02010600030101010101" pitchFamily="2" charset="-122"/>
                <a:cs typeface="+mn-cs"/>
              </a:rPr>
              <a:t>I/O</a:t>
            </a:r>
            <a:r>
              <a:rPr lang="zh-CN" altLang="zh-CN" sz="1200" kern="1200" dirty="0">
                <a:solidFill>
                  <a:schemeClr val="tx1"/>
                </a:solidFill>
                <a:effectLst/>
                <a:latin typeface="Arial" panose="020B0604020202020204" pitchFamily="34" charset="0"/>
                <a:ea typeface="宋体" panose="02010600030101010101" pitchFamily="2" charset="-122"/>
                <a:cs typeface="+mn-cs"/>
              </a:rPr>
              <a:t>设备时，通常采用逻辑设备名，指明设备类型。</a:t>
            </a:r>
            <a:endParaRPr lang="zh-CN" altLang="zh-CN" dirty="0"/>
          </a:p>
          <a:p>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答：中断就是处理器停止当前的工作，保存现场所有数据和状态参数，转而处理更紧急的事物，处理完后恢复原来的数据和参数，继续原来的工作。系统内部中断是由于操作系统内部运行所造成的中断，外部中断是用户应用程序运行所造成的中断。</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答：缺页中断是一种特殊的中断。它在指令执行期间产生和处理中断信号；一条指令执行期间，可能产生多次缺页中断。</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答：也称设备无关性，指应用程序独立于具体使用的物理设备。应用程序中使用逻辑设备名请求使用某类设备，系统实际执行时使用物理设备名，系统完成逻辑设备名到物理设备名的转换。</a:t>
            </a:r>
            <a:endParaRPr lang="en-US" altLang="zh-CN" sz="1200" kern="1200" dirty="0">
              <a:solidFill>
                <a:schemeClr val="tx1"/>
              </a:solidFill>
              <a:effectLst/>
              <a:latin typeface="Arial" panose="020B0604020202020204" pitchFamily="34" charset="0"/>
              <a:ea typeface="宋体" panose="02010600030101010101" pitchFamily="2" charset="-122"/>
              <a:cs typeface="+mn-cs"/>
            </a:endParaRPr>
          </a:p>
          <a:p>
            <a:pPr marL="228600" indent="-228600">
              <a:buFont typeface="+mj-lt"/>
              <a:buAutoNum type="arabicPeriod"/>
            </a:pPr>
            <a:r>
              <a:rPr lang="zh-CN" altLang="zh-CN" sz="1200" kern="1200" dirty="0">
                <a:solidFill>
                  <a:schemeClr val="tx1"/>
                </a:solidFill>
                <a:effectLst/>
                <a:latin typeface="Arial" panose="020B0604020202020204" pitchFamily="34" charset="0"/>
                <a:ea typeface="宋体" panose="02010600030101010101" pitchFamily="2" charset="-122"/>
                <a:cs typeface="+mn-cs"/>
              </a:rPr>
              <a:t>答：</a:t>
            </a:r>
            <a:r>
              <a:rPr lang="en-US" altLang="zh-CN" sz="1200" kern="1200" dirty="0">
                <a:solidFill>
                  <a:schemeClr val="tx1"/>
                </a:solidFill>
                <a:effectLst/>
                <a:latin typeface="Arial" panose="020B0604020202020204" pitchFamily="34" charset="0"/>
                <a:ea typeface="宋体" panose="02010600030101010101" pitchFamily="2" charset="-122"/>
                <a:cs typeface="+mn-cs"/>
              </a:rPr>
              <a:t>I/O</a:t>
            </a:r>
            <a:r>
              <a:rPr lang="zh-CN" altLang="zh-CN" sz="1200" kern="1200" dirty="0">
                <a:solidFill>
                  <a:schemeClr val="tx1"/>
                </a:solidFill>
                <a:effectLst/>
                <a:latin typeface="Arial" panose="020B0604020202020204" pitchFamily="34" charset="0"/>
                <a:ea typeface="宋体" panose="02010600030101010101" pitchFamily="2" charset="-122"/>
                <a:cs typeface="+mn-cs"/>
              </a:rPr>
              <a:t>中断控制方式是指</a:t>
            </a:r>
            <a:r>
              <a:rPr lang="en-US" altLang="zh-CN" sz="1200" kern="1200" dirty="0">
                <a:solidFill>
                  <a:schemeClr val="tx1"/>
                </a:solidFill>
                <a:effectLst/>
                <a:latin typeface="Arial" panose="020B0604020202020204" pitchFamily="34" charset="0"/>
                <a:ea typeface="宋体" panose="02010600030101010101" pitchFamily="2" charset="-122"/>
                <a:cs typeface="+mn-cs"/>
              </a:rPr>
              <a:t>CPU</a:t>
            </a:r>
            <a:r>
              <a:rPr lang="zh-CN" altLang="zh-CN" sz="1200" kern="1200" dirty="0">
                <a:solidFill>
                  <a:schemeClr val="tx1"/>
                </a:solidFill>
                <a:effectLst/>
                <a:latin typeface="Arial" panose="020B0604020202020204" pitchFamily="34" charset="0"/>
                <a:ea typeface="宋体" panose="02010600030101010101" pitchFamily="2" charset="-122"/>
                <a:cs typeface="+mn-cs"/>
              </a:rPr>
              <a:t>与</a:t>
            </a:r>
            <a:r>
              <a:rPr lang="en-US" altLang="zh-CN" sz="1200" kern="1200" dirty="0">
                <a:solidFill>
                  <a:schemeClr val="tx1"/>
                </a:solidFill>
                <a:effectLst/>
                <a:latin typeface="Arial" panose="020B0604020202020204" pitchFamily="34" charset="0"/>
                <a:ea typeface="宋体" panose="02010600030101010101" pitchFamily="2" charset="-122"/>
                <a:cs typeface="+mn-cs"/>
              </a:rPr>
              <a:t>I/O</a:t>
            </a:r>
            <a:r>
              <a:rPr lang="zh-CN" altLang="zh-CN" sz="1200" kern="1200" dirty="0">
                <a:solidFill>
                  <a:schemeClr val="tx1"/>
                </a:solidFill>
                <a:effectLst/>
                <a:latin typeface="Arial" panose="020B0604020202020204" pitchFamily="34" charset="0"/>
                <a:ea typeface="宋体" panose="02010600030101010101" pitchFamily="2" charset="-122"/>
                <a:cs typeface="+mn-cs"/>
              </a:rPr>
              <a:t>设备并行操作，数据</a:t>
            </a:r>
            <a:r>
              <a:rPr lang="en-US" altLang="zh-CN" sz="1200" kern="1200" dirty="0">
                <a:solidFill>
                  <a:schemeClr val="tx1"/>
                </a:solidFill>
                <a:effectLst/>
                <a:latin typeface="Arial" panose="020B0604020202020204" pitchFamily="34" charset="0"/>
                <a:ea typeface="宋体" panose="02010600030101010101" pitchFamily="2" charset="-122"/>
                <a:cs typeface="+mn-cs"/>
              </a:rPr>
              <a:t>I/O</a:t>
            </a:r>
            <a:r>
              <a:rPr lang="zh-CN" altLang="zh-CN" sz="1200" kern="1200" dirty="0">
                <a:solidFill>
                  <a:schemeClr val="tx1"/>
                </a:solidFill>
                <a:effectLst/>
                <a:latin typeface="Arial" panose="020B0604020202020204" pitchFamily="34" charset="0"/>
                <a:ea typeface="宋体" panose="02010600030101010101" pitchFamily="2" charset="-122"/>
                <a:cs typeface="+mn-cs"/>
              </a:rPr>
              <a:t>操作完成，设备控制器通过控制线向</a:t>
            </a:r>
            <a:r>
              <a:rPr lang="en-US" altLang="zh-CN" sz="1200" kern="1200" dirty="0">
                <a:solidFill>
                  <a:schemeClr val="tx1"/>
                </a:solidFill>
                <a:effectLst/>
                <a:latin typeface="Arial" panose="020B0604020202020204" pitchFamily="34" charset="0"/>
                <a:ea typeface="宋体" panose="02010600030101010101" pitchFamily="2" charset="-122"/>
                <a:cs typeface="+mn-cs"/>
              </a:rPr>
              <a:t>CPU</a:t>
            </a:r>
            <a:r>
              <a:rPr lang="zh-CN" altLang="zh-CN" sz="1200" kern="1200" dirty="0">
                <a:solidFill>
                  <a:schemeClr val="tx1"/>
                </a:solidFill>
                <a:effectLst/>
                <a:latin typeface="Arial" panose="020B0604020202020204" pitchFamily="34" charset="0"/>
                <a:ea typeface="宋体" panose="02010600030101010101" pitchFamily="2" charset="-122"/>
                <a:cs typeface="+mn-cs"/>
              </a:rPr>
              <a:t>发送一中断信号，</a:t>
            </a:r>
            <a:r>
              <a:rPr lang="en-US" altLang="zh-CN" sz="1200" kern="1200" dirty="0">
                <a:solidFill>
                  <a:schemeClr val="tx1"/>
                </a:solidFill>
                <a:effectLst/>
                <a:latin typeface="Arial" panose="020B0604020202020204" pitchFamily="34" charset="0"/>
                <a:ea typeface="宋体" panose="02010600030101010101" pitchFamily="2" charset="-122"/>
                <a:cs typeface="+mn-cs"/>
              </a:rPr>
              <a:t>CPU</a:t>
            </a:r>
            <a:r>
              <a:rPr lang="zh-CN" altLang="zh-CN" sz="1200" kern="1200" dirty="0">
                <a:solidFill>
                  <a:schemeClr val="tx1"/>
                </a:solidFill>
                <a:effectLst/>
                <a:latin typeface="Arial" panose="020B0604020202020204" pitchFamily="34" charset="0"/>
                <a:ea typeface="宋体" panose="02010600030101010101" pitchFamily="2" charset="-122"/>
                <a:cs typeface="+mn-cs"/>
              </a:rPr>
              <a:t>花极短的时间去进行中断处理。</a:t>
            </a:r>
            <a:r>
              <a:rPr lang="en-US" altLang="zh-CN" sz="1200" kern="1200" dirty="0">
                <a:solidFill>
                  <a:schemeClr val="tx1"/>
                </a:solidFill>
                <a:effectLst/>
                <a:latin typeface="Arial" panose="020B0604020202020204" pitchFamily="34" charset="0"/>
                <a:ea typeface="宋体" panose="02010600030101010101" pitchFamily="2" charset="-122"/>
                <a:cs typeface="+mn-cs"/>
              </a:rPr>
              <a:t>CPU</a:t>
            </a:r>
            <a:r>
              <a:rPr lang="zh-CN" altLang="zh-CN" sz="1200" kern="1200" dirty="0">
                <a:solidFill>
                  <a:schemeClr val="tx1"/>
                </a:solidFill>
                <a:effectLst/>
                <a:latin typeface="Arial" panose="020B0604020202020204" pitchFamily="34" charset="0"/>
                <a:ea typeface="宋体" panose="02010600030101010101" pitchFamily="2" charset="-122"/>
                <a:cs typeface="+mn-cs"/>
              </a:rPr>
              <a:t>利用率显著提高。但它以字（节）为单位进行</a:t>
            </a:r>
            <a:r>
              <a:rPr lang="en-US" altLang="zh-CN" sz="1200" kern="1200" dirty="0">
                <a:solidFill>
                  <a:schemeClr val="tx1"/>
                </a:solidFill>
                <a:effectLst/>
                <a:latin typeface="Arial" panose="020B0604020202020204" pitchFamily="34" charset="0"/>
                <a:ea typeface="宋体" panose="02010600030101010101" pitchFamily="2" charset="-122"/>
                <a:cs typeface="+mn-cs"/>
              </a:rPr>
              <a:t>I/O</a:t>
            </a:r>
            <a:r>
              <a:rPr lang="zh-CN" altLang="zh-CN" sz="1200" kern="1200" dirty="0">
                <a:solidFill>
                  <a:schemeClr val="tx1"/>
                </a:solidFill>
                <a:effectLst/>
                <a:latin typeface="Arial" panose="020B0604020202020204" pitchFamily="34" charset="0"/>
                <a:ea typeface="宋体" panose="02010600030101010101" pitchFamily="2" charset="-122"/>
                <a:cs typeface="+mn-cs"/>
              </a:rPr>
              <a:t>，对块设备低效。直接内存存取（</a:t>
            </a:r>
            <a:r>
              <a:rPr lang="en-US" altLang="zh-CN" sz="1200" kern="1200" dirty="0">
                <a:solidFill>
                  <a:schemeClr val="tx1"/>
                </a:solidFill>
                <a:effectLst/>
                <a:latin typeface="Arial" panose="020B0604020202020204" pitchFamily="34" charset="0"/>
                <a:ea typeface="宋体" panose="02010600030101010101" pitchFamily="2" charset="-122"/>
                <a:cs typeface="+mn-cs"/>
              </a:rPr>
              <a:t>DMA</a:t>
            </a:r>
            <a:r>
              <a:rPr lang="zh-CN" altLang="zh-CN" sz="1200" kern="1200" dirty="0">
                <a:solidFill>
                  <a:schemeClr val="tx1"/>
                </a:solidFill>
                <a:effectLst/>
                <a:latin typeface="Arial" panose="020B0604020202020204" pitchFamily="34" charset="0"/>
                <a:ea typeface="宋体" panose="02010600030101010101" pitchFamily="2" charset="-122"/>
                <a:cs typeface="+mn-cs"/>
              </a:rPr>
              <a:t>）方式，数据传输以数据块为基本单位，在控制器的控制下完成，数据直接送入内存，在一个或多个数据块传输开始和结束时，才需</a:t>
            </a:r>
            <a:r>
              <a:rPr lang="en-US" altLang="zh-CN" sz="1200" kern="1200" dirty="0">
                <a:solidFill>
                  <a:schemeClr val="tx1"/>
                </a:solidFill>
                <a:effectLst/>
                <a:latin typeface="Arial" panose="020B0604020202020204" pitchFamily="34" charset="0"/>
                <a:ea typeface="宋体" panose="02010600030101010101" pitchFamily="2" charset="-122"/>
                <a:cs typeface="+mn-cs"/>
              </a:rPr>
              <a:t>CPU</a:t>
            </a:r>
            <a:r>
              <a:rPr lang="zh-CN" altLang="zh-CN" sz="1200" kern="1200" dirty="0">
                <a:solidFill>
                  <a:schemeClr val="tx1"/>
                </a:solidFill>
                <a:effectLst/>
                <a:latin typeface="Arial" panose="020B0604020202020204" pitchFamily="34" charset="0"/>
                <a:ea typeface="宋体" panose="02010600030101010101" pitchFamily="2" charset="-122"/>
                <a:cs typeface="+mn-cs"/>
              </a:rPr>
              <a:t>干预。</a:t>
            </a:r>
            <a:endParaRPr lang="zh-CN" altLang="zh-CN" sz="1200" kern="1200" dirty="0">
              <a:solidFill>
                <a:schemeClr val="tx1"/>
              </a:solidFill>
              <a:effectLst/>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先来先服务（</a:t>
            </a:r>
            <a:r>
              <a:rPr lang="en-US" altLang="zh-CN" dirty="0"/>
              <a:t>FCFS</a:t>
            </a:r>
            <a:r>
              <a:rPr lang="zh-CN" altLang="en-US" dirty="0"/>
              <a:t>）调度算法，磁盘</a:t>
            </a:r>
            <a:r>
              <a:rPr lang="en-US" altLang="zh-CN" dirty="0"/>
              <a:t>I/O</a:t>
            </a:r>
            <a:r>
              <a:rPr lang="zh-CN" altLang="en-US" dirty="0"/>
              <a:t>执行顺序为磁盘</a:t>
            </a:r>
            <a:r>
              <a:rPr lang="en-US" altLang="zh-CN" dirty="0"/>
              <a:t>I/O</a:t>
            </a:r>
            <a:r>
              <a:rPr lang="zh-CN" altLang="en-US" dirty="0"/>
              <a:t>请求的先后顺序。</a:t>
            </a:r>
            <a:endParaRPr lang="en-US" altLang="zh-CN" dirty="0"/>
          </a:p>
          <a:p>
            <a:pPr eaLnBrk="1" hangingPunct="1"/>
            <a:r>
              <a:rPr lang="en-US" altLang="zh-CN" dirty="0"/>
              <a:t>FCFS</a:t>
            </a:r>
            <a:r>
              <a:rPr lang="zh-CN" altLang="en-US" dirty="0"/>
              <a:t>算法的特点是公平、简单，没有对寻道进行优化，</a:t>
            </a:r>
            <a:endParaRPr lang="en-US" altLang="zh-CN" dirty="0"/>
          </a:p>
          <a:p>
            <a:pPr eaLnBrk="1" hangingPunct="1"/>
            <a:r>
              <a:rPr lang="zh-CN" altLang="en-US" dirty="0"/>
              <a:t>每个进程的请求都能依次地得到处理，不会出现某一进程的请求长期得不到满足的情况。</a:t>
            </a:r>
            <a:endParaRPr lang="zh-CN" altLang="en-US" dirty="0"/>
          </a:p>
          <a:p>
            <a:pPr eaLnBrk="1" hangingPunct="1"/>
            <a:r>
              <a:rPr lang="zh-CN" altLang="en-US" dirty="0"/>
              <a:t>在磁盘</a:t>
            </a:r>
            <a:r>
              <a:rPr lang="en-US" altLang="zh-CN" dirty="0"/>
              <a:t>I/O</a:t>
            </a:r>
            <a:r>
              <a:rPr lang="zh-CN" altLang="en-US" dirty="0"/>
              <a:t>负载较轻且每次读写多个连续扇区时，性能较好。</a:t>
            </a:r>
            <a:endParaRPr lang="en-US" altLang="zh-CN" dirty="0"/>
          </a:p>
          <a:p>
            <a:pPr eaLnBrk="1" hangingPunct="1"/>
            <a:endParaRPr lang="en-US" altLang="zh-CN" dirty="0"/>
          </a:p>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dirty="0">
                <a:solidFill>
                  <a:schemeClr val="tx1"/>
                </a:solidFill>
                <a:latin typeface="黑体" panose="02010609060101010101" pitchFamily="2" charset="-122"/>
              </a:rPr>
              <a:t>假设一个请求序列：</a:t>
            </a:r>
            <a:r>
              <a:rPr lang="zh-CN" altLang="zh-CN" sz="1200" dirty="0">
                <a:solidFill>
                  <a:schemeClr val="tx1"/>
                </a:solidFill>
                <a:latin typeface="黑体" panose="02010609060101010101" pitchFamily="2" charset="-122"/>
              </a:rPr>
              <a:t>		</a:t>
            </a:r>
            <a:br>
              <a:rPr lang="zh-CN" altLang="zh-CN" sz="1200" dirty="0">
                <a:solidFill>
                  <a:schemeClr val="tx1"/>
                </a:solidFill>
                <a:latin typeface="黑体" panose="02010609060101010101" pitchFamily="2" charset="-122"/>
              </a:rPr>
            </a:br>
            <a:r>
              <a:rPr lang="en-US" altLang="zh-CN" sz="1200" dirty="0">
                <a:solidFill>
                  <a:schemeClr val="tx1"/>
                </a:solidFill>
                <a:latin typeface="黑体" panose="02010609060101010101" pitchFamily="2" charset="-122"/>
              </a:rPr>
              <a:t>55</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5</a:t>
            </a:r>
            <a:r>
              <a:rPr lang="zh-CN" altLang="zh-CN" sz="1200" dirty="0">
                <a:solidFill>
                  <a:schemeClr val="tx1"/>
                </a:solidFill>
                <a:latin typeface="黑体" panose="02010609060101010101" pitchFamily="2" charset="-122"/>
              </a:rPr>
              <a:t>8,</a:t>
            </a:r>
            <a:r>
              <a:rPr lang="en-US" altLang="zh-CN" sz="1200" dirty="0">
                <a:solidFill>
                  <a:schemeClr val="tx1"/>
                </a:solidFill>
                <a:latin typeface="黑体" panose="02010609060101010101" pitchFamily="2" charset="-122"/>
              </a:rPr>
              <a:t>39</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18</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90</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160</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150</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38</a:t>
            </a:r>
            <a:r>
              <a:rPr lang="zh-CN" altLang="zh-CN" sz="1200" dirty="0">
                <a:solidFill>
                  <a:schemeClr val="tx1"/>
                </a:solidFill>
                <a:latin typeface="黑体" panose="02010609060101010101" pitchFamily="2" charset="-122"/>
              </a:rPr>
              <a:t>,</a:t>
            </a:r>
            <a:r>
              <a:rPr lang="en-US" altLang="zh-CN" sz="1200" dirty="0">
                <a:solidFill>
                  <a:schemeClr val="tx1"/>
                </a:solidFill>
                <a:latin typeface="黑体" panose="02010609060101010101" pitchFamily="2" charset="-122"/>
              </a:rPr>
              <a:t>184   </a:t>
            </a:r>
            <a:r>
              <a:rPr lang="zh-CN" altLang="en-US" sz="1200" dirty="0">
                <a:solidFill>
                  <a:schemeClr val="tx1"/>
                </a:solidFill>
                <a:latin typeface="黑体" panose="02010609060101010101" pitchFamily="2" charset="-122"/>
              </a:rPr>
              <a:t>磁头当前的位置在</a:t>
            </a:r>
            <a:r>
              <a:rPr lang="en-US" altLang="zh-CN" sz="1200" dirty="0">
                <a:solidFill>
                  <a:schemeClr val="tx1"/>
                </a:solidFill>
                <a:latin typeface="黑体" panose="02010609060101010101" pitchFamily="2" charset="-122"/>
              </a:rPr>
              <a:t>100</a:t>
            </a:r>
            <a:r>
              <a:rPr lang="zh-CN" altLang="en-US" sz="1200" dirty="0">
                <a:solidFill>
                  <a:schemeClr val="tx1"/>
                </a:solidFill>
                <a:latin typeface="黑体" panose="02010609060101010101" pitchFamily="2" charset="-122"/>
              </a:rPr>
              <a:t>。</a:t>
            </a:r>
            <a:endParaRPr lang="zh-CN" altLang="en-US" sz="1200" dirty="0">
              <a:solidFill>
                <a:schemeClr val="tx1"/>
              </a:solidFill>
              <a:latin typeface="黑体" panose="02010609060101010101" pitchFamily="2" charset="-122"/>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a:t>SSTF</a:t>
            </a:r>
            <a:r>
              <a:rPr lang="zh-CN" altLang="en-US" dirty="0"/>
              <a:t>算法平均每次磁头移动的距离明显低于</a:t>
            </a:r>
            <a:r>
              <a:rPr lang="en-US" altLang="zh-CN" dirty="0"/>
              <a:t>FCFS</a:t>
            </a:r>
            <a:r>
              <a:rPr lang="zh-CN" altLang="en-US" dirty="0"/>
              <a:t>算法的距离，因此性能比</a:t>
            </a:r>
            <a:r>
              <a:rPr lang="en-US" altLang="zh-CN" dirty="0"/>
              <a:t>FCFS</a:t>
            </a:r>
            <a:r>
              <a:rPr lang="zh-CN" altLang="en-US" dirty="0"/>
              <a:t>高，</a:t>
            </a:r>
            <a:r>
              <a:rPr lang="en-US" altLang="zh-CN" dirty="0"/>
              <a:t>SSTF</a:t>
            </a:r>
            <a:r>
              <a:rPr lang="zh-CN" altLang="en-US" dirty="0"/>
              <a:t>算法曾经广泛使用。</a:t>
            </a:r>
            <a:endParaRPr lang="zh-CN" altLang="zh-CN" dirty="0"/>
          </a:p>
          <a:p>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注意，这里的目录表中只记录了文件的起始块号和文件的长度。假设磁盘的容量是</a:t>
            </a:r>
            <a:r>
              <a:rPr lang="en-US" altLang="zh-CN" dirty="0"/>
              <a:t>1MB</a:t>
            </a:r>
            <a:r>
              <a:rPr lang="zh-CN" altLang="en-US" dirty="0"/>
              <a:t>，每个磁盘块的大小为</a:t>
            </a:r>
            <a:r>
              <a:rPr lang="en-US" altLang="zh-CN" dirty="0"/>
              <a:t>512</a:t>
            </a:r>
            <a:r>
              <a:rPr lang="zh-CN" altLang="en-US" dirty="0"/>
              <a:t>个字节，则磁盘块的数量就是</a:t>
            </a:r>
            <a:r>
              <a:rPr lang="en-US" altLang="zh-CN" dirty="0"/>
              <a:t>2048</a:t>
            </a:r>
            <a:r>
              <a:rPr lang="zh-CN" altLang="en-US" dirty="0"/>
              <a:t>，要编号这些磁盘块就需要</a:t>
            </a:r>
            <a:r>
              <a:rPr lang="en-US" altLang="zh-CN" dirty="0"/>
              <a:t>11</a:t>
            </a:r>
            <a:r>
              <a:rPr lang="zh-CN" altLang="en-US" dirty="0"/>
              <a:t>个二进制位。这样起始块号需要</a:t>
            </a:r>
            <a:r>
              <a:rPr lang="en-US" altLang="zh-CN" dirty="0"/>
              <a:t>11</a:t>
            </a:r>
            <a:r>
              <a:rPr lang="zh-CN" altLang="en-US" dirty="0"/>
              <a:t>位二进制来表示，如果文件的长度不大于</a:t>
            </a:r>
            <a:r>
              <a:rPr lang="en-US" altLang="zh-CN" dirty="0"/>
              <a:t>512K</a:t>
            </a:r>
            <a:r>
              <a:rPr lang="zh-CN" altLang="en-US" dirty="0"/>
              <a:t>，则长度需要</a:t>
            </a:r>
            <a:r>
              <a:rPr lang="en-US" altLang="zh-CN" dirty="0"/>
              <a:t>10</a:t>
            </a:r>
            <a:r>
              <a:rPr lang="zh-CN" altLang="en-US" dirty="0"/>
              <a:t>位来表示，这样目录中就要用</a:t>
            </a:r>
            <a:r>
              <a:rPr lang="en-US" altLang="zh-CN" dirty="0"/>
              <a:t>21</a:t>
            </a:r>
            <a:r>
              <a:rPr lang="zh-CN" altLang="en-US" dirty="0"/>
              <a:t>位来保存文件的物理存储信息。记住这个数值，我们会与其他方式进行比较。</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直接使用三级索引是不合适的，因为系统中大中小文件都有，我们不能只考虑大文件。解决的办法是采用增量式索引。这是现代操作系统普遍采用的方式，</a:t>
            </a:r>
            <a:r>
              <a:rPr lang="en-US" altLang="zh-CN" dirty="0"/>
              <a:t>Unix</a:t>
            </a:r>
            <a:r>
              <a:rPr lang="zh-CN" altLang="en-US" dirty="0"/>
              <a:t>及类</a:t>
            </a:r>
            <a:r>
              <a:rPr lang="en-US" altLang="zh-CN" dirty="0"/>
              <a:t>Unix</a:t>
            </a:r>
            <a:r>
              <a:rPr lang="zh-CN" altLang="en-US" dirty="0"/>
              <a:t>系统中常常采用。</a:t>
            </a:r>
            <a:endParaRPr lang="en-US" altLang="zh-CN" dirty="0"/>
          </a:p>
          <a:p>
            <a:r>
              <a:rPr lang="zh-CN" altLang="en-US" dirty="0"/>
              <a:t>增量式索引的基本思想是：同时采用直接寻址，一级索引、二级索引和三级索引。</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现在根据前面的这个位示图，做磁盘块的分配。假设现在要分配连续的四个空闲磁盘块，应该怎么做？</a:t>
            </a:r>
            <a:endParaRPr lang="en-US" altLang="zh-CN" dirty="0"/>
          </a:p>
          <a:p>
            <a:r>
              <a:rPr lang="zh-CN" altLang="en-US" dirty="0"/>
              <a:t>我们把分配过程分为三步。第一步是顺序扫描位示图，从中找出一组相邻四个位都是</a:t>
            </a:r>
            <a:r>
              <a:rPr lang="en-US" altLang="zh-CN" dirty="0"/>
              <a:t>0</a:t>
            </a:r>
            <a:r>
              <a:rPr lang="zh-CN" altLang="en-US" dirty="0"/>
              <a:t>的地方。从前面这个位示图中，大家看看从头扫描，应该找到那个位置。</a:t>
            </a:r>
            <a:endParaRPr lang="en-US" altLang="zh-CN" dirty="0"/>
          </a:p>
          <a:p>
            <a:r>
              <a:rPr lang="zh-CN" altLang="en-US" dirty="0"/>
              <a:t>是不是第二行第十列开始的四个</a:t>
            </a:r>
            <a:r>
              <a:rPr lang="en-US" altLang="zh-CN" dirty="0"/>
              <a:t>0</a:t>
            </a:r>
            <a:r>
              <a:rPr lang="zh-CN" altLang="en-US" dirty="0"/>
              <a:t>呀？显然，就是这个位置。</a:t>
            </a:r>
            <a:endParaRPr lang="en-US" altLang="zh-CN" dirty="0"/>
          </a:p>
          <a:p>
            <a:r>
              <a:rPr lang="zh-CN" altLang="en-US" dirty="0"/>
              <a:t>第二步是将这组二进制的位置转换为相应的盘块号。想想，对这个位示图来说，第</a:t>
            </a:r>
            <a:r>
              <a:rPr lang="en-US" altLang="zh-CN" dirty="0" err="1"/>
              <a:t>i</a:t>
            </a:r>
            <a:r>
              <a:rPr lang="zh-CN" altLang="en-US" dirty="0"/>
              <a:t>行，第</a:t>
            </a:r>
            <a:r>
              <a:rPr lang="en-US" altLang="zh-CN" dirty="0"/>
              <a:t>j</a:t>
            </a:r>
            <a:r>
              <a:rPr lang="zh-CN" altLang="en-US" dirty="0"/>
              <a:t>列对应的盘块号是多少，是不是可以按照</a:t>
            </a:r>
            <a:r>
              <a:rPr lang="en-US" altLang="zh-CN" dirty="0"/>
              <a:t>b=n</a:t>
            </a:r>
            <a:r>
              <a:rPr lang="zh-CN" altLang="en-US" dirty="0"/>
              <a:t>乘</a:t>
            </a:r>
            <a:r>
              <a:rPr lang="en-US" altLang="zh-CN" dirty="0" err="1"/>
              <a:t>i</a:t>
            </a:r>
            <a:r>
              <a:rPr lang="zh-CN" altLang="en-US" dirty="0"/>
              <a:t>减</a:t>
            </a:r>
            <a:r>
              <a:rPr lang="en-US" altLang="zh-CN" dirty="0"/>
              <a:t>1</a:t>
            </a:r>
            <a:r>
              <a:rPr lang="zh-CN" altLang="en-US" dirty="0"/>
              <a:t>的差，在加上</a:t>
            </a:r>
            <a:r>
              <a:rPr lang="en-US" altLang="zh-CN" dirty="0"/>
              <a:t>j</a:t>
            </a:r>
            <a:r>
              <a:rPr lang="zh-CN" altLang="en-US" dirty="0"/>
              <a:t>呀。强调一下，这里磁盘块是从</a:t>
            </a:r>
            <a:r>
              <a:rPr lang="en-US" altLang="zh-CN" dirty="0"/>
              <a:t>1</a:t>
            </a:r>
            <a:r>
              <a:rPr lang="zh-CN" altLang="en-US" dirty="0"/>
              <a:t>开始编号的，而不是从</a:t>
            </a:r>
            <a:r>
              <a:rPr lang="en-US" altLang="zh-CN" dirty="0"/>
              <a:t>0</a:t>
            </a:r>
            <a:r>
              <a:rPr lang="zh-CN" altLang="en-US" dirty="0"/>
              <a:t>开始编号。而且，这里位示图的</a:t>
            </a:r>
            <a:r>
              <a:rPr lang="en-US" altLang="zh-CN" dirty="0" err="1"/>
              <a:t>i</a:t>
            </a:r>
            <a:r>
              <a:rPr lang="zh-CN" altLang="en-US" dirty="0"/>
              <a:t>和</a:t>
            </a:r>
            <a:r>
              <a:rPr lang="en-US" altLang="zh-CN" dirty="0"/>
              <a:t>j</a:t>
            </a:r>
            <a:r>
              <a:rPr lang="zh-CN" altLang="en-US" dirty="0"/>
              <a:t>也是从</a:t>
            </a:r>
            <a:r>
              <a:rPr lang="en-US" altLang="zh-CN" dirty="0"/>
              <a:t>1</a:t>
            </a:r>
            <a:r>
              <a:rPr lang="zh-CN" altLang="en-US" dirty="0"/>
              <a:t>开始编号的。</a:t>
            </a:r>
            <a:endParaRPr lang="en-US" altLang="zh-CN" dirty="0"/>
          </a:p>
          <a:p>
            <a:r>
              <a:rPr lang="zh-CN" altLang="en-US" dirty="0"/>
              <a:t>想想，如果都改为从</a:t>
            </a:r>
            <a:r>
              <a:rPr lang="en-US" altLang="zh-CN" dirty="0"/>
              <a:t>0</a:t>
            </a:r>
            <a:r>
              <a:rPr lang="zh-CN" altLang="en-US" dirty="0"/>
              <a:t>开始编号，即</a:t>
            </a:r>
            <a:r>
              <a:rPr lang="en-US" altLang="zh-CN" dirty="0" err="1"/>
              <a:t>i</a:t>
            </a:r>
            <a:r>
              <a:rPr lang="zh-CN" altLang="en-US" dirty="0"/>
              <a:t>和</a:t>
            </a:r>
            <a:r>
              <a:rPr lang="en-US" altLang="zh-CN" dirty="0"/>
              <a:t>j</a:t>
            </a:r>
            <a:r>
              <a:rPr lang="zh-CN" altLang="en-US" dirty="0"/>
              <a:t>的第一个值是</a:t>
            </a:r>
            <a:r>
              <a:rPr lang="en-US" altLang="zh-CN" dirty="0"/>
              <a:t>0</a:t>
            </a:r>
            <a:r>
              <a:rPr lang="zh-CN" altLang="en-US" dirty="0"/>
              <a:t>，磁盘块号也是从</a:t>
            </a:r>
            <a:r>
              <a:rPr lang="en-US" altLang="zh-CN" dirty="0"/>
              <a:t>0</a:t>
            </a:r>
            <a:r>
              <a:rPr lang="zh-CN" altLang="en-US" dirty="0"/>
              <a:t>开始编号，则对应的盘块号该怎么算？这个可以作为您们课后的作业，练习一下吧。</a:t>
            </a:r>
            <a:endParaRPr lang="en-US" altLang="zh-CN" dirty="0"/>
          </a:p>
          <a:p>
            <a:r>
              <a:rPr lang="zh-CN" altLang="en-US" dirty="0"/>
              <a:t>第三步是修改位示图，就是把分配出去的相应位设为</a:t>
            </a:r>
            <a:r>
              <a:rPr lang="en-US" altLang="zh-CN" dirty="0"/>
              <a:t>1,</a:t>
            </a:r>
            <a:r>
              <a:rPr lang="zh-CN" altLang="en-US" dirty="0"/>
              <a:t>表示已经分配了。</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刚才是分配的步骤，回收呢？回收时给出的参数被回收的磁盘块号，现在需要把这个磁盘块号转换为对应的位的行号和列号，转换的公式是什么呢？如何还是前面的位示图，则是下面两个。</a:t>
            </a:r>
            <a:endParaRPr lang="en-US" altLang="zh-CN" dirty="0"/>
          </a:p>
          <a:p>
            <a:r>
              <a:rPr lang="zh-CN" altLang="en-US" dirty="0"/>
              <a:t>其中行号等于块号减</a:t>
            </a:r>
            <a:r>
              <a:rPr lang="en-US" altLang="zh-CN" dirty="0"/>
              <a:t>1</a:t>
            </a:r>
            <a:r>
              <a:rPr lang="zh-CN" altLang="en-US" dirty="0"/>
              <a:t>的差除以</a:t>
            </a:r>
            <a:r>
              <a:rPr lang="en-US" altLang="zh-CN" dirty="0"/>
              <a:t>n</a:t>
            </a:r>
            <a:r>
              <a:rPr lang="zh-CN" altLang="en-US" dirty="0"/>
              <a:t>，在加上</a:t>
            </a:r>
            <a:r>
              <a:rPr lang="en-US" altLang="zh-CN" dirty="0"/>
              <a:t>1</a:t>
            </a:r>
            <a:r>
              <a:rPr lang="zh-CN" altLang="en-US" dirty="0"/>
              <a:t>。而列号就是块号减</a:t>
            </a:r>
            <a:r>
              <a:rPr lang="en-US" altLang="zh-CN" dirty="0"/>
              <a:t>1</a:t>
            </a:r>
            <a:r>
              <a:rPr lang="zh-CN" altLang="en-US" dirty="0"/>
              <a:t>的差对</a:t>
            </a:r>
            <a:r>
              <a:rPr lang="en-US" altLang="zh-CN" dirty="0"/>
              <a:t>n</a:t>
            </a:r>
            <a:r>
              <a:rPr lang="zh-CN" altLang="en-US" dirty="0"/>
              <a:t>取余，在加上</a:t>
            </a:r>
            <a:r>
              <a:rPr lang="en-US" altLang="zh-CN" dirty="0"/>
              <a:t>1</a:t>
            </a:r>
            <a:r>
              <a:rPr lang="zh-CN" altLang="en-US" dirty="0"/>
              <a:t>。</a:t>
            </a:r>
            <a:endParaRPr lang="en-US" altLang="zh-CN" dirty="0"/>
          </a:p>
          <a:p>
            <a:r>
              <a:rPr lang="zh-CN" altLang="en-US" dirty="0"/>
              <a:t>想想，如果行和列都改为从</a:t>
            </a:r>
            <a:r>
              <a:rPr lang="en-US" altLang="zh-CN" dirty="0"/>
              <a:t>0</a:t>
            </a:r>
            <a:r>
              <a:rPr lang="zh-CN" altLang="en-US" dirty="0"/>
              <a:t>编号，磁盘块也是从</a:t>
            </a:r>
            <a:r>
              <a:rPr lang="en-US" altLang="zh-CN" dirty="0"/>
              <a:t>0</a:t>
            </a:r>
            <a:r>
              <a:rPr lang="zh-CN" altLang="en-US" dirty="0"/>
              <a:t>编号的，转换公式又是怎样的呢，这个也作为大家的课后作业吧。</a:t>
            </a:r>
            <a:endParaRPr lang="en-US" altLang="zh-CN" dirty="0"/>
          </a:p>
          <a:p>
            <a:r>
              <a:rPr lang="zh-CN" altLang="en-US" dirty="0"/>
              <a:t>第二步是将相应的位设为</a:t>
            </a:r>
            <a:r>
              <a:rPr lang="en-US" altLang="zh-CN" dirty="0"/>
              <a:t>0</a:t>
            </a:r>
            <a:r>
              <a:rPr lang="zh-CN" altLang="en-US" dirty="0"/>
              <a:t>，表示现在是空闲的。</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现在来看看，要表示</a:t>
            </a:r>
            <a:r>
              <a:rPr lang="en-US" altLang="zh-CN" dirty="0"/>
              <a:t>·</a:t>
            </a:r>
            <a:r>
              <a:rPr lang="zh-CN" altLang="en-US" dirty="0"/>
              <a:t>一定容量的磁盘的分配情况，位示图需要多大。</a:t>
            </a:r>
            <a:endParaRPr lang="en-US" altLang="zh-CN" dirty="0"/>
          </a:p>
          <a:p>
            <a:r>
              <a:rPr lang="zh-CN" altLang="en-US" dirty="0"/>
              <a:t>比如，有一个</a:t>
            </a:r>
            <a:r>
              <a:rPr lang="en-US" altLang="zh-CN" dirty="0"/>
              <a:t>16GB</a:t>
            </a:r>
            <a:r>
              <a:rPr lang="zh-CN" altLang="en-US" dirty="0"/>
              <a:t>的磁盘，每个磁盘块的大小为</a:t>
            </a:r>
            <a:r>
              <a:rPr lang="en-US" altLang="zh-CN" dirty="0"/>
              <a:t>512</a:t>
            </a:r>
            <a:r>
              <a:rPr lang="zh-CN" altLang="en-US" dirty="0"/>
              <a:t>字节，则共有</a:t>
            </a:r>
            <a:r>
              <a:rPr lang="en-US" altLang="zh-CN" dirty="0"/>
              <a:t>16GB/512B=32M</a:t>
            </a:r>
            <a:r>
              <a:rPr lang="zh-CN" altLang="en-US" dirty="0"/>
              <a:t>个磁盘块，每个磁盘块用一位表示，就需要</a:t>
            </a:r>
            <a:r>
              <a:rPr lang="en-US" altLang="zh-CN" dirty="0"/>
              <a:t>4MB</a:t>
            </a:r>
            <a:r>
              <a:rPr lang="zh-CN" altLang="en-US" dirty="0"/>
              <a:t>的内存空间。换算成磁盘块，那就是</a:t>
            </a:r>
            <a:r>
              <a:rPr lang="en-US" altLang="zh-CN" dirty="0"/>
              <a:t>8000</a:t>
            </a:r>
            <a:r>
              <a:rPr lang="zh-CN" altLang="en-US" dirty="0"/>
              <a:t>个，要在磁盘上找这样的连续空间不容易，在内存中找</a:t>
            </a:r>
            <a:r>
              <a:rPr lang="en-US" altLang="zh-CN" dirty="0"/>
              <a:t>4MB</a:t>
            </a:r>
            <a:r>
              <a:rPr lang="zh-CN" altLang="en-US" dirty="0"/>
              <a:t>的连续空间也不容易。</a:t>
            </a:r>
            <a:endParaRPr lang="en-US" altLang="zh-CN" dirty="0"/>
          </a:p>
          <a:p>
            <a:r>
              <a:rPr lang="zh-CN" altLang="en-US" dirty="0"/>
              <a:t>进一步，如果磁盘容量是</a:t>
            </a:r>
            <a:r>
              <a:rPr lang="en-US" altLang="zh-CN" dirty="0"/>
              <a:t>512GB</a:t>
            </a:r>
            <a:r>
              <a:rPr lang="zh-CN" altLang="en-US" dirty="0"/>
              <a:t>的，那刚才的数字都要乘以</a:t>
            </a:r>
            <a:r>
              <a:rPr lang="en-US" altLang="zh-CN" dirty="0"/>
              <a:t>32</a:t>
            </a:r>
            <a:r>
              <a:rPr lang="zh-CN" altLang="en-US" dirty="0"/>
              <a:t>，显然是无法接受的。因此位示图法只适合较小的磁盘，现在的操作系统已经很少采用位示图法了。</a:t>
            </a:r>
            <a:endParaRPr lang="zh-CN" altLang="en-US" dirty="0"/>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主讲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略讲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略讲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略讲</a:t>
            </a:r>
            <a:endParaRPr lang="zh-CN" altLang="en-US"/>
          </a:p>
        </p:txBody>
      </p:sp>
      <p:sp>
        <p:nvSpPr>
          <p:cNvPr id="4" name="灯片编号占位符 3"/>
          <p:cNvSpPr>
            <a:spLocks noGrp="1"/>
          </p:cNvSpPr>
          <p:nvPr>
            <p:ph type="sldNum" sz="quarter" idx="5"/>
          </p:nvPr>
        </p:nvSpPr>
        <p:spPr/>
        <p:txBody>
          <a:bodyPr/>
          <a:lstStyle/>
          <a:p>
            <a:fld id="{82869989-EB00-4EE7-BCB5-25BDC5BB29F8}" type="slidenum">
              <a:rPr lang="en-US" altLang="zh-CN"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标题 1"/>
          <p:cNvSpPr>
            <a:spLocks noGrp="1"/>
          </p:cNvSpPr>
          <p:nvPr>
            <p:ph type="title"/>
          </p:nvPr>
        </p:nvSpPr>
        <p:spPr>
          <a:xfrm>
            <a:off x="571501" y="0"/>
            <a:ext cx="5202767" cy="668780"/>
          </a:xfrm>
          <a:prstGeom prst="rect">
            <a:avLst/>
          </a:prstGeom>
        </p:spPr>
        <p:txBody>
          <a:bodyPr rtlCol="0"/>
          <a:lstStyle>
            <a:lvl1pPr>
              <a:lnSpc>
                <a:spcPct val="130000"/>
              </a:lnSpc>
              <a:defRPr sz="3200"/>
            </a:lvl1pPr>
          </a:lstStyle>
          <a:p>
            <a:pPr rtl="0"/>
            <a:r>
              <a:rPr lang="zh-CN" altLang="en-US" dirty="0"/>
              <a:t>单击此处编辑母版标题样式</a:t>
            </a:r>
            <a:endParaRPr lang="zh-CN" altLang="en-US" dirty="0"/>
          </a:p>
        </p:txBody>
      </p:sp>
      <p:sp>
        <p:nvSpPr>
          <p:cNvPr id="8" name="矩形 7"/>
          <p:cNvSpPr/>
          <p:nvPr userDrawn="1"/>
        </p:nvSpPr>
        <p:spPr>
          <a:xfrm>
            <a:off x="0" y="0"/>
            <a:ext cx="368300" cy="6687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内容占位符 2"/>
          <p:cNvSpPr>
            <a:spLocks noGrp="1"/>
          </p:cNvSpPr>
          <p:nvPr>
            <p:ph idx="1"/>
          </p:nvPr>
        </p:nvSpPr>
        <p:spPr>
          <a:xfrm>
            <a:off x="571501" y="850178"/>
            <a:ext cx="10955214" cy="5157643"/>
          </a:xfrm>
          <a:prstGeom prst="rect">
            <a:avLst/>
          </a:prstGeom>
        </p:spPr>
        <p:txBody>
          <a:bodyPr/>
          <a:lstStyle>
            <a:lvl1pPr eaLnBrk="1" hangingPunct="1">
              <a:lnSpc>
                <a:spcPct val="100000"/>
              </a:lnSpc>
              <a:defRPr sz="3200" b="1">
                <a:latin typeface="华文楷体" panose="02010600040101010101" pitchFamily="2" charset="-122"/>
                <a:ea typeface="华文楷体" panose="02010600040101010101" pitchFamily="2" charset="-122"/>
              </a:defRPr>
            </a:lvl1pPr>
            <a:lvl2pPr eaLnBrk="1" hangingPunct="1">
              <a:lnSpc>
                <a:spcPct val="100000"/>
              </a:lnSpc>
              <a:defRPr sz="2800" b="1">
                <a:latin typeface="微软雅黑" panose="020B0503020204020204" charset="-122"/>
                <a:ea typeface="微软雅黑" panose="020B0503020204020204" charset="-122"/>
              </a:defRPr>
            </a:lvl2pPr>
            <a:lvl3pPr eaLnBrk="1" hangingPunct="1">
              <a:lnSpc>
                <a:spcPct val="100000"/>
              </a:lnSpc>
              <a:defRPr sz="2400" b="1"/>
            </a:lvl3pPr>
            <a:lvl4pPr eaLnBrk="1" hangingPunct="1">
              <a:lnSpc>
                <a:spcPct val="100000"/>
              </a:lnSpc>
              <a:defRPr sz="2000" b="1"/>
            </a:lvl4pPr>
            <a:lvl5pPr eaLnBrk="1" hangingPunct="1">
              <a:lnSpc>
                <a:spcPct val="100000"/>
              </a:lnSpc>
              <a:defRPr sz="1800" b="1"/>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14917" y="188914"/>
            <a:ext cx="11377083" cy="54927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527051" y="1196975"/>
            <a:ext cx="11330516" cy="4895850"/>
          </a:xfrm>
        </p:spPr>
        <p:txBody>
          <a:bodyPr/>
          <a:lstStyle/>
          <a:p>
            <a:pPr lvl="0"/>
            <a:endParaRPr lang="zh-CN" altLang="en-US" noProof="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4917" y="188914"/>
            <a:ext cx="11377083" cy="5492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27051" y="1196975"/>
            <a:ext cx="5562600" cy="489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92851" y="1196975"/>
            <a:ext cx="5564716" cy="489585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9" Type="http://schemas.openxmlformats.org/officeDocument/2006/relationships/slideLayout" Target="../slideLayouts/slideLayout7.xml"/><Relationship Id="rId18" Type="http://schemas.openxmlformats.org/officeDocument/2006/relationships/tags" Target="../tags/tag18.xml"/><Relationship Id="rId17" Type="http://schemas.openxmlformats.org/officeDocument/2006/relationships/image" Target="../media/image1.png"/><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9" Type="http://schemas.openxmlformats.org/officeDocument/2006/relationships/slideLayout" Target="../slideLayouts/slideLayout7.xml"/><Relationship Id="rId18" Type="http://schemas.openxmlformats.org/officeDocument/2006/relationships/tags" Target="../tags/tag35.xml"/><Relationship Id="rId17" Type="http://schemas.openxmlformats.org/officeDocument/2006/relationships/image" Target="../media/image1.png"/><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9" Type="http://schemas.openxmlformats.org/officeDocument/2006/relationships/slideLayout" Target="../slideLayouts/slideLayout7.xml"/><Relationship Id="rId18" Type="http://schemas.openxmlformats.org/officeDocument/2006/relationships/tags" Target="../tags/tag52.xml"/><Relationship Id="rId17" Type="http://schemas.openxmlformats.org/officeDocument/2006/relationships/image" Target="../media/image1.png"/><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9" Type="http://schemas.openxmlformats.org/officeDocument/2006/relationships/slideLayout" Target="../slideLayouts/slideLayout7.xml"/><Relationship Id="rId18" Type="http://schemas.openxmlformats.org/officeDocument/2006/relationships/tags" Target="../tags/tag69.xml"/><Relationship Id="rId17" Type="http://schemas.openxmlformats.org/officeDocument/2006/relationships/image" Target="../media/image1.png"/><Relationship Id="rId16" Type="http://schemas.openxmlformats.org/officeDocument/2006/relationships/tags" Target="../tags/tag68.xml"/><Relationship Id="rId15" Type="http://schemas.openxmlformats.org/officeDocument/2006/relationships/tags" Target="../tags/tag67.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emf"/></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18.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9" Type="http://schemas.openxmlformats.org/officeDocument/2006/relationships/slideLayout" Target="../slideLayouts/slideLayout7.xml"/><Relationship Id="rId18" Type="http://schemas.openxmlformats.org/officeDocument/2006/relationships/tags" Target="../tags/tag86.xml"/><Relationship Id="rId17" Type="http://schemas.openxmlformats.org/officeDocument/2006/relationships/image" Target="../media/image1.png"/><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emf"/><Relationship Id="rId1" Type="http://schemas.openxmlformats.org/officeDocument/2006/relationships/image" Target="../media/image8.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audio" Target="../media/audio1.wav"/></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8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9" Type="http://schemas.openxmlformats.org/officeDocument/2006/relationships/image" Target="../media/image24.png"/><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hyperlink" Target="http://en.wikipedia.org/wiki/Buddy_memory_allocation" TargetMode="External"/><Relationship Id="rId14" Type="http://schemas.openxmlformats.org/officeDocument/2006/relationships/slideLayout" Target="../slideLayouts/slideLayout2.xml"/><Relationship Id="rId13" Type="http://schemas.openxmlformats.org/officeDocument/2006/relationships/image" Target="../media/image28.png"/><Relationship Id="rId12" Type="http://schemas.openxmlformats.org/officeDocument/2006/relationships/image" Target="../media/image27.png"/><Relationship Id="rId11" Type="http://schemas.openxmlformats.org/officeDocument/2006/relationships/image" Target="../media/image26.png"/><Relationship Id="rId10" Type="http://schemas.openxmlformats.org/officeDocument/2006/relationships/image" Target="../media/image25.png"/><Relationship Id="rId1" Type="http://schemas.openxmlformats.org/officeDocument/2006/relationships/image" Target="../media/image1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49.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0.emf"/><Relationship Id="rId1" Type="http://schemas.openxmlformats.org/officeDocument/2006/relationships/oleObject" Target="../embeddings/oleObject2.bin"/></Relationships>
</file>

<file path=ppt/slides/_rels/slide150.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31.wmf"/><Relationship Id="rId1" Type="http://schemas.openxmlformats.org/officeDocument/2006/relationships/oleObject" Target="../embeddings/oleObject3.bin"/></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15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1.xml"/><Relationship Id="rId2" Type="http://schemas.openxmlformats.org/officeDocument/2006/relationships/image" Target="../media/image34.wmf"/><Relationship Id="rId1" Type="http://schemas.openxmlformats.org/officeDocument/2006/relationships/oleObject" Target="../embeddings/oleObject4.bin"/></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5.wmf"/></Relationships>
</file>

<file path=ppt/slides/_rels/slide161.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image" Target="../media/image36.wmf"/></Relationships>
</file>

<file path=ppt/slides/_rels/slide1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image" Target="../media/image38.wmf"/></Relationships>
</file>

<file path=ppt/slides/_rels/slide1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wmf"/><Relationship Id="rId1" Type="http://schemas.openxmlformats.org/officeDocument/2006/relationships/image" Target="../media/image39.wmf"/></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1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1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a:bodyPr>
          <a:p>
            <a:r>
              <a:rPr lang="zh-CN" altLang="en-US"/>
              <a:t>第一章</a:t>
            </a:r>
            <a:br>
              <a:rPr lang="zh-CN" altLang="en-US"/>
            </a:br>
            <a:r>
              <a:rPr lang="zh-CN" altLang="en-US"/>
              <a:t>操作系统引论</a:t>
            </a:r>
            <a:endParaRPr lang="zh-CN" altLang="en-US"/>
          </a:p>
        </p:txBody>
      </p:sp>
      <p:sp>
        <p:nvSpPr>
          <p:cNvPr id="3" name="副标题 2"/>
          <p:cNvSpPr>
            <a:spLocks noGrp="1"/>
          </p:cNvSpPr>
          <p:nvPr>
            <p:ph type="subTitle" idx="1"/>
          </p:nvPr>
        </p:nvSpPr>
        <p:spPr/>
        <p:txBody>
          <a:bodyPr/>
          <a:p>
            <a:endParaRPr lang="zh-CN" altLang="en-US"/>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525905" y="1062099"/>
            <a:ext cx="9753600" cy="830580"/>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操作系统的目标不包括</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2359378" y="2255485"/>
            <a:ext cx="7473244"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方便用户使用计算机</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2359378" y="3112735"/>
            <a:ext cx="7473244"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提高硬件资源利用率</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2359378" y="3969985"/>
            <a:ext cx="7473244"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方便扩充系统功能</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2359378" y="4827235"/>
            <a:ext cx="7473244"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便于编写应用程序</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446883" y="2319778"/>
            <a:ext cx="496116"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446883" y="3177028"/>
            <a:ext cx="496116"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446883" y="4034278"/>
            <a:ext cx="496116"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446883" y="4891528"/>
            <a:ext cx="496116"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8836378" y="568448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12192000" cy="635000"/>
            <a:chOff x="0" y="0"/>
            <a:chExt cx="12192000" cy="635000"/>
          </a:xfrm>
        </p:grpSpPr>
        <p:sp>
          <p:nvSpPr>
            <p:cNvPr id="16"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zh-CN" sz="3200" b="1" dirty="0"/>
              <a:t>操作系统负责管理计算机系统的</a:t>
            </a:r>
            <a:r>
              <a:rPr lang="en-US" altLang="zh-CN" sz="3200" b="1" dirty="0"/>
              <a:t>( )</a:t>
            </a:r>
            <a:r>
              <a:rPr lang="zh-CN" altLang="zh-CN" sz="3200" b="1" dirty="0"/>
              <a:t>，其中包括中央处理器、主存、设备和系统的数据信息。</a:t>
            </a:r>
            <a:endParaRPr lang="zh-CN" altLang="zh-CN" sz="3200" b="1" dirty="0"/>
          </a:p>
        </p:txBody>
      </p:sp>
      <p:sp>
        <p:nvSpPr>
          <p:cNvPr id="7" name="文本框 6"/>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程序</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文件</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资源</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进程</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5716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12192000" cy="635000"/>
            <a:chOff x="0" y="0"/>
            <a:chExt cx="12192000" cy="635000"/>
          </a:xfrm>
        </p:grpSpPr>
        <p:sp>
          <p:nvSpPr>
            <p:cNvPr id="16"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endParaRPr lang="zh-CN" altLang="en-US"/>
          </a:p>
        </p:txBody>
      </p:sp>
      <p:sp>
        <p:nvSpPr>
          <p:cNvPr id="2" name="标题 1"/>
          <p:cNvSpPr>
            <a:spLocks noGrp="1"/>
          </p:cNvSpPr>
          <p:nvPr>
            <p:ph type="title"/>
          </p:nvPr>
        </p:nvSpPr>
        <p:spPr/>
        <p:txBody>
          <a:bodyPr/>
          <a:lstStyle/>
          <a:p>
            <a:r>
              <a:rPr lang="zh-CN" altLang="en-US" dirty="0"/>
              <a:t>典型问题</a:t>
            </a:r>
            <a:endParaRPr lang="zh-CN" altLang="en-US" dirty="0"/>
          </a:p>
        </p:txBody>
      </p:sp>
      <p:pic>
        <p:nvPicPr>
          <p:cNvPr id="4" name="图片 3"/>
          <p:cNvPicPr>
            <a:picLocks noChangeAspect="1"/>
          </p:cNvPicPr>
          <p:nvPr/>
        </p:nvPicPr>
        <p:blipFill>
          <a:blip r:embed="rId1"/>
          <a:stretch>
            <a:fillRect/>
          </a:stretch>
        </p:blipFill>
        <p:spPr>
          <a:xfrm>
            <a:off x="1104900" y="1052737"/>
            <a:ext cx="10083799" cy="524136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下面哪项不属于单道批处理程序的特征：</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2438400" y="27860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自动性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2438400" y="36433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并发性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2438400" y="450056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顺序性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2438400" y="5357813"/>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单道性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12192000" cy="635000"/>
            <a:chOff x="0" y="0"/>
            <a:chExt cx="12192000" cy="635000"/>
          </a:xfrm>
        </p:grpSpPr>
        <p:sp>
          <p:nvSpPr>
            <p:cNvPr id="16"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p:cNvSpPr/>
          <p:nvPr/>
        </p:nvSpPr>
        <p:spPr bwMode="auto">
          <a:xfrm>
            <a:off x="647700" y="990601"/>
            <a:ext cx="10807700" cy="3724284"/>
          </a:xfrm>
          <a:prstGeom prst="rect">
            <a:avLst/>
          </a:prstGeom>
          <a:noFill/>
          <a:ln w="9525">
            <a:noFill/>
            <a:miter lim="800000"/>
          </a:ln>
        </p:spPr>
        <p:txBody>
          <a:bodyPr/>
          <a:lstStyle/>
          <a:p>
            <a:pPr marL="342900" indent="-342900">
              <a:lnSpc>
                <a:spcPct val="120000"/>
              </a:lnSpc>
              <a:spcBef>
                <a:spcPct val="20000"/>
              </a:spcBef>
              <a:buClr>
                <a:schemeClr val="bg2"/>
              </a:buClr>
              <a:buSzPct val="75000"/>
            </a:pPr>
            <a:r>
              <a:rPr lang="en-US" altLang="zh-CN" sz="2800" b="1" dirty="0">
                <a:latin typeface="华文楷体" panose="02010600040101010101" pitchFamily="2" charset="-122"/>
                <a:ea typeface="华文楷体" panose="02010600040101010101" pitchFamily="2" charset="-122"/>
              </a:rPr>
              <a:t>	</a:t>
            </a:r>
            <a:r>
              <a:rPr lang="zh-CN" altLang="en-US" sz="2800" b="1" dirty="0">
                <a:latin typeface="华文楷体" panose="02010600040101010101" pitchFamily="2" charset="-122"/>
                <a:ea typeface="华文楷体" panose="02010600040101010101" pitchFamily="2" charset="-122"/>
              </a:rPr>
              <a:t>设内存中有三道程序</a:t>
            </a:r>
            <a:r>
              <a:rPr lang="en-US" altLang="zh-CN" sz="2800" b="1" dirty="0">
                <a:latin typeface="华文楷体" panose="02010600040101010101" pitchFamily="2" charset="-122"/>
                <a:ea typeface="华文楷体" panose="02010600040101010101" pitchFamily="2" charset="-122"/>
              </a:rPr>
              <a:t>A</a:t>
            </a:r>
            <a:r>
              <a:rPr lang="zh-CN" altLang="en-US" sz="2800" b="1" dirty="0">
                <a:latin typeface="华文楷体" panose="02010600040101010101" pitchFamily="2" charset="-122"/>
                <a:ea typeface="华文楷体" panose="02010600040101010101" pitchFamily="2" charset="-122"/>
              </a:rPr>
              <a:t>、</a:t>
            </a:r>
            <a:r>
              <a:rPr lang="en-US" altLang="zh-CN" sz="2800" b="1" dirty="0">
                <a:latin typeface="华文楷体" panose="02010600040101010101" pitchFamily="2" charset="-122"/>
                <a:ea typeface="华文楷体" panose="02010600040101010101" pitchFamily="2" charset="-122"/>
              </a:rPr>
              <a:t>B</a:t>
            </a:r>
            <a:r>
              <a:rPr lang="zh-CN" altLang="en-US" sz="2800" b="1" dirty="0">
                <a:latin typeface="华文楷体" panose="02010600040101010101" pitchFamily="2" charset="-122"/>
                <a:ea typeface="华文楷体" panose="02010600040101010101" pitchFamily="2" charset="-122"/>
              </a:rPr>
              <a:t>和</a:t>
            </a:r>
            <a:r>
              <a:rPr lang="en-US" altLang="zh-CN" sz="2800" b="1" dirty="0">
                <a:latin typeface="华文楷体" panose="02010600040101010101" pitchFamily="2" charset="-122"/>
                <a:ea typeface="华文楷体" panose="02010600040101010101" pitchFamily="2" charset="-122"/>
              </a:rPr>
              <a:t>C</a:t>
            </a:r>
            <a:r>
              <a:rPr lang="zh-CN" altLang="en-US" sz="2800" b="1" dirty="0">
                <a:latin typeface="华文楷体" panose="02010600040101010101" pitchFamily="2" charset="-122"/>
                <a:ea typeface="华文楷体" panose="02010600040101010101" pitchFamily="2" charset="-122"/>
              </a:rPr>
              <a:t>，它们按</a:t>
            </a:r>
            <a:r>
              <a:rPr lang="en-US" altLang="zh-CN" sz="2800" b="1" dirty="0">
                <a:latin typeface="华文楷体" panose="02010600040101010101" pitchFamily="2" charset="-122"/>
                <a:ea typeface="华文楷体" panose="02010600040101010101" pitchFamily="2" charset="-122"/>
              </a:rPr>
              <a:t>A</a:t>
            </a:r>
            <a:r>
              <a:rPr lang="zh-CN" altLang="en-US" sz="2800" b="1" dirty="0">
                <a:latin typeface="华文楷体" panose="02010600040101010101" pitchFamily="2" charset="-122"/>
                <a:ea typeface="华文楷体" panose="02010600040101010101" pitchFamily="2" charset="-122"/>
              </a:rPr>
              <a:t>、</a:t>
            </a:r>
            <a:r>
              <a:rPr lang="en-US" altLang="zh-CN" sz="2800" b="1" dirty="0">
                <a:latin typeface="华文楷体" panose="02010600040101010101" pitchFamily="2" charset="-122"/>
                <a:ea typeface="华文楷体" panose="02010600040101010101" pitchFamily="2" charset="-122"/>
              </a:rPr>
              <a:t>B</a:t>
            </a:r>
            <a:r>
              <a:rPr lang="zh-CN" altLang="en-US" sz="2800" b="1" dirty="0">
                <a:latin typeface="华文楷体" panose="02010600040101010101" pitchFamily="2" charset="-122"/>
                <a:ea typeface="华文楷体" panose="02010600040101010101" pitchFamily="2" charset="-122"/>
              </a:rPr>
              <a:t>、</a:t>
            </a:r>
            <a:r>
              <a:rPr lang="en-US" altLang="zh-CN" sz="2800" b="1" dirty="0">
                <a:latin typeface="华文楷体" panose="02010600040101010101" pitchFamily="2" charset="-122"/>
                <a:ea typeface="华文楷体" panose="02010600040101010101" pitchFamily="2" charset="-122"/>
              </a:rPr>
              <a:t>C</a:t>
            </a:r>
            <a:r>
              <a:rPr lang="zh-CN" altLang="en-US" sz="2800" b="1" dirty="0">
                <a:latin typeface="华文楷体" panose="02010600040101010101" pitchFamily="2" charset="-122"/>
                <a:ea typeface="华文楷体" panose="02010600040101010101" pitchFamily="2" charset="-122"/>
              </a:rPr>
              <a:t>的优先次序执行。它们的计算和</a:t>
            </a:r>
            <a:r>
              <a:rPr lang="en-US" altLang="zh-CN" sz="2800" b="1" dirty="0">
                <a:latin typeface="华文楷体" panose="02010600040101010101" pitchFamily="2" charset="-122"/>
                <a:ea typeface="华文楷体" panose="02010600040101010101" pitchFamily="2" charset="-122"/>
              </a:rPr>
              <a:t>I/O</a:t>
            </a:r>
            <a:r>
              <a:rPr lang="zh-CN" altLang="en-US" sz="2800" b="1" dirty="0">
                <a:latin typeface="华文楷体" panose="02010600040101010101" pitchFamily="2" charset="-122"/>
                <a:ea typeface="华文楷体" panose="02010600040101010101" pitchFamily="2" charset="-122"/>
              </a:rPr>
              <a:t>操作时间如下表所示。</a:t>
            </a:r>
            <a:endParaRPr lang="zh-CN" altLang="en-US" sz="2800" b="1" dirty="0">
              <a:latin typeface="华文楷体" panose="02010600040101010101" pitchFamily="2" charset="-122"/>
              <a:ea typeface="华文楷体" panose="02010600040101010101" pitchFamily="2" charset="-122"/>
            </a:endParaRPr>
          </a:p>
          <a:p>
            <a:pPr marL="342900" indent="-342900">
              <a:lnSpc>
                <a:spcPct val="120000"/>
              </a:lnSpc>
              <a:spcBef>
                <a:spcPct val="20000"/>
              </a:spcBef>
              <a:buClr>
                <a:schemeClr val="bg2"/>
              </a:buClr>
              <a:buSzPct val="75000"/>
            </a:pPr>
            <a:r>
              <a:rPr lang="en-US" altLang="zh-CN" sz="2800" b="1" dirty="0">
                <a:latin typeface="华文楷体" panose="02010600040101010101" pitchFamily="2" charset="-122"/>
                <a:ea typeface="华文楷体" panose="02010600040101010101" pitchFamily="2" charset="-122"/>
              </a:rPr>
              <a:t>	</a:t>
            </a:r>
            <a:r>
              <a:rPr lang="zh-CN" altLang="en-US" sz="2800" b="1" dirty="0">
                <a:latin typeface="华文楷体" panose="02010600040101010101" pitchFamily="2" charset="-122"/>
                <a:ea typeface="华文楷体" panose="02010600040101010101" pitchFamily="2" charset="-122"/>
              </a:rPr>
              <a:t>假设三道程序使用能够相同的设备进行</a:t>
            </a:r>
            <a:r>
              <a:rPr lang="en-US" altLang="zh-CN" sz="2800" b="1" dirty="0">
                <a:latin typeface="华文楷体" panose="02010600040101010101" pitchFamily="2" charset="-122"/>
                <a:ea typeface="华文楷体" panose="02010600040101010101" pitchFamily="2" charset="-122"/>
              </a:rPr>
              <a:t>I/O</a:t>
            </a:r>
            <a:r>
              <a:rPr lang="zh-CN" altLang="en-US" sz="2800" b="1" dirty="0">
                <a:latin typeface="华文楷体" panose="02010600040101010101" pitchFamily="2" charset="-122"/>
                <a:ea typeface="华文楷体" panose="02010600040101010101" pitchFamily="2" charset="-122"/>
              </a:rPr>
              <a:t>操作，即程序以串行方式使用设备，试画出单道运行和多道运行的时间关系图（调度程序的执行时间忽略不计）。在两种情况下，完成这三道程序各要花多少时间？（调度时间算</a:t>
            </a:r>
            <a:r>
              <a:rPr lang="en-US" altLang="zh-CN" sz="2800" b="1" dirty="0">
                <a:latin typeface="华文楷体" panose="02010600040101010101" pitchFamily="2" charset="-122"/>
                <a:ea typeface="华文楷体" panose="02010600040101010101" pitchFamily="2" charset="-122"/>
              </a:rPr>
              <a:t>CPU</a:t>
            </a:r>
            <a:r>
              <a:rPr lang="zh-CN" altLang="en-US" sz="2800" b="1" dirty="0">
                <a:latin typeface="华文楷体" panose="02010600040101010101" pitchFamily="2" charset="-122"/>
                <a:ea typeface="华文楷体" panose="02010600040101010101" pitchFamily="2" charset="-122"/>
              </a:rPr>
              <a:t>利用的时间）</a:t>
            </a:r>
            <a:endParaRPr lang="zh-CN" altLang="en-US" sz="2800" b="1" dirty="0">
              <a:latin typeface="华文楷体" panose="02010600040101010101" pitchFamily="2" charset="-122"/>
              <a:ea typeface="华文楷体" panose="02010600040101010101" pitchFamily="2" charset="-122"/>
            </a:endParaRPr>
          </a:p>
          <a:p>
            <a:pPr marL="342900" indent="-342900">
              <a:lnSpc>
                <a:spcPct val="120000"/>
              </a:lnSpc>
              <a:spcBef>
                <a:spcPct val="20000"/>
              </a:spcBef>
              <a:buClr>
                <a:schemeClr val="bg2"/>
              </a:buClr>
              <a:buSzPct val="75000"/>
            </a:pPr>
            <a:endParaRPr lang="en-US" altLang="zh-CN" sz="2800" b="1" dirty="0">
              <a:latin typeface="华文楷体" panose="02010600040101010101" pitchFamily="2" charset="-122"/>
              <a:ea typeface="华文楷体" panose="02010600040101010101" pitchFamily="2" charset="-122"/>
            </a:endParaRPr>
          </a:p>
        </p:txBody>
      </p:sp>
      <p:graphicFrame>
        <p:nvGraphicFramePr>
          <p:cNvPr id="236578" name="Group 34"/>
          <p:cNvGraphicFramePr>
            <a:graphicFrameLocks noGrp="1"/>
          </p:cNvGraphicFramePr>
          <p:nvPr/>
        </p:nvGraphicFramePr>
        <p:xfrm>
          <a:off x="3300395" y="4305303"/>
          <a:ext cx="6110305" cy="1866896"/>
        </p:xfrm>
        <a:graphic>
          <a:graphicData uri="http://schemas.openxmlformats.org/drawingml/2006/table">
            <a:tbl>
              <a:tblPr/>
              <a:tblGrid>
                <a:gridCol w="1528459"/>
                <a:gridCol w="1526694"/>
                <a:gridCol w="1528459"/>
                <a:gridCol w="1526693"/>
              </a:tblGrid>
              <a:tr h="46672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60ms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20ms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I/O</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4">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10ms</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20ms</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6" marB="4564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标题 4"/>
          <p:cNvSpPr>
            <a:spLocks noGrp="1"/>
          </p:cNvSpPr>
          <p:nvPr>
            <p:ph type="title"/>
          </p:nvPr>
        </p:nvSpPr>
        <p:spPr/>
        <p:txBody>
          <a:bodyPr/>
          <a:lstStyle/>
          <a:p>
            <a:r>
              <a:rPr lang="zh-CN" altLang="en-US" dirty="0"/>
              <a:t>实例计算</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内容占位符 2"/>
          <p:cNvSpPr/>
          <p:nvPr/>
        </p:nvSpPr>
        <p:spPr bwMode="auto">
          <a:xfrm>
            <a:off x="2135188" y="642918"/>
            <a:ext cx="8208962" cy="2592388"/>
          </a:xfrm>
          <a:prstGeom prst="rect">
            <a:avLst/>
          </a:prstGeom>
          <a:noFill/>
          <a:ln w="9525">
            <a:noFill/>
            <a:miter lim="800000"/>
          </a:ln>
        </p:spPr>
        <p:txBody>
          <a:bodyPr/>
          <a:lstStyle/>
          <a:p>
            <a:pPr marL="342900" indent="-342900">
              <a:lnSpc>
                <a:spcPct val="120000"/>
              </a:lnSpc>
              <a:spcBef>
                <a:spcPct val="20000"/>
              </a:spcBef>
              <a:buClr>
                <a:schemeClr val="bg2"/>
              </a:buClr>
              <a:buSzPct val="75000"/>
            </a:pPr>
            <a:r>
              <a:rPr lang="zh-CN" altLang="en-US" sz="3200" b="1" dirty="0"/>
              <a:t>           </a:t>
            </a:r>
            <a:endParaRPr lang="zh-CN" altLang="en-US" sz="2800" b="1" dirty="0"/>
          </a:p>
          <a:p>
            <a:pPr marL="342900" indent="-342900">
              <a:lnSpc>
                <a:spcPct val="120000"/>
              </a:lnSpc>
              <a:spcBef>
                <a:spcPct val="20000"/>
              </a:spcBef>
              <a:buClr>
                <a:schemeClr val="bg2"/>
              </a:buClr>
              <a:buSzPct val="75000"/>
            </a:pPr>
            <a:endParaRPr lang="en-US" altLang="zh-CN" sz="2800" b="1" dirty="0"/>
          </a:p>
        </p:txBody>
      </p:sp>
      <p:graphicFrame>
        <p:nvGraphicFramePr>
          <p:cNvPr id="237714" name="Group 146"/>
          <p:cNvGraphicFramePr>
            <a:graphicFrameLocks noGrp="1"/>
          </p:cNvGraphicFramePr>
          <p:nvPr/>
        </p:nvGraphicFramePr>
        <p:xfrm>
          <a:off x="3432176" y="1365231"/>
          <a:ext cx="5495925" cy="1828800"/>
        </p:xfrm>
        <a:graphic>
          <a:graphicData uri="http://schemas.openxmlformats.org/drawingml/2006/table">
            <a:tbl>
              <a:tblPr/>
              <a:tblGrid>
                <a:gridCol w="1374775"/>
                <a:gridCol w="1373188"/>
                <a:gridCol w="1374775"/>
                <a:gridCol w="1373187"/>
              </a:tblGrid>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计算</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60ms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20ms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I/O</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20ms</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 name="Group 103"/>
          <p:cNvGrpSpPr/>
          <p:nvPr/>
        </p:nvGrpSpPr>
        <p:grpSpPr bwMode="auto">
          <a:xfrm>
            <a:off x="1295466" y="3571877"/>
            <a:ext cx="10058334" cy="2854323"/>
            <a:chOff x="204" y="2156"/>
            <a:chExt cx="5284" cy="1550"/>
          </a:xfrm>
        </p:grpSpPr>
        <p:sp>
          <p:nvSpPr>
            <p:cNvPr id="45088" name="Text Box 104"/>
            <p:cNvSpPr txBox="1">
              <a:spLocks noChangeArrowheads="1"/>
            </p:cNvSpPr>
            <p:nvPr/>
          </p:nvSpPr>
          <p:spPr bwMode="auto">
            <a:xfrm>
              <a:off x="4785" y="3290"/>
              <a:ext cx="703" cy="231"/>
            </a:xfrm>
            <a:prstGeom prst="rect">
              <a:avLst/>
            </a:prstGeom>
            <a:noFill/>
            <a:ln w="9525">
              <a:noFill/>
              <a:miter lim="800000"/>
            </a:ln>
            <a:effectLst/>
          </p:spPr>
          <p:txBody>
            <a:bodyPr>
              <a:spAutoFit/>
            </a:bodyPr>
            <a:lstStyle/>
            <a:p>
              <a:pPr>
                <a:spcBef>
                  <a:spcPct val="50000"/>
                </a:spcBef>
              </a:pPr>
              <a:r>
                <a:rPr lang="zh-CN" altLang="en-US"/>
                <a:t>时间</a:t>
              </a:r>
              <a:r>
                <a:rPr lang="en-US" altLang="zh-CN"/>
                <a:t>( ms)</a:t>
              </a:r>
              <a:endParaRPr lang="en-US" altLang="zh-CN"/>
            </a:p>
          </p:txBody>
        </p:sp>
        <p:sp>
          <p:nvSpPr>
            <p:cNvPr id="45089" name="Line 105"/>
            <p:cNvSpPr>
              <a:spLocks noChangeShapeType="1"/>
            </p:cNvSpPr>
            <p:nvPr/>
          </p:nvSpPr>
          <p:spPr bwMode="auto">
            <a:xfrm>
              <a:off x="748" y="3430"/>
              <a:ext cx="3992" cy="0"/>
            </a:xfrm>
            <a:prstGeom prst="line">
              <a:avLst/>
            </a:prstGeom>
            <a:noFill/>
            <a:ln w="25400">
              <a:solidFill>
                <a:schemeClr val="tx1"/>
              </a:solidFill>
              <a:round/>
              <a:tailEnd type="triangle" w="med" len="med"/>
            </a:ln>
            <a:effectLst/>
          </p:spPr>
          <p:txBody>
            <a:bodyPr/>
            <a:lstStyle/>
            <a:p>
              <a:endParaRPr lang="zh-CN" altLang="en-US"/>
            </a:p>
          </p:txBody>
        </p:sp>
        <p:sp>
          <p:nvSpPr>
            <p:cNvPr id="45090" name="Line 106"/>
            <p:cNvSpPr>
              <a:spLocks noChangeShapeType="1"/>
            </p:cNvSpPr>
            <p:nvPr/>
          </p:nvSpPr>
          <p:spPr bwMode="auto">
            <a:xfrm flipV="1">
              <a:off x="748" y="2432"/>
              <a:ext cx="0" cy="998"/>
            </a:xfrm>
            <a:prstGeom prst="line">
              <a:avLst/>
            </a:prstGeom>
            <a:noFill/>
            <a:ln w="25400">
              <a:solidFill>
                <a:schemeClr val="tx1"/>
              </a:solidFill>
              <a:round/>
              <a:tailEnd type="triangle" w="med" len="med"/>
            </a:ln>
            <a:effectLst/>
          </p:spPr>
          <p:txBody>
            <a:bodyPr/>
            <a:lstStyle/>
            <a:p>
              <a:endParaRPr lang="zh-CN" altLang="en-US"/>
            </a:p>
          </p:txBody>
        </p:sp>
        <p:sp>
          <p:nvSpPr>
            <p:cNvPr id="45091" name="Line 107"/>
            <p:cNvSpPr>
              <a:spLocks noChangeShapeType="1"/>
            </p:cNvSpPr>
            <p:nvPr/>
          </p:nvSpPr>
          <p:spPr bwMode="auto">
            <a:xfrm>
              <a:off x="657" y="2723"/>
              <a:ext cx="91" cy="0"/>
            </a:xfrm>
            <a:prstGeom prst="line">
              <a:avLst/>
            </a:prstGeom>
            <a:noFill/>
            <a:ln w="25400">
              <a:solidFill>
                <a:schemeClr val="tx1"/>
              </a:solidFill>
              <a:round/>
            </a:ln>
            <a:effectLst/>
          </p:spPr>
          <p:txBody>
            <a:bodyPr/>
            <a:lstStyle/>
            <a:p>
              <a:endParaRPr lang="zh-CN" altLang="en-US"/>
            </a:p>
          </p:txBody>
        </p:sp>
        <p:sp>
          <p:nvSpPr>
            <p:cNvPr id="45092" name="Line 108"/>
            <p:cNvSpPr>
              <a:spLocks noChangeShapeType="1"/>
            </p:cNvSpPr>
            <p:nvPr/>
          </p:nvSpPr>
          <p:spPr bwMode="auto">
            <a:xfrm>
              <a:off x="657" y="3067"/>
              <a:ext cx="91" cy="0"/>
            </a:xfrm>
            <a:prstGeom prst="line">
              <a:avLst/>
            </a:prstGeom>
            <a:noFill/>
            <a:ln w="25400">
              <a:solidFill>
                <a:schemeClr val="tx1"/>
              </a:solidFill>
              <a:round/>
            </a:ln>
            <a:effectLst/>
          </p:spPr>
          <p:txBody>
            <a:bodyPr/>
            <a:lstStyle/>
            <a:p>
              <a:endParaRPr lang="zh-CN" altLang="en-US"/>
            </a:p>
          </p:txBody>
        </p:sp>
        <p:sp>
          <p:nvSpPr>
            <p:cNvPr id="45093" name="Text Box 109"/>
            <p:cNvSpPr txBox="1">
              <a:spLocks noChangeArrowheads="1"/>
            </p:cNvSpPr>
            <p:nvPr/>
          </p:nvSpPr>
          <p:spPr bwMode="auto">
            <a:xfrm>
              <a:off x="295" y="2614"/>
              <a:ext cx="363" cy="231"/>
            </a:xfrm>
            <a:prstGeom prst="rect">
              <a:avLst/>
            </a:prstGeom>
            <a:noFill/>
            <a:ln w="9525">
              <a:noFill/>
              <a:miter lim="800000"/>
            </a:ln>
            <a:effectLst/>
          </p:spPr>
          <p:txBody>
            <a:bodyPr>
              <a:spAutoFit/>
            </a:bodyPr>
            <a:lstStyle/>
            <a:p>
              <a:pPr>
                <a:spcBef>
                  <a:spcPct val="50000"/>
                </a:spcBef>
              </a:pPr>
              <a:r>
                <a:rPr lang="en-US" altLang="zh-CN"/>
                <a:t>I/O</a:t>
              </a:r>
              <a:endParaRPr lang="en-US" altLang="zh-CN"/>
            </a:p>
          </p:txBody>
        </p:sp>
        <p:sp>
          <p:nvSpPr>
            <p:cNvPr id="45094" name="Text Box 110"/>
            <p:cNvSpPr txBox="1">
              <a:spLocks noChangeArrowheads="1"/>
            </p:cNvSpPr>
            <p:nvPr/>
          </p:nvSpPr>
          <p:spPr bwMode="auto">
            <a:xfrm>
              <a:off x="204" y="2931"/>
              <a:ext cx="454" cy="231"/>
            </a:xfrm>
            <a:prstGeom prst="rect">
              <a:avLst/>
            </a:prstGeom>
            <a:noFill/>
            <a:ln w="9525">
              <a:noFill/>
              <a:miter lim="800000"/>
            </a:ln>
            <a:effectLst/>
          </p:spPr>
          <p:txBody>
            <a:bodyPr>
              <a:spAutoFit/>
            </a:bodyPr>
            <a:lstStyle/>
            <a:p>
              <a:pPr>
                <a:spcBef>
                  <a:spcPct val="50000"/>
                </a:spcBef>
              </a:pPr>
              <a:r>
                <a:rPr lang="zh-CN" altLang="en-US"/>
                <a:t>计算</a:t>
              </a:r>
              <a:endParaRPr lang="zh-CN" altLang="en-US"/>
            </a:p>
          </p:txBody>
        </p:sp>
        <p:sp>
          <p:nvSpPr>
            <p:cNvPr id="45095" name="Text Box 111"/>
            <p:cNvSpPr txBox="1">
              <a:spLocks noChangeArrowheads="1"/>
            </p:cNvSpPr>
            <p:nvPr/>
          </p:nvSpPr>
          <p:spPr bwMode="auto">
            <a:xfrm>
              <a:off x="435" y="2156"/>
              <a:ext cx="703" cy="231"/>
            </a:xfrm>
            <a:prstGeom prst="rect">
              <a:avLst/>
            </a:prstGeom>
            <a:noFill/>
            <a:ln w="9525">
              <a:noFill/>
              <a:miter lim="800000"/>
            </a:ln>
            <a:effectLst/>
          </p:spPr>
          <p:txBody>
            <a:bodyPr>
              <a:spAutoFit/>
            </a:bodyPr>
            <a:lstStyle/>
            <a:p>
              <a:pPr>
                <a:spcBef>
                  <a:spcPct val="50000"/>
                </a:spcBef>
              </a:pPr>
              <a:r>
                <a:rPr lang="zh-CN" altLang="en-US"/>
                <a:t>活动列表</a:t>
              </a:r>
              <a:endParaRPr lang="zh-CN" altLang="en-US"/>
            </a:p>
          </p:txBody>
        </p:sp>
        <p:sp>
          <p:nvSpPr>
            <p:cNvPr id="45096" name="Line 112"/>
            <p:cNvSpPr>
              <a:spLocks noChangeShapeType="1"/>
            </p:cNvSpPr>
            <p:nvPr/>
          </p:nvSpPr>
          <p:spPr bwMode="auto">
            <a:xfrm>
              <a:off x="748" y="3067"/>
              <a:ext cx="408" cy="0"/>
            </a:xfrm>
            <a:prstGeom prst="line">
              <a:avLst/>
            </a:prstGeom>
            <a:noFill/>
            <a:ln w="25400">
              <a:solidFill>
                <a:schemeClr val="tx1"/>
              </a:solidFill>
              <a:round/>
            </a:ln>
            <a:effectLst/>
          </p:spPr>
          <p:txBody>
            <a:bodyPr/>
            <a:lstStyle/>
            <a:p>
              <a:endParaRPr lang="zh-CN" altLang="en-US"/>
            </a:p>
          </p:txBody>
        </p:sp>
        <p:sp>
          <p:nvSpPr>
            <p:cNvPr id="45097" name="Line 113"/>
            <p:cNvSpPr>
              <a:spLocks noChangeShapeType="1"/>
            </p:cNvSpPr>
            <p:nvPr/>
          </p:nvSpPr>
          <p:spPr bwMode="auto">
            <a:xfrm>
              <a:off x="1156" y="2704"/>
              <a:ext cx="0" cy="726"/>
            </a:xfrm>
            <a:prstGeom prst="line">
              <a:avLst/>
            </a:prstGeom>
            <a:noFill/>
            <a:ln w="19050">
              <a:solidFill>
                <a:schemeClr val="tx1"/>
              </a:solidFill>
              <a:prstDash val="dash"/>
              <a:round/>
            </a:ln>
            <a:effectLst/>
          </p:spPr>
          <p:txBody>
            <a:bodyPr/>
            <a:lstStyle/>
            <a:p>
              <a:endParaRPr lang="zh-CN" altLang="en-US"/>
            </a:p>
          </p:txBody>
        </p:sp>
        <p:sp>
          <p:nvSpPr>
            <p:cNvPr id="45098" name="Line 114"/>
            <p:cNvSpPr>
              <a:spLocks noChangeShapeType="1"/>
            </p:cNvSpPr>
            <p:nvPr/>
          </p:nvSpPr>
          <p:spPr bwMode="auto">
            <a:xfrm>
              <a:off x="1156" y="2704"/>
              <a:ext cx="590" cy="0"/>
            </a:xfrm>
            <a:prstGeom prst="line">
              <a:avLst/>
            </a:prstGeom>
            <a:noFill/>
            <a:ln w="25400">
              <a:solidFill>
                <a:schemeClr val="tx1"/>
              </a:solidFill>
              <a:round/>
            </a:ln>
            <a:effectLst/>
          </p:spPr>
          <p:txBody>
            <a:bodyPr/>
            <a:lstStyle/>
            <a:p>
              <a:endParaRPr lang="zh-CN" altLang="en-US"/>
            </a:p>
          </p:txBody>
        </p:sp>
        <p:sp>
          <p:nvSpPr>
            <p:cNvPr id="45099" name="Line 115"/>
            <p:cNvSpPr>
              <a:spLocks noChangeShapeType="1"/>
            </p:cNvSpPr>
            <p:nvPr/>
          </p:nvSpPr>
          <p:spPr bwMode="auto">
            <a:xfrm>
              <a:off x="2653" y="2704"/>
              <a:ext cx="0" cy="726"/>
            </a:xfrm>
            <a:prstGeom prst="line">
              <a:avLst/>
            </a:prstGeom>
            <a:noFill/>
            <a:ln w="19050">
              <a:solidFill>
                <a:schemeClr val="tx1"/>
              </a:solidFill>
              <a:prstDash val="dash"/>
              <a:round/>
            </a:ln>
            <a:effectLst/>
          </p:spPr>
          <p:txBody>
            <a:bodyPr/>
            <a:lstStyle/>
            <a:p>
              <a:endParaRPr lang="zh-CN" altLang="en-US"/>
            </a:p>
          </p:txBody>
        </p:sp>
        <p:sp>
          <p:nvSpPr>
            <p:cNvPr id="45100" name="Line 116"/>
            <p:cNvSpPr>
              <a:spLocks noChangeShapeType="1"/>
            </p:cNvSpPr>
            <p:nvPr/>
          </p:nvSpPr>
          <p:spPr bwMode="auto">
            <a:xfrm>
              <a:off x="1746" y="3067"/>
              <a:ext cx="907" cy="0"/>
            </a:xfrm>
            <a:prstGeom prst="line">
              <a:avLst/>
            </a:prstGeom>
            <a:noFill/>
            <a:ln w="25400">
              <a:solidFill>
                <a:schemeClr val="tx1"/>
              </a:solidFill>
              <a:round/>
            </a:ln>
            <a:effectLst/>
          </p:spPr>
          <p:txBody>
            <a:bodyPr/>
            <a:lstStyle/>
            <a:p>
              <a:endParaRPr lang="zh-CN" altLang="en-US"/>
            </a:p>
          </p:txBody>
        </p:sp>
        <p:sp>
          <p:nvSpPr>
            <p:cNvPr id="45101" name="Line 117"/>
            <p:cNvSpPr>
              <a:spLocks noChangeShapeType="1"/>
            </p:cNvSpPr>
            <p:nvPr/>
          </p:nvSpPr>
          <p:spPr bwMode="auto">
            <a:xfrm>
              <a:off x="1746" y="2704"/>
              <a:ext cx="0" cy="726"/>
            </a:xfrm>
            <a:prstGeom prst="line">
              <a:avLst/>
            </a:prstGeom>
            <a:noFill/>
            <a:ln w="19050">
              <a:solidFill>
                <a:schemeClr val="tx1"/>
              </a:solidFill>
              <a:prstDash val="dash"/>
              <a:round/>
            </a:ln>
            <a:effectLst/>
          </p:spPr>
          <p:txBody>
            <a:bodyPr/>
            <a:lstStyle/>
            <a:p>
              <a:endParaRPr lang="zh-CN" altLang="en-US"/>
            </a:p>
          </p:txBody>
        </p:sp>
        <p:sp>
          <p:nvSpPr>
            <p:cNvPr id="45102" name="Line 118"/>
            <p:cNvSpPr>
              <a:spLocks noChangeShapeType="1"/>
            </p:cNvSpPr>
            <p:nvPr/>
          </p:nvSpPr>
          <p:spPr bwMode="auto">
            <a:xfrm>
              <a:off x="2653" y="2704"/>
              <a:ext cx="408" cy="0"/>
            </a:xfrm>
            <a:prstGeom prst="line">
              <a:avLst/>
            </a:prstGeom>
            <a:noFill/>
            <a:ln w="25400">
              <a:solidFill>
                <a:schemeClr val="tx1"/>
              </a:solidFill>
              <a:round/>
            </a:ln>
            <a:effectLst/>
          </p:spPr>
          <p:txBody>
            <a:bodyPr/>
            <a:lstStyle/>
            <a:p>
              <a:endParaRPr lang="zh-CN" altLang="en-US"/>
            </a:p>
          </p:txBody>
        </p:sp>
        <p:sp>
          <p:nvSpPr>
            <p:cNvPr id="45103" name="Line 119"/>
            <p:cNvSpPr>
              <a:spLocks noChangeShapeType="1"/>
            </p:cNvSpPr>
            <p:nvPr/>
          </p:nvSpPr>
          <p:spPr bwMode="auto">
            <a:xfrm>
              <a:off x="3061" y="3058"/>
              <a:ext cx="408" cy="0"/>
            </a:xfrm>
            <a:prstGeom prst="line">
              <a:avLst/>
            </a:prstGeom>
            <a:noFill/>
            <a:ln w="25400">
              <a:solidFill>
                <a:schemeClr val="tx1"/>
              </a:solidFill>
              <a:round/>
            </a:ln>
            <a:effectLst/>
          </p:spPr>
          <p:txBody>
            <a:bodyPr/>
            <a:lstStyle/>
            <a:p>
              <a:endParaRPr lang="zh-CN" altLang="en-US"/>
            </a:p>
          </p:txBody>
        </p:sp>
        <p:sp>
          <p:nvSpPr>
            <p:cNvPr id="45104" name="Line 120"/>
            <p:cNvSpPr>
              <a:spLocks noChangeShapeType="1"/>
            </p:cNvSpPr>
            <p:nvPr/>
          </p:nvSpPr>
          <p:spPr bwMode="auto">
            <a:xfrm>
              <a:off x="3061" y="2704"/>
              <a:ext cx="0" cy="726"/>
            </a:xfrm>
            <a:prstGeom prst="line">
              <a:avLst/>
            </a:prstGeom>
            <a:noFill/>
            <a:ln w="19050">
              <a:solidFill>
                <a:schemeClr val="tx1"/>
              </a:solidFill>
              <a:prstDash val="dash"/>
              <a:round/>
            </a:ln>
            <a:effectLst/>
          </p:spPr>
          <p:txBody>
            <a:bodyPr/>
            <a:lstStyle/>
            <a:p>
              <a:endParaRPr lang="zh-CN" altLang="en-US"/>
            </a:p>
          </p:txBody>
        </p:sp>
        <p:sp>
          <p:nvSpPr>
            <p:cNvPr id="45105" name="Line 121"/>
            <p:cNvSpPr>
              <a:spLocks noChangeShapeType="1"/>
            </p:cNvSpPr>
            <p:nvPr/>
          </p:nvSpPr>
          <p:spPr bwMode="auto">
            <a:xfrm>
              <a:off x="3470" y="2704"/>
              <a:ext cx="590" cy="0"/>
            </a:xfrm>
            <a:prstGeom prst="line">
              <a:avLst/>
            </a:prstGeom>
            <a:noFill/>
            <a:ln w="25400">
              <a:solidFill>
                <a:schemeClr val="tx1"/>
              </a:solidFill>
              <a:round/>
            </a:ln>
            <a:effectLst/>
          </p:spPr>
          <p:txBody>
            <a:bodyPr/>
            <a:lstStyle/>
            <a:p>
              <a:endParaRPr lang="zh-CN" altLang="en-US"/>
            </a:p>
          </p:txBody>
        </p:sp>
        <p:sp>
          <p:nvSpPr>
            <p:cNvPr id="45106" name="Line 122"/>
            <p:cNvSpPr>
              <a:spLocks noChangeShapeType="1"/>
            </p:cNvSpPr>
            <p:nvPr/>
          </p:nvSpPr>
          <p:spPr bwMode="auto">
            <a:xfrm>
              <a:off x="4060" y="3067"/>
              <a:ext cx="317" cy="0"/>
            </a:xfrm>
            <a:prstGeom prst="line">
              <a:avLst/>
            </a:prstGeom>
            <a:noFill/>
            <a:ln w="25400">
              <a:solidFill>
                <a:schemeClr val="tx1"/>
              </a:solidFill>
              <a:round/>
            </a:ln>
            <a:effectLst/>
          </p:spPr>
          <p:txBody>
            <a:bodyPr/>
            <a:lstStyle/>
            <a:p>
              <a:endParaRPr lang="zh-CN" altLang="en-US"/>
            </a:p>
          </p:txBody>
        </p:sp>
        <p:sp>
          <p:nvSpPr>
            <p:cNvPr id="45107" name="Line 123"/>
            <p:cNvSpPr>
              <a:spLocks noChangeShapeType="1"/>
            </p:cNvSpPr>
            <p:nvPr/>
          </p:nvSpPr>
          <p:spPr bwMode="auto">
            <a:xfrm>
              <a:off x="3470" y="2704"/>
              <a:ext cx="0" cy="726"/>
            </a:xfrm>
            <a:prstGeom prst="line">
              <a:avLst/>
            </a:prstGeom>
            <a:noFill/>
            <a:ln w="19050">
              <a:solidFill>
                <a:schemeClr val="tx1"/>
              </a:solidFill>
              <a:prstDash val="dash"/>
              <a:round/>
            </a:ln>
            <a:effectLst/>
          </p:spPr>
          <p:txBody>
            <a:bodyPr/>
            <a:lstStyle/>
            <a:p>
              <a:endParaRPr lang="zh-CN" altLang="en-US"/>
            </a:p>
          </p:txBody>
        </p:sp>
        <p:sp>
          <p:nvSpPr>
            <p:cNvPr id="45108" name="Line 124"/>
            <p:cNvSpPr>
              <a:spLocks noChangeShapeType="1"/>
            </p:cNvSpPr>
            <p:nvPr/>
          </p:nvSpPr>
          <p:spPr bwMode="auto">
            <a:xfrm>
              <a:off x="4059" y="2704"/>
              <a:ext cx="0" cy="726"/>
            </a:xfrm>
            <a:prstGeom prst="line">
              <a:avLst/>
            </a:prstGeom>
            <a:noFill/>
            <a:ln w="19050">
              <a:solidFill>
                <a:schemeClr val="tx1"/>
              </a:solidFill>
              <a:prstDash val="dash"/>
              <a:round/>
            </a:ln>
            <a:effectLst/>
          </p:spPr>
          <p:txBody>
            <a:bodyPr/>
            <a:lstStyle/>
            <a:p>
              <a:endParaRPr lang="zh-CN" altLang="en-US"/>
            </a:p>
          </p:txBody>
        </p:sp>
        <p:sp>
          <p:nvSpPr>
            <p:cNvPr id="45109" name="Line 125"/>
            <p:cNvSpPr>
              <a:spLocks noChangeShapeType="1"/>
            </p:cNvSpPr>
            <p:nvPr/>
          </p:nvSpPr>
          <p:spPr bwMode="auto">
            <a:xfrm>
              <a:off x="3189" y="3067"/>
              <a:ext cx="0" cy="363"/>
            </a:xfrm>
            <a:prstGeom prst="line">
              <a:avLst/>
            </a:prstGeom>
            <a:noFill/>
            <a:ln w="19050">
              <a:solidFill>
                <a:schemeClr val="tx1"/>
              </a:solidFill>
              <a:prstDash val="dash"/>
              <a:round/>
            </a:ln>
            <a:effectLst/>
          </p:spPr>
          <p:txBody>
            <a:bodyPr/>
            <a:lstStyle/>
            <a:p>
              <a:endParaRPr lang="zh-CN" altLang="en-US"/>
            </a:p>
          </p:txBody>
        </p:sp>
        <p:sp>
          <p:nvSpPr>
            <p:cNvPr id="45110" name="Line 126"/>
            <p:cNvSpPr>
              <a:spLocks noChangeShapeType="1"/>
            </p:cNvSpPr>
            <p:nvPr/>
          </p:nvSpPr>
          <p:spPr bwMode="auto">
            <a:xfrm>
              <a:off x="4377" y="3067"/>
              <a:ext cx="0" cy="363"/>
            </a:xfrm>
            <a:prstGeom prst="line">
              <a:avLst/>
            </a:prstGeom>
            <a:noFill/>
            <a:ln w="19050">
              <a:solidFill>
                <a:schemeClr val="tx1"/>
              </a:solidFill>
              <a:prstDash val="dash"/>
              <a:round/>
            </a:ln>
            <a:effectLst/>
          </p:spPr>
          <p:txBody>
            <a:bodyPr/>
            <a:lstStyle/>
            <a:p>
              <a:endParaRPr lang="zh-CN" altLang="en-US"/>
            </a:p>
          </p:txBody>
        </p:sp>
        <p:sp>
          <p:nvSpPr>
            <p:cNvPr id="45111" name="Text Box 127"/>
            <p:cNvSpPr txBox="1">
              <a:spLocks noChangeArrowheads="1"/>
            </p:cNvSpPr>
            <p:nvPr/>
          </p:nvSpPr>
          <p:spPr bwMode="auto">
            <a:xfrm>
              <a:off x="829" y="2864"/>
              <a:ext cx="182" cy="231"/>
            </a:xfrm>
            <a:prstGeom prst="rect">
              <a:avLst/>
            </a:prstGeom>
            <a:noFill/>
            <a:ln w="9525">
              <a:noFill/>
              <a:miter lim="800000"/>
            </a:ln>
            <a:effectLst/>
          </p:spPr>
          <p:txBody>
            <a:bodyPr>
              <a:spAutoFit/>
            </a:bodyPr>
            <a:lstStyle/>
            <a:p>
              <a:pPr>
                <a:spcBef>
                  <a:spcPct val="50000"/>
                </a:spcBef>
              </a:pPr>
              <a:r>
                <a:rPr lang="en-US" altLang="zh-CN"/>
                <a:t>A</a:t>
              </a:r>
              <a:endParaRPr lang="en-US" altLang="zh-CN"/>
            </a:p>
          </p:txBody>
        </p:sp>
        <p:sp>
          <p:nvSpPr>
            <p:cNvPr id="45112" name="Text Box 128"/>
            <p:cNvSpPr txBox="1">
              <a:spLocks noChangeArrowheads="1"/>
            </p:cNvSpPr>
            <p:nvPr/>
          </p:nvSpPr>
          <p:spPr bwMode="auto">
            <a:xfrm>
              <a:off x="1292" y="2487"/>
              <a:ext cx="182" cy="231"/>
            </a:xfrm>
            <a:prstGeom prst="rect">
              <a:avLst/>
            </a:prstGeom>
            <a:noFill/>
            <a:ln w="9525">
              <a:noFill/>
              <a:miter lim="800000"/>
            </a:ln>
            <a:effectLst/>
          </p:spPr>
          <p:txBody>
            <a:bodyPr>
              <a:spAutoFit/>
            </a:bodyPr>
            <a:lstStyle/>
            <a:p>
              <a:pPr>
                <a:spcBef>
                  <a:spcPct val="50000"/>
                </a:spcBef>
              </a:pPr>
              <a:r>
                <a:rPr lang="en-US" altLang="zh-CN"/>
                <a:t>A</a:t>
              </a:r>
              <a:endParaRPr lang="en-US" altLang="zh-CN"/>
            </a:p>
          </p:txBody>
        </p:sp>
        <p:sp>
          <p:nvSpPr>
            <p:cNvPr id="45113" name="Text Box 129"/>
            <p:cNvSpPr txBox="1">
              <a:spLocks noChangeArrowheads="1"/>
            </p:cNvSpPr>
            <p:nvPr/>
          </p:nvSpPr>
          <p:spPr bwMode="auto">
            <a:xfrm>
              <a:off x="1736" y="2863"/>
              <a:ext cx="182" cy="231"/>
            </a:xfrm>
            <a:prstGeom prst="rect">
              <a:avLst/>
            </a:prstGeom>
            <a:noFill/>
            <a:ln w="9525">
              <a:noFill/>
              <a:miter lim="800000"/>
            </a:ln>
            <a:effectLst/>
          </p:spPr>
          <p:txBody>
            <a:bodyPr>
              <a:spAutoFit/>
            </a:bodyPr>
            <a:lstStyle/>
            <a:p>
              <a:pPr>
                <a:spcBef>
                  <a:spcPct val="50000"/>
                </a:spcBef>
              </a:pPr>
              <a:r>
                <a:rPr lang="en-US" altLang="zh-CN"/>
                <a:t>A</a:t>
              </a:r>
              <a:endParaRPr lang="en-US" altLang="zh-CN"/>
            </a:p>
          </p:txBody>
        </p:sp>
        <p:sp>
          <p:nvSpPr>
            <p:cNvPr id="45114" name="Text Box 130"/>
            <p:cNvSpPr txBox="1">
              <a:spLocks noChangeArrowheads="1"/>
            </p:cNvSpPr>
            <p:nvPr/>
          </p:nvSpPr>
          <p:spPr bwMode="auto">
            <a:xfrm>
              <a:off x="2199" y="2845"/>
              <a:ext cx="182" cy="231"/>
            </a:xfrm>
            <a:prstGeom prst="rect">
              <a:avLst/>
            </a:prstGeom>
            <a:noFill/>
            <a:ln w="9525">
              <a:noFill/>
              <a:miter lim="800000"/>
            </a:ln>
            <a:effectLst/>
          </p:spPr>
          <p:txBody>
            <a:bodyPr>
              <a:spAutoFit/>
            </a:bodyPr>
            <a:lstStyle/>
            <a:p>
              <a:pPr>
                <a:spcBef>
                  <a:spcPct val="50000"/>
                </a:spcBef>
              </a:pPr>
              <a:r>
                <a:rPr lang="en-US" altLang="zh-CN"/>
                <a:t>B</a:t>
              </a:r>
              <a:endParaRPr lang="en-US" altLang="zh-CN"/>
            </a:p>
          </p:txBody>
        </p:sp>
        <p:sp>
          <p:nvSpPr>
            <p:cNvPr id="45115" name="Text Box 131"/>
            <p:cNvSpPr txBox="1">
              <a:spLocks noChangeArrowheads="1"/>
            </p:cNvSpPr>
            <p:nvPr/>
          </p:nvSpPr>
          <p:spPr bwMode="auto">
            <a:xfrm>
              <a:off x="2744" y="2487"/>
              <a:ext cx="182" cy="231"/>
            </a:xfrm>
            <a:prstGeom prst="rect">
              <a:avLst/>
            </a:prstGeom>
            <a:noFill/>
            <a:ln w="9525">
              <a:noFill/>
              <a:miter lim="800000"/>
            </a:ln>
            <a:effectLst/>
          </p:spPr>
          <p:txBody>
            <a:bodyPr>
              <a:spAutoFit/>
            </a:bodyPr>
            <a:lstStyle/>
            <a:p>
              <a:pPr>
                <a:spcBef>
                  <a:spcPct val="50000"/>
                </a:spcBef>
              </a:pPr>
              <a:r>
                <a:rPr lang="en-US" altLang="zh-CN"/>
                <a:t>B</a:t>
              </a:r>
              <a:endParaRPr lang="en-US" altLang="zh-CN"/>
            </a:p>
          </p:txBody>
        </p:sp>
        <p:sp>
          <p:nvSpPr>
            <p:cNvPr id="45116" name="Text Box 132"/>
            <p:cNvSpPr txBox="1">
              <a:spLocks noChangeArrowheads="1"/>
            </p:cNvSpPr>
            <p:nvPr/>
          </p:nvSpPr>
          <p:spPr bwMode="auto">
            <a:xfrm>
              <a:off x="3016" y="2849"/>
              <a:ext cx="182" cy="231"/>
            </a:xfrm>
            <a:prstGeom prst="rect">
              <a:avLst/>
            </a:prstGeom>
            <a:noFill/>
            <a:ln w="9525">
              <a:noFill/>
              <a:miter lim="800000"/>
            </a:ln>
            <a:effectLst/>
          </p:spPr>
          <p:txBody>
            <a:bodyPr>
              <a:spAutoFit/>
            </a:bodyPr>
            <a:lstStyle/>
            <a:p>
              <a:pPr>
                <a:spcBef>
                  <a:spcPct val="50000"/>
                </a:spcBef>
              </a:pPr>
              <a:r>
                <a:rPr lang="en-US" altLang="zh-CN"/>
                <a:t>B</a:t>
              </a:r>
              <a:endParaRPr lang="en-US" altLang="zh-CN"/>
            </a:p>
          </p:txBody>
        </p:sp>
        <p:sp>
          <p:nvSpPr>
            <p:cNvPr id="45117" name="Text Box 133"/>
            <p:cNvSpPr txBox="1">
              <a:spLocks noChangeArrowheads="1"/>
            </p:cNvSpPr>
            <p:nvPr/>
          </p:nvSpPr>
          <p:spPr bwMode="auto">
            <a:xfrm>
              <a:off x="3215" y="2868"/>
              <a:ext cx="182" cy="231"/>
            </a:xfrm>
            <a:prstGeom prst="rect">
              <a:avLst/>
            </a:prstGeom>
            <a:noFill/>
            <a:ln w="9525">
              <a:noFill/>
              <a:miter lim="800000"/>
            </a:ln>
            <a:effectLst/>
          </p:spPr>
          <p:txBody>
            <a:bodyPr>
              <a:spAutoFit/>
            </a:bodyPr>
            <a:lstStyle/>
            <a:p>
              <a:pPr>
                <a:spcBef>
                  <a:spcPct val="50000"/>
                </a:spcBef>
              </a:pPr>
              <a:r>
                <a:rPr lang="en-US" altLang="zh-CN"/>
                <a:t>C</a:t>
              </a:r>
              <a:endParaRPr lang="en-US" altLang="zh-CN"/>
            </a:p>
          </p:txBody>
        </p:sp>
        <p:sp>
          <p:nvSpPr>
            <p:cNvPr id="45118" name="Text Box 134"/>
            <p:cNvSpPr txBox="1">
              <a:spLocks noChangeArrowheads="1"/>
            </p:cNvSpPr>
            <p:nvPr/>
          </p:nvSpPr>
          <p:spPr bwMode="auto">
            <a:xfrm>
              <a:off x="3615" y="2496"/>
              <a:ext cx="182" cy="231"/>
            </a:xfrm>
            <a:prstGeom prst="rect">
              <a:avLst/>
            </a:prstGeom>
            <a:noFill/>
            <a:ln w="9525">
              <a:noFill/>
              <a:miter lim="800000"/>
            </a:ln>
            <a:effectLst/>
          </p:spPr>
          <p:txBody>
            <a:bodyPr>
              <a:spAutoFit/>
            </a:bodyPr>
            <a:lstStyle/>
            <a:p>
              <a:pPr>
                <a:spcBef>
                  <a:spcPct val="50000"/>
                </a:spcBef>
              </a:pPr>
              <a:r>
                <a:rPr lang="en-US" altLang="zh-CN"/>
                <a:t>C</a:t>
              </a:r>
              <a:endParaRPr lang="en-US" altLang="zh-CN"/>
            </a:p>
          </p:txBody>
        </p:sp>
        <p:sp>
          <p:nvSpPr>
            <p:cNvPr id="45119" name="Text Box 135"/>
            <p:cNvSpPr txBox="1">
              <a:spLocks noChangeArrowheads="1"/>
            </p:cNvSpPr>
            <p:nvPr/>
          </p:nvSpPr>
          <p:spPr bwMode="auto">
            <a:xfrm>
              <a:off x="4096" y="2858"/>
              <a:ext cx="182" cy="231"/>
            </a:xfrm>
            <a:prstGeom prst="rect">
              <a:avLst/>
            </a:prstGeom>
            <a:noFill/>
            <a:ln w="9525">
              <a:noFill/>
              <a:miter lim="800000"/>
            </a:ln>
            <a:effectLst/>
          </p:spPr>
          <p:txBody>
            <a:bodyPr>
              <a:spAutoFit/>
            </a:bodyPr>
            <a:lstStyle/>
            <a:p>
              <a:pPr>
                <a:spcBef>
                  <a:spcPct val="50000"/>
                </a:spcBef>
              </a:pPr>
              <a:r>
                <a:rPr lang="en-US" altLang="zh-CN"/>
                <a:t>C</a:t>
              </a:r>
              <a:endParaRPr lang="en-US" altLang="zh-CN"/>
            </a:p>
          </p:txBody>
        </p:sp>
        <p:sp>
          <p:nvSpPr>
            <p:cNvPr id="45120" name="Text Box 136"/>
            <p:cNvSpPr txBox="1">
              <a:spLocks noChangeArrowheads="1"/>
            </p:cNvSpPr>
            <p:nvPr/>
          </p:nvSpPr>
          <p:spPr bwMode="auto">
            <a:xfrm>
              <a:off x="657" y="3457"/>
              <a:ext cx="182" cy="231"/>
            </a:xfrm>
            <a:prstGeom prst="rect">
              <a:avLst/>
            </a:prstGeom>
            <a:noFill/>
            <a:ln w="9525">
              <a:noFill/>
              <a:miter lim="800000"/>
            </a:ln>
            <a:effectLst/>
          </p:spPr>
          <p:txBody>
            <a:bodyPr>
              <a:spAutoFit/>
            </a:bodyPr>
            <a:lstStyle/>
            <a:p>
              <a:pPr>
                <a:spcBef>
                  <a:spcPct val="50000"/>
                </a:spcBef>
              </a:pPr>
              <a:r>
                <a:rPr lang="en-US" altLang="zh-CN"/>
                <a:t>0</a:t>
              </a:r>
              <a:endParaRPr lang="en-US" altLang="zh-CN"/>
            </a:p>
          </p:txBody>
        </p:sp>
        <p:sp>
          <p:nvSpPr>
            <p:cNvPr id="45121" name="Text Box 137"/>
            <p:cNvSpPr txBox="1">
              <a:spLocks noChangeArrowheads="1"/>
            </p:cNvSpPr>
            <p:nvPr/>
          </p:nvSpPr>
          <p:spPr bwMode="auto">
            <a:xfrm>
              <a:off x="1011" y="3457"/>
              <a:ext cx="317" cy="231"/>
            </a:xfrm>
            <a:prstGeom prst="rect">
              <a:avLst/>
            </a:prstGeom>
            <a:noFill/>
            <a:ln w="9525">
              <a:noFill/>
              <a:miter lim="800000"/>
            </a:ln>
            <a:effectLst/>
          </p:spPr>
          <p:txBody>
            <a:bodyPr>
              <a:spAutoFit/>
            </a:bodyPr>
            <a:lstStyle/>
            <a:p>
              <a:pPr>
                <a:spcBef>
                  <a:spcPct val="50000"/>
                </a:spcBef>
              </a:pPr>
              <a:r>
                <a:rPr lang="en-US" altLang="zh-CN"/>
                <a:t>30</a:t>
              </a:r>
              <a:endParaRPr lang="en-US" altLang="zh-CN"/>
            </a:p>
          </p:txBody>
        </p:sp>
        <p:sp>
          <p:nvSpPr>
            <p:cNvPr id="45122" name="Text Box 138"/>
            <p:cNvSpPr txBox="1">
              <a:spLocks noChangeArrowheads="1"/>
            </p:cNvSpPr>
            <p:nvPr/>
          </p:nvSpPr>
          <p:spPr bwMode="auto">
            <a:xfrm>
              <a:off x="1592" y="3466"/>
              <a:ext cx="317" cy="231"/>
            </a:xfrm>
            <a:prstGeom prst="rect">
              <a:avLst/>
            </a:prstGeom>
            <a:noFill/>
            <a:ln w="9525">
              <a:noFill/>
              <a:miter lim="800000"/>
            </a:ln>
            <a:effectLst/>
          </p:spPr>
          <p:txBody>
            <a:bodyPr>
              <a:spAutoFit/>
            </a:bodyPr>
            <a:lstStyle/>
            <a:p>
              <a:pPr>
                <a:spcBef>
                  <a:spcPct val="50000"/>
                </a:spcBef>
              </a:pPr>
              <a:r>
                <a:rPr lang="en-US" altLang="zh-CN"/>
                <a:t>70</a:t>
              </a:r>
              <a:endParaRPr lang="en-US" altLang="zh-CN"/>
            </a:p>
          </p:txBody>
        </p:sp>
        <p:sp>
          <p:nvSpPr>
            <p:cNvPr id="45123" name="Text Box 139"/>
            <p:cNvSpPr txBox="1">
              <a:spLocks noChangeArrowheads="1"/>
            </p:cNvSpPr>
            <p:nvPr/>
          </p:nvSpPr>
          <p:spPr bwMode="auto">
            <a:xfrm>
              <a:off x="1800" y="3471"/>
              <a:ext cx="317" cy="231"/>
            </a:xfrm>
            <a:prstGeom prst="rect">
              <a:avLst/>
            </a:prstGeom>
            <a:noFill/>
            <a:ln w="9525">
              <a:noFill/>
              <a:miter lim="800000"/>
            </a:ln>
            <a:effectLst/>
          </p:spPr>
          <p:txBody>
            <a:bodyPr>
              <a:spAutoFit/>
            </a:bodyPr>
            <a:lstStyle/>
            <a:p>
              <a:pPr>
                <a:spcBef>
                  <a:spcPct val="50000"/>
                </a:spcBef>
              </a:pPr>
              <a:r>
                <a:rPr lang="en-US" altLang="zh-CN"/>
                <a:t>80</a:t>
              </a:r>
              <a:endParaRPr lang="en-US" altLang="zh-CN"/>
            </a:p>
          </p:txBody>
        </p:sp>
        <p:sp>
          <p:nvSpPr>
            <p:cNvPr id="45124" name="Text Box 140"/>
            <p:cNvSpPr txBox="1">
              <a:spLocks noChangeArrowheads="1"/>
            </p:cNvSpPr>
            <p:nvPr/>
          </p:nvSpPr>
          <p:spPr bwMode="auto">
            <a:xfrm>
              <a:off x="2453" y="3466"/>
              <a:ext cx="409" cy="231"/>
            </a:xfrm>
            <a:prstGeom prst="rect">
              <a:avLst/>
            </a:prstGeom>
            <a:noFill/>
            <a:ln w="9525">
              <a:noFill/>
              <a:miter lim="800000"/>
            </a:ln>
            <a:effectLst/>
          </p:spPr>
          <p:txBody>
            <a:bodyPr>
              <a:spAutoFit/>
            </a:bodyPr>
            <a:lstStyle/>
            <a:p>
              <a:pPr>
                <a:spcBef>
                  <a:spcPct val="50000"/>
                </a:spcBef>
              </a:pPr>
              <a:r>
                <a:rPr lang="en-US" altLang="zh-CN"/>
                <a:t>140</a:t>
              </a:r>
              <a:endParaRPr lang="en-US" altLang="zh-CN"/>
            </a:p>
          </p:txBody>
        </p:sp>
        <p:sp>
          <p:nvSpPr>
            <p:cNvPr id="45125" name="Text Box 141"/>
            <p:cNvSpPr txBox="1">
              <a:spLocks noChangeArrowheads="1"/>
            </p:cNvSpPr>
            <p:nvPr/>
          </p:nvSpPr>
          <p:spPr bwMode="auto">
            <a:xfrm>
              <a:off x="2854" y="3475"/>
              <a:ext cx="408" cy="231"/>
            </a:xfrm>
            <a:prstGeom prst="rect">
              <a:avLst/>
            </a:prstGeom>
            <a:noFill/>
            <a:ln w="9525">
              <a:noFill/>
              <a:miter lim="800000"/>
            </a:ln>
            <a:effectLst/>
          </p:spPr>
          <p:txBody>
            <a:bodyPr>
              <a:spAutoFit/>
            </a:bodyPr>
            <a:lstStyle/>
            <a:p>
              <a:pPr>
                <a:spcBef>
                  <a:spcPct val="50000"/>
                </a:spcBef>
              </a:pPr>
              <a:r>
                <a:rPr lang="en-US" altLang="zh-CN"/>
                <a:t>170</a:t>
              </a:r>
              <a:endParaRPr lang="en-US" altLang="zh-CN"/>
            </a:p>
          </p:txBody>
        </p:sp>
        <p:sp>
          <p:nvSpPr>
            <p:cNvPr id="45126" name="Text Box 142"/>
            <p:cNvSpPr txBox="1">
              <a:spLocks noChangeArrowheads="1"/>
            </p:cNvSpPr>
            <p:nvPr/>
          </p:nvSpPr>
          <p:spPr bwMode="auto">
            <a:xfrm>
              <a:off x="3252" y="3475"/>
              <a:ext cx="408" cy="231"/>
            </a:xfrm>
            <a:prstGeom prst="rect">
              <a:avLst/>
            </a:prstGeom>
            <a:noFill/>
            <a:ln w="9525">
              <a:noFill/>
              <a:miter lim="800000"/>
            </a:ln>
            <a:effectLst/>
          </p:spPr>
          <p:txBody>
            <a:bodyPr>
              <a:spAutoFit/>
            </a:bodyPr>
            <a:lstStyle/>
            <a:p>
              <a:pPr>
                <a:spcBef>
                  <a:spcPct val="50000"/>
                </a:spcBef>
              </a:pPr>
              <a:r>
                <a:rPr lang="en-US" altLang="zh-CN"/>
                <a:t>200</a:t>
              </a:r>
              <a:endParaRPr lang="en-US" altLang="zh-CN"/>
            </a:p>
          </p:txBody>
        </p:sp>
        <p:sp>
          <p:nvSpPr>
            <p:cNvPr id="45127" name="Text Box 143"/>
            <p:cNvSpPr txBox="1">
              <a:spLocks noChangeArrowheads="1"/>
            </p:cNvSpPr>
            <p:nvPr/>
          </p:nvSpPr>
          <p:spPr bwMode="auto">
            <a:xfrm>
              <a:off x="3851" y="3466"/>
              <a:ext cx="408" cy="231"/>
            </a:xfrm>
            <a:prstGeom prst="rect">
              <a:avLst/>
            </a:prstGeom>
            <a:noFill/>
            <a:ln w="9525">
              <a:noFill/>
              <a:miter lim="800000"/>
            </a:ln>
            <a:effectLst/>
          </p:spPr>
          <p:txBody>
            <a:bodyPr>
              <a:spAutoFit/>
            </a:bodyPr>
            <a:lstStyle/>
            <a:p>
              <a:pPr>
                <a:spcBef>
                  <a:spcPct val="50000"/>
                </a:spcBef>
              </a:pPr>
              <a:r>
                <a:rPr lang="en-US" altLang="zh-CN"/>
                <a:t>240</a:t>
              </a:r>
              <a:endParaRPr lang="en-US" altLang="zh-CN"/>
            </a:p>
          </p:txBody>
        </p:sp>
        <p:sp>
          <p:nvSpPr>
            <p:cNvPr id="45128" name="Text Box 144"/>
            <p:cNvSpPr txBox="1">
              <a:spLocks noChangeArrowheads="1"/>
            </p:cNvSpPr>
            <p:nvPr/>
          </p:nvSpPr>
          <p:spPr bwMode="auto">
            <a:xfrm>
              <a:off x="4169" y="3475"/>
              <a:ext cx="408" cy="231"/>
            </a:xfrm>
            <a:prstGeom prst="rect">
              <a:avLst/>
            </a:prstGeom>
            <a:noFill/>
            <a:ln w="9525">
              <a:noFill/>
              <a:miter lim="800000"/>
            </a:ln>
            <a:effectLst/>
          </p:spPr>
          <p:txBody>
            <a:bodyPr>
              <a:spAutoFit/>
            </a:bodyPr>
            <a:lstStyle/>
            <a:p>
              <a:pPr>
                <a:spcBef>
                  <a:spcPct val="50000"/>
                </a:spcBef>
              </a:pPr>
              <a:r>
                <a:rPr lang="en-US" altLang="zh-CN"/>
                <a:t>260</a:t>
              </a:r>
              <a:endParaRPr lang="en-US" altLang="zh-CN"/>
            </a:p>
          </p:txBody>
        </p:sp>
        <p:sp>
          <p:nvSpPr>
            <p:cNvPr id="45129" name="Line 145"/>
            <p:cNvSpPr>
              <a:spLocks noChangeShapeType="1"/>
            </p:cNvSpPr>
            <p:nvPr/>
          </p:nvSpPr>
          <p:spPr bwMode="auto">
            <a:xfrm>
              <a:off x="1927" y="3059"/>
              <a:ext cx="0" cy="363"/>
            </a:xfrm>
            <a:prstGeom prst="line">
              <a:avLst/>
            </a:prstGeom>
            <a:noFill/>
            <a:ln w="19050">
              <a:solidFill>
                <a:schemeClr val="tx1"/>
              </a:solidFill>
              <a:prstDash val="dash"/>
              <a:round/>
            </a:ln>
            <a:effectLst/>
          </p:spPr>
          <p:txBody>
            <a:bodyPr/>
            <a:lstStyle/>
            <a:p>
              <a:endParaRPr lang="zh-CN" altLang="en-US"/>
            </a:p>
          </p:txBody>
        </p:sp>
      </p:grpSp>
      <p:sp>
        <p:nvSpPr>
          <p:cNvPr id="49" name="标题 48"/>
          <p:cNvSpPr>
            <a:spLocks noGrp="1"/>
          </p:cNvSpPr>
          <p:nvPr>
            <p:ph type="title"/>
          </p:nvPr>
        </p:nvSpPr>
        <p:spPr/>
        <p:txBody>
          <a:bodyPr/>
          <a:lstStyle/>
          <a:p>
            <a:r>
              <a:rPr lang="zh-CN" altLang="en-US" dirty="0"/>
              <a:t>单道运行的安排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内容占位符 2"/>
          <p:cNvSpPr/>
          <p:nvPr/>
        </p:nvSpPr>
        <p:spPr bwMode="auto">
          <a:xfrm>
            <a:off x="2135188" y="1422400"/>
            <a:ext cx="8208962" cy="2592388"/>
          </a:xfrm>
          <a:prstGeom prst="rect">
            <a:avLst/>
          </a:prstGeom>
          <a:noFill/>
          <a:ln w="9525">
            <a:noFill/>
            <a:miter lim="800000"/>
          </a:ln>
        </p:spPr>
        <p:txBody>
          <a:bodyPr/>
          <a:lstStyle/>
          <a:p>
            <a:pPr marL="342900" indent="-342900">
              <a:lnSpc>
                <a:spcPct val="120000"/>
              </a:lnSpc>
              <a:spcBef>
                <a:spcPct val="20000"/>
              </a:spcBef>
              <a:buClr>
                <a:schemeClr val="bg2"/>
              </a:buClr>
              <a:buSzPct val="75000"/>
            </a:pPr>
            <a:r>
              <a:rPr lang="zh-CN" altLang="en-US" sz="3200" b="1" dirty="0"/>
              <a:t>           </a:t>
            </a:r>
            <a:endParaRPr lang="zh-CN" altLang="en-US" sz="2800" b="1" dirty="0"/>
          </a:p>
          <a:p>
            <a:pPr marL="342900" indent="-342900">
              <a:lnSpc>
                <a:spcPct val="120000"/>
              </a:lnSpc>
              <a:spcBef>
                <a:spcPct val="20000"/>
              </a:spcBef>
              <a:buClr>
                <a:schemeClr val="bg2"/>
              </a:buClr>
              <a:buSzPct val="75000"/>
            </a:pPr>
            <a:endParaRPr lang="en-US" altLang="zh-CN" sz="2800" b="1" dirty="0"/>
          </a:p>
        </p:txBody>
      </p:sp>
      <p:graphicFrame>
        <p:nvGraphicFramePr>
          <p:cNvPr id="238667" name="Group 75"/>
          <p:cNvGraphicFramePr>
            <a:graphicFrameLocks noGrp="1"/>
          </p:cNvGraphicFramePr>
          <p:nvPr/>
        </p:nvGraphicFramePr>
        <p:xfrm>
          <a:off x="3602066" y="1428736"/>
          <a:ext cx="5495925" cy="1828800"/>
        </p:xfrm>
        <a:graphic>
          <a:graphicData uri="http://schemas.openxmlformats.org/drawingml/2006/table">
            <a:tbl>
              <a:tblPr/>
              <a:tblGrid>
                <a:gridCol w="1374775"/>
                <a:gridCol w="1373188"/>
                <a:gridCol w="1374775"/>
                <a:gridCol w="1373187"/>
              </a:tblGrid>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endParaRPr kumimoji="0" lang="zh-CN"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60ms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20ms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9368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I/O</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30ms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40ms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97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计算</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10ms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20ms</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 name="Group 32"/>
          <p:cNvGrpSpPr/>
          <p:nvPr/>
        </p:nvGrpSpPr>
        <p:grpSpPr bwMode="auto">
          <a:xfrm>
            <a:off x="1295466" y="3468706"/>
            <a:ext cx="9774048" cy="2840834"/>
            <a:chOff x="567" y="2156"/>
            <a:chExt cx="4717" cy="1535"/>
          </a:xfrm>
        </p:grpSpPr>
        <p:sp>
          <p:nvSpPr>
            <p:cNvPr id="46112" name="Text Box 33"/>
            <p:cNvSpPr txBox="1">
              <a:spLocks noChangeArrowheads="1"/>
            </p:cNvSpPr>
            <p:nvPr/>
          </p:nvSpPr>
          <p:spPr bwMode="auto">
            <a:xfrm>
              <a:off x="4581" y="3326"/>
              <a:ext cx="703" cy="216"/>
            </a:xfrm>
            <a:prstGeom prst="rect">
              <a:avLst/>
            </a:prstGeom>
            <a:noFill/>
            <a:ln w="9525">
              <a:noFill/>
              <a:miter lim="800000"/>
            </a:ln>
            <a:effectLst/>
          </p:spPr>
          <p:txBody>
            <a:bodyPr>
              <a:spAutoFit/>
            </a:bodyPr>
            <a:lstStyle/>
            <a:p>
              <a:pPr>
                <a:spcBef>
                  <a:spcPct val="50000"/>
                </a:spcBef>
              </a:pPr>
              <a:r>
                <a:rPr lang="zh-CN" altLang="en-US" sz="2000" b="1"/>
                <a:t>时间</a:t>
              </a:r>
              <a:r>
                <a:rPr lang="en-US" altLang="zh-CN" sz="2000" b="1"/>
                <a:t>( ms)</a:t>
              </a:r>
              <a:endParaRPr lang="en-US" altLang="zh-CN" sz="2000" b="1"/>
            </a:p>
          </p:txBody>
        </p:sp>
        <p:sp>
          <p:nvSpPr>
            <p:cNvPr id="46113" name="Line 34"/>
            <p:cNvSpPr>
              <a:spLocks noChangeShapeType="1"/>
            </p:cNvSpPr>
            <p:nvPr/>
          </p:nvSpPr>
          <p:spPr bwMode="auto">
            <a:xfrm>
              <a:off x="1111" y="3430"/>
              <a:ext cx="3402" cy="0"/>
            </a:xfrm>
            <a:prstGeom prst="line">
              <a:avLst/>
            </a:prstGeom>
            <a:noFill/>
            <a:ln w="25400">
              <a:solidFill>
                <a:schemeClr val="tx1"/>
              </a:solidFill>
              <a:round/>
              <a:tailEnd type="triangle" w="med" len="med"/>
            </a:ln>
            <a:effectLst/>
          </p:spPr>
          <p:txBody>
            <a:bodyPr/>
            <a:lstStyle/>
            <a:p>
              <a:endParaRPr lang="zh-CN" altLang="en-US" sz="2000" b="1"/>
            </a:p>
          </p:txBody>
        </p:sp>
        <p:sp>
          <p:nvSpPr>
            <p:cNvPr id="46114" name="Line 35"/>
            <p:cNvSpPr>
              <a:spLocks noChangeShapeType="1"/>
            </p:cNvSpPr>
            <p:nvPr/>
          </p:nvSpPr>
          <p:spPr bwMode="auto">
            <a:xfrm flipV="1">
              <a:off x="1111" y="2432"/>
              <a:ext cx="0" cy="998"/>
            </a:xfrm>
            <a:prstGeom prst="line">
              <a:avLst/>
            </a:prstGeom>
            <a:noFill/>
            <a:ln w="25400">
              <a:solidFill>
                <a:schemeClr val="tx1"/>
              </a:solidFill>
              <a:round/>
              <a:tailEnd type="triangle" w="med" len="med"/>
            </a:ln>
            <a:effectLst/>
          </p:spPr>
          <p:txBody>
            <a:bodyPr/>
            <a:lstStyle/>
            <a:p>
              <a:endParaRPr lang="zh-CN" altLang="en-US" sz="2000" b="1"/>
            </a:p>
          </p:txBody>
        </p:sp>
        <p:sp>
          <p:nvSpPr>
            <p:cNvPr id="46115" name="Line 36"/>
            <p:cNvSpPr>
              <a:spLocks noChangeShapeType="1"/>
            </p:cNvSpPr>
            <p:nvPr/>
          </p:nvSpPr>
          <p:spPr bwMode="auto">
            <a:xfrm>
              <a:off x="1020" y="2723"/>
              <a:ext cx="91" cy="0"/>
            </a:xfrm>
            <a:prstGeom prst="line">
              <a:avLst/>
            </a:prstGeom>
            <a:noFill/>
            <a:ln w="25400">
              <a:solidFill>
                <a:schemeClr val="tx1"/>
              </a:solidFill>
              <a:round/>
            </a:ln>
            <a:effectLst/>
          </p:spPr>
          <p:txBody>
            <a:bodyPr/>
            <a:lstStyle/>
            <a:p>
              <a:endParaRPr lang="zh-CN" altLang="en-US" sz="2000" b="1"/>
            </a:p>
          </p:txBody>
        </p:sp>
        <p:sp>
          <p:nvSpPr>
            <p:cNvPr id="46116" name="Line 37"/>
            <p:cNvSpPr>
              <a:spLocks noChangeShapeType="1"/>
            </p:cNvSpPr>
            <p:nvPr/>
          </p:nvSpPr>
          <p:spPr bwMode="auto">
            <a:xfrm>
              <a:off x="1020" y="3067"/>
              <a:ext cx="91" cy="0"/>
            </a:xfrm>
            <a:prstGeom prst="line">
              <a:avLst/>
            </a:prstGeom>
            <a:noFill/>
            <a:ln w="25400">
              <a:solidFill>
                <a:schemeClr val="tx1"/>
              </a:solidFill>
              <a:round/>
            </a:ln>
            <a:effectLst/>
          </p:spPr>
          <p:txBody>
            <a:bodyPr/>
            <a:lstStyle/>
            <a:p>
              <a:endParaRPr lang="zh-CN" altLang="en-US" sz="2000" b="1"/>
            </a:p>
          </p:txBody>
        </p:sp>
        <p:sp>
          <p:nvSpPr>
            <p:cNvPr id="46117" name="Text Box 38"/>
            <p:cNvSpPr txBox="1">
              <a:spLocks noChangeArrowheads="1"/>
            </p:cNvSpPr>
            <p:nvPr/>
          </p:nvSpPr>
          <p:spPr bwMode="auto">
            <a:xfrm>
              <a:off x="658" y="2614"/>
              <a:ext cx="363" cy="216"/>
            </a:xfrm>
            <a:prstGeom prst="rect">
              <a:avLst/>
            </a:prstGeom>
            <a:noFill/>
            <a:ln w="9525">
              <a:noFill/>
              <a:miter lim="800000"/>
            </a:ln>
            <a:effectLst/>
          </p:spPr>
          <p:txBody>
            <a:bodyPr>
              <a:spAutoFit/>
            </a:bodyPr>
            <a:lstStyle/>
            <a:p>
              <a:pPr>
                <a:spcBef>
                  <a:spcPct val="50000"/>
                </a:spcBef>
              </a:pPr>
              <a:r>
                <a:rPr lang="en-US" altLang="zh-CN" sz="2000" b="1"/>
                <a:t>I/O</a:t>
              </a:r>
              <a:endParaRPr lang="en-US" altLang="zh-CN" sz="2000" b="1"/>
            </a:p>
          </p:txBody>
        </p:sp>
        <p:sp>
          <p:nvSpPr>
            <p:cNvPr id="46118" name="Text Box 39"/>
            <p:cNvSpPr txBox="1">
              <a:spLocks noChangeArrowheads="1"/>
            </p:cNvSpPr>
            <p:nvPr/>
          </p:nvSpPr>
          <p:spPr bwMode="auto">
            <a:xfrm>
              <a:off x="567" y="2931"/>
              <a:ext cx="454" cy="216"/>
            </a:xfrm>
            <a:prstGeom prst="rect">
              <a:avLst/>
            </a:prstGeom>
            <a:noFill/>
            <a:ln w="9525">
              <a:noFill/>
              <a:miter lim="800000"/>
            </a:ln>
            <a:effectLst/>
          </p:spPr>
          <p:txBody>
            <a:bodyPr>
              <a:spAutoFit/>
            </a:bodyPr>
            <a:lstStyle/>
            <a:p>
              <a:pPr>
                <a:spcBef>
                  <a:spcPct val="50000"/>
                </a:spcBef>
              </a:pPr>
              <a:r>
                <a:rPr lang="zh-CN" altLang="en-US" sz="2000" b="1"/>
                <a:t>计算</a:t>
              </a:r>
              <a:endParaRPr lang="zh-CN" altLang="en-US" sz="2000" b="1"/>
            </a:p>
          </p:txBody>
        </p:sp>
        <p:sp>
          <p:nvSpPr>
            <p:cNvPr id="46119" name="Text Box 40"/>
            <p:cNvSpPr txBox="1">
              <a:spLocks noChangeArrowheads="1"/>
            </p:cNvSpPr>
            <p:nvPr/>
          </p:nvSpPr>
          <p:spPr bwMode="auto">
            <a:xfrm>
              <a:off x="798" y="2156"/>
              <a:ext cx="703" cy="216"/>
            </a:xfrm>
            <a:prstGeom prst="rect">
              <a:avLst/>
            </a:prstGeom>
            <a:noFill/>
            <a:ln w="9525">
              <a:noFill/>
              <a:miter lim="800000"/>
            </a:ln>
            <a:effectLst/>
          </p:spPr>
          <p:txBody>
            <a:bodyPr>
              <a:spAutoFit/>
            </a:bodyPr>
            <a:lstStyle/>
            <a:p>
              <a:pPr>
                <a:spcBef>
                  <a:spcPct val="50000"/>
                </a:spcBef>
              </a:pPr>
              <a:r>
                <a:rPr lang="zh-CN" altLang="en-US" sz="2000" b="1"/>
                <a:t>活动列表</a:t>
              </a:r>
              <a:endParaRPr lang="zh-CN" altLang="en-US" sz="2000" b="1"/>
            </a:p>
          </p:txBody>
        </p:sp>
        <p:sp>
          <p:nvSpPr>
            <p:cNvPr id="46120" name="Line 41"/>
            <p:cNvSpPr>
              <a:spLocks noChangeShapeType="1"/>
            </p:cNvSpPr>
            <p:nvPr/>
          </p:nvSpPr>
          <p:spPr bwMode="auto">
            <a:xfrm>
              <a:off x="1111" y="3067"/>
              <a:ext cx="998" cy="0"/>
            </a:xfrm>
            <a:prstGeom prst="line">
              <a:avLst/>
            </a:prstGeom>
            <a:noFill/>
            <a:ln w="25400">
              <a:solidFill>
                <a:schemeClr val="tx1"/>
              </a:solidFill>
              <a:round/>
            </a:ln>
            <a:effectLst/>
          </p:spPr>
          <p:txBody>
            <a:bodyPr/>
            <a:lstStyle/>
            <a:p>
              <a:endParaRPr lang="zh-CN" altLang="en-US" sz="2000" b="1"/>
            </a:p>
          </p:txBody>
        </p:sp>
        <p:sp>
          <p:nvSpPr>
            <p:cNvPr id="46121" name="Line 42"/>
            <p:cNvSpPr>
              <a:spLocks noChangeShapeType="1"/>
            </p:cNvSpPr>
            <p:nvPr/>
          </p:nvSpPr>
          <p:spPr bwMode="auto">
            <a:xfrm>
              <a:off x="1519" y="2704"/>
              <a:ext cx="0" cy="726"/>
            </a:xfrm>
            <a:prstGeom prst="line">
              <a:avLst/>
            </a:prstGeom>
            <a:noFill/>
            <a:ln w="19050">
              <a:solidFill>
                <a:schemeClr val="tx1"/>
              </a:solidFill>
              <a:prstDash val="dash"/>
              <a:round/>
            </a:ln>
            <a:effectLst/>
          </p:spPr>
          <p:txBody>
            <a:bodyPr/>
            <a:lstStyle/>
            <a:p>
              <a:endParaRPr lang="zh-CN" altLang="en-US" sz="2000" b="1"/>
            </a:p>
          </p:txBody>
        </p:sp>
        <p:sp>
          <p:nvSpPr>
            <p:cNvPr id="46122" name="Line 43"/>
            <p:cNvSpPr>
              <a:spLocks noChangeShapeType="1"/>
            </p:cNvSpPr>
            <p:nvPr/>
          </p:nvSpPr>
          <p:spPr bwMode="auto">
            <a:xfrm>
              <a:off x="1519" y="2704"/>
              <a:ext cx="590" cy="0"/>
            </a:xfrm>
            <a:prstGeom prst="line">
              <a:avLst/>
            </a:prstGeom>
            <a:noFill/>
            <a:ln w="25400">
              <a:solidFill>
                <a:schemeClr val="tx1"/>
              </a:solidFill>
              <a:round/>
            </a:ln>
            <a:effectLst/>
          </p:spPr>
          <p:txBody>
            <a:bodyPr/>
            <a:lstStyle/>
            <a:p>
              <a:endParaRPr lang="zh-CN" altLang="en-US" sz="2000" b="1"/>
            </a:p>
          </p:txBody>
        </p:sp>
        <p:sp>
          <p:nvSpPr>
            <p:cNvPr id="46123" name="Line 44"/>
            <p:cNvSpPr>
              <a:spLocks noChangeShapeType="1"/>
            </p:cNvSpPr>
            <p:nvPr/>
          </p:nvSpPr>
          <p:spPr bwMode="auto">
            <a:xfrm>
              <a:off x="2699" y="2704"/>
              <a:ext cx="0" cy="726"/>
            </a:xfrm>
            <a:prstGeom prst="line">
              <a:avLst/>
            </a:prstGeom>
            <a:noFill/>
            <a:ln w="19050">
              <a:solidFill>
                <a:schemeClr val="tx1"/>
              </a:solidFill>
              <a:prstDash val="dash"/>
              <a:round/>
            </a:ln>
            <a:effectLst/>
          </p:spPr>
          <p:txBody>
            <a:bodyPr/>
            <a:lstStyle/>
            <a:p>
              <a:endParaRPr lang="zh-CN" altLang="en-US" sz="2000" b="1"/>
            </a:p>
          </p:txBody>
        </p:sp>
        <p:sp>
          <p:nvSpPr>
            <p:cNvPr id="46124" name="Line 45"/>
            <p:cNvSpPr>
              <a:spLocks noChangeShapeType="1"/>
            </p:cNvSpPr>
            <p:nvPr/>
          </p:nvSpPr>
          <p:spPr bwMode="auto">
            <a:xfrm>
              <a:off x="2109" y="3067"/>
              <a:ext cx="907" cy="0"/>
            </a:xfrm>
            <a:prstGeom prst="line">
              <a:avLst/>
            </a:prstGeom>
            <a:noFill/>
            <a:ln w="25400">
              <a:solidFill>
                <a:schemeClr val="tx1"/>
              </a:solidFill>
              <a:round/>
            </a:ln>
            <a:effectLst/>
          </p:spPr>
          <p:txBody>
            <a:bodyPr/>
            <a:lstStyle/>
            <a:p>
              <a:endParaRPr lang="zh-CN" altLang="en-US" sz="2000" b="1"/>
            </a:p>
          </p:txBody>
        </p:sp>
        <p:sp>
          <p:nvSpPr>
            <p:cNvPr id="46125" name="Line 46"/>
            <p:cNvSpPr>
              <a:spLocks noChangeShapeType="1"/>
            </p:cNvSpPr>
            <p:nvPr/>
          </p:nvSpPr>
          <p:spPr bwMode="auto">
            <a:xfrm>
              <a:off x="2109" y="2704"/>
              <a:ext cx="0" cy="726"/>
            </a:xfrm>
            <a:prstGeom prst="line">
              <a:avLst/>
            </a:prstGeom>
            <a:noFill/>
            <a:ln w="19050">
              <a:solidFill>
                <a:schemeClr val="tx1"/>
              </a:solidFill>
              <a:prstDash val="dash"/>
              <a:round/>
            </a:ln>
            <a:effectLst/>
          </p:spPr>
          <p:txBody>
            <a:bodyPr/>
            <a:lstStyle/>
            <a:p>
              <a:endParaRPr lang="zh-CN" altLang="en-US" sz="2000" b="1"/>
            </a:p>
          </p:txBody>
        </p:sp>
        <p:sp>
          <p:nvSpPr>
            <p:cNvPr id="46126" name="Line 47"/>
            <p:cNvSpPr>
              <a:spLocks noChangeShapeType="1"/>
            </p:cNvSpPr>
            <p:nvPr/>
          </p:nvSpPr>
          <p:spPr bwMode="auto">
            <a:xfrm>
              <a:off x="2699" y="2704"/>
              <a:ext cx="1134" cy="0"/>
            </a:xfrm>
            <a:prstGeom prst="line">
              <a:avLst/>
            </a:prstGeom>
            <a:noFill/>
            <a:ln w="25400">
              <a:solidFill>
                <a:schemeClr val="tx1"/>
              </a:solidFill>
              <a:round/>
            </a:ln>
            <a:effectLst/>
          </p:spPr>
          <p:txBody>
            <a:bodyPr/>
            <a:lstStyle/>
            <a:p>
              <a:endParaRPr lang="zh-CN" altLang="en-US" sz="2000" b="1"/>
            </a:p>
          </p:txBody>
        </p:sp>
        <p:sp>
          <p:nvSpPr>
            <p:cNvPr id="46127" name="Line 48"/>
            <p:cNvSpPr>
              <a:spLocks noChangeShapeType="1"/>
            </p:cNvSpPr>
            <p:nvPr/>
          </p:nvSpPr>
          <p:spPr bwMode="auto">
            <a:xfrm>
              <a:off x="3198" y="3067"/>
              <a:ext cx="181" cy="0"/>
            </a:xfrm>
            <a:prstGeom prst="line">
              <a:avLst/>
            </a:prstGeom>
            <a:noFill/>
            <a:ln w="25400">
              <a:solidFill>
                <a:schemeClr val="tx1"/>
              </a:solidFill>
              <a:round/>
            </a:ln>
            <a:effectLst/>
          </p:spPr>
          <p:txBody>
            <a:bodyPr/>
            <a:lstStyle/>
            <a:p>
              <a:endParaRPr lang="zh-CN" altLang="en-US" sz="2000" b="1"/>
            </a:p>
          </p:txBody>
        </p:sp>
        <p:sp>
          <p:nvSpPr>
            <p:cNvPr id="46128" name="Line 49"/>
            <p:cNvSpPr>
              <a:spLocks noChangeShapeType="1"/>
            </p:cNvSpPr>
            <p:nvPr/>
          </p:nvSpPr>
          <p:spPr bwMode="auto">
            <a:xfrm>
              <a:off x="3198" y="2704"/>
              <a:ext cx="0" cy="726"/>
            </a:xfrm>
            <a:prstGeom prst="line">
              <a:avLst/>
            </a:prstGeom>
            <a:noFill/>
            <a:ln w="19050">
              <a:solidFill>
                <a:schemeClr val="tx1"/>
              </a:solidFill>
              <a:prstDash val="dash"/>
              <a:round/>
            </a:ln>
            <a:effectLst/>
          </p:spPr>
          <p:txBody>
            <a:bodyPr/>
            <a:lstStyle/>
            <a:p>
              <a:endParaRPr lang="zh-CN" altLang="en-US" sz="2000" b="1"/>
            </a:p>
          </p:txBody>
        </p:sp>
        <p:sp>
          <p:nvSpPr>
            <p:cNvPr id="46129" name="Line 50"/>
            <p:cNvSpPr>
              <a:spLocks noChangeShapeType="1"/>
            </p:cNvSpPr>
            <p:nvPr/>
          </p:nvSpPr>
          <p:spPr bwMode="auto">
            <a:xfrm>
              <a:off x="3833" y="2704"/>
              <a:ext cx="0" cy="0"/>
            </a:xfrm>
            <a:prstGeom prst="line">
              <a:avLst/>
            </a:prstGeom>
            <a:noFill/>
            <a:ln w="25400">
              <a:solidFill>
                <a:schemeClr val="tx1"/>
              </a:solidFill>
              <a:round/>
            </a:ln>
            <a:effectLst/>
          </p:spPr>
          <p:txBody>
            <a:bodyPr/>
            <a:lstStyle/>
            <a:p>
              <a:endParaRPr lang="zh-CN" altLang="en-US" sz="2000" b="1"/>
            </a:p>
          </p:txBody>
        </p:sp>
        <p:sp>
          <p:nvSpPr>
            <p:cNvPr id="46130" name="Line 51"/>
            <p:cNvSpPr>
              <a:spLocks noChangeShapeType="1"/>
            </p:cNvSpPr>
            <p:nvPr/>
          </p:nvSpPr>
          <p:spPr bwMode="auto">
            <a:xfrm>
              <a:off x="3833" y="2704"/>
              <a:ext cx="0" cy="726"/>
            </a:xfrm>
            <a:prstGeom prst="line">
              <a:avLst/>
            </a:prstGeom>
            <a:noFill/>
            <a:ln w="19050">
              <a:solidFill>
                <a:schemeClr val="tx1"/>
              </a:solidFill>
              <a:prstDash val="dash"/>
              <a:round/>
            </a:ln>
            <a:effectLst/>
          </p:spPr>
          <p:txBody>
            <a:bodyPr/>
            <a:lstStyle/>
            <a:p>
              <a:endParaRPr lang="zh-CN" altLang="en-US" sz="2000" b="1"/>
            </a:p>
          </p:txBody>
        </p:sp>
        <p:sp>
          <p:nvSpPr>
            <p:cNvPr id="46131" name="Line 52"/>
            <p:cNvSpPr>
              <a:spLocks noChangeShapeType="1"/>
            </p:cNvSpPr>
            <p:nvPr/>
          </p:nvSpPr>
          <p:spPr bwMode="auto">
            <a:xfrm>
              <a:off x="3379" y="3067"/>
              <a:ext cx="0" cy="363"/>
            </a:xfrm>
            <a:prstGeom prst="line">
              <a:avLst/>
            </a:prstGeom>
            <a:noFill/>
            <a:ln w="19050">
              <a:solidFill>
                <a:schemeClr val="tx1"/>
              </a:solidFill>
              <a:prstDash val="dash"/>
              <a:round/>
            </a:ln>
            <a:effectLst/>
          </p:spPr>
          <p:txBody>
            <a:bodyPr/>
            <a:lstStyle/>
            <a:p>
              <a:endParaRPr lang="zh-CN" altLang="en-US" sz="2000" b="1"/>
            </a:p>
          </p:txBody>
        </p:sp>
        <p:sp>
          <p:nvSpPr>
            <p:cNvPr id="46132" name="Text Box 53"/>
            <p:cNvSpPr txBox="1">
              <a:spLocks noChangeArrowheads="1"/>
            </p:cNvSpPr>
            <p:nvPr/>
          </p:nvSpPr>
          <p:spPr bwMode="auto">
            <a:xfrm>
              <a:off x="1192" y="2864"/>
              <a:ext cx="182" cy="216"/>
            </a:xfrm>
            <a:prstGeom prst="rect">
              <a:avLst/>
            </a:prstGeom>
            <a:noFill/>
            <a:ln w="9525">
              <a:noFill/>
              <a:miter lim="800000"/>
            </a:ln>
            <a:effectLst/>
          </p:spPr>
          <p:txBody>
            <a:bodyPr>
              <a:spAutoFit/>
            </a:bodyPr>
            <a:lstStyle/>
            <a:p>
              <a:pPr>
                <a:spcBef>
                  <a:spcPct val="50000"/>
                </a:spcBef>
              </a:pPr>
              <a:r>
                <a:rPr lang="en-US" altLang="zh-CN" sz="2000" b="1"/>
                <a:t>A</a:t>
              </a:r>
              <a:endParaRPr lang="en-US" altLang="zh-CN" sz="2000" b="1"/>
            </a:p>
          </p:txBody>
        </p:sp>
        <p:sp>
          <p:nvSpPr>
            <p:cNvPr id="46133" name="Text Box 54"/>
            <p:cNvSpPr txBox="1">
              <a:spLocks noChangeArrowheads="1"/>
            </p:cNvSpPr>
            <p:nvPr/>
          </p:nvSpPr>
          <p:spPr bwMode="auto">
            <a:xfrm>
              <a:off x="1655" y="2487"/>
              <a:ext cx="182" cy="216"/>
            </a:xfrm>
            <a:prstGeom prst="rect">
              <a:avLst/>
            </a:prstGeom>
            <a:noFill/>
            <a:ln w="9525">
              <a:noFill/>
              <a:miter lim="800000"/>
            </a:ln>
            <a:effectLst/>
          </p:spPr>
          <p:txBody>
            <a:bodyPr>
              <a:spAutoFit/>
            </a:bodyPr>
            <a:lstStyle/>
            <a:p>
              <a:pPr>
                <a:spcBef>
                  <a:spcPct val="50000"/>
                </a:spcBef>
              </a:pPr>
              <a:r>
                <a:rPr lang="en-US" altLang="zh-CN" sz="2000" b="1"/>
                <a:t>A</a:t>
              </a:r>
              <a:endParaRPr lang="en-US" altLang="zh-CN" sz="2000" b="1"/>
            </a:p>
          </p:txBody>
        </p:sp>
        <p:sp>
          <p:nvSpPr>
            <p:cNvPr id="46134" name="Text Box 55"/>
            <p:cNvSpPr txBox="1">
              <a:spLocks noChangeArrowheads="1"/>
            </p:cNvSpPr>
            <p:nvPr/>
          </p:nvSpPr>
          <p:spPr bwMode="auto">
            <a:xfrm>
              <a:off x="2099" y="2863"/>
              <a:ext cx="182" cy="216"/>
            </a:xfrm>
            <a:prstGeom prst="rect">
              <a:avLst/>
            </a:prstGeom>
            <a:noFill/>
            <a:ln w="9525">
              <a:noFill/>
              <a:miter lim="800000"/>
            </a:ln>
            <a:effectLst/>
          </p:spPr>
          <p:txBody>
            <a:bodyPr>
              <a:spAutoFit/>
            </a:bodyPr>
            <a:lstStyle/>
            <a:p>
              <a:pPr>
                <a:spcBef>
                  <a:spcPct val="50000"/>
                </a:spcBef>
              </a:pPr>
              <a:r>
                <a:rPr lang="en-US" altLang="zh-CN" sz="2000" b="1"/>
                <a:t>A</a:t>
              </a:r>
              <a:endParaRPr lang="en-US" altLang="zh-CN" sz="2000" b="1"/>
            </a:p>
          </p:txBody>
        </p:sp>
        <p:sp>
          <p:nvSpPr>
            <p:cNvPr id="46135" name="Text Box 56"/>
            <p:cNvSpPr txBox="1">
              <a:spLocks noChangeArrowheads="1"/>
            </p:cNvSpPr>
            <p:nvPr/>
          </p:nvSpPr>
          <p:spPr bwMode="auto">
            <a:xfrm>
              <a:off x="1700" y="2845"/>
              <a:ext cx="182" cy="216"/>
            </a:xfrm>
            <a:prstGeom prst="rect">
              <a:avLst/>
            </a:prstGeom>
            <a:noFill/>
            <a:ln w="9525">
              <a:noFill/>
              <a:miter lim="800000"/>
            </a:ln>
            <a:effectLst/>
          </p:spPr>
          <p:txBody>
            <a:bodyPr>
              <a:spAutoFit/>
            </a:bodyPr>
            <a:lstStyle/>
            <a:p>
              <a:pPr>
                <a:spcBef>
                  <a:spcPct val="50000"/>
                </a:spcBef>
              </a:pPr>
              <a:r>
                <a:rPr lang="en-US" altLang="zh-CN" sz="2000" b="1"/>
                <a:t>B</a:t>
              </a:r>
              <a:endParaRPr lang="en-US" altLang="zh-CN" sz="2000" b="1"/>
            </a:p>
          </p:txBody>
        </p:sp>
        <p:sp>
          <p:nvSpPr>
            <p:cNvPr id="46136" name="Text Box 57"/>
            <p:cNvSpPr txBox="1">
              <a:spLocks noChangeArrowheads="1"/>
            </p:cNvSpPr>
            <p:nvPr/>
          </p:nvSpPr>
          <p:spPr bwMode="auto">
            <a:xfrm>
              <a:off x="2835" y="2478"/>
              <a:ext cx="182" cy="216"/>
            </a:xfrm>
            <a:prstGeom prst="rect">
              <a:avLst/>
            </a:prstGeom>
            <a:noFill/>
            <a:ln w="9525">
              <a:noFill/>
              <a:miter lim="800000"/>
            </a:ln>
            <a:effectLst/>
          </p:spPr>
          <p:txBody>
            <a:bodyPr>
              <a:spAutoFit/>
            </a:bodyPr>
            <a:lstStyle/>
            <a:p>
              <a:pPr>
                <a:spcBef>
                  <a:spcPct val="50000"/>
                </a:spcBef>
              </a:pPr>
              <a:r>
                <a:rPr lang="en-US" altLang="zh-CN" sz="2000" b="1"/>
                <a:t>B</a:t>
              </a:r>
              <a:endParaRPr lang="en-US" altLang="zh-CN" sz="2000" b="1"/>
            </a:p>
          </p:txBody>
        </p:sp>
        <p:sp>
          <p:nvSpPr>
            <p:cNvPr id="46137" name="Text Box 58"/>
            <p:cNvSpPr txBox="1">
              <a:spLocks noChangeArrowheads="1"/>
            </p:cNvSpPr>
            <p:nvPr/>
          </p:nvSpPr>
          <p:spPr bwMode="auto">
            <a:xfrm>
              <a:off x="3379" y="2840"/>
              <a:ext cx="182" cy="216"/>
            </a:xfrm>
            <a:prstGeom prst="rect">
              <a:avLst/>
            </a:prstGeom>
            <a:noFill/>
            <a:ln w="9525">
              <a:noFill/>
              <a:miter lim="800000"/>
            </a:ln>
            <a:effectLst/>
          </p:spPr>
          <p:txBody>
            <a:bodyPr>
              <a:spAutoFit/>
            </a:bodyPr>
            <a:lstStyle/>
            <a:p>
              <a:pPr>
                <a:spcBef>
                  <a:spcPct val="50000"/>
                </a:spcBef>
              </a:pPr>
              <a:r>
                <a:rPr lang="en-US" altLang="zh-CN" sz="2000" b="1"/>
                <a:t>B</a:t>
              </a:r>
              <a:endParaRPr lang="en-US" altLang="zh-CN" sz="2000" b="1"/>
            </a:p>
          </p:txBody>
        </p:sp>
        <p:sp>
          <p:nvSpPr>
            <p:cNvPr id="46138" name="Text Box 59"/>
            <p:cNvSpPr txBox="1">
              <a:spLocks noChangeArrowheads="1"/>
            </p:cNvSpPr>
            <p:nvPr/>
          </p:nvSpPr>
          <p:spPr bwMode="auto">
            <a:xfrm>
              <a:off x="2744" y="2863"/>
              <a:ext cx="182" cy="216"/>
            </a:xfrm>
            <a:prstGeom prst="rect">
              <a:avLst/>
            </a:prstGeom>
            <a:noFill/>
            <a:ln w="9525">
              <a:noFill/>
              <a:miter lim="800000"/>
            </a:ln>
            <a:effectLst/>
          </p:spPr>
          <p:txBody>
            <a:bodyPr>
              <a:spAutoFit/>
            </a:bodyPr>
            <a:lstStyle/>
            <a:p>
              <a:pPr>
                <a:spcBef>
                  <a:spcPct val="50000"/>
                </a:spcBef>
              </a:pPr>
              <a:r>
                <a:rPr lang="en-US" altLang="zh-CN" sz="2000" b="1"/>
                <a:t>C</a:t>
              </a:r>
              <a:endParaRPr lang="en-US" altLang="zh-CN" sz="2000" b="1"/>
            </a:p>
          </p:txBody>
        </p:sp>
        <p:sp>
          <p:nvSpPr>
            <p:cNvPr id="46139" name="Text Box 60"/>
            <p:cNvSpPr txBox="1">
              <a:spLocks noChangeArrowheads="1"/>
            </p:cNvSpPr>
            <p:nvPr/>
          </p:nvSpPr>
          <p:spPr bwMode="auto">
            <a:xfrm>
              <a:off x="3388" y="2496"/>
              <a:ext cx="182" cy="216"/>
            </a:xfrm>
            <a:prstGeom prst="rect">
              <a:avLst/>
            </a:prstGeom>
            <a:noFill/>
            <a:ln w="9525">
              <a:noFill/>
              <a:miter lim="800000"/>
            </a:ln>
            <a:effectLst/>
          </p:spPr>
          <p:txBody>
            <a:bodyPr>
              <a:spAutoFit/>
            </a:bodyPr>
            <a:lstStyle/>
            <a:p>
              <a:pPr>
                <a:spcBef>
                  <a:spcPct val="50000"/>
                </a:spcBef>
              </a:pPr>
              <a:r>
                <a:rPr lang="en-US" altLang="zh-CN" sz="2000" b="1"/>
                <a:t>C</a:t>
              </a:r>
              <a:endParaRPr lang="en-US" altLang="zh-CN" sz="2000" b="1"/>
            </a:p>
          </p:txBody>
        </p:sp>
        <p:sp>
          <p:nvSpPr>
            <p:cNvPr id="46140" name="Text Box 61"/>
            <p:cNvSpPr txBox="1">
              <a:spLocks noChangeArrowheads="1"/>
            </p:cNvSpPr>
            <p:nvPr/>
          </p:nvSpPr>
          <p:spPr bwMode="auto">
            <a:xfrm>
              <a:off x="1020" y="3457"/>
              <a:ext cx="182" cy="216"/>
            </a:xfrm>
            <a:prstGeom prst="rect">
              <a:avLst/>
            </a:prstGeom>
            <a:noFill/>
            <a:ln w="9525">
              <a:noFill/>
              <a:miter lim="800000"/>
            </a:ln>
            <a:effectLst/>
          </p:spPr>
          <p:txBody>
            <a:bodyPr>
              <a:spAutoFit/>
            </a:bodyPr>
            <a:lstStyle/>
            <a:p>
              <a:pPr>
                <a:spcBef>
                  <a:spcPct val="50000"/>
                </a:spcBef>
              </a:pPr>
              <a:r>
                <a:rPr lang="en-US" altLang="zh-CN" sz="2000" b="1"/>
                <a:t>0</a:t>
              </a:r>
              <a:endParaRPr lang="en-US" altLang="zh-CN" sz="2000" b="1"/>
            </a:p>
          </p:txBody>
        </p:sp>
        <p:sp>
          <p:nvSpPr>
            <p:cNvPr id="46141" name="Text Box 62"/>
            <p:cNvSpPr txBox="1">
              <a:spLocks noChangeArrowheads="1"/>
            </p:cNvSpPr>
            <p:nvPr/>
          </p:nvSpPr>
          <p:spPr bwMode="auto">
            <a:xfrm>
              <a:off x="1374" y="3457"/>
              <a:ext cx="317" cy="216"/>
            </a:xfrm>
            <a:prstGeom prst="rect">
              <a:avLst/>
            </a:prstGeom>
            <a:noFill/>
            <a:ln w="9525">
              <a:noFill/>
              <a:miter lim="800000"/>
            </a:ln>
            <a:effectLst/>
          </p:spPr>
          <p:txBody>
            <a:bodyPr>
              <a:spAutoFit/>
            </a:bodyPr>
            <a:lstStyle/>
            <a:p>
              <a:pPr>
                <a:spcBef>
                  <a:spcPct val="50000"/>
                </a:spcBef>
              </a:pPr>
              <a:r>
                <a:rPr lang="en-US" altLang="zh-CN" sz="2000" b="1"/>
                <a:t>30</a:t>
              </a:r>
              <a:endParaRPr lang="en-US" altLang="zh-CN" sz="2000" b="1"/>
            </a:p>
          </p:txBody>
        </p:sp>
        <p:sp>
          <p:nvSpPr>
            <p:cNvPr id="46142" name="Text Box 63"/>
            <p:cNvSpPr txBox="1">
              <a:spLocks noChangeArrowheads="1"/>
            </p:cNvSpPr>
            <p:nvPr/>
          </p:nvSpPr>
          <p:spPr bwMode="auto">
            <a:xfrm>
              <a:off x="1955" y="3466"/>
              <a:ext cx="317" cy="216"/>
            </a:xfrm>
            <a:prstGeom prst="rect">
              <a:avLst/>
            </a:prstGeom>
            <a:noFill/>
            <a:ln w="9525">
              <a:noFill/>
              <a:miter lim="800000"/>
            </a:ln>
            <a:effectLst/>
          </p:spPr>
          <p:txBody>
            <a:bodyPr>
              <a:spAutoFit/>
            </a:bodyPr>
            <a:lstStyle/>
            <a:p>
              <a:pPr>
                <a:spcBef>
                  <a:spcPct val="50000"/>
                </a:spcBef>
              </a:pPr>
              <a:r>
                <a:rPr lang="en-US" altLang="zh-CN" sz="2000" b="1"/>
                <a:t>70</a:t>
              </a:r>
              <a:endParaRPr lang="en-US" altLang="zh-CN" sz="2000" b="1"/>
            </a:p>
          </p:txBody>
        </p:sp>
        <p:sp>
          <p:nvSpPr>
            <p:cNvPr id="46143" name="Text Box 64"/>
            <p:cNvSpPr txBox="1">
              <a:spLocks noChangeArrowheads="1"/>
            </p:cNvSpPr>
            <p:nvPr/>
          </p:nvSpPr>
          <p:spPr bwMode="auto">
            <a:xfrm>
              <a:off x="2163" y="3471"/>
              <a:ext cx="317" cy="216"/>
            </a:xfrm>
            <a:prstGeom prst="rect">
              <a:avLst/>
            </a:prstGeom>
            <a:noFill/>
            <a:ln w="9525">
              <a:noFill/>
              <a:miter lim="800000"/>
            </a:ln>
            <a:effectLst/>
          </p:spPr>
          <p:txBody>
            <a:bodyPr>
              <a:spAutoFit/>
            </a:bodyPr>
            <a:lstStyle/>
            <a:p>
              <a:pPr>
                <a:spcBef>
                  <a:spcPct val="50000"/>
                </a:spcBef>
              </a:pPr>
              <a:r>
                <a:rPr lang="en-US" altLang="zh-CN" sz="2000" b="1"/>
                <a:t>80</a:t>
              </a:r>
              <a:endParaRPr lang="en-US" altLang="zh-CN" sz="2000" b="1"/>
            </a:p>
          </p:txBody>
        </p:sp>
        <p:sp>
          <p:nvSpPr>
            <p:cNvPr id="46144" name="Text Box 65"/>
            <p:cNvSpPr txBox="1">
              <a:spLocks noChangeArrowheads="1"/>
            </p:cNvSpPr>
            <p:nvPr/>
          </p:nvSpPr>
          <p:spPr bwMode="auto">
            <a:xfrm>
              <a:off x="2490" y="3466"/>
              <a:ext cx="409" cy="216"/>
            </a:xfrm>
            <a:prstGeom prst="rect">
              <a:avLst/>
            </a:prstGeom>
            <a:noFill/>
            <a:ln w="9525">
              <a:noFill/>
              <a:miter lim="800000"/>
            </a:ln>
            <a:effectLst/>
          </p:spPr>
          <p:txBody>
            <a:bodyPr>
              <a:spAutoFit/>
            </a:bodyPr>
            <a:lstStyle/>
            <a:p>
              <a:pPr>
                <a:spcBef>
                  <a:spcPct val="50000"/>
                </a:spcBef>
              </a:pPr>
              <a:r>
                <a:rPr lang="en-US" altLang="zh-CN" sz="2000" b="1"/>
                <a:t>100</a:t>
              </a:r>
              <a:endParaRPr lang="en-US" altLang="zh-CN" sz="2000" b="1"/>
            </a:p>
          </p:txBody>
        </p:sp>
        <p:sp>
          <p:nvSpPr>
            <p:cNvPr id="46145" name="Text Box 66"/>
            <p:cNvSpPr txBox="1">
              <a:spLocks noChangeArrowheads="1"/>
            </p:cNvSpPr>
            <p:nvPr/>
          </p:nvSpPr>
          <p:spPr bwMode="auto">
            <a:xfrm>
              <a:off x="2989" y="3475"/>
              <a:ext cx="408" cy="216"/>
            </a:xfrm>
            <a:prstGeom prst="rect">
              <a:avLst/>
            </a:prstGeom>
            <a:noFill/>
            <a:ln w="9525">
              <a:noFill/>
              <a:miter lim="800000"/>
            </a:ln>
            <a:effectLst/>
          </p:spPr>
          <p:txBody>
            <a:bodyPr>
              <a:spAutoFit/>
            </a:bodyPr>
            <a:lstStyle/>
            <a:p>
              <a:pPr>
                <a:spcBef>
                  <a:spcPct val="50000"/>
                </a:spcBef>
              </a:pPr>
              <a:r>
                <a:rPr lang="en-US" altLang="zh-CN" sz="2000" b="1"/>
                <a:t>130</a:t>
              </a:r>
              <a:endParaRPr lang="en-US" altLang="zh-CN" sz="2000" b="1"/>
            </a:p>
          </p:txBody>
        </p:sp>
        <p:sp>
          <p:nvSpPr>
            <p:cNvPr id="46146" name="Text Box 67"/>
            <p:cNvSpPr txBox="1">
              <a:spLocks noChangeArrowheads="1"/>
            </p:cNvSpPr>
            <p:nvPr/>
          </p:nvSpPr>
          <p:spPr bwMode="auto">
            <a:xfrm>
              <a:off x="3615" y="3475"/>
              <a:ext cx="408" cy="216"/>
            </a:xfrm>
            <a:prstGeom prst="rect">
              <a:avLst/>
            </a:prstGeom>
            <a:noFill/>
            <a:ln w="9525">
              <a:noFill/>
              <a:miter lim="800000"/>
            </a:ln>
            <a:effectLst/>
          </p:spPr>
          <p:txBody>
            <a:bodyPr>
              <a:spAutoFit/>
            </a:bodyPr>
            <a:lstStyle/>
            <a:p>
              <a:pPr>
                <a:spcBef>
                  <a:spcPct val="50000"/>
                </a:spcBef>
              </a:pPr>
              <a:r>
                <a:rPr lang="en-US" altLang="zh-CN" sz="2000" b="1"/>
                <a:t>170</a:t>
              </a:r>
              <a:endParaRPr lang="en-US" altLang="zh-CN" sz="2000" b="1"/>
            </a:p>
          </p:txBody>
        </p:sp>
        <p:sp>
          <p:nvSpPr>
            <p:cNvPr id="46147" name="Text Box 68"/>
            <p:cNvSpPr txBox="1">
              <a:spLocks noChangeArrowheads="1"/>
            </p:cNvSpPr>
            <p:nvPr/>
          </p:nvSpPr>
          <p:spPr bwMode="auto">
            <a:xfrm>
              <a:off x="3960" y="3466"/>
              <a:ext cx="408" cy="216"/>
            </a:xfrm>
            <a:prstGeom prst="rect">
              <a:avLst/>
            </a:prstGeom>
            <a:noFill/>
            <a:ln w="9525">
              <a:noFill/>
              <a:miter lim="800000"/>
            </a:ln>
            <a:effectLst/>
          </p:spPr>
          <p:txBody>
            <a:bodyPr>
              <a:spAutoFit/>
            </a:bodyPr>
            <a:lstStyle/>
            <a:p>
              <a:pPr>
                <a:spcBef>
                  <a:spcPct val="50000"/>
                </a:spcBef>
              </a:pPr>
              <a:r>
                <a:rPr lang="en-US" altLang="zh-CN" sz="2000" b="1"/>
                <a:t>190</a:t>
              </a:r>
              <a:endParaRPr lang="en-US" altLang="zh-CN" sz="2000" b="1"/>
            </a:p>
          </p:txBody>
        </p:sp>
        <p:sp>
          <p:nvSpPr>
            <p:cNvPr id="46148" name="Line 69"/>
            <p:cNvSpPr>
              <a:spLocks noChangeShapeType="1"/>
            </p:cNvSpPr>
            <p:nvPr/>
          </p:nvSpPr>
          <p:spPr bwMode="auto">
            <a:xfrm>
              <a:off x="2290" y="3067"/>
              <a:ext cx="0" cy="363"/>
            </a:xfrm>
            <a:prstGeom prst="line">
              <a:avLst/>
            </a:prstGeom>
            <a:noFill/>
            <a:ln w="19050">
              <a:solidFill>
                <a:schemeClr val="tx1"/>
              </a:solidFill>
              <a:prstDash val="dash"/>
              <a:round/>
            </a:ln>
            <a:effectLst/>
          </p:spPr>
          <p:txBody>
            <a:bodyPr/>
            <a:lstStyle/>
            <a:p>
              <a:endParaRPr lang="zh-CN" altLang="en-US" sz="2000" b="1"/>
            </a:p>
          </p:txBody>
        </p:sp>
        <p:sp>
          <p:nvSpPr>
            <p:cNvPr id="46149" name="Text Box 70"/>
            <p:cNvSpPr txBox="1">
              <a:spLocks noChangeArrowheads="1"/>
            </p:cNvSpPr>
            <p:nvPr/>
          </p:nvSpPr>
          <p:spPr bwMode="auto">
            <a:xfrm>
              <a:off x="2381" y="2858"/>
              <a:ext cx="182" cy="216"/>
            </a:xfrm>
            <a:prstGeom prst="rect">
              <a:avLst/>
            </a:prstGeom>
            <a:noFill/>
            <a:ln w="9525">
              <a:noFill/>
              <a:miter lim="800000"/>
            </a:ln>
            <a:effectLst/>
          </p:spPr>
          <p:txBody>
            <a:bodyPr>
              <a:spAutoFit/>
            </a:bodyPr>
            <a:lstStyle/>
            <a:p>
              <a:pPr>
                <a:spcBef>
                  <a:spcPct val="50000"/>
                </a:spcBef>
              </a:pPr>
              <a:r>
                <a:rPr lang="en-US" altLang="zh-CN" sz="2000" b="1"/>
                <a:t>B</a:t>
              </a:r>
              <a:endParaRPr lang="en-US" altLang="zh-CN" sz="2000" b="1"/>
            </a:p>
          </p:txBody>
        </p:sp>
        <p:sp>
          <p:nvSpPr>
            <p:cNvPr id="46150" name="Line 71"/>
            <p:cNvSpPr>
              <a:spLocks noChangeShapeType="1"/>
            </p:cNvSpPr>
            <p:nvPr/>
          </p:nvSpPr>
          <p:spPr bwMode="auto">
            <a:xfrm>
              <a:off x="3007" y="3067"/>
              <a:ext cx="0" cy="363"/>
            </a:xfrm>
            <a:prstGeom prst="line">
              <a:avLst/>
            </a:prstGeom>
            <a:noFill/>
            <a:ln w="19050">
              <a:solidFill>
                <a:schemeClr val="tx1"/>
              </a:solidFill>
              <a:prstDash val="dash"/>
              <a:round/>
            </a:ln>
            <a:effectLst/>
          </p:spPr>
          <p:txBody>
            <a:bodyPr/>
            <a:lstStyle/>
            <a:p>
              <a:endParaRPr lang="zh-CN" altLang="en-US" sz="2000" b="1"/>
            </a:p>
          </p:txBody>
        </p:sp>
        <p:sp>
          <p:nvSpPr>
            <p:cNvPr id="46151" name="Text Box 72"/>
            <p:cNvSpPr txBox="1">
              <a:spLocks noChangeArrowheads="1"/>
            </p:cNvSpPr>
            <p:nvPr/>
          </p:nvSpPr>
          <p:spPr bwMode="auto">
            <a:xfrm>
              <a:off x="3887" y="2840"/>
              <a:ext cx="182" cy="216"/>
            </a:xfrm>
            <a:prstGeom prst="rect">
              <a:avLst/>
            </a:prstGeom>
            <a:noFill/>
            <a:ln w="9525">
              <a:noFill/>
              <a:miter lim="800000"/>
            </a:ln>
            <a:effectLst/>
          </p:spPr>
          <p:txBody>
            <a:bodyPr>
              <a:spAutoFit/>
            </a:bodyPr>
            <a:lstStyle/>
            <a:p>
              <a:pPr>
                <a:spcBef>
                  <a:spcPct val="50000"/>
                </a:spcBef>
              </a:pPr>
              <a:r>
                <a:rPr lang="en-US" altLang="zh-CN" sz="2000" b="1"/>
                <a:t>C</a:t>
              </a:r>
              <a:endParaRPr lang="en-US" altLang="zh-CN" sz="2000" b="1"/>
            </a:p>
          </p:txBody>
        </p:sp>
        <p:sp>
          <p:nvSpPr>
            <p:cNvPr id="46152" name="Line 73"/>
            <p:cNvSpPr>
              <a:spLocks noChangeShapeType="1"/>
            </p:cNvSpPr>
            <p:nvPr/>
          </p:nvSpPr>
          <p:spPr bwMode="auto">
            <a:xfrm>
              <a:off x="3841" y="3067"/>
              <a:ext cx="317" cy="0"/>
            </a:xfrm>
            <a:prstGeom prst="line">
              <a:avLst/>
            </a:prstGeom>
            <a:noFill/>
            <a:ln w="25400">
              <a:solidFill>
                <a:schemeClr val="tx1"/>
              </a:solidFill>
              <a:round/>
            </a:ln>
            <a:effectLst/>
          </p:spPr>
          <p:txBody>
            <a:bodyPr/>
            <a:lstStyle/>
            <a:p>
              <a:endParaRPr lang="zh-CN" altLang="en-US" sz="2000" b="1"/>
            </a:p>
          </p:txBody>
        </p:sp>
        <p:sp>
          <p:nvSpPr>
            <p:cNvPr id="46153" name="Line 74"/>
            <p:cNvSpPr>
              <a:spLocks noChangeShapeType="1"/>
            </p:cNvSpPr>
            <p:nvPr/>
          </p:nvSpPr>
          <p:spPr bwMode="auto">
            <a:xfrm>
              <a:off x="4159" y="3067"/>
              <a:ext cx="0" cy="363"/>
            </a:xfrm>
            <a:prstGeom prst="line">
              <a:avLst/>
            </a:prstGeom>
            <a:noFill/>
            <a:ln w="19050">
              <a:solidFill>
                <a:schemeClr val="tx1"/>
              </a:solidFill>
              <a:prstDash val="dash"/>
              <a:round/>
            </a:ln>
            <a:effectLst/>
          </p:spPr>
          <p:txBody>
            <a:bodyPr/>
            <a:lstStyle/>
            <a:p>
              <a:endParaRPr lang="zh-CN" altLang="en-US" sz="2000" b="1"/>
            </a:p>
          </p:txBody>
        </p:sp>
      </p:grpSp>
      <p:sp>
        <p:nvSpPr>
          <p:cNvPr id="48" name="标题 47"/>
          <p:cNvSpPr>
            <a:spLocks noGrp="1"/>
          </p:cNvSpPr>
          <p:nvPr>
            <p:ph type="title"/>
          </p:nvPr>
        </p:nvSpPr>
        <p:spPr/>
        <p:txBody>
          <a:bodyPr/>
          <a:lstStyle/>
          <a:p>
            <a:r>
              <a:rPr lang="zh-CN" altLang="en-US" dirty="0"/>
              <a:t>多道运行的安排</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1"/>
            <a:ext cx="9753600" cy="1658144"/>
          </a:xfrm>
          <a:prstGeom prst="rect">
            <a:avLst/>
          </a:prstGeom>
          <a:noFill/>
        </p:spPr>
        <p:txBody>
          <a:bodyPr vert="horz" wrap="square" rtlCol="0" anchor="ctr" anchorCtr="0">
            <a:noAutofit/>
          </a:bodyPr>
          <a:lstStyle/>
          <a:p>
            <a:r>
              <a:rPr lang="zh-CN" altLang="zh-CN" sz="2800" b="1" dirty="0">
                <a:ea typeface="等线" panose="02010600030101010101" pitchFamily="2" charset="-122"/>
                <a:cs typeface="宋体" panose="02010600030101010101" pitchFamily="2" charset="-122"/>
              </a:rPr>
              <a:t>批处理系统的主要缺点是</a:t>
            </a:r>
            <a:r>
              <a:rPr lang="en-US" altLang="zh-CN" sz="2800" b="1" dirty="0">
                <a:ea typeface="等线" panose="02010600030101010101" pitchFamily="2" charset="-122"/>
                <a:cs typeface="宋体" panose="02010600030101010101" pitchFamily="2" charset="-122"/>
              </a:rPr>
              <a:t>( )</a:t>
            </a:r>
            <a:endParaRPr lang="zh-CN" altLang="en-US" sz="2600" b="1"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2438400" y="2131307"/>
            <a:ext cx="8534400" cy="642938"/>
          </a:xfrm>
          <a:prstGeom prst="rect">
            <a:avLst/>
          </a:prstGeom>
          <a:noFill/>
        </p:spPr>
        <p:txBody>
          <a:bodyPr vert="horz" rtlCol="0" anchor="ctr" anchorCtr="0">
            <a:noAutofit/>
          </a:bodyPr>
          <a:lstStyle/>
          <a:p>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CPU</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的利用率不高</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2438400" y="298855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失去了交互性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2438400" y="384580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不具备并行性</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2438400" y="470305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以上都不是</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571625" y="219560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571625" y="305285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571625" y="391010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571625" y="476735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8915400" y="5560307"/>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12192000" cy="635000"/>
            <a:chOff x="0" y="0"/>
            <a:chExt cx="12192000" cy="635000"/>
          </a:xfrm>
        </p:grpSpPr>
        <p:sp>
          <p:nvSpPr>
            <p:cNvPr id="16"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zh-CN" dirty="0"/>
              <a:t>．操作系统是一种</a:t>
            </a:r>
            <a:r>
              <a:rPr lang="en-US" altLang="zh-CN" dirty="0"/>
              <a:t>( )</a:t>
            </a:r>
            <a:r>
              <a:rPr lang="zh-CN" altLang="zh-CN" dirty="0"/>
              <a:t>。</a:t>
            </a:r>
            <a:endParaRPr lang="zh-CN" altLang="zh-CN" dirty="0"/>
          </a:p>
          <a:p>
            <a:r>
              <a:rPr lang="en-US" altLang="zh-CN" dirty="0"/>
              <a:t>A.</a:t>
            </a:r>
            <a:r>
              <a:rPr lang="zh-CN" altLang="zh-CN" dirty="0"/>
              <a:t>应用软件</a:t>
            </a:r>
            <a:r>
              <a:rPr lang="en-US" altLang="zh-CN" dirty="0"/>
              <a:t> B</a:t>
            </a:r>
            <a:r>
              <a:rPr lang="zh-CN" altLang="zh-CN" dirty="0"/>
              <a:t>．系统软件</a:t>
            </a:r>
            <a:r>
              <a:rPr lang="en-US" altLang="zh-CN" dirty="0"/>
              <a:t> C</a:t>
            </a:r>
            <a:r>
              <a:rPr lang="zh-CN" altLang="zh-CN" dirty="0"/>
              <a:t>．通用软件</a:t>
            </a:r>
            <a:r>
              <a:rPr lang="en-US" altLang="zh-CN" dirty="0"/>
              <a:t> D</a:t>
            </a:r>
            <a:r>
              <a:rPr lang="zh-CN" altLang="zh-CN" dirty="0"/>
              <a:t>．工具软件</a:t>
            </a:r>
            <a:endParaRPr lang="zh-CN" altLang="zh-CN" dirty="0"/>
          </a:p>
          <a:p>
            <a:r>
              <a:rPr lang="en-US" altLang="zh-CN" dirty="0"/>
              <a:t>2</a:t>
            </a:r>
            <a:r>
              <a:rPr lang="zh-CN" altLang="zh-CN" dirty="0"/>
              <a:t>．引入多道程序的目的在于</a:t>
            </a:r>
            <a:r>
              <a:rPr lang="en-US" altLang="zh-CN" dirty="0"/>
              <a:t>( )</a:t>
            </a:r>
            <a:r>
              <a:rPr lang="zh-CN" altLang="zh-CN" dirty="0"/>
              <a:t>。</a:t>
            </a:r>
            <a:r>
              <a:rPr lang="en-US" altLang="zh-CN" dirty="0"/>
              <a:t> </a:t>
            </a:r>
            <a:endParaRPr lang="zh-CN" altLang="zh-CN" dirty="0"/>
          </a:p>
          <a:p>
            <a:r>
              <a:rPr lang="en-US" altLang="zh-CN" dirty="0"/>
              <a:t>A</a:t>
            </a:r>
            <a:r>
              <a:rPr lang="zh-CN" altLang="zh-CN" dirty="0"/>
              <a:t>．充分利用</a:t>
            </a:r>
            <a:r>
              <a:rPr lang="en-US" altLang="zh-CN" dirty="0"/>
              <a:t>CPU</a:t>
            </a:r>
            <a:r>
              <a:rPr lang="zh-CN" altLang="zh-CN" dirty="0"/>
              <a:t>，减少</a:t>
            </a:r>
            <a:r>
              <a:rPr lang="en-US" altLang="zh-CN" dirty="0"/>
              <a:t>CPU</a:t>
            </a:r>
            <a:r>
              <a:rPr lang="zh-CN" altLang="zh-CN" dirty="0"/>
              <a:t>等待时间</a:t>
            </a:r>
            <a:r>
              <a:rPr lang="en-US" altLang="zh-CN" dirty="0"/>
              <a:t> </a:t>
            </a:r>
            <a:endParaRPr lang="en-US" altLang="zh-CN" dirty="0"/>
          </a:p>
          <a:p>
            <a:r>
              <a:rPr lang="en-US" altLang="zh-CN" dirty="0"/>
              <a:t>B</a:t>
            </a:r>
            <a:r>
              <a:rPr lang="zh-CN" altLang="zh-CN" dirty="0"/>
              <a:t>．提高实时响应速度</a:t>
            </a:r>
            <a:endParaRPr lang="zh-CN" altLang="zh-CN" dirty="0"/>
          </a:p>
          <a:p>
            <a:r>
              <a:rPr lang="en-US" altLang="zh-CN" dirty="0"/>
              <a:t>C</a:t>
            </a:r>
            <a:r>
              <a:rPr lang="zh-CN" altLang="zh-CN" dirty="0"/>
              <a:t>．有利于代码共享，减少主、辅存信息交换量</a:t>
            </a:r>
            <a:r>
              <a:rPr lang="en-US" altLang="zh-CN" dirty="0"/>
              <a:t> </a:t>
            </a:r>
            <a:endParaRPr lang="en-US" altLang="zh-CN" dirty="0"/>
          </a:p>
          <a:p>
            <a:r>
              <a:rPr lang="en-US" altLang="zh-CN" dirty="0"/>
              <a:t>D</a:t>
            </a:r>
            <a:r>
              <a:rPr lang="zh-CN" altLang="zh-CN" dirty="0"/>
              <a:t>．充分利用存储器</a:t>
            </a:r>
            <a:endParaRPr lang="zh-CN" altLang="en-US" dirty="0"/>
          </a:p>
        </p:txBody>
      </p:sp>
      <p:sp>
        <p:nvSpPr>
          <p:cNvPr id="3" name="标题 2"/>
          <p:cNvSpPr>
            <a:spLocks noGrp="1"/>
          </p:cNvSpPr>
          <p:nvPr>
            <p:ph type="title"/>
          </p:nvPr>
        </p:nvSpPr>
        <p:spPr/>
        <p:txBody>
          <a:bodyPr/>
          <a:lstStyle/>
          <a:p>
            <a:r>
              <a:rPr lang="zh-CN" altLang="en-US" dirty="0"/>
              <a:t>练习题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3"/>
          <p:cNvSpPr>
            <a:spLocks noGrp="1" noChangeArrowheads="1"/>
          </p:cNvSpPr>
          <p:nvPr>
            <p:ph type="body" idx="1"/>
          </p:nvPr>
        </p:nvSpPr>
        <p:spPr/>
        <p:txBody>
          <a:bodyPr/>
          <a:lstStyle/>
          <a:p>
            <a:r>
              <a:rPr lang="en-US" altLang="zh-CN" dirty="0"/>
              <a:t>     </a:t>
            </a:r>
            <a:endParaRPr lang="en-US" altLang="zh-CN" dirty="0"/>
          </a:p>
          <a:p>
            <a:r>
              <a:rPr lang="en-US" altLang="zh-CN" dirty="0"/>
              <a:t>Ti</a:t>
            </a:r>
            <a:r>
              <a:rPr lang="zh-CN" altLang="en-US" dirty="0"/>
              <a:t>（响应时间） </a:t>
            </a:r>
            <a:r>
              <a:rPr lang="en-US" altLang="zh-CN" dirty="0"/>
              <a:t>= NQ + </a:t>
            </a:r>
            <a:r>
              <a:rPr lang="en-US" altLang="zh-CN" dirty="0" err="1"/>
              <a:t>To.s</a:t>
            </a:r>
            <a:r>
              <a:rPr lang="en-US" altLang="zh-CN" dirty="0"/>
              <a:t> + </a:t>
            </a:r>
            <a:r>
              <a:rPr lang="en-US" altLang="zh-CN" dirty="0" err="1"/>
              <a:t>Twap</a:t>
            </a:r>
            <a:endParaRPr lang="en-US" altLang="zh-CN" dirty="0"/>
          </a:p>
          <a:p>
            <a:endParaRPr lang="en-US" altLang="zh-CN" dirty="0"/>
          </a:p>
          <a:p>
            <a:endParaRPr lang="en-US" altLang="zh-CN" dirty="0"/>
          </a:p>
          <a:p>
            <a:r>
              <a:rPr lang="zh-CN" altLang="en-US" dirty="0"/>
              <a:t>改善响影时间的方法</a:t>
            </a:r>
            <a:endParaRPr lang="zh-CN" altLang="en-US" dirty="0"/>
          </a:p>
          <a:p>
            <a:r>
              <a:rPr lang="zh-CN" altLang="en-US" dirty="0"/>
              <a:t>    采用重入码减少信息的对换量</a:t>
            </a:r>
            <a:endParaRPr lang="zh-CN" altLang="en-US" dirty="0"/>
          </a:p>
          <a:p>
            <a:r>
              <a:rPr lang="zh-CN" altLang="en-US" dirty="0"/>
              <a:t>    采用虚拟存储技术</a:t>
            </a:r>
            <a:r>
              <a:rPr lang="en-US" altLang="zh-CN" dirty="0"/>
              <a:t>,</a:t>
            </a:r>
            <a:r>
              <a:rPr lang="zh-CN" altLang="en-US" dirty="0"/>
              <a:t>减少信息对换量</a:t>
            </a:r>
            <a:endParaRPr lang="zh-CN" altLang="en-US" dirty="0"/>
          </a:p>
          <a:p>
            <a:endParaRPr lang="en-US" altLang="zh-CN" dirty="0"/>
          </a:p>
        </p:txBody>
      </p:sp>
      <p:sp>
        <p:nvSpPr>
          <p:cNvPr id="77826" name="Rectangle 2"/>
          <p:cNvSpPr>
            <a:spLocks noGrp="1" noChangeArrowheads="1"/>
          </p:cNvSpPr>
          <p:nvPr>
            <p:ph type="title"/>
          </p:nvPr>
        </p:nvSpPr>
        <p:spPr/>
        <p:txBody>
          <a:bodyPr/>
          <a:lstStyle/>
          <a:p>
            <a:r>
              <a:rPr lang="zh-CN" altLang="en-US" dirty="0"/>
              <a:t>影响响应时间的若干因素</a:t>
            </a:r>
            <a:endParaRPr lang="zh-CN" altLang="en-US" dirty="0"/>
          </a:p>
        </p:txBody>
      </p:sp>
      <p:sp>
        <p:nvSpPr>
          <p:cNvPr id="55300" name="AutoShape 4"/>
          <p:cNvSpPr>
            <a:spLocks noChangeArrowheads="1"/>
          </p:cNvSpPr>
          <p:nvPr/>
        </p:nvSpPr>
        <p:spPr bwMode="auto">
          <a:xfrm>
            <a:off x="3556000" y="1525587"/>
            <a:ext cx="1076339" cy="381000"/>
          </a:xfrm>
          <a:prstGeom prst="wedgeRoundRectCallout">
            <a:avLst>
              <a:gd name="adj1" fmla="val 53032"/>
              <a:gd name="adj2" fmla="val 106667"/>
              <a:gd name="adj3" fmla="val 16667"/>
            </a:avLst>
          </a:prstGeom>
          <a:solidFill>
            <a:schemeClr val="bg2"/>
          </a:solidFill>
          <a:ln w="9525">
            <a:solidFill>
              <a:schemeClr val="tx1"/>
            </a:solidFill>
            <a:miter lim="800000"/>
          </a:ln>
          <a:effectLst/>
        </p:spPr>
        <p:txBody>
          <a:bodyPr/>
          <a:lstStyle/>
          <a:p>
            <a:pPr algn="ctr"/>
            <a:r>
              <a:rPr lang="zh-CN" altLang="en-US" sz="2000" dirty="0"/>
              <a:t>用户数</a:t>
            </a:r>
            <a:endParaRPr lang="zh-CN" altLang="en-US" sz="2000" dirty="0"/>
          </a:p>
        </p:txBody>
      </p:sp>
      <p:sp>
        <p:nvSpPr>
          <p:cNvPr id="55301" name="AutoShape 5"/>
          <p:cNvSpPr>
            <a:spLocks noChangeArrowheads="1"/>
          </p:cNvSpPr>
          <p:nvPr/>
        </p:nvSpPr>
        <p:spPr bwMode="auto">
          <a:xfrm>
            <a:off x="3655347" y="2782887"/>
            <a:ext cx="1236665" cy="380999"/>
          </a:xfrm>
          <a:prstGeom prst="wedgeRoundRectCallout">
            <a:avLst>
              <a:gd name="adj1" fmla="val 62329"/>
              <a:gd name="adj2" fmla="val -112500"/>
              <a:gd name="adj3" fmla="val 16667"/>
            </a:avLst>
          </a:prstGeom>
          <a:solidFill>
            <a:schemeClr val="bg2"/>
          </a:solidFill>
          <a:ln w="9525">
            <a:solidFill>
              <a:schemeClr val="tx1"/>
            </a:solidFill>
            <a:miter lim="800000"/>
          </a:ln>
          <a:effectLst/>
        </p:spPr>
        <p:txBody>
          <a:bodyPr/>
          <a:lstStyle/>
          <a:p>
            <a:pPr algn="ctr"/>
            <a:r>
              <a:rPr lang="zh-CN" altLang="en-US" sz="2000" dirty="0"/>
              <a:t>时间片</a:t>
            </a:r>
            <a:endParaRPr lang="zh-CN" altLang="en-US" sz="2000" dirty="0"/>
          </a:p>
        </p:txBody>
      </p:sp>
      <p:sp>
        <p:nvSpPr>
          <p:cNvPr id="55302" name="AutoShape 6"/>
          <p:cNvSpPr>
            <a:spLocks noChangeArrowheads="1"/>
          </p:cNvSpPr>
          <p:nvPr/>
        </p:nvSpPr>
        <p:spPr bwMode="auto">
          <a:xfrm>
            <a:off x="6182490" y="1374774"/>
            <a:ext cx="1720836" cy="381000"/>
          </a:xfrm>
          <a:prstGeom prst="wedgeRoundRectCallout">
            <a:avLst>
              <a:gd name="adj1" fmla="val -64583"/>
              <a:gd name="adj2" fmla="val 144583"/>
              <a:gd name="adj3" fmla="val 16667"/>
            </a:avLst>
          </a:prstGeom>
          <a:solidFill>
            <a:schemeClr val="bg2"/>
          </a:solidFill>
          <a:ln w="9525">
            <a:solidFill>
              <a:schemeClr val="tx1"/>
            </a:solidFill>
            <a:miter lim="800000"/>
          </a:ln>
          <a:effectLst/>
        </p:spPr>
        <p:txBody>
          <a:bodyPr/>
          <a:lstStyle/>
          <a:p>
            <a:pPr algn="ctr"/>
            <a:r>
              <a:rPr lang="zh-CN" altLang="en-US" sz="2000" dirty="0"/>
              <a:t>系统开销</a:t>
            </a:r>
            <a:endParaRPr lang="zh-CN" altLang="en-US" sz="2000" dirty="0"/>
          </a:p>
        </p:txBody>
      </p:sp>
      <p:sp>
        <p:nvSpPr>
          <p:cNvPr id="55303" name="AutoShape 7"/>
          <p:cNvSpPr>
            <a:spLocks noChangeArrowheads="1"/>
          </p:cNvSpPr>
          <p:nvPr/>
        </p:nvSpPr>
        <p:spPr bwMode="auto">
          <a:xfrm>
            <a:off x="7367909" y="2867893"/>
            <a:ext cx="1876411" cy="457200"/>
          </a:xfrm>
          <a:prstGeom prst="wedgeRoundRectCallout">
            <a:avLst>
              <a:gd name="adj1" fmla="val -41370"/>
              <a:gd name="adj2" fmla="val -120486"/>
              <a:gd name="adj3" fmla="val 16667"/>
            </a:avLst>
          </a:prstGeom>
          <a:solidFill>
            <a:schemeClr val="bg2"/>
          </a:solidFill>
          <a:ln w="9525">
            <a:solidFill>
              <a:schemeClr val="tx1"/>
            </a:solidFill>
            <a:miter lim="800000"/>
          </a:ln>
          <a:effectLst/>
        </p:spPr>
        <p:txBody>
          <a:bodyPr/>
          <a:lstStyle/>
          <a:p>
            <a:pPr algn="ctr"/>
            <a:r>
              <a:rPr lang="zh-CN" altLang="en-US" sz="2000"/>
              <a:t>信息交换时间</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UNIX</a:t>
            </a:r>
            <a:r>
              <a:rPr lang="zh-CN" altLang="en-US" dirty="0"/>
              <a:t>操作系统是著名的 </a:t>
            </a:r>
            <a:r>
              <a:rPr lang="en-US" altLang="zh-CN" dirty="0"/>
              <a:t>( ) </a:t>
            </a:r>
            <a:r>
              <a:rPr lang="zh-CN" altLang="en-US" dirty="0"/>
              <a:t>。</a:t>
            </a:r>
            <a:endParaRPr lang="zh-CN" altLang="en-US" dirty="0"/>
          </a:p>
          <a:p>
            <a:pPr lvl="1"/>
            <a:r>
              <a:rPr lang="en-US" altLang="zh-CN" dirty="0"/>
              <a:t>A.</a:t>
            </a:r>
            <a:r>
              <a:rPr lang="zh-CN" altLang="en-US" dirty="0"/>
              <a:t>多道批处理系统 </a:t>
            </a:r>
            <a:r>
              <a:rPr lang="en-US" altLang="zh-CN" dirty="0"/>
              <a:t>B.</a:t>
            </a:r>
            <a:r>
              <a:rPr lang="zh-CN" altLang="en-US" dirty="0"/>
              <a:t>分时系统  </a:t>
            </a:r>
            <a:r>
              <a:rPr lang="en-US" altLang="zh-CN" dirty="0"/>
              <a:t>C.</a:t>
            </a:r>
            <a:r>
              <a:rPr lang="zh-CN" altLang="en-US" dirty="0"/>
              <a:t>实时系统 </a:t>
            </a:r>
            <a:r>
              <a:rPr lang="en-US" altLang="zh-CN" dirty="0"/>
              <a:t>D.</a:t>
            </a:r>
            <a:r>
              <a:rPr lang="zh-CN" altLang="en-US" dirty="0"/>
              <a:t>分布式系统</a:t>
            </a:r>
            <a:endParaRPr lang="zh-CN" altLang="en-US" dirty="0"/>
          </a:p>
          <a:p>
            <a:pPr lvl="1"/>
            <a:r>
              <a:rPr lang="zh-CN" altLang="en-US" dirty="0"/>
              <a:t>答案</a:t>
            </a:r>
            <a:r>
              <a:rPr lang="en-US" altLang="zh-CN" dirty="0"/>
              <a:t> B</a:t>
            </a:r>
            <a:endParaRPr lang="en-US" altLang="zh-CN" dirty="0"/>
          </a:p>
          <a:p>
            <a:r>
              <a:rPr lang="zh-CN" altLang="en-US" dirty="0"/>
              <a:t>引入多道程序的目的在于 </a:t>
            </a:r>
            <a:r>
              <a:rPr lang="en-US" altLang="zh-CN" dirty="0"/>
              <a:t>( ) </a:t>
            </a:r>
            <a:r>
              <a:rPr lang="zh-CN" altLang="en-US" dirty="0"/>
              <a:t>。</a:t>
            </a:r>
            <a:endParaRPr lang="zh-CN" altLang="en-US" dirty="0"/>
          </a:p>
          <a:p>
            <a:pPr lvl="1"/>
            <a:r>
              <a:rPr lang="en-US" altLang="zh-CN" dirty="0"/>
              <a:t>A.</a:t>
            </a:r>
            <a:r>
              <a:rPr lang="zh-CN" altLang="en-US" dirty="0"/>
              <a:t>充分利用</a:t>
            </a:r>
            <a:r>
              <a:rPr lang="en-US" altLang="zh-CN" dirty="0"/>
              <a:t>CPU</a:t>
            </a:r>
            <a:r>
              <a:rPr lang="zh-CN" altLang="en-US" dirty="0"/>
              <a:t>，减少</a:t>
            </a:r>
            <a:r>
              <a:rPr lang="en-US" altLang="zh-CN" dirty="0"/>
              <a:t>CPU</a:t>
            </a:r>
            <a:r>
              <a:rPr lang="zh-CN" altLang="en-US" dirty="0"/>
              <a:t>等待时间   　</a:t>
            </a:r>
            <a:r>
              <a:rPr lang="en-US" altLang="zh-CN" dirty="0"/>
              <a:t>B.</a:t>
            </a:r>
            <a:r>
              <a:rPr lang="zh-CN" altLang="en-US" dirty="0"/>
              <a:t>提高实时响应速度</a:t>
            </a:r>
            <a:endParaRPr lang="zh-CN" altLang="en-US" dirty="0"/>
          </a:p>
          <a:p>
            <a:pPr lvl="1"/>
            <a:r>
              <a:rPr lang="en-US" altLang="zh-CN" dirty="0"/>
              <a:t>C.</a:t>
            </a:r>
            <a:r>
              <a:rPr lang="zh-CN" altLang="en-US" dirty="0"/>
              <a:t>有利于代码共享，减少主、辅存信息交换量</a:t>
            </a:r>
            <a:endParaRPr lang="zh-CN" altLang="en-US" dirty="0"/>
          </a:p>
          <a:p>
            <a:pPr lvl="1"/>
            <a:r>
              <a:rPr lang="en-US" altLang="zh-CN" dirty="0"/>
              <a:t>D.</a:t>
            </a:r>
            <a:r>
              <a:rPr lang="zh-CN" altLang="en-US" dirty="0"/>
              <a:t>充分利用存储器</a:t>
            </a:r>
            <a:endParaRPr lang="zh-CN" altLang="en-US" dirty="0"/>
          </a:p>
          <a:p>
            <a:pPr lvl="1"/>
            <a:r>
              <a:rPr lang="zh-CN" altLang="en-US" dirty="0"/>
              <a:t>答案</a:t>
            </a:r>
            <a:r>
              <a:rPr lang="en-US" altLang="zh-CN" dirty="0"/>
              <a:t> A</a:t>
            </a:r>
            <a:r>
              <a:rPr lang="zh-CN" altLang="en-US" dirty="0"/>
              <a:t>　　</a:t>
            </a:r>
            <a:endParaRPr lang="en-US" altLang="zh-CN" dirty="0"/>
          </a:p>
        </p:txBody>
      </p:sp>
      <p:sp>
        <p:nvSpPr>
          <p:cNvPr id="2" name="标题 1"/>
          <p:cNvSpPr>
            <a:spLocks noGrp="1"/>
          </p:cNvSpPr>
          <p:nvPr>
            <p:ph type="title"/>
          </p:nvPr>
        </p:nvSpPr>
        <p:spPr/>
        <p:txBody>
          <a:bodyPr/>
          <a:lstStyle/>
          <a:p>
            <a:r>
              <a:rPr lang="zh-CN" altLang="en-US" dirty="0"/>
              <a:t>计算机考研</a:t>
            </a:r>
            <a:r>
              <a:rPr lang="en-US" altLang="zh-CN" dirty="0"/>
              <a:t>《</a:t>
            </a:r>
            <a:r>
              <a:rPr lang="zh-CN" altLang="en-US" dirty="0"/>
              <a:t>操作系统</a:t>
            </a:r>
            <a:r>
              <a:rPr lang="en-US" altLang="zh-CN" dirty="0"/>
              <a:t>》</a:t>
            </a:r>
            <a:r>
              <a:rPr lang="zh-CN" altLang="en-US" dirty="0"/>
              <a:t>单项选择题</a:t>
            </a:r>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下述 </a:t>
            </a:r>
            <a:r>
              <a:rPr lang="en-US" altLang="zh-CN" dirty="0"/>
              <a:t>( ) </a:t>
            </a:r>
            <a:r>
              <a:rPr lang="zh-CN" altLang="en-US" dirty="0"/>
              <a:t>不属于多道程序运行的特征。</a:t>
            </a:r>
            <a:endParaRPr lang="zh-CN" altLang="en-US" dirty="0"/>
          </a:p>
          <a:p>
            <a:pPr lvl="1"/>
            <a:r>
              <a:rPr lang="en-US" altLang="zh-CN" dirty="0"/>
              <a:t>A.</a:t>
            </a:r>
            <a:r>
              <a:rPr lang="zh-CN" altLang="en-US" dirty="0"/>
              <a:t>多道 </a:t>
            </a:r>
            <a:r>
              <a:rPr lang="en-US" altLang="zh-CN" dirty="0"/>
              <a:t>			B.</a:t>
            </a:r>
            <a:r>
              <a:rPr lang="zh-CN" altLang="en-US" dirty="0"/>
              <a:t>运行速度快</a:t>
            </a:r>
            <a:endParaRPr lang="zh-CN" altLang="en-US" dirty="0"/>
          </a:p>
          <a:p>
            <a:pPr lvl="1"/>
            <a:r>
              <a:rPr lang="en-US" altLang="zh-CN" dirty="0"/>
              <a:t>C.</a:t>
            </a:r>
            <a:r>
              <a:rPr lang="zh-CN" altLang="en-US" dirty="0"/>
              <a:t>宏观上并行 </a:t>
            </a:r>
            <a:r>
              <a:rPr lang="en-US" altLang="zh-CN" dirty="0"/>
              <a:t>		D.</a:t>
            </a:r>
            <a:r>
              <a:rPr lang="zh-CN" altLang="en-US" dirty="0"/>
              <a:t>实际上多道程序是穿插运行的</a:t>
            </a:r>
            <a:endParaRPr lang="zh-CN" altLang="en-US" dirty="0"/>
          </a:p>
          <a:p>
            <a:pPr lvl="1"/>
            <a:r>
              <a:rPr lang="zh-CN" altLang="en-US" dirty="0"/>
              <a:t>答案 </a:t>
            </a:r>
            <a:r>
              <a:rPr lang="en-US" altLang="zh-CN" dirty="0"/>
              <a:t> B</a:t>
            </a:r>
            <a:endParaRPr lang="en-US" altLang="zh-CN" dirty="0"/>
          </a:p>
          <a:p>
            <a:r>
              <a:rPr lang="zh-CN" altLang="en-US" dirty="0"/>
              <a:t>下列性质中，哪一个不是分时系统的特征 </a:t>
            </a:r>
            <a:r>
              <a:rPr lang="en-US" altLang="zh-CN" dirty="0"/>
              <a:t>(  ) </a:t>
            </a:r>
            <a:r>
              <a:rPr lang="zh-CN" altLang="en-US" dirty="0"/>
              <a:t>。</a:t>
            </a:r>
            <a:endParaRPr lang="zh-CN" altLang="en-US" dirty="0"/>
          </a:p>
          <a:p>
            <a:pPr lvl="1"/>
            <a:r>
              <a:rPr lang="en-US" altLang="zh-CN" dirty="0"/>
              <a:t> A.</a:t>
            </a:r>
            <a:r>
              <a:rPr lang="zh-CN" altLang="en-US" dirty="0"/>
              <a:t>交互性 </a:t>
            </a:r>
            <a:r>
              <a:rPr lang="en-US" altLang="zh-CN" dirty="0"/>
              <a:t>B.</a:t>
            </a:r>
            <a:r>
              <a:rPr lang="zh-CN" altLang="en-US" dirty="0"/>
              <a:t>多路性 </a:t>
            </a:r>
            <a:r>
              <a:rPr lang="en-US" altLang="zh-CN" dirty="0"/>
              <a:t>C.</a:t>
            </a:r>
            <a:r>
              <a:rPr lang="zh-CN" altLang="en-US" dirty="0"/>
              <a:t>成批性 </a:t>
            </a:r>
            <a:r>
              <a:rPr lang="en-US" altLang="zh-CN" dirty="0"/>
              <a:t>D.</a:t>
            </a:r>
            <a:r>
              <a:rPr lang="zh-CN" altLang="en-US" dirty="0"/>
              <a:t>独占性</a:t>
            </a:r>
            <a:endParaRPr lang="zh-CN" altLang="en-US" dirty="0"/>
          </a:p>
          <a:p>
            <a:pPr lvl="1"/>
            <a:r>
              <a:rPr lang="zh-CN" altLang="en-US" dirty="0"/>
              <a:t>答案 </a:t>
            </a:r>
            <a:r>
              <a:rPr lang="en-US" altLang="zh-CN" dirty="0"/>
              <a:t> C</a:t>
            </a:r>
            <a:endParaRPr lang="zh-CN" altLang="en-US" dirty="0"/>
          </a:p>
        </p:txBody>
      </p:sp>
      <p:sp>
        <p:nvSpPr>
          <p:cNvPr id="3" name="标题 2"/>
          <p:cNvSpPr>
            <a:spLocks noGrp="1"/>
          </p:cNvSpPr>
          <p:nvPr>
            <p:ph type="title"/>
          </p:nvPr>
        </p:nvSpPr>
        <p:spPr/>
        <p:txBody>
          <a:bodyPr/>
          <a:lstStyle/>
          <a:p>
            <a:r>
              <a:rPr lang="zh-CN" altLang="en-US" dirty="0"/>
              <a:t>计算机考研</a:t>
            </a:r>
            <a:r>
              <a:rPr lang="en-US" altLang="zh-CN" dirty="0"/>
              <a:t>《</a:t>
            </a:r>
            <a:r>
              <a:rPr lang="zh-CN" altLang="en-US" dirty="0"/>
              <a:t>操作系统</a:t>
            </a:r>
            <a:r>
              <a:rPr lang="en-US" altLang="zh-CN" dirty="0"/>
              <a:t>》</a:t>
            </a:r>
            <a:r>
              <a:rPr lang="zh-CN" altLang="en-US" dirty="0"/>
              <a:t>单项选择题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小测试</a:t>
            </a:r>
            <a:endParaRPr lang="zh-CN" altLang="en-US" dirty="0"/>
          </a:p>
        </p:txBody>
      </p:sp>
      <p:sp>
        <p:nvSpPr>
          <p:cNvPr id="2" name="内容占位符 1"/>
          <p:cNvSpPr>
            <a:spLocks noGrp="1"/>
          </p:cNvSpPr>
          <p:nvPr>
            <p:ph idx="1"/>
          </p:nvPr>
        </p:nvSpPr>
        <p:spPr>
          <a:xfrm>
            <a:off x="571500" y="850900"/>
            <a:ext cx="10955338" cy="5156200"/>
          </a:xfrm>
        </p:spPr>
        <p:txBody>
          <a:bodyPr/>
          <a:lstStyle/>
          <a:p>
            <a:r>
              <a:rPr lang="en-US" altLang="zh-CN" dirty="0"/>
              <a:t>1</a:t>
            </a:r>
            <a:r>
              <a:rPr lang="zh-CN" altLang="en-US" dirty="0"/>
              <a:t>、</a:t>
            </a:r>
            <a:r>
              <a:rPr lang="en-US" altLang="zh-CN" dirty="0"/>
              <a:t>( )</a:t>
            </a:r>
            <a:r>
              <a:rPr lang="zh-CN" altLang="zh-CN" dirty="0"/>
              <a:t>没有多道程序设计的特点。</a:t>
            </a:r>
            <a:endParaRPr lang="zh-CN" altLang="zh-CN" dirty="0"/>
          </a:p>
          <a:p>
            <a:pPr lvl="1"/>
            <a:r>
              <a:rPr lang="en-US" altLang="zh-CN" dirty="0"/>
              <a:t>A.DOS      B.UNIX       </a:t>
            </a:r>
            <a:r>
              <a:rPr lang="en-US" altLang="zh-CN" dirty="0" err="1"/>
              <a:t>C.Windows</a:t>
            </a:r>
            <a:r>
              <a:rPr lang="en-US" altLang="zh-CN" dirty="0"/>
              <a:t>       D.OS</a:t>
            </a:r>
            <a:r>
              <a:rPr lang="zh-CN" altLang="zh-CN" dirty="0"/>
              <a:t>／</a:t>
            </a:r>
            <a:r>
              <a:rPr lang="en-US" altLang="zh-CN" dirty="0"/>
              <a:t>2</a:t>
            </a:r>
            <a:endParaRPr lang="en-US" altLang="zh-CN" dirty="0"/>
          </a:p>
          <a:p>
            <a:pPr lvl="1"/>
            <a:r>
              <a:rPr lang="zh-CN" altLang="en-US" dirty="0"/>
              <a:t>答案：</a:t>
            </a:r>
            <a:r>
              <a:rPr lang="en-US" altLang="zh-CN" dirty="0"/>
              <a:t>A</a:t>
            </a:r>
            <a:endParaRPr lang="en-US" altLang="zh-CN" dirty="0"/>
          </a:p>
          <a:p>
            <a:r>
              <a:rPr lang="en-US" altLang="zh-CN" dirty="0"/>
              <a:t>2</a:t>
            </a:r>
            <a:r>
              <a:rPr lang="zh-CN" altLang="en-US" dirty="0"/>
              <a:t>、</a:t>
            </a:r>
            <a:r>
              <a:rPr lang="en-US" altLang="zh-CN" dirty="0"/>
              <a:t>( )</a:t>
            </a:r>
            <a:r>
              <a:rPr lang="zh-CN" altLang="zh-CN" dirty="0"/>
              <a:t>具有多道程序设计的特点，但不是分时系统。</a:t>
            </a:r>
            <a:endParaRPr lang="zh-CN" altLang="zh-CN" dirty="0"/>
          </a:p>
          <a:p>
            <a:pPr lvl="1"/>
            <a:r>
              <a:rPr lang="en-US" altLang="zh-CN" dirty="0"/>
              <a:t>A</a:t>
            </a:r>
            <a:r>
              <a:rPr lang="zh-CN" altLang="zh-CN" dirty="0"/>
              <a:t>．</a:t>
            </a:r>
            <a:r>
              <a:rPr lang="en-US" altLang="zh-CN" dirty="0"/>
              <a:t>Windows NT   B</a:t>
            </a:r>
            <a:r>
              <a:rPr lang="zh-CN" altLang="zh-CN" dirty="0"/>
              <a:t>．</a:t>
            </a:r>
            <a:r>
              <a:rPr lang="en-US" altLang="zh-CN" dirty="0"/>
              <a:t>UNIX   C</a:t>
            </a:r>
            <a:r>
              <a:rPr lang="zh-CN" altLang="zh-CN" dirty="0"/>
              <a:t>．</a:t>
            </a:r>
            <a:r>
              <a:rPr lang="en-US" altLang="zh-CN" dirty="0"/>
              <a:t>Windows 3.1   D</a:t>
            </a:r>
            <a:r>
              <a:rPr lang="zh-CN" altLang="zh-CN" dirty="0"/>
              <a:t>．</a:t>
            </a:r>
            <a:r>
              <a:rPr lang="en-US" altLang="zh-CN" dirty="0"/>
              <a:t>0S</a:t>
            </a:r>
            <a:r>
              <a:rPr lang="zh-CN" altLang="zh-CN" dirty="0"/>
              <a:t>／</a:t>
            </a:r>
            <a:r>
              <a:rPr lang="en-US" altLang="zh-CN" dirty="0"/>
              <a:t>2</a:t>
            </a:r>
            <a:endParaRPr lang="zh-CN" altLang="zh-CN" dirty="0"/>
          </a:p>
          <a:p>
            <a:pPr lvl="1"/>
            <a:r>
              <a:rPr lang="zh-CN" altLang="zh-CN" dirty="0"/>
              <a:t>答案：</a:t>
            </a:r>
            <a:r>
              <a:rPr lang="en-US" altLang="zh-CN" dirty="0"/>
              <a:t>C</a:t>
            </a:r>
            <a:endParaRPr lang="zh-CN" altLang="zh-CN" dirty="0"/>
          </a:p>
          <a:p>
            <a:r>
              <a:rPr lang="en-US" altLang="zh-CN" dirty="0"/>
              <a:t>3</a:t>
            </a:r>
            <a:r>
              <a:rPr lang="zh-CN" altLang="en-US" dirty="0"/>
              <a:t>、</a:t>
            </a:r>
            <a:r>
              <a:rPr lang="en-US" altLang="zh-CN" dirty="0"/>
              <a:t>Windows98</a:t>
            </a:r>
            <a:r>
              <a:rPr lang="zh-CN" altLang="zh-CN" dirty="0"/>
              <a:t>属于下列哪种类型操作系统</a:t>
            </a:r>
            <a:r>
              <a:rPr lang="en-US" altLang="zh-CN" dirty="0"/>
              <a:t>( )</a:t>
            </a:r>
            <a:endParaRPr lang="zh-CN" altLang="zh-CN" dirty="0"/>
          </a:p>
          <a:p>
            <a:pPr lvl="1"/>
            <a:r>
              <a:rPr lang="en-US" altLang="zh-CN" dirty="0"/>
              <a:t>A.</a:t>
            </a:r>
            <a:r>
              <a:rPr lang="zh-CN" altLang="zh-CN" dirty="0"/>
              <a:t>单用户、单任务</a:t>
            </a:r>
            <a:r>
              <a:rPr lang="en-US" altLang="zh-CN" dirty="0"/>
              <a:t> B.</a:t>
            </a:r>
            <a:r>
              <a:rPr lang="zh-CN" altLang="zh-CN" dirty="0"/>
              <a:t>单用户、多任务</a:t>
            </a:r>
            <a:r>
              <a:rPr lang="en-US" altLang="zh-CN" dirty="0"/>
              <a:t> C.</a:t>
            </a:r>
            <a:r>
              <a:rPr lang="zh-CN" altLang="zh-CN" dirty="0"/>
              <a:t>多用户、多任务</a:t>
            </a:r>
            <a:r>
              <a:rPr lang="en-US" altLang="zh-CN" dirty="0"/>
              <a:t> D.</a:t>
            </a:r>
            <a:r>
              <a:rPr lang="zh-CN" altLang="zh-CN" dirty="0"/>
              <a:t>实时</a:t>
            </a:r>
            <a:endParaRPr lang="zh-CN" altLang="zh-CN" dirty="0"/>
          </a:p>
          <a:p>
            <a:pPr lvl="1"/>
            <a:r>
              <a:rPr lang="zh-CN" altLang="zh-CN" dirty="0"/>
              <a:t>答案：</a:t>
            </a:r>
            <a:r>
              <a:rPr lang="en-US" altLang="zh-CN" dirty="0"/>
              <a:t>B</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典型问题</a:t>
            </a:r>
            <a:endParaRPr lang="zh-CN" altLang="en-US" dirty="0"/>
          </a:p>
        </p:txBody>
      </p:sp>
      <p:pic>
        <p:nvPicPr>
          <p:cNvPr id="5" name="图片 4"/>
          <p:cNvPicPr>
            <a:picLocks noChangeAspect="1"/>
          </p:cNvPicPr>
          <p:nvPr/>
        </p:nvPicPr>
        <p:blipFill>
          <a:blip r:embed="rId1"/>
          <a:stretch>
            <a:fillRect/>
          </a:stretch>
        </p:blipFill>
        <p:spPr>
          <a:xfrm>
            <a:off x="444500" y="1272953"/>
            <a:ext cx="11356412" cy="409914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实现分时系统的关键问题是什么？应如何解决？</a:t>
            </a:r>
            <a:endParaRPr lang="zh-CN" altLang="en-US" dirty="0"/>
          </a:p>
        </p:txBody>
      </p:sp>
      <p:sp>
        <p:nvSpPr>
          <p:cNvPr id="2" name="标题 1"/>
          <p:cNvSpPr>
            <a:spLocks noGrp="1"/>
          </p:cNvSpPr>
          <p:nvPr>
            <p:ph type="title"/>
          </p:nvPr>
        </p:nvSpPr>
        <p:spPr/>
        <p:txBody>
          <a:bodyPr/>
          <a:lstStyle/>
          <a:p>
            <a:r>
              <a:rPr lang="zh-CN" altLang="en-US" dirty="0"/>
              <a:t>典型问题</a:t>
            </a:r>
            <a:endParaRPr lang="zh-CN" altLang="en-US" dirty="0"/>
          </a:p>
        </p:txBody>
      </p:sp>
      <p:pic>
        <p:nvPicPr>
          <p:cNvPr id="4" name="图片 3"/>
          <p:cNvPicPr>
            <a:picLocks noChangeAspect="1"/>
          </p:cNvPicPr>
          <p:nvPr/>
        </p:nvPicPr>
        <p:blipFill>
          <a:blip r:embed="rId1"/>
          <a:stretch>
            <a:fillRect/>
          </a:stretch>
        </p:blipFill>
        <p:spPr>
          <a:xfrm>
            <a:off x="829286" y="2421308"/>
            <a:ext cx="10760107" cy="40633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试从交互性、及时性以及可靠性三个方面，比较分时系统与实时系统？</a:t>
            </a:r>
            <a:endParaRPr lang="zh-CN" altLang="en-US" dirty="0"/>
          </a:p>
        </p:txBody>
      </p:sp>
      <p:sp>
        <p:nvSpPr>
          <p:cNvPr id="2" name="标题 1"/>
          <p:cNvSpPr>
            <a:spLocks noGrp="1"/>
          </p:cNvSpPr>
          <p:nvPr>
            <p:ph type="title"/>
          </p:nvPr>
        </p:nvSpPr>
        <p:spPr/>
        <p:txBody>
          <a:bodyPr/>
          <a:lstStyle/>
          <a:p>
            <a:r>
              <a:rPr lang="zh-CN" altLang="en-US" dirty="0"/>
              <a:t>典型问题</a:t>
            </a:r>
            <a:endParaRPr lang="zh-CN" altLang="en-US" dirty="0"/>
          </a:p>
        </p:txBody>
      </p:sp>
      <p:pic>
        <p:nvPicPr>
          <p:cNvPr id="4" name="图片 3"/>
          <p:cNvPicPr>
            <a:picLocks noChangeAspect="1"/>
          </p:cNvPicPr>
          <p:nvPr/>
        </p:nvPicPr>
        <p:blipFill>
          <a:blip r:embed="rId1"/>
          <a:stretch>
            <a:fillRect/>
          </a:stretch>
        </p:blipFill>
        <p:spPr>
          <a:xfrm>
            <a:off x="1094679" y="2227782"/>
            <a:ext cx="10480430" cy="463021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并发性是指若干事件在</a:t>
            </a:r>
            <a:r>
              <a:rPr lang="en-US" altLang="zh-CN" sz="2600" dirty="0">
                <a:solidFill>
                  <a:srgbClr val="000000"/>
                </a:solidFill>
                <a:latin typeface="微软雅黑" panose="020B0503020204020204" charset="-122"/>
                <a:ea typeface="微软雅黑" panose="020B0503020204020204" charset="-122"/>
                <a:sym typeface="微软雅黑" panose="020B0503020204020204" charset="-122"/>
              </a:rPr>
              <a:t>(      )</a:t>
            </a:r>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发生</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 name="文本框 6"/>
          <p:cNvSpPr txBox="1"/>
          <p:nvPr>
            <p:custDataLst>
              <p:tags r:id="rId2"/>
            </p:custDataLst>
          </p:nvPr>
        </p:nvSpPr>
        <p:spPr>
          <a:xfrm>
            <a:off x="2438400" y="215296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同一时刻</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8" name="文本框 7"/>
          <p:cNvSpPr txBox="1"/>
          <p:nvPr>
            <p:custDataLst>
              <p:tags r:id="rId3"/>
            </p:custDataLst>
          </p:nvPr>
        </p:nvSpPr>
        <p:spPr>
          <a:xfrm>
            <a:off x="2438400" y="301021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同一时间间隔内</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9" name="文本框 8"/>
          <p:cNvSpPr txBox="1"/>
          <p:nvPr>
            <p:custDataLst>
              <p:tags r:id="rId4"/>
            </p:custDataLst>
          </p:nvPr>
        </p:nvSpPr>
        <p:spPr>
          <a:xfrm>
            <a:off x="2438400" y="386746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不同时刻</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0" name="文本框 9"/>
          <p:cNvSpPr txBox="1"/>
          <p:nvPr>
            <p:custDataLst>
              <p:tags r:id="rId5"/>
            </p:custDataLst>
          </p:nvPr>
        </p:nvSpPr>
        <p:spPr>
          <a:xfrm>
            <a:off x="2438400" y="4724717"/>
            <a:ext cx="8534400" cy="642938"/>
          </a:xfrm>
          <a:prstGeom prst="rect">
            <a:avLst/>
          </a:prstGeom>
          <a:noFill/>
        </p:spPr>
        <p:txBody>
          <a:bodyPr vert="horz" rtlCol="0" anchor="ctr" anchorCtr="0">
            <a:noAutofit/>
          </a:bodyPr>
          <a:lstStyle/>
          <a:p>
            <a:r>
              <a:rPr lang="zh-CN" altLang="en-US" sz="2600" dirty="0">
                <a:solidFill>
                  <a:srgbClr val="000000"/>
                </a:solidFill>
                <a:latin typeface="微软雅黑" panose="020B0503020204020204" charset="-122"/>
                <a:ea typeface="微软雅黑" panose="020B0503020204020204" charset="-122"/>
                <a:sym typeface="微软雅黑" panose="020B0503020204020204" charset="-122"/>
              </a:rPr>
              <a:t>不同时间间隔内</a:t>
            </a:r>
            <a:endParaRPr lang="zh-CN" altLang="en-US" sz="2600" dirty="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1" name="椭圆 10"/>
          <p:cNvSpPr>
            <a:spLocks noChangeAspect="1"/>
          </p:cNvSpPr>
          <p:nvPr>
            <p:custDataLst>
              <p:tags r:id="rId6"/>
            </p:custDataLst>
          </p:nvPr>
        </p:nvSpPr>
        <p:spPr>
          <a:xfrm>
            <a:off x="1571625" y="221726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2" name="椭圆 11"/>
          <p:cNvSpPr>
            <a:spLocks noChangeAspect="1"/>
          </p:cNvSpPr>
          <p:nvPr>
            <p:custDataLst>
              <p:tags r:id="rId7"/>
            </p:custDataLst>
          </p:nvPr>
        </p:nvSpPr>
        <p:spPr>
          <a:xfrm>
            <a:off x="1571625" y="307451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3" name="椭圆 12"/>
          <p:cNvSpPr>
            <a:spLocks noChangeAspect="1"/>
          </p:cNvSpPr>
          <p:nvPr>
            <p:custDataLst>
              <p:tags r:id="rId8"/>
            </p:custDataLst>
          </p:nvPr>
        </p:nvSpPr>
        <p:spPr>
          <a:xfrm>
            <a:off x="1571625" y="393176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椭圆 13"/>
          <p:cNvSpPr>
            <a:spLocks noChangeAspect="1"/>
          </p:cNvSpPr>
          <p:nvPr>
            <p:custDataLst>
              <p:tags r:id="rId9"/>
            </p:custDataLst>
          </p:nvPr>
        </p:nvSpPr>
        <p:spPr>
          <a:xfrm>
            <a:off x="1571625" y="478901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5" name="矩形: 圆角 14"/>
          <p:cNvSpPr/>
          <p:nvPr>
            <p:custDataLst>
              <p:tags r:id="rId10"/>
            </p:custDataLst>
          </p:nvPr>
        </p:nvSpPr>
        <p:spPr>
          <a:xfrm>
            <a:off x="8915400" y="5581967"/>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微软雅黑" panose="020B0503020204020204" charset="-122"/>
                <a:ea typeface="微软雅黑" panose="020B0503020204020204" charset="-122"/>
                <a:sym typeface="微软雅黑" panose="020B0503020204020204" charset="-122"/>
              </a:rPr>
              <a:t>提交</a:t>
            </a:r>
            <a:endParaRPr lang="zh-CN" altLang="en-US" sz="1600">
              <a:solidFill>
                <a:srgbClr val="FFFFFF"/>
              </a:solidFill>
              <a:latin typeface="微软雅黑" panose="020B0503020204020204" charset="-122"/>
              <a:ea typeface="微软雅黑" panose="020B0503020204020204" charset="-122"/>
              <a:sym typeface="微软雅黑" panose="020B0503020204020204" charset="-122"/>
            </a:endParaRPr>
          </a:p>
        </p:txBody>
      </p:sp>
      <p:grpSp>
        <p:nvGrpSpPr>
          <p:cNvPr id="20" name="组合 19"/>
          <p:cNvGrpSpPr/>
          <p:nvPr>
            <p:custDataLst>
              <p:tags r:id="rId11"/>
            </p:custDataLst>
          </p:nvPr>
        </p:nvGrpSpPr>
        <p:grpSpPr>
          <a:xfrm>
            <a:off x="0" y="0"/>
            <a:ext cx="12192000" cy="635000"/>
            <a:chOff x="0" y="0"/>
            <a:chExt cx="12192000" cy="635000"/>
          </a:xfrm>
        </p:grpSpPr>
        <p:sp>
          <p:nvSpPr>
            <p:cNvPr id="16" name="TitleBackground"/>
            <p:cNvSpPr/>
            <p:nvPr>
              <p:custDataLst>
                <p:tags r:id="rId12"/>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charset="-122"/>
                  <a:ea typeface="微软雅黑" panose="020B0503020204020204" charset="-122"/>
                  <a:sym typeface="微软雅黑" panose="020B0503020204020204" charset="-122"/>
                </a:rPr>
                <a:t>单选题</a:t>
              </a:r>
              <a:endParaRPr lang="zh-CN" altLang="en-US" sz="260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a:solidFill>
                    <a:srgbClr val="808080"/>
                  </a:solidFill>
                  <a:latin typeface="微软雅黑" panose="020B0503020204020204" charset="-122"/>
                  <a:ea typeface="微软雅黑" panose="020B0503020204020204" charset="-122"/>
                  <a:sym typeface="微软雅黑" panose="020B0503020204020204" charset="-122"/>
                </a:rPr>
                <a:t>分</a:t>
              </a:r>
              <a:endParaRPr lang="zh-CN" altLang="en-US" sz="2000">
                <a:solidFill>
                  <a:srgbClr val="808080"/>
                </a:solidFill>
                <a:latin typeface="微软雅黑" panose="020B0503020204020204" charset="-122"/>
                <a:ea typeface="微软雅黑" panose="020B0503020204020204" charset="-122"/>
                <a:sym typeface="微软雅黑" panose="020B0503020204020204" charset="-122"/>
              </a:endParaRPr>
            </a:p>
          </p:txBody>
        </p:sp>
      </p:grpSp>
      <p:pic>
        <p:nvPicPr>
          <p:cNvPr id="5" name="图片 4"/>
          <p:cNvPicPr/>
          <p:nvPr>
            <p:custDataLst>
              <p:tags r:id="rId16"/>
            </p:custDataLst>
          </p:nvPr>
        </p:nvPicPr>
        <p:blipFill>
          <a:blip r:embed="rId17"/>
          <a:stretch>
            <a:fillRect/>
          </a:stretch>
        </p:blipFill>
        <p:spPr>
          <a:xfrm>
            <a:off x="10642600" y="63500"/>
            <a:ext cx="1422400" cy="508000"/>
          </a:xfrm>
          <a:prstGeom prst="rect">
            <a:avLst/>
          </a:prstGeom>
        </p:spPr>
      </p:pic>
    </p:spTree>
    <p:custDataLst>
      <p:tags r:id="rId18"/>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748578"/>
            <a:ext cx="10955214" cy="5157643"/>
          </a:xfrm>
        </p:spPr>
        <p:txBody>
          <a:bodyPr/>
          <a:lstStyle/>
          <a:p>
            <a:r>
              <a:rPr lang="en-US" altLang="zh-CN" dirty="0"/>
              <a:t>1</a:t>
            </a:r>
            <a:r>
              <a:rPr lang="zh-CN" altLang="en-US" dirty="0"/>
              <a:t>、</a:t>
            </a:r>
            <a:r>
              <a:rPr lang="zh-CN" altLang="zh-CN" dirty="0"/>
              <a:t>现代操作系统的两个基本特征是</a:t>
            </a:r>
            <a:r>
              <a:rPr lang="en-US" altLang="zh-CN" dirty="0"/>
              <a:t>( )</a:t>
            </a:r>
            <a:r>
              <a:rPr lang="zh-CN" altLang="zh-CN" dirty="0"/>
              <a:t>和资源共享。</a:t>
            </a:r>
            <a:endParaRPr lang="zh-CN" altLang="zh-CN" dirty="0"/>
          </a:p>
          <a:p>
            <a:pPr lvl="1"/>
            <a:r>
              <a:rPr lang="en-US" altLang="zh-CN" dirty="0"/>
              <a:t>A</a:t>
            </a:r>
            <a:r>
              <a:rPr lang="zh-CN" altLang="zh-CN" dirty="0"/>
              <a:t>．多道程序设计</a:t>
            </a:r>
            <a:r>
              <a:rPr lang="en-US" altLang="zh-CN" dirty="0"/>
              <a:t>		 B</a:t>
            </a:r>
            <a:r>
              <a:rPr lang="zh-CN" altLang="zh-CN" dirty="0"/>
              <a:t>．中断处理</a:t>
            </a:r>
            <a:r>
              <a:rPr lang="en-US" altLang="zh-CN" dirty="0"/>
              <a:t> </a:t>
            </a:r>
            <a:endParaRPr lang="en-US" altLang="zh-CN" dirty="0"/>
          </a:p>
          <a:p>
            <a:pPr lvl="1"/>
            <a:r>
              <a:rPr lang="en-US" altLang="zh-CN" dirty="0"/>
              <a:t>C</a:t>
            </a:r>
            <a:r>
              <a:rPr lang="zh-CN" altLang="zh-CN" dirty="0"/>
              <a:t>．程序的并发执行</a:t>
            </a:r>
            <a:r>
              <a:rPr lang="en-US" altLang="zh-CN" dirty="0"/>
              <a:t> 		D</a:t>
            </a:r>
            <a:r>
              <a:rPr lang="zh-CN" altLang="zh-CN" dirty="0"/>
              <a:t>．实现分时与实时处理</a:t>
            </a:r>
            <a:endParaRPr lang="zh-CN" altLang="zh-CN" dirty="0"/>
          </a:p>
          <a:p>
            <a:pPr lvl="1"/>
            <a:r>
              <a:rPr lang="zh-CN" altLang="zh-CN" dirty="0"/>
              <a:t>答案：</a:t>
            </a:r>
            <a:r>
              <a:rPr lang="en-US" altLang="zh-CN" dirty="0"/>
              <a:t>C</a:t>
            </a:r>
            <a:endParaRPr lang="en-US" altLang="zh-CN" dirty="0"/>
          </a:p>
          <a:p>
            <a:r>
              <a:rPr lang="en-US" altLang="zh-CN" dirty="0"/>
              <a:t>2</a:t>
            </a:r>
            <a:r>
              <a:rPr lang="zh-CN" altLang="en-US" dirty="0"/>
              <a:t>、</a:t>
            </a:r>
            <a:r>
              <a:rPr lang="zh-CN" altLang="zh-CN" dirty="0"/>
              <a:t>以下叙述中正确的为</a:t>
            </a:r>
            <a:r>
              <a:rPr lang="en-US" altLang="zh-CN" dirty="0"/>
              <a:t>( )</a:t>
            </a:r>
            <a:endParaRPr lang="zh-CN" altLang="zh-CN" dirty="0"/>
          </a:p>
          <a:p>
            <a:pPr lvl="1"/>
            <a:r>
              <a:rPr lang="en-US" altLang="zh-CN" dirty="0"/>
              <a:t>A.</a:t>
            </a:r>
            <a:r>
              <a:rPr lang="zh-CN" altLang="zh-CN" dirty="0"/>
              <a:t>批处理作业必须具有作业控制信息</a:t>
            </a:r>
            <a:endParaRPr lang="zh-CN" altLang="zh-CN" dirty="0"/>
          </a:p>
          <a:p>
            <a:pPr lvl="1"/>
            <a:r>
              <a:rPr lang="en-US" altLang="zh-CN" dirty="0"/>
              <a:t>B.</a:t>
            </a:r>
            <a:r>
              <a:rPr lang="zh-CN" altLang="zh-CN" dirty="0"/>
              <a:t>分时系统不一定都具有人机交互功能 </a:t>
            </a:r>
            <a:endParaRPr lang="zh-CN" altLang="zh-CN" dirty="0"/>
          </a:p>
          <a:p>
            <a:pPr lvl="1"/>
            <a:r>
              <a:rPr lang="en-US" altLang="zh-CN" dirty="0"/>
              <a:t>C.</a:t>
            </a:r>
            <a:r>
              <a:rPr lang="zh-CN" altLang="zh-CN" dirty="0"/>
              <a:t>从响应时间的角度来看，实时系统与分时系统的要求差不多 </a:t>
            </a:r>
            <a:endParaRPr lang="zh-CN" altLang="zh-CN" dirty="0"/>
          </a:p>
          <a:p>
            <a:pPr lvl="1"/>
            <a:r>
              <a:rPr lang="en-US" altLang="zh-CN" dirty="0"/>
              <a:t>D.</a:t>
            </a:r>
            <a:r>
              <a:rPr lang="zh-CN" altLang="zh-CN" dirty="0"/>
              <a:t>采用了分时系统，用户可以独占计算机文件系统</a:t>
            </a:r>
            <a:endParaRPr lang="zh-CN" altLang="zh-CN" dirty="0"/>
          </a:p>
          <a:p>
            <a:pPr lvl="1"/>
            <a:r>
              <a:rPr lang="zh-CN" altLang="zh-CN" dirty="0"/>
              <a:t>答案：</a:t>
            </a:r>
            <a:r>
              <a:rPr lang="en-US" altLang="zh-CN" dirty="0"/>
              <a:t>A</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小练习</a:t>
            </a:r>
            <a:endParaRPr lang="zh-CN" altLang="en-US" dirty="0"/>
          </a:p>
        </p:txBody>
      </p:sp>
      <p:sp>
        <p:nvSpPr>
          <p:cNvPr id="3" name="内容占位符 2"/>
          <p:cNvSpPr>
            <a:spLocks noGrp="1"/>
          </p:cNvSpPr>
          <p:nvPr>
            <p:ph idx="1"/>
          </p:nvPr>
        </p:nvSpPr>
        <p:spPr/>
        <p:txBody>
          <a:bodyPr/>
          <a:lstStyle/>
          <a:p>
            <a:r>
              <a:rPr lang="en-US" altLang="zh-CN" dirty="0"/>
              <a:t>Linux</a:t>
            </a:r>
            <a:r>
              <a:rPr lang="zh-CN" altLang="en-US" dirty="0"/>
              <a:t>操作系统的结构类型是：</a:t>
            </a:r>
            <a:endParaRPr lang="en-US" altLang="zh-CN" dirty="0"/>
          </a:p>
          <a:p>
            <a:pPr lvl="1"/>
            <a:r>
              <a:rPr lang="en-US" altLang="zh-CN" dirty="0"/>
              <a:t>A </a:t>
            </a:r>
            <a:r>
              <a:rPr lang="zh-CN" altLang="en-US" dirty="0"/>
              <a:t>整体式    </a:t>
            </a:r>
            <a:r>
              <a:rPr lang="en-US" altLang="zh-CN" dirty="0"/>
              <a:t>B </a:t>
            </a:r>
            <a:r>
              <a:rPr lang="zh-CN" altLang="en-US" dirty="0"/>
              <a:t>模块式   </a:t>
            </a:r>
            <a:r>
              <a:rPr lang="en-US" altLang="zh-CN" dirty="0"/>
              <a:t>C</a:t>
            </a:r>
            <a:r>
              <a:rPr lang="zh-CN" altLang="en-US" dirty="0"/>
              <a:t>分层式    </a:t>
            </a:r>
            <a:r>
              <a:rPr lang="en-US" altLang="zh-CN" dirty="0"/>
              <a:t>D </a:t>
            </a:r>
            <a:r>
              <a:rPr lang="zh-CN" altLang="en-US" dirty="0"/>
              <a:t>微内核式</a:t>
            </a:r>
            <a:endParaRPr lang="en-US" altLang="zh-CN" dirty="0"/>
          </a:p>
          <a:p>
            <a:pPr lvl="1"/>
            <a:r>
              <a:rPr lang="zh-CN" altLang="en-US" dirty="0"/>
              <a:t>答案： </a:t>
            </a:r>
            <a:r>
              <a:rPr lang="en-US" altLang="zh-CN" dirty="0"/>
              <a:t>A</a:t>
            </a:r>
            <a:endParaRPr lang="en-US" altLang="zh-CN" dirty="0"/>
          </a:p>
          <a:p>
            <a:r>
              <a:rPr lang="zh-CN" altLang="en-US" dirty="0"/>
              <a:t>整体式内核结构和模块化结构相比，</a:t>
            </a:r>
            <a:r>
              <a:rPr lang="en-US" altLang="zh-CN" dirty="0"/>
              <a:t>(  )</a:t>
            </a:r>
            <a:r>
              <a:rPr lang="zh-CN" altLang="en-US" dirty="0"/>
              <a:t>没有提升了？</a:t>
            </a:r>
            <a:endParaRPr lang="en-US" altLang="zh-CN" dirty="0"/>
          </a:p>
          <a:p>
            <a:pPr lvl="1"/>
            <a:r>
              <a:rPr lang="en-US" altLang="zh-CN" dirty="0"/>
              <a:t>A</a:t>
            </a:r>
            <a:r>
              <a:rPr lang="zh-CN" altLang="en-US" dirty="0"/>
              <a:t> 运行效率    </a:t>
            </a:r>
            <a:r>
              <a:rPr lang="en-US" altLang="zh-CN" dirty="0"/>
              <a:t>B </a:t>
            </a:r>
            <a:r>
              <a:rPr lang="zh-CN" altLang="en-US" dirty="0"/>
              <a:t>易维护性    </a:t>
            </a:r>
            <a:r>
              <a:rPr lang="en-US" altLang="zh-CN" dirty="0"/>
              <a:t>C </a:t>
            </a:r>
            <a:r>
              <a:rPr lang="zh-CN" altLang="en-US" dirty="0"/>
              <a:t>开发效率    </a:t>
            </a:r>
            <a:r>
              <a:rPr lang="en-US" altLang="zh-CN" dirty="0"/>
              <a:t>D </a:t>
            </a:r>
            <a:r>
              <a:rPr lang="zh-CN" altLang="en-US" dirty="0"/>
              <a:t>适应性</a:t>
            </a:r>
            <a:endParaRPr lang="en-US" altLang="zh-CN" dirty="0"/>
          </a:p>
          <a:p>
            <a:pPr lvl="1"/>
            <a:r>
              <a:rPr lang="zh-CN" altLang="en-US" dirty="0"/>
              <a:t>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26992" y="1311565"/>
            <a:ext cx="10770648" cy="5157643"/>
          </a:xfrm>
        </p:spPr>
        <p:txBody>
          <a:bodyPr/>
          <a:lstStyle/>
          <a:p>
            <a:r>
              <a:rPr lang="zh-CN" altLang="en-US" dirty="0"/>
              <a:t>下面描述哪项是正确的：</a:t>
            </a:r>
            <a:endParaRPr lang="en-US" altLang="zh-CN" dirty="0"/>
          </a:p>
          <a:p>
            <a:pPr lvl="1"/>
            <a:r>
              <a:rPr lang="en-US" altLang="zh-CN" dirty="0"/>
              <a:t>A </a:t>
            </a:r>
            <a:r>
              <a:rPr lang="zh-CN" altLang="en-US" dirty="0"/>
              <a:t>和模块化结构相比，分层结构更易于并行开发软件</a:t>
            </a:r>
            <a:endParaRPr lang="en-US" altLang="zh-CN" dirty="0"/>
          </a:p>
          <a:p>
            <a:pPr lvl="1"/>
            <a:r>
              <a:rPr lang="en-US" altLang="zh-CN" dirty="0"/>
              <a:t>B </a:t>
            </a:r>
            <a:r>
              <a:rPr lang="zh-CN" altLang="en-US" dirty="0"/>
              <a:t>和整体式结构相比，分层结构具有更好的系统性能</a:t>
            </a:r>
            <a:endParaRPr lang="en-US" altLang="zh-CN" dirty="0"/>
          </a:p>
          <a:p>
            <a:pPr lvl="1"/>
            <a:r>
              <a:rPr lang="en-US" altLang="zh-CN" dirty="0"/>
              <a:t>C </a:t>
            </a:r>
            <a:r>
              <a:rPr lang="zh-CN" altLang="en-US" dirty="0"/>
              <a:t>和模块化结构相比，采用分层结构的更易于验证新开发功能的正确性</a:t>
            </a:r>
            <a:endParaRPr lang="en-US" altLang="zh-CN" dirty="0"/>
          </a:p>
          <a:p>
            <a:pPr lvl="1"/>
            <a:r>
              <a:rPr lang="en-US" altLang="zh-CN" dirty="0"/>
              <a:t>D </a:t>
            </a:r>
            <a:r>
              <a:rPr lang="zh-CN" altLang="en-US" dirty="0"/>
              <a:t>在分层结构中，底层的代码可以调用更高层的函数</a:t>
            </a:r>
            <a:endParaRPr lang="en-US" altLang="zh-CN" dirty="0"/>
          </a:p>
          <a:p>
            <a:pPr lvl="1"/>
            <a:r>
              <a:rPr lang="zh-CN" altLang="en-US" dirty="0"/>
              <a:t>答案：</a:t>
            </a:r>
            <a:r>
              <a:rPr lang="en-US" altLang="zh-CN" dirty="0"/>
              <a:t>C</a:t>
            </a:r>
            <a:endParaRPr lang="zh-CN" altLang="en-US" dirty="0"/>
          </a:p>
        </p:txBody>
      </p:sp>
      <p:sp>
        <p:nvSpPr>
          <p:cNvPr id="3" name="标题 2"/>
          <p:cNvSpPr>
            <a:spLocks noGrp="1"/>
          </p:cNvSpPr>
          <p:nvPr>
            <p:ph type="title"/>
          </p:nvPr>
        </p:nvSpPr>
        <p:spPr/>
        <p:txBody>
          <a:bodyPr/>
          <a:lstStyle/>
          <a:p>
            <a:r>
              <a:rPr lang="zh-CN" altLang="en-US" dirty="0"/>
              <a:t>小测试</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典型问题</a:t>
            </a:r>
            <a:endParaRPr lang="zh-CN" altLang="en-US" dirty="0"/>
          </a:p>
        </p:txBody>
      </p:sp>
      <p:sp>
        <p:nvSpPr>
          <p:cNvPr id="7" name="内容占位符 6"/>
          <p:cNvSpPr>
            <a:spLocks noGrp="1"/>
          </p:cNvSpPr>
          <p:nvPr>
            <p:ph idx="1"/>
          </p:nvPr>
        </p:nvSpPr>
        <p:spPr/>
        <p:txBody>
          <a:bodyPr/>
          <a:lstStyle/>
          <a:p>
            <a:r>
              <a:rPr lang="zh-CN" altLang="en-US" dirty="0"/>
              <a:t>试比较分层式结构和模块式结构的异同？</a:t>
            </a:r>
            <a:endParaRPr lang="zh-CN" altLang="en-US" dirty="0"/>
          </a:p>
        </p:txBody>
      </p:sp>
      <p:pic>
        <p:nvPicPr>
          <p:cNvPr id="8" name="图片 7"/>
          <p:cNvPicPr>
            <a:picLocks noChangeAspect="1"/>
          </p:cNvPicPr>
          <p:nvPr/>
        </p:nvPicPr>
        <p:blipFill>
          <a:blip r:embed="rId1"/>
          <a:stretch>
            <a:fillRect/>
          </a:stretch>
        </p:blipFill>
        <p:spPr>
          <a:xfrm>
            <a:off x="471782" y="2142130"/>
            <a:ext cx="11681807" cy="379582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典型问题</a:t>
            </a:r>
            <a:endParaRPr lang="zh-CN" altLang="en-US" dirty="0"/>
          </a:p>
        </p:txBody>
      </p:sp>
      <p:sp>
        <p:nvSpPr>
          <p:cNvPr id="5" name="内容占位符 4"/>
          <p:cNvSpPr>
            <a:spLocks noGrp="1"/>
          </p:cNvSpPr>
          <p:nvPr>
            <p:ph idx="1"/>
          </p:nvPr>
        </p:nvSpPr>
        <p:spPr/>
        <p:txBody>
          <a:bodyPr/>
          <a:lstStyle/>
          <a:p>
            <a:r>
              <a:rPr lang="zh-CN" altLang="en-US" dirty="0"/>
              <a:t>微内核具有哪些优点？</a:t>
            </a:r>
            <a:endParaRPr lang="zh-CN" altLang="en-US" dirty="0"/>
          </a:p>
        </p:txBody>
      </p:sp>
      <p:pic>
        <p:nvPicPr>
          <p:cNvPr id="6" name="图片 5"/>
          <p:cNvPicPr>
            <a:picLocks noChangeAspect="1"/>
          </p:cNvPicPr>
          <p:nvPr/>
        </p:nvPicPr>
        <p:blipFill>
          <a:blip r:embed="rId1"/>
          <a:stretch>
            <a:fillRect/>
          </a:stretch>
        </p:blipFill>
        <p:spPr>
          <a:xfrm>
            <a:off x="596077" y="2420585"/>
            <a:ext cx="11172825" cy="4181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4"/>
          <p:cNvSpPr>
            <a:spLocks noGrp="1" noChangeArrowheads="1"/>
          </p:cNvSpPr>
          <p:nvPr>
            <p:ph type="body" idx="1"/>
          </p:nvPr>
        </p:nvSpPr>
        <p:spPr/>
        <p:txBody>
          <a:bodyPr/>
          <a:lstStyle/>
          <a:p>
            <a:r>
              <a:rPr lang="en-US" altLang="zh-CN" dirty="0"/>
              <a:t>1.</a:t>
            </a:r>
            <a:r>
              <a:rPr lang="zh-CN" altLang="en-US" dirty="0"/>
              <a:t>解释操作系统在计算机系统中的地位和基本功能。</a:t>
            </a:r>
            <a:endParaRPr lang="zh-CN" altLang="en-US" dirty="0"/>
          </a:p>
          <a:p>
            <a:r>
              <a:rPr lang="en-US" altLang="zh-CN" dirty="0"/>
              <a:t>2.</a:t>
            </a:r>
            <a:r>
              <a:rPr lang="zh-CN" altLang="en-US" dirty="0"/>
              <a:t>简述批处理系统、分时系统以及实时系统各自的特点。</a:t>
            </a:r>
            <a:endParaRPr lang="zh-CN" altLang="en-US" dirty="0"/>
          </a:p>
          <a:p>
            <a:r>
              <a:rPr lang="en-US" altLang="zh-CN" dirty="0"/>
              <a:t>3.</a:t>
            </a:r>
            <a:r>
              <a:rPr lang="zh-CN" altLang="en-US" dirty="0"/>
              <a:t>并发和并行有何区别</a:t>
            </a:r>
            <a:r>
              <a:rPr lang="en-US" altLang="zh-CN" dirty="0"/>
              <a:t>?</a:t>
            </a:r>
            <a:endParaRPr lang="en-US" altLang="zh-CN" dirty="0"/>
          </a:p>
          <a:p>
            <a:r>
              <a:rPr lang="en-US" altLang="zh-CN" dirty="0"/>
              <a:t>4.</a:t>
            </a:r>
            <a:r>
              <a:rPr lang="zh-CN" altLang="en-US" dirty="0"/>
              <a:t>什么是操作系统</a:t>
            </a:r>
            <a:r>
              <a:rPr lang="en-US" altLang="zh-CN" dirty="0"/>
              <a:t>?</a:t>
            </a:r>
            <a:r>
              <a:rPr lang="zh-CN" altLang="en-US" dirty="0"/>
              <a:t>从资源管理的角度去分析操作系统，它的主要功能是什么</a:t>
            </a:r>
            <a:r>
              <a:rPr lang="en-US" altLang="zh-CN" dirty="0"/>
              <a:t>?</a:t>
            </a:r>
            <a:endParaRPr lang="en-US" altLang="zh-CN" dirty="0"/>
          </a:p>
          <a:p>
            <a:r>
              <a:rPr lang="en-US" altLang="zh-CN" dirty="0"/>
              <a:t>5.</a:t>
            </a:r>
            <a:r>
              <a:rPr lang="zh-CN" altLang="en-US" dirty="0"/>
              <a:t>操作系统的主要特征是什么</a:t>
            </a:r>
            <a:r>
              <a:rPr lang="en-US" altLang="zh-CN" dirty="0"/>
              <a:t>?</a:t>
            </a:r>
            <a:r>
              <a:rPr lang="zh-CN" altLang="en-US" dirty="0"/>
              <a:t>为什么会具有这样的待征</a:t>
            </a:r>
            <a:r>
              <a:rPr lang="en-US" altLang="zh-CN" dirty="0"/>
              <a:t>?</a:t>
            </a:r>
            <a:endParaRPr lang="en-US" altLang="zh-CN" dirty="0"/>
          </a:p>
          <a:p>
            <a:endParaRPr lang="en-US" altLang="zh-CN" dirty="0"/>
          </a:p>
          <a:p>
            <a:endParaRPr lang="en-US" altLang="zh-CN" dirty="0"/>
          </a:p>
        </p:txBody>
      </p:sp>
      <p:sp>
        <p:nvSpPr>
          <p:cNvPr id="111618" name="Rectangle 2"/>
          <p:cNvSpPr>
            <a:spLocks noGrp="1" noChangeArrowheads="1"/>
          </p:cNvSpPr>
          <p:nvPr>
            <p:ph type="title"/>
          </p:nvPr>
        </p:nvSpPr>
        <p:spPr/>
        <p:txBody>
          <a:bodyPr/>
          <a:lstStyle/>
          <a:p>
            <a:r>
              <a:rPr lang="zh-CN" altLang="en-US" dirty="0"/>
              <a:t>其他可能的解答题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a:bodyPr>
          <a:p>
            <a:r>
              <a:rPr lang="zh-CN" altLang="en-US"/>
              <a:t>第二章</a:t>
            </a:r>
            <a:br>
              <a:rPr lang="zh-CN" altLang="en-US"/>
            </a:br>
            <a:r>
              <a:rPr lang="zh-CN" altLang="en-US"/>
              <a:t>进程描述与控制</a:t>
            </a:r>
            <a:endParaRPr lang="zh-CN" altLang="en-US"/>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9" name="内容占位符 8"/>
          <p:cNvSpPr>
            <a:spLocks noGrp="1"/>
          </p:cNvSpPr>
          <p:nvPr>
            <p:ph idx="1"/>
          </p:nvPr>
        </p:nvSpPr>
        <p:spPr>
          <a:xfrm>
            <a:off x="481190" y="759867"/>
            <a:ext cx="10999176" cy="5550622"/>
          </a:xfrm>
        </p:spPr>
        <p:txBody>
          <a:bodyPr/>
          <a:lstStyle/>
          <a:p>
            <a:pPr algn="just">
              <a:spcBef>
                <a:spcPts val="600"/>
              </a:spcBef>
              <a:spcAft>
                <a:spcPts val="0"/>
              </a:spcAft>
            </a:pPr>
            <a:r>
              <a:rPr lang="en-US" altLang="zh-CN" sz="2800" dirty="0"/>
              <a:t>1</a:t>
            </a:r>
            <a:r>
              <a:rPr lang="zh-CN" altLang="en-US" sz="2800" dirty="0"/>
              <a:t>、</a:t>
            </a:r>
            <a:r>
              <a:rPr lang="zh-CN" altLang="zh-CN" sz="2800" kern="100" dirty="0">
                <a:latin typeface="+mj-ea"/>
              </a:rPr>
              <a:t>一个具有独立功能的程序独占</a:t>
            </a:r>
            <a:r>
              <a:rPr lang="en-US" altLang="zh-CN" sz="2800" kern="100" dirty="0">
                <a:latin typeface="+mj-ea"/>
              </a:rPr>
              <a:t>CPU</a:t>
            </a:r>
            <a:r>
              <a:rPr lang="zh-CN" altLang="zh-CN" sz="2800" kern="100" dirty="0">
                <a:latin typeface="+mj-ea"/>
              </a:rPr>
              <a:t>直到得到最终结果的过程称为程序的顺序执行，它具有如下特点：顺序性、</a:t>
            </a:r>
            <a:r>
              <a:rPr lang="en-US" altLang="zh-CN" sz="2800" kern="100" dirty="0">
                <a:latin typeface="+mj-ea"/>
              </a:rPr>
              <a:t>( )</a:t>
            </a:r>
            <a:r>
              <a:rPr lang="zh-CN" altLang="zh-CN" sz="2800" kern="100" dirty="0">
                <a:latin typeface="+mj-ea"/>
              </a:rPr>
              <a:t>和可再现性。</a:t>
            </a:r>
            <a:endParaRPr lang="zh-CN" altLang="zh-CN" sz="2800" kern="100" dirty="0">
              <a:latin typeface="+mj-ea"/>
            </a:endParaRPr>
          </a:p>
          <a:p>
            <a:pPr lvl="1" algn="just">
              <a:spcBef>
                <a:spcPts val="600"/>
              </a:spcBef>
            </a:pPr>
            <a:r>
              <a:rPr lang="en-US" altLang="zh-CN" sz="2400" dirty="0"/>
              <a:t>A.</a:t>
            </a:r>
            <a:r>
              <a:rPr lang="zh-CN" altLang="zh-CN" sz="2400" dirty="0"/>
              <a:t>封闭性</a:t>
            </a:r>
            <a:r>
              <a:rPr lang="en-US" altLang="zh-CN" sz="2400" dirty="0"/>
              <a:t>     B.</a:t>
            </a:r>
            <a:r>
              <a:rPr lang="zh-CN" altLang="zh-CN" sz="2400" dirty="0"/>
              <a:t>动态性</a:t>
            </a:r>
            <a:r>
              <a:rPr lang="en-US" altLang="zh-CN" sz="2400" dirty="0"/>
              <a:t>     C.</a:t>
            </a:r>
            <a:r>
              <a:rPr lang="zh-CN" altLang="zh-CN" sz="2400" dirty="0"/>
              <a:t>开</a:t>
            </a:r>
            <a:r>
              <a:rPr lang="zh-CN" altLang="en-US" sz="2400" dirty="0"/>
              <a:t>放</a:t>
            </a:r>
            <a:r>
              <a:rPr lang="zh-CN" altLang="zh-CN" sz="2400" dirty="0"/>
              <a:t>性</a:t>
            </a:r>
            <a:r>
              <a:rPr lang="en-US" altLang="zh-CN" sz="2400" dirty="0"/>
              <a:t>      D.</a:t>
            </a:r>
            <a:r>
              <a:rPr lang="zh-CN" altLang="zh-CN" sz="2400" dirty="0"/>
              <a:t>异步性</a:t>
            </a:r>
            <a:endParaRPr lang="zh-CN" altLang="zh-CN" sz="2400" dirty="0"/>
          </a:p>
          <a:p>
            <a:pPr lvl="1">
              <a:spcBef>
                <a:spcPts val="600"/>
              </a:spcBef>
            </a:pPr>
            <a:r>
              <a:rPr lang="zh-CN" altLang="zh-CN" sz="2400" dirty="0"/>
              <a:t>答案：</a:t>
            </a:r>
            <a:r>
              <a:rPr lang="en-US" altLang="zh-CN" sz="2400" dirty="0"/>
              <a:t>A</a:t>
            </a:r>
            <a:endParaRPr lang="zh-CN" altLang="en-US" sz="2400" dirty="0"/>
          </a:p>
          <a:p>
            <a:pPr>
              <a:spcBef>
                <a:spcPts val="600"/>
              </a:spcBef>
            </a:pPr>
            <a:r>
              <a:rPr lang="en-US" altLang="zh-CN" sz="2800" dirty="0"/>
              <a:t>2</a:t>
            </a:r>
            <a:r>
              <a:rPr lang="zh-CN" altLang="en-US" sz="2800" dirty="0"/>
              <a:t>、程序并发执行的特征有：间断性、失去封闭性和（）。</a:t>
            </a:r>
            <a:endParaRPr lang="en-US" altLang="zh-CN" sz="2800" dirty="0"/>
          </a:p>
          <a:p>
            <a:pPr lvl="1">
              <a:spcBef>
                <a:spcPts val="600"/>
              </a:spcBef>
            </a:pPr>
            <a:r>
              <a:rPr lang="en-US" altLang="zh-CN" sz="2400" dirty="0"/>
              <a:t>A </a:t>
            </a:r>
            <a:r>
              <a:rPr lang="zh-CN" altLang="en-US" sz="2400" dirty="0"/>
              <a:t>动态性     </a:t>
            </a:r>
            <a:r>
              <a:rPr lang="en-US" altLang="zh-CN" sz="2400" dirty="0"/>
              <a:t>B</a:t>
            </a:r>
            <a:r>
              <a:rPr lang="zh-CN" altLang="en-US" sz="2400" dirty="0"/>
              <a:t>、开放性    </a:t>
            </a:r>
            <a:r>
              <a:rPr lang="en-US" altLang="zh-CN" sz="2400" dirty="0"/>
              <a:t>C</a:t>
            </a:r>
            <a:r>
              <a:rPr lang="zh-CN" altLang="en-US" sz="2400" dirty="0"/>
              <a:t>、可再现性       </a:t>
            </a:r>
            <a:r>
              <a:rPr lang="en-US" altLang="zh-CN" sz="2400" dirty="0"/>
              <a:t>D</a:t>
            </a:r>
            <a:r>
              <a:rPr lang="zh-CN" altLang="en-US" sz="2400" dirty="0"/>
              <a:t>、不可再现性</a:t>
            </a:r>
            <a:endParaRPr lang="en-US" altLang="zh-CN" sz="2400" dirty="0"/>
          </a:p>
          <a:p>
            <a:pPr lvl="1">
              <a:spcBef>
                <a:spcPts val="600"/>
              </a:spcBef>
            </a:pPr>
            <a:r>
              <a:rPr lang="zh-CN" altLang="en-US" sz="2400" dirty="0"/>
              <a:t>答案： </a:t>
            </a:r>
            <a:r>
              <a:rPr lang="en-US" altLang="zh-CN" sz="2400" dirty="0"/>
              <a:t>D</a:t>
            </a:r>
            <a:endParaRPr lang="en-US" altLang="zh-CN" sz="2400" dirty="0"/>
          </a:p>
          <a:p>
            <a:pPr>
              <a:spcBef>
                <a:spcPts val="600"/>
              </a:spcBef>
            </a:pPr>
            <a:r>
              <a:rPr lang="en-US" altLang="zh-CN" sz="2800" dirty="0"/>
              <a:t>3</a:t>
            </a:r>
            <a:r>
              <a:rPr lang="zh-CN" altLang="en-US" sz="2800" dirty="0"/>
              <a:t>、</a:t>
            </a:r>
            <a:r>
              <a:rPr lang="zh-CN" altLang="zh-CN" sz="2800" dirty="0"/>
              <a:t>程序运行时，独占系统资源，只有程序本身能改变系统资源状态，这是指</a:t>
            </a:r>
            <a:r>
              <a:rPr lang="en-US" altLang="zh-CN" sz="2800" dirty="0"/>
              <a:t>( )</a:t>
            </a:r>
            <a:endParaRPr lang="zh-CN" altLang="zh-CN" sz="2000" dirty="0"/>
          </a:p>
          <a:p>
            <a:pPr lvl="1">
              <a:spcBef>
                <a:spcPts val="600"/>
              </a:spcBef>
            </a:pPr>
            <a:r>
              <a:rPr lang="en-US" altLang="zh-CN" sz="2400" dirty="0"/>
              <a:t>A</a:t>
            </a:r>
            <a:r>
              <a:rPr lang="zh-CN" altLang="zh-CN" sz="2400" dirty="0"/>
              <a:t>．程序顺序执行的再现性</a:t>
            </a:r>
            <a:r>
              <a:rPr lang="en-US" altLang="zh-CN" sz="2400" dirty="0"/>
              <a:t> B</a:t>
            </a:r>
            <a:r>
              <a:rPr lang="zh-CN" altLang="zh-CN" sz="2400" dirty="0"/>
              <a:t>．程序顺序执行的封闭性</a:t>
            </a:r>
            <a:endParaRPr lang="zh-CN" altLang="zh-CN" sz="1600" dirty="0"/>
          </a:p>
          <a:p>
            <a:pPr lvl="1">
              <a:spcBef>
                <a:spcPts val="600"/>
              </a:spcBef>
            </a:pPr>
            <a:r>
              <a:rPr lang="en-US" altLang="zh-CN" sz="2400" dirty="0"/>
              <a:t>C</a:t>
            </a:r>
            <a:r>
              <a:rPr lang="zh-CN" altLang="zh-CN" sz="2400" dirty="0"/>
              <a:t>．并发程序失去封闭性</a:t>
            </a:r>
            <a:r>
              <a:rPr lang="en-US" altLang="zh-CN" sz="2400" dirty="0"/>
              <a:t> D</a:t>
            </a:r>
            <a:r>
              <a:rPr lang="zh-CN" altLang="zh-CN" sz="2400" dirty="0"/>
              <a:t>．并发程序失去再现性 </a:t>
            </a:r>
            <a:endParaRPr lang="zh-CN" altLang="zh-CN" sz="1600" dirty="0"/>
          </a:p>
          <a:p>
            <a:pPr lvl="1">
              <a:spcBef>
                <a:spcPts val="600"/>
              </a:spcBef>
            </a:pPr>
            <a:r>
              <a:rPr lang="zh-CN" altLang="zh-CN" sz="2400" dirty="0"/>
              <a:t>答案：</a:t>
            </a:r>
            <a:r>
              <a:rPr lang="en-US" altLang="zh-CN" sz="2400" dirty="0"/>
              <a:t>B</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850178"/>
            <a:ext cx="10999176" cy="5776400"/>
          </a:xfrm>
        </p:spPr>
        <p:txBody>
          <a:bodyPr/>
          <a:lstStyle/>
          <a:p>
            <a:pPr>
              <a:spcBef>
                <a:spcPts val="600"/>
              </a:spcBef>
            </a:pPr>
            <a:r>
              <a:rPr lang="en-US" altLang="zh-CN" sz="2800" dirty="0"/>
              <a:t>1</a:t>
            </a:r>
            <a:r>
              <a:rPr lang="zh-CN" altLang="en-US" sz="2800" dirty="0"/>
              <a:t>、</a:t>
            </a:r>
            <a:r>
              <a:rPr lang="zh-CN" altLang="zh-CN" sz="2800" dirty="0"/>
              <a:t>为了描述进程的动态变化过程，采用了一个与进程相联系的</a:t>
            </a:r>
            <a:r>
              <a:rPr lang="en-US" altLang="zh-CN" sz="2800" dirty="0"/>
              <a:t>( )</a:t>
            </a:r>
            <a:r>
              <a:rPr lang="zh-CN" altLang="zh-CN" sz="2800" dirty="0"/>
              <a:t>系统，根据它而感知进程的存在。</a:t>
            </a:r>
            <a:endParaRPr lang="zh-CN" altLang="zh-CN" sz="2800" dirty="0"/>
          </a:p>
          <a:p>
            <a:pPr lvl="1">
              <a:spcBef>
                <a:spcPts val="600"/>
              </a:spcBef>
            </a:pPr>
            <a:r>
              <a:rPr lang="en-US" altLang="zh-CN" sz="2400" dirty="0"/>
              <a:t>A. </a:t>
            </a:r>
            <a:r>
              <a:rPr lang="zh-CN" altLang="zh-CN" sz="2400" dirty="0"/>
              <a:t>进程状态字</a:t>
            </a:r>
            <a:r>
              <a:rPr lang="en-US" altLang="zh-CN" sz="2400" dirty="0"/>
              <a:t> B</a:t>
            </a:r>
            <a:r>
              <a:rPr lang="zh-CN" altLang="zh-CN" sz="2400" dirty="0"/>
              <a:t>．进程优先数</a:t>
            </a:r>
            <a:r>
              <a:rPr lang="en-US" altLang="zh-CN" sz="2400" dirty="0"/>
              <a:t> C</a:t>
            </a:r>
            <a:r>
              <a:rPr lang="zh-CN" altLang="zh-CN" sz="2400" dirty="0"/>
              <a:t>．进程控制块</a:t>
            </a:r>
            <a:r>
              <a:rPr lang="en-US" altLang="zh-CN" sz="2400" dirty="0"/>
              <a:t> D</a:t>
            </a:r>
            <a:r>
              <a:rPr lang="zh-CN" altLang="zh-CN" sz="2400" dirty="0"/>
              <a:t>．进程起始地址</a:t>
            </a:r>
            <a:endParaRPr lang="zh-CN" altLang="zh-CN" sz="2400" dirty="0"/>
          </a:p>
          <a:p>
            <a:pPr lvl="1">
              <a:spcBef>
                <a:spcPts val="600"/>
              </a:spcBef>
            </a:pPr>
            <a:r>
              <a:rPr lang="zh-CN" altLang="zh-CN" sz="2400" dirty="0"/>
              <a:t>答案：</a:t>
            </a:r>
            <a:r>
              <a:rPr lang="en-US" altLang="zh-CN" sz="2400" dirty="0"/>
              <a:t>C</a:t>
            </a:r>
            <a:endParaRPr lang="en-US" altLang="zh-CN" sz="2400" dirty="0"/>
          </a:p>
          <a:p>
            <a:pPr>
              <a:spcBef>
                <a:spcPts val="600"/>
              </a:spcBef>
            </a:pPr>
            <a:r>
              <a:rPr lang="en-US" altLang="zh-CN" sz="2800" dirty="0"/>
              <a:t>2</a:t>
            </a:r>
            <a:r>
              <a:rPr lang="zh-CN" altLang="en-US" sz="2800" dirty="0"/>
              <a:t>、由</a:t>
            </a:r>
            <a:r>
              <a:rPr lang="zh-CN" altLang="en-US" sz="2800" dirty="0">
                <a:solidFill>
                  <a:srgbClr val="FF0000"/>
                </a:solidFill>
              </a:rPr>
              <a:t>程序段、数据段及（  ）</a:t>
            </a:r>
            <a:r>
              <a:rPr lang="zh-CN" altLang="en-US" sz="2800" dirty="0"/>
              <a:t>三部分构成，总称“进程映像”</a:t>
            </a:r>
            <a:endParaRPr lang="en-US" altLang="zh-CN" sz="2800" dirty="0"/>
          </a:p>
          <a:p>
            <a:pPr lvl="1">
              <a:spcBef>
                <a:spcPts val="600"/>
              </a:spcBef>
            </a:pPr>
            <a:r>
              <a:rPr lang="en-US" altLang="zh-CN" sz="2400" dirty="0"/>
              <a:t>A</a:t>
            </a:r>
            <a:r>
              <a:rPr lang="zh-CN" altLang="en-US" sz="2400" dirty="0"/>
              <a:t>、</a:t>
            </a:r>
            <a:r>
              <a:rPr lang="en-US" altLang="zh-CN" sz="2400" dirty="0"/>
              <a:t>PCB      B</a:t>
            </a:r>
            <a:r>
              <a:rPr lang="zh-CN" altLang="en-US" sz="2400" dirty="0"/>
              <a:t>、共享段       </a:t>
            </a:r>
            <a:r>
              <a:rPr lang="en-US" altLang="zh-CN" sz="2400" dirty="0"/>
              <a:t>C</a:t>
            </a:r>
            <a:r>
              <a:rPr lang="zh-CN" altLang="en-US" sz="2400" dirty="0"/>
              <a:t>、作业控制块       </a:t>
            </a:r>
            <a:r>
              <a:rPr lang="en-US" altLang="zh-CN" sz="2400" dirty="0"/>
              <a:t>D</a:t>
            </a:r>
            <a:r>
              <a:rPr lang="zh-CN" altLang="en-US" sz="2400" dirty="0"/>
              <a:t>、打开文件表</a:t>
            </a:r>
            <a:endParaRPr lang="en-US" altLang="zh-CN" sz="2400" dirty="0"/>
          </a:p>
          <a:p>
            <a:pPr lvl="1">
              <a:spcBef>
                <a:spcPts val="600"/>
              </a:spcBef>
            </a:pPr>
            <a:r>
              <a:rPr lang="zh-CN" altLang="en-US" sz="2400" dirty="0"/>
              <a:t>答案：</a:t>
            </a:r>
            <a:r>
              <a:rPr lang="en-US" altLang="zh-CN" sz="2400" dirty="0"/>
              <a:t>A</a:t>
            </a:r>
            <a:endParaRPr lang="en-US" altLang="zh-CN" sz="2400" dirty="0"/>
          </a:p>
          <a:p>
            <a:pPr>
              <a:spcBef>
                <a:spcPts val="600"/>
              </a:spcBef>
            </a:pPr>
            <a:r>
              <a:rPr lang="en-US" altLang="zh-CN" sz="2800" dirty="0"/>
              <a:t>3</a:t>
            </a:r>
            <a:r>
              <a:rPr lang="zh-CN" altLang="en-US" sz="2800" dirty="0"/>
              <a:t>、引入进程概念的目的不包括（）</a:t>
            </a:r>
            <a:endParaRPr lang="en-US" altLang="zh-CN" sz="2800" dirty="0"/>
          </a:p>
          <a:p>
            <a:pPr lvl="1">
              <a:spcBef>
                <a:spcPts val="600"/>
              </a:spcBef>
            </a:pPr>
            <a:r>
              <a:rPr lang="en-US" altLang="zh-CN" sz="2400" dirty="0"/>
              <a:t>A</a:t>
            </a:r>
            <a:r>
              <a:rPr lang="zh-CN" altLang="en-US" sz="2400" dirty="0"/>
              <a:t>、程序不能并发执行    </a:t>
            </a:r>
            <a:r>
              <a:rPr lang="en-US" altLang="zh-CN" sz="2400" dirty="0"/>
              <a:t>B</a:t>
            </a:r>
            <a:r>
              <a:rPr lang="zh-CN" altLang="en-US" sz="2400" dirty="0"/>
              <a:t>、控制程序运行</a:t>
            </a:r>
            <a:endParaRPr lang="en-US" altLang="zh-CN" sz="2400" dirty="0"/>
          </a:p>
          <a:p>
            <a:pPr lvl="1">
              <a:spcBef>
                <a:spcPts val="600"/>
              </a:spcBef>
            </a:pPr>
            <a:r>
              <a:rPr lang="en-US" altLang="zh-CN" sz="2400" dirty="0"/>
              <a:t>C</a:t>
            </a:r>
            <a:r>
              <a:rPr lang="zh-CN" altLang="en-US" sz="2400" dirty="0"/>
              <a:t>、描述运行的程序        </a:t>
            </a:r>
            <a:r>
              <a:rPr lang="en-US" altLang="zh-CN" sz="2400" dirty="0"/>
              <a:t>D</a:t>
            </a:r>
            <a:r>
              <a:rPr lang="zh-CN" altLang="en-US" sz="2400" dirty="0"/>
              <a:t>、便于编写程序</a:t>
            </a:r>
            <a:endParaRPr lang="en-US" altLang="zh-CN" sz="2400" dirty="0"/>
          </a:p>
          <a:p>
            <a:pPr lvl="1">
              <a:spcBef>
                <a:spcPts val="600"/>
              </a:spcBef>
            </a:pPr>
            <a:r>
              <a:rPr lang="zh-CN" altLang="en-US" sz="2400" dirty="0"/>
              <a:t>答案</a:t>
            </a:r>
            <a:r>
              <a:rPr lang="en-US" altLang="zh-CN" sz="2400" dirty="0"/>
              <a:t>: D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a:t>
            </a:r>
            <a:r>
              <a:rPr lang="zh-CN" altLang="zh-CN" dirty="0"/>
              <a:t>进程具有并发性和</a:t>
            </a:r>
            <a:r>
              <a:rPr lang="en-US" altLang="zh-CN" dirty="0"/>
              <a:t>( )</a:t>
            </a:r>
            <a:r>
              <a:rPr lang="zh-CN" altLang="zh-CN" dirty="0"/>
              <a:t>两大重要属性。</a:t>
            </a:r>
            <a:endParaRPr lang="zh-CN" altLang="zh-CN" dirty="0"/>
          </a:p>
          <a:p>
            <a:pPr lvl="1"/>
            <a:r>
              <a:rPr lang="en-US" altLang="zh-CN" dirty="0"/>
              <a:t>A. </a:t>
            </a:r>
            <a:r>
              <a:rPr lang="zh-CN" altLang="zh-CN" dirty="0"/>
              <a:t>动态性</a:t>
            </a:r>
            <a:r>
              <a:rPr lang="en-US" altLang="zh-CN" dirty="0"/>
              <a:t> B</a:t>
            </a:r>
            <a:r>
              <a:rPr lang="zh-CN" altLang="zh-CN" dirty="0"/>
              <a:t>．静态性</a:t>
            </a:r>
            <a:r>
              <a:rPr lang="en-US" altLang="zh-CN" dirty="0"/>
              <a:t> C. </a:t>
            </a:r>
            <a:r>
              <a:rPr lang="zh-CN" altLang="zh-CN" dirty="0"/>
              <a:t>易用性</a:t>
            </a:r>
            <a:r>
              <a:rPr lang="en-US" altLang="zh-CN" dirty="0"/>
              <a:t> D</a:t>
            </a:r>
            <a:r>
              <a:rPr lang="zh-CN" altLang="zh-CN" dirty="0"/>
              <a:t>．封闭性</a:t>
            </a:r>
            <a:endParaRPr lang="zh-CN" altLang="zh-CN" dirty="0"/>
          </a:p>
          <a:p>
            <a:pPr lvl="1"/>
            <a:r>
              <a:rPr lang="zh-CN" altLang="zh-CN" dirty="0"/>
              <a:t>答案：</a:t>
            </a:r>
            <a:r>
              <a:rPr lang="en-US" altLang="zh-CN" dirty="0"/>
              <a:t>A</a:t>
            </a:r>
            <a:endParaRPr lang="en-US" altLang="zh-CN" dirty="0"/>
          </a:p>
          <a:p>
            <a:r>
              <a:rPr lang="en-US" altLang="zh-CN" dirty="0"/>
              <a:t>2</a:t>
            </a:r>
            <a:r>
              <a:rPr lang="zh-CN" altLang="en-US" dirty="0"/>
              <a:t>、操作系统的（  ）特征来自进程的特征：</a:t>
            </a:r>
            <a:endParaRPr lang="en-US" altLang="zh-CN" dirty="0"/>
          </a:p>
          <a:p>
            <a:pPr lvl="1"/>
            <a:r>
              <a:rPr lang="en-US" altLang="zh-CN" dirty="0"/>
              <a:t>A</a:t>
            </a:r>
            <a:r>
              <a:rPr lang="zh-CN" altLang="en-US" dirty="0"/>
              <a:t>、动态性和并发性         </a:t>
            </a:r>
            <a:r>
              <a:rPr lang="en-US" altLang="zh-CN" dirty="0"/>
              <a:t>B</a:t>
            </a:r>
            <a:r>
              <a:rPr lang="zh-CN" altLang="en-US" dirty="0"/>
              <a:t>、并发性和独立性</a:t>
            </a:r>
            <a:endParaRPr lang="en-US" altLang="zh-CN" dirty="0"/>
          </a:p>
          <a:p>
            <a:pPr lvl="1"/>
            <a:r>
              <a:rPr lang="en-US" altLang="zh-CN" dirty="0"/>
              <a:t>C</a:t>
            </a:r>
            <a:r>
              <a:rPr lang="zh-CN" altLang="en-US" dirty="0"/>
              <a:t>、并发性和异步性         </a:t>
            </a:r>
            <a:r>
              <a:rPr lang="en-US" altLang="zh-CN" dirty="0"/>
              <a:t>D</a:t>
            </a:r>
            <a:r>
              <a:rPr lang="zh-CN" altLang="en-US" dirty="0"/>
              <a:t>、动态性和异步性</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典型问题</a:t>
            </a:r>
            <a:endParaRPr lang="zh-CN" altLang="en-US" dirty="0"/>
          </a:p>
        </p:txBody>
      </p:sp>
      <p:pic>
        <p:nvPicPr>
          <p:cNvPr id="21507" name="内容占位符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295466" y="1340644"/>
            <a:ext cx="8348663" cy="4176712"/>
          </a:xfrm>
        </p:spPr>
      </p:pic>
      <p:pic>
        <p:nvPicPr>
          <p:cNvPr id="21508"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0632" y="5517356"/>
            <a:ext cx="7856537"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latin typeface="楷体_GB2312" pitchFamily="49" charset="-122"/>
              </a:rPr>
              <a:t>三种基本状态的思考</a:t>
            </a:r>
            <a:endParaRPr lang="zh-CN" altLang="en-US" dirty="0">
              <a:latin typeface="楷体_GB2312" pitchFamily="49" charset="-122"/>
            </a:endParaRPr>
          </a:p>
        </p:txBody>
      </p:sp>
      <p:sp>
        <p:nvSpPr>
          <p:cNvPr id="26627" name="内容占位符 2"/>
          <p:cNvSpPr>
            <a:spLocks noGrp="1" noChangeArrowheads="1"/>
          </p:cNvSpPr>
          <p:nvPr>
            <p:ph idx="1"/>
          </p:nvPr>
        </p:nvSpPr>
        <p:spPr/>
        <p:txBody>
          <a:bodyPr/>
          <a:lstStyle/>
          <a:p>
            <a:pPr eaLnBrk="1" hangingPunct="1"/>
            <a:r>
              <a:rPr lang="zh-CN" altLang="en-US">
                <a:latin typeface="楷体_GB2312" pitchFamily="49" charset="-122"/>
              </a:rPr>
              <a:t>进程主动完成状态转换，还是被动完成？被动，调度器</a:t>
            </a:r>
            <a:endParaRPr lang="zh-CN" altLang="en-US">
              <a:latin typeface="楷体_GB2312" pitchFamily="49" charset="-122"/>
            </a:endParaRPr>
          </a:p>
          <a:p>
            <a:pPr eaLnBrk="1" hangingPunct="1"/>
            <a:r>
              <a:rPr lang="zh-CN" altLang="en-US">
                <a:latin typeface="楷体_GB2312" pitchFamily="49" charset="-122"/>
              </a:rPr>
              <a:t>进程状态是否唯一？是</a:t>
            </a:r>
            <a:endParaRPr lang="zh-CN" altLang="en-US">
              <a:latin typeface="楷体_GB2312" pitchFamily="49" charset="-122"/>
            </a:endParaRPr>
          </a:p>
          <a:p>
            <a:pPr eaLnBrk="1" hangingPunct="1"/>
            <a:r>
              <a:rPr lang="zh-CN" altLang="en-US">
                <a:latin typeface="楷体_GB2312" pitchFamily="49" charset="-122"/>
              </a:rPr>
              <a:t>时间片用完是否是进程由执行变为就绪的唯一原因？不是，抢占</a:t>
            </a:r>
            <a:endParaRPr lang="zh-CN" altLang="en-US">
              <a:latin typeface="楷体_GB2312" pitchFamily="49" charset="-122"/>
            </a:endParaRPr>
          </a:p>
          <a:p>
            <a:pPr eaLnBrk="1" hangingPunct="1"/>
            <a:r>
              <a:rPr lang="zh-CN" altLang="en-US">
                <a:latin typeface="楷体_GB2312" pitchFamily="49" charset="-122"/>
              </a:rPr>
              <a:t>在单处理机系统中，是否可以有多个进程处于执行状态？不可以</a:t>
            </a:r>
            <a:endParaRPr lang="zh-CN" altLang="en-US">
              <a:latin typeface="楷体_GB2312" pitchFamily="49" charset="-122"/>
            </a:endParaRPr>
          </a:p>
          <a:p>
            <a:pPr eaLnBrk="1" hangingPunct="1"/>
            <a:r>
              <a:rPr lang="zh-CN" altLang="en-US">
                <a:latin typeface="楷体_GB2312" pitchFamily="49" charset="-122"/>
              </a:rPr>
              <a:t>在多处理机系统中，是否可以有多个进程处于执行状态？可以</a:t>
            </a:r>
            <a:endParaRPr lang="zh-CN" altLang="en-US">
              <a:latin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7" dur="500"/>
                                        <p:tgtEl>
                                          <p:spTgt spid="26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22" dur="500"/>
                                        <p:tgtEl>
                                          <p:spTgt spid="266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7"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474133" y="790223"/>
            <a:ext cx="11176000" cy="5949244"/>
          </a:xfrm>
        </p:spPr>
        <p:txBody>
          <a:bodyPr/>
          <a:lstStyle/>
          <a:p>
            <a:r>
              <a:rPr lang="zh-CN" altLang="en-US" dirty="0"/>
              <a:t>根据进程三状态转换关系，下面那个是不可能的：</a:t>
            </a:r>
            <a:endParaRPr lang="en-US" altLang="zh-CN" dirty="0"/>
          </a:p>
          <a:p>
            <a:pPr lvl="1"/>
            <a:r>
              <a:rPr lang="en-US" altLang="zh-CN" dirty="0"/>
              <a:t>A</a:t>
            </a:r>
            <a:r>
              <a:rPr lang="zh-CN" altLang="en-US" dirty="0"/>
              <a:t>）就绪</a:t>
            </a:r>
            <a:r>
              <a:rPr lang="en-US" altLang="zh-CN" dirty="0"/>
              <a:t>-&gt;</a:t>
            </a:r>
            <a:r>
              <a:rPr lang="zh-CN" altLang="en-US" dirty="0"/>
              <a:t>运行   </a:t>
            </a:r>
            <a:r>
              <a:rPr lang="en-US" altLang="zh-CN" dirty="0"/>
              <a:t>B</a:t>
            </a:r>
            <a:r>
              <a:rPr lang="zh-CN" altLang="en-US" dirty="0"/>
              <a:t>）运行</a:t>
            </a:r>
            <a:r>
              <a:rPr lang="en-US" altLang="zh-CN" dirty="0"/>
              <a:t>-&gt;</a:t>
            </a:r>
            <a:r>
              <a:rPr lang="zh-CN" altLang="en-US" dirty="0"/>
              <a:t>阻塞  </a:t>
            </a:r>
            <a:r>
              <a:rPr lang="en-US" altLang="zh-CN" dirty="0"/>
              <a:t>C</a:t>
            </a:r>
            <a:r>
              <a:rPr lang="zh-CN" altLang="en-US" dirty="0"/>
              <a:t>）阻塞</a:t>
            </a:r>
            <a:r>
              <a:rPr lang="en-US" altLang="zh-CN" dirty="0"/>
              <a:t>-&gt;</a:t>
            </a:r>
            <a:r>
              <a:rPr lang="zh-CN" altLang="en-US" dirty="0"/>
              <a:t>就绪  </a:t>
            </a:r>
            <a:r>
              <a:rPr lang="en-US" altLang="zh-CN" dirty="0"/>
              <a:t>D)</a:t>
            </a:r>
            <a:r>
              <a:rPr lang="zh-CN" altLang="en-US" dirty="0"/>
              <a:t>就绪</a:t>
            </a:r>
            <a:r>
              <a:rPr lang="en-US" altLang="zh-CN" dirty="0"/>
              <a:t>-&gt;</a:t>
            </a:r>
            <a:r>
              <a:rPr lang="zh-CN" altLang="en-US" dirty="0"/>
              <a:t>阻塞</a:t>
            </a:r>
            <a:endParaRPr lang="en-US" altLang="zh-CN" dirty="0"/>
          </a:p>
          <a:p>
            <a:pPr lvl="1"/>
            <a:r>
              <a:rPr lang="zh-CN" altLang="en-US" dirty="0"/>
              <a:t>答案：</a:t>
            </a:r>
            <a:r>
              <a:rPr lang="en-US" altLang="zh-CN" dirty="0"/>
              <a:t>D</a:t>
            </a:r>
            <a:endParaRPr lang="en-US" altLang="zh-CN" dirty="0"/>
          </a:p>
          <a:p>
            <a:endParaRPr lang="en-US" altLang="zh-CN" dirty="0"/>
          </a:p>
          <a:p>
            <a:r>
              <a:rPr lang="zh-CN" altLang="en-US" dirty="0"/>
              <a:t>在单</a:t>
            </a:r>
            <a:r>
              <a:rPr lang="en-US" altLang="zh-CN" dirty="0"/>
              <a:t>CPU</a:t>
            </a:r>
            <a:r>
              <a:rPr lang="zh-CN" altLang="en-US" dirty="0"/>
              <a:t>的主机上，有</a:t>
            </a:r>
            <a:r>
              <a:rPr lang="en-US" altLang="zh-CN" dirty="0"/>
              <a:t>N</a:t>
            </a:r>
            <a:r>
              <a:rPr lang="zh-CN" altLang="en-US" dirty="0"/>
              <a:t>个进程，最大就绪进程数为：</a:t>
            </a:r>
            <a:endParaRPr lang="en-US" altLang="zh-CN" dirty="0"/>
          </a:p>
          <a:p>
            <a:pPr lvl="1"/>
            <a:r>
              <a:rPr lang="en-US" altLang="zh-CN" dirty="0"/>
              <a:t>A</a:t>
            </a:r>
            <a:r>
              <a:rPr lang="zh-CN" altLang="en-US" dirty="0"/>
              <a:t>）</a:t>
            </a:r>
            <a:r>
              <a:rPr lang="en-US" altLang="zh-CN" dirty="0"/>
              <a:t>N   	B</a:t>
            </a:r>
            <a:r>
              <a:rPr lang="zh-CN" altLang="en-US" dirty="0"/>
              <a:t>）</a:t>
            </a:r>
            <a:r>
              <a:rPr lang="en-US" altLang="zh-CN" dirty="0"/>
              <a:t>N-1  	C</a:t>
            </a:r>
            <a:r>
              <a:rPr lang="zh-CN" altLang="en-US" dirty="0"/>
              <a:t>）</a:t>
            </a:r>
            <a:r>
              <a:rPr lang="en-US" altLang="zh-CN" dirty="0"/>
              <a:t>1   	D</a:t>
            </a:r>
            <a:r>
              <a:rPr lang="zh-CN" altLang="en-US" dirty="0"/>
              <a:t>）</a:t>
            </a:r>
            <a:r>
              <a:rPr lang="en-US" altLang="zh-CN" dirty="0"/>
              <a:t>2</a:t>
            </a:r>
            <a:endParaRPr lang="en-US" altLang="zh-CN" dirty="0"/>
          </a:p>
          <a:p>
            <a:pPr lvl="1"/>
            <a:r>
              <a:rPr lang="zh-CN" altLang="en-US" dirty="0"/>
              <a:t>答案：</a:t>
            </a:r>
            <a:r>
              <a:rPr lang="en-US" altLang="zh-CN" dirty="0"/>
              <a:t>B  </a:t>
            </a:r>
            <a:r>
              <a:rPr lang="zh-CN" altLang="en-US" dirty="0"/>
              <a:t>考不考虑调度状态</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在单</a:t>
            </a:r>
            <a:r>
              <a:rPr lang="en-US" altLang="zh-CN" dirty="0"/>
              <a:t>CPU</a:t>
            </a:r>
            <a:r>
              <a:rPr lang="zh-CN" altLang="en-US" dirty="0"/>
              <a:t>的主机上，有</a:t>
            </a:r>
            <a:r>
              <a:rPr lang="en-US" altLang="zh-CN" dirty="0"/>
              <a:t>N</a:t>
            </a:r>
            <a:r>
              <a:rPr lang="zh-CN" altLang="en-US" dirty="0"/>
              <a:t>个进程，最大运行进程数为：</a:t>
            </a:r>
            <a:endParaRPr lang="en-US" altLang="zh-CN" dirty="0"/>
          </a:p>
          <a:p>
            <a:pPr lvl="1"/>
            <a:r>
              <a:rPr lang="en-US" altLang="zh-CN" dirty="0"/>
              <a:t>A</a:t>
            </a:r>
            <a:r>
              <a:rPr lang="zh-CN" altLang="en-US" dirty="0"/>
              <a:t>）</a:t>
            </a:r>
            <a:r>
              <a:rPr lang="en-US" altLang="zh-CN" dirty="0"/>
              <a:t>N   	B</a:t>
            </a:r>
            <a:r>
              <a:rPr lang="zh-CN" altLang="en-US" dirty="0"/>
              <a:t>）</a:t>
            </a:r>
            <a:r>
              <a:rPr lang="en-US" altLang="zh-CN" dirty="0"/>
              <a:t>N-1  	C</a:t>
            </a:r>
            <a:r>
              <a:rPr lang="zh-CN" altLang="en-US" dirty="0"/>
              <a:t>）</a:t>
            </a:r>
            <a:r>
              <a:rPr lang="en-US" altLang="zh-CN" dirty="0"/>
              <a:t>1   	D</a:t>
            </a:r>
            <a:r>
              <a:rPr lang="zh-CN" altLang="en-US" dirty="0"/>
              <a:t>）</a:t>
            </a:r>
            <a:r>
              <a:rPr lang="en-US" altLang="zh-CN" dirty="0"/>
              <a:t>2</a:t>
            </a:r>
            <a:endParaRPr lang="en-US" altLang="zh-CN" dirty="0"/>
          </a:p>
          <a:p>
            <a:pPr lvl="1"/>
            <a:r>
              <a:rPr lang="zh-CN" altLang="en-US" dirty="0"/>
              <a:t>答案：</a:t>
            </a:r>
            <a:r>
              <a:rPr lang="en-US" altLang="zh-CN" dirty="0"/>
              <a:t>C </a:t>
            </a:r>
            <a:endParaRPr lang="en-US" altLang="zh-CN" dirty="0"/>
          </a:p>
          <a:p>
            <a:endParaRPr lang="en-US" altLang="zh-CN" dirty="0"/>
          </a:p>
          <a:p>
            <a:r>
              <a:rPr lang="zh-CN" altLang="en-US" dirty="0"/>
              <a:t>在单</a:t>
            </a:r>
            <a:r>
              <a:rPr lang="en-US" altLang="zh-CN" dirty="0"/>
              <a:t>CPU</a:t>
            </a:r>
            <a:r>
              <a:rPr lang="zh-CN" altLang="en-US" dirty="0"/>
              <a:t>的主机上，有</a:t>
            </a:r>
            <a:r>
              <a:rPr lang="en-US" altLang="zh-CN" dirty="0"/>
              <a:t>N</a:t>
            </a:r>
            <a:r>
              <a:rPr lang="zh-CN" altLang="en-US" dirty="0"/>
              <a:t>个进程，最大阻塞进程数为：</a:t>
            </a:r>
            <a:endParaRPr lang="en-US" altLang="zh-CN" dirty="0"/>
          </a:p>
          <a:p>
            <a:pPr lvl="1"/>
            <a:r>
              <a:rPr lang="en-US" altLang="zh-CN" dirty="0"/>
              <a:t>A</a:t>
            </a:r>
            <a:r>
              <a:rPr lang="zh-CN" altLang="en-US" dirty="0"/>
              <a:t>）</a:t>
            </a:r>
            <a:r>
              <a:rPr lang="en-US" altLang="zh-CN" dirty="0"/>
              <a:t>N   	B</a:t>
            </a:r>
            <a:r>
              <a:rPr lang="zh-CN" altLang="en-US" dirty="0"/>
              <a:t>）</a:t>
            </a:r>
            <a:r>
              <a:rPr lang="en-US" altLang="zh-CN" dirty="0"/>
              <a:t>N-1  	C</a:t>
            </a:r>
            <a:r>
              <a:rPr lang="zh-CN" altLang="en-US" dirty="0"/>
              <a:t>）</a:t>
            </a:r>
            <a:r>
              <a:rPr lang="en-US" altLang="zh-CN" dirty="0"/>
              <a:t>1   	D</a:t>
            </a:r>
            <a:r>
              <a:rPr lang="zh-CN" altLang="en-US" dirty="0"/>
              <a:t>）</a:t>
            </a:r>
            <a:r>
              <a:rPr lang="en-US" altLang="zh-CN" dirty="0"/>
              <a:t>2</a:t>
            </a:r>
            <a:endParaRPr lang="en-US" altLang="zh-CN" dirty="0"/>
          </a:p>
          <a:p>
            <a:pPr lvl="1"/>
            <a:r>
              <a:rPr lang="zh-CN" altLang="en-US" dirty="0"/>
              <a:t>答案：</a:t>
            </a:r>
            <a:r>
              <a:rPr lang="en-US" altLang="zh-CN" dirty="0"/>
              <a:t>A </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p:txBody>
          <a:bodyPr/>
          <a:lstStyle/>
          <a:p>
            <a:r>
              <a:rPr lang="zh-CN" altLang="zh-CN" dirty="0"/>
              <a:t>一个进程获得必要的资源，但是由于进程数多于处理机数，使未分得处理机的进程处于等处理机的状态，此时该进程的状态为</a:t>
            </a:r>
            <a:r>
              <a:rPr lang="en-US" altLang="zh-CN" dirty="0"/>
              <a:t>( ) </a:t>
            </a:r>
            <a:endParaRPr lang="zh-CN" altLang="zh-CN" dirty="0"/>
          </a:p>
          <a:p>
            <a:pPr lvl="1"/>
            <a:r>
              <a:rPr lang="en-US" altLang="zh-CN" dirty="0"/>
              <a:t>A.</a:t>
            </a:r>
            <a:r>
              <a:rPr lang="zh-CN" altLang="zh-CN" dirty="0"/>
              <a:t>就绪状态</a:t>
            </a:r>
            <a:r>
              <a:rPr lang="en-US" altLang="zh-CN" dirty="0"/>
              <a:t>   B.</a:t>
            </a:r>
            <a:r>
              <a:rPr lang="zh-CN" altLang="zh-CN" dirty="0"/>
              <a:t>阻塞状态</a:t>
            </a:r>
            <a:r>
              <a:rPr lang="en-US" altLang="zh-CN" dirty="0"/>
              <a:t>   C.</a:t>
            </a:r>
            <a:r>
              <a:rPr lang="zh-CN" altLang="zh-CN" dirty="0"/>
              <a:t>撤销状态</a:t>
            </a:r>
            <a:r>
              <a:rPr lang="en-US" altLang="zh-CN" dirty="0"/>
              <a:t>    D.</a:t>
            </a:r>
            <a:r>
              <a:rPr lang="zh-CN" altLang="zh-CN" dirty="0"/>
              <a:t>执行状态 </a:t>
            </a:r>
            <a:endParaRPr lang="zh-CN" altLang="zh-CN" dirty="0"/>
          </a:p>
          <a:p>
            <a:pPr lvl="1"/>
            <a:r>
              <a:rPr lang="zh-CN" altLang="zh-CN" dirty="0"/>
              <a:t>答案：</a:t>
            </a:r>
            <a:r>
              <a:rPr lang="en-US" altLang="zh-CN" dirty="0"/>
              <a:t>A</a:t>
            </a:r>
            <a:endParaRPr lang="en-US" altLang="zh-CN" dirty="0"/>
          </a:p>
          <a:p>
            <a:r>
              <a:rPr lang="zh-CN" altLang="en-US" dirty="0"/>
              <a:t>创建进程的实质是（   ）</a:t>
            </a:r>
            <a:endParaRPr lang="en-US" altLang="zh-CN" dirty="0"/>
          </a:p>
          <a:p>
            <a:pPr lvl="1"/>
            <a:r>
              <a:rPr lang="en-US" altLang="zh-CN" dirty="0"/>
              <a:t>A</a:t>
            </a:r>
            <a:r>
              <a:rPr lang="zh-CN" altLang="en-US" dirty="0"/>
              <a:t>）装入内存   </a:t>
            </a:r>
            <a:r>
              <a:rPr lang="en-US" altLang="zh-CN" dirty="0"/>
              <a:t>B</a:t>
            </a:r>
            <a:r>
              <a:rPr lang="zh-CN" altLang="en-US" dirty="0"/>
              <a:t>）分配处理机   </a:t>
            </a:r>
            <a:r>
              <a:rPr lang="en-US" altLang="zh-CN" dirty="0"/>
              <a:t>C</a:t>
            </a:r>
            <a:r>
              <a:rPr lang="zh-CN" altLang="en-US" dirty="0"/>
              <a:t>）创建</a:t>
            </a:r>
            <a:r>
              <a:rPr lang="en-US" altLang="zh-CN" dirty="0"/>
              <a:t>PCB   D</a:t>
            </a:r>
            <a:r>
              <a:rPr lang="zh-CN" altLang="en-US" dirty="0"/>
              <a:t>）分配设备</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一个正在运行的进程被管理员挂起，其状态转换为：</a:t>
            </a:r>
            <a:endParaRPr lang="en-US" altLang="zh-CN" dirty="0"/>
          </a:p>
          <a:p>
            <a:pPr lvl="1"/>
            <a:r>
              <a:rPr lang="en-US" altLang="zh-CN" dirty="0"/>
              <a:t>A</a:t>
            </a:r>
            <a:r>
              <a:rPr lang="zh-CN" altLang="en-US" dirty="0"/>
              <a:t>）活动就绪   </a:t>
            </a:r>
            <a:r>
              <a:rPr lang="en-US" altLang="zh-CN" dirty="0"/>
              <a:t>B</a:t>
            </a:r>
            <a:r>
              <a:rPr lang="zh-CN" altLang="en-US" dirty="0"/>
              <a:t>）活动阻塞    </a:t>
            </a:r>
            <a:r>
              <a:rPr lang="en-US" altLang="zh-CN" dirty="0"/>
              <a:t>C</a:t>
            </a:r>
            <a:r>
              <a:rPr lang="zh-CN" altLang="en-US" dirty="0"/>
              <a:t>）静止就绪   </a:t>
            </a:r>
            <a:r>
              <a:rPr lang="en-US" altLang="zh-CN" dirty="0"/>
              <a:t>D</a:t>
            </a:r>
            <a:r>
              <a:rPr lang="zh-CN" altLang="en-US" dirty="0"/>
              <a:t>）静止阻塞</a:t>
            </a:r>
            <a:endParaRPr lang="en-US" altLang="zh-CN" dirty="0"/>
          </a:p>
          <a:p>
            <a:pPr lvl="1"/>
            <a:r>
              <a:rPr lang="zh-CN" altLang="en-US" dirty="0"/>
              <a:t>答案：</a:t>
            </a:r>
            <a:r>
              <a:rPr lang="en-US" altLang="zh-CN" dirty="0"/>
              <a:t>C</a:t>
            </a:r>
            <a:endParaRPr lang="en-US" altLang="zh-CN" dirty="0"/>
          </a:p>
          <a:p>
            <a:r>
              <a:rPr lang="zh-CN" altLang="en-US" dirty="0"/>
              <a:t>一个进程因需要等待设备完成</a:t>
            </a:r>
            <a:r>
              <a:rPr lang="en-US" altLang="zh-CN" dirty="0"/>
              <a:t>I/O</a:t>
            </a:r>
            <a:r>
              <a:rPr lang="zh-CN" altLang="en-US" dirty="0"/>
              <a:t>而放弃</a:t>
            </a:r>
            <a:r>
              <a:rPr lang="en-US" altLang="zh-CN" dirty="0"/>
              <a:t>CPU</a:t>
            </a:r>
            <a:r>
              <a:rPr lang="zh-CN" altLang="en-US" dirty="0"/>
              <a:t>后，再被系统挂起，现在其状态是：</a:t>
            </a:r>
            <a:endParaRPr lang="en-US" altLang="zh-CN" dirty="0"/>
          </a:p>
          <a:p>
            <a:pPr lvl="1"/>
            <a:r>
              <a:rPr lang="en-US" altLang="zh-CN" dirty="0"/>
              <a:t>A</a:t>
            </a:r>
            <a:r>
              <a:rPr lang="zh-CN" altLang="en-US" dirty="0"/>
              <a:t>活动就绪   </a:t>
            </a:r>
            <a:r>
              <a:rPr lang="en-US" altLang="zh-CN" dirty="0"/>
              <a:t>B</a:t>
            </a:r>
            <a:r>
              <a:rPr lang="zh-CN" altLang="en-US" dirty="0"/>
              <a:t>）活动阻塞    </a:t>
            </a:r>
            <a:r>
              <a:rPr lang="en-US" altLang="zh-CN" dirty="0"/>
              <a:t>C</a:t>
            </a:r>
            <a:r>
              <a:rPr lang="zh-CN" altLang="en-US" dirty="0"/>
              <a:t>）静止就绪   </a:t>
            </a:r>
            <a:r>
              <a:rPr lang="en-US" altLang="zh-CN" dirty="0"/>
              <a:t>D</a:t>
            </a:r>
            <a:r>
              <a:rPr lang="zh-CN" altLang="en-US" dirty="0"/>
              <a:t>）静止阻塞</a:t>
            </a:r>
            <a:endParaRPr lang="en-US" altLang="zh-CN"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典型问题</a:t>
            </a:r>
            <a:endParaRPr lang="zh-CN" altLang="en-US" dirty="0"/>
          </a:p>
        </p:txBody>
      </p:sp>
      <p:pic>
        <p:nvPicPr>
          <p:cNvPr id="8" name="内容占位符 7"/>
          <p:cNvPicPr>
            <a:picLocks noGrp="1" noChangeAspect="1"/>
          </p:cNvPicPr>
          <p:nvPr>
            <p:ph idx="1"/>
          </p:nvPr>
        </p:nvPicPr>
        <p:blipFill>
          <a:blip r:embed="rId1"/>
          <a:stretch>
            <a:fillRect/>
          </a:stretch>
        </p:blipFill>
        <p:spPr>
          <a:xfrm>
            <a:off x="892881" y="1674592"/>
            <a:ext cx="10771188" cy="19024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idx="1"/>
          </p:nvPr>
        </p:nvPicPr>
        <p:blipFill>
          <a:blip r:embed="rId1"/>
          <a:stretch>
            <a:fillRect/>
          </a:stretch>
        </p:blipFill>
        <p:spPr>
          <a:xfrm>
            <a:off x="1680650" y="1174046"/>
            <a:ext cx="8830699" cy="5324744"/>
          </a:xfrm>
          <a:prstGeom prst="rect">
            <a:avLst/>
          </a:prstGeom>
        </p:spPr>
      </p:pic>
      <p:sp>
        <p:nvSpPr>
          <p:cNvPr id="3" name="标题 2"/>
          <p:cNvSpPr>
            <a:spLocks noGrp="1"/>
          </p:cNvSpPr>
          <p:nvPr>
            <p:ph type="title"/>
          </p:nvPr>
        </p:nvSpPr>
        <p:spPr/>
        <p:txBody>
          <a:bodyPr/>
          <a:lstStyle/>
          <a:p>
            <a:r>
              <a:rPr lang="zh-CN" altLang="en-US" dirty="0"/>
              <a:t>典型例题答案</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p:txBody>
          <a:bodyPr/>
          <a:lstStyle/>
          <a:p>
            <a:r>
              <a:rPr lang="zh-CN" altLang="en-US" dirty="0"/>
              <a:t>（   ）常驻内存，是进程存在的唯一标志。</a:t>
            </a:r>
            <a:endParaRPr lang="en-US" altLang="zh-CN" dirty="0"/>
          </a:p>
          <a:p>
            <a:pPr lvl="1"/>
            <a:r>
              <a:rPr lang="en-US" altLang="zh-CN" dirty="0"/>
              <a:t>A</a:t>
            </a:r>
            <a:r>
              <a:rPr lang="zh-CN" altLang="en-US" dirty="0"/>
              <a:t>）代码段  </a:t>
            </a:r>
            <a:r>
              <a:rPr lang="en-US" altLang="zh-CN" dirty="0"/>
              <a:t>B</a:t>
            </a:r>
            <a:r>
              <a:rPr lang="zh-CN" altLang="en-US" dirty="0"/>
              <a:t>）文件打开表  </a:t>
            </a:r>
            <a:r>
              <a:rPr lang="en-US" altLang="zh-CN" dirty="0"/>
              <a:t>C</a:t>
            </a:r>
            <a:r>
              <a:rPr lang="zh-CN" altLang="en-US" dirty="0"/>
              <a:t>）</a:t>
            </a:r>
            <a:r>
              <a:rPr lang="en-US" altLang="zh-CN" dirty="0"/>
              <a:t>PCB   D</a:t>
            </a:r>
            <a:r>
              <a:rPr lang="zh-CN" altLang="en-US" dirty="0"/>
              <a:t>）数据段</a:t>
            </a:r>
            <a:endParaRPr lang="en-US" altLang="zh-CN" dirty="0"/>
          </a:p>
          <a:p>
            <a:pPr lvl="1"/>
            <a:r>
              <a:rPr lang="zh-CN" altLang="en-US" dirty="0"/>
              <a:t>答案：</a:t>
            </a:r>
            <a:r>
              <a:rPr lang="en-US" altLang="zh-CN" dirty="0"/>
              <a:t>C</a:t>
            </a:r>
            <a:endParaRPr lang="en-US" altLang="zh-CN" dirty="0"/>
          </a:p>
          <a:p>
            <a:endParaRPr lang="en-US" altLang="zh-CN" dirty="0"/>
          </a:p>
          <a:p>
            <a:r>
              <a:rPr lang="zh-CN" altLang="en-US" dirty="0"/>
              <a:t>进程处于阻塞状态时，进程的上下文保存在（     ）中。</a:t>
            </a:r>
            <a:endParaRPr lang="en-US" altLang="zh-CN" dirty="0"/>
          </a:p>
          <a:p>
            <a:pPr lvl="1"/>
            <a:r>
              <a:rPr lang="en-US" altLang="zh-CN" dirty="0"/>
              <a:t>A</a:t>
            </a:r>
            <a:r>
              <a:rPr lang="zh-CN" altLang="en-US" dirty="0"/>
              <a:t>）进程堆栈     </a:t>
            </a:r>
            <a:r>
              <a:rPr lang="en-US" altLang="zh-CN" dirty="0"/>
              <a:t>B</a:t>
            </a:r>
            <a:r>
              <a:rPr lang="zh-CN" altLang="en-US" dirty="0"/>
              <a:t>）系统进程表     </a:t>
            </a:r>
            <a:r>
              <a:rPr lang="en-US" altLang="zh-CN" dirty="0"/>
              <a:t>C</a:t>
            </a:r>
            <a:r>
              <a:rPr lang="zh-CN" altLang="en-US" dirty="0"/>
              <a:t>）</a:t>
            </a:r>
            <a:r>
              <a:rPr lang="en-US" altLang="zh-CN" dirty="0"/>
              <a:t>PCB      D</a:t>
            </a:r>
            <a:r>
              <a:rPr lang="zh-CN" altLang="en-US" dirty="0"/>
              <a:t>）进程数据段</a:t>
            </a:r>
            <a:endParaRPr lang="en-US" altLang="zh-CN" dirty="0"/>
          </a:p>
          <a:p>
            <a:pPr lvl="1"/>
            <a:r>
              <a:rPr lang="zh-CN" altLang="en-US" dirty="0"/>
              <a:t>答案： </a:t>
            </a:r>
            <a:r>
              <a:rPr lang="en-US" altLang="zh-CN" dirty="0"/>
              <a:t>C</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例</a:t>
            </a:r>
            <a:r>
              <a:rPr lang="en-US" altLang="zh-CN" dirty="0"/>
              <a:t>4</a:t>
            </a:r>
            <a:r>
              <a:rPr lang="zh-CN" altLang="en-US" dirty="0"/>
              <a:t>：</a:t>
            </a:r>
            <a:r>
              <a:rPr lang="en-US" altLang="zh-CN" dirty="0"/>
              <a:t>PCB</a:t>
            </a:r>
            <a:r>
              <a:rPr lang="zh-CN" altLang="en-US" dirty="0"/>
              <a:t>的作用是什么？为什么说</a:t>
            </a:r>
            <a:r>
              <a:rPr lang="en-US" altLang="zh-CN" dirty="0"/>
              <a:t>PCB</a:t>
            </a:r>
            <a:r>
              <a:rPr lang="zh-CN" altLang="en-US" dirty="0"/>
              <a:t>是进程存在的唯一标志？</a:t>
            </a:r>
            <a:endParaRPr lang="zh-CN" altLang="en-US" dirty="0"/>
          </a:p>
        </p:txBody>
      </p:sp>
      <p:sp>
        <p:nvSpPr>
          <p:cNvPr id="2" name="标题 1"/>
          <p:cNvSpPr>
            <a:spLocks noGrp="1"/>
          </p:cNvSpPr>
          <p:nvPr>
            <p:ph type="title"/>
          </p:nvPr>
        </p:nvSpPr>
        <p:spPr/>
        <p:txBody>
          <a:bodyPr/>
          <a:lstStyle/>
          <a:p>
            <a:pPr>
              <a:defRPr/>
            </a:pPr>
            <a:r>
              <a:rPr lang="zh-CN" altLang="en-US" dirty="0"/>
              <a:t>典型问题</a:t>
            </a:r>
            <a:endParaRPr lang="zh-CN" altLang="en-US" dirty="0"/>
          </a:p>
        </p:txBody>
      </p:sp>
      <p:pic>
        <p:nvPicPr>
          <p:cNvPr id="4" name="图片 3"/>
          <p:cNvPicPr>
            <a:picLocks noChangeAspect="1"/>
          </p:cNvPicPr>
          <p:nvPr/>
        </p:nvPicPr>
        <p:blipFill>
          <a:blip r:embed="rId1"/>
          <a:stretch>
            <a:fillRect/>
          </a:stretch>
        </p:blipFill>
        <p:spPr>
          <a:xfrm>
            <a:off x="805357" y="2467390"/>
            <a:ext cx="10914861" cy="40544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p:txBody>
          <a:bodyPr/>
          <a:lstStyle/>
          <a:p>
            <a:r>
              <a:rPr lang="zh-CN" altLang="en-US" dirty="0"/>
              <a:t>保存在进程中的处理机状态信息不包括：</a:t>
            </a:r>
            <a:endParaRPr lang="en-US" altLang="zh-CN" dirty="0"/>
          </a:p>
          <a:p>
            <a:pPr lvl="1"/>
            <a:r>
              <a:rPr lang="en-US" altLang="zh-CN" dirty="0"/>
              <a:t>A</a:t>
            </a:r>
            <a:r>
              <a:rPr lang="zh-CN" altLang="en-US" dirty="0"/>
              <a:t>）通用寄存器                    </a:t>
            </a:r>
            <a:r>
              <a:rPr lang="en-US" altLang="zh-CN" dirty="0"/>
              <a:t>B</a:t>
            </a:r>
            <a:r>
              <a:rPr lang="zh-CN" altLang="en-US" dirty="0"/>
              <a:t>）指令计数器</a:t>
            </a:r>
            <a:endParaRPr lang="en-US" altLang="zh-CN" dirty="0"/>
          </a:p>
          <a:p>
            <a:pPr lvl="1"/>
            <a:r>
              <a:rPr lang="en-US" altLang="zh-CN" dirty="0"/>
              <a:t>C</a:t>
            </a:r>
            <a:r>
              <a:rPr lang="zh-CN" altLang="en-US" dirty="0"/>
              <a:t>）程序状态字   </a:t>
            </a:r>
            <a:r>
              <a:rPr lang="en-US" altLang="zh-CN" dirty="0"/>
              <a:t>		    D</a:t>
            </a:r>
            <a:r>
              <a:rPr lang="zh-CN" altLang="en-US" dirty="0"/>
              <a:t>）中断表</a:t>
            </a:r>
            <a:endParaRPr lang="en-US" altLang="zh-CN" dirty="0"/>
          </a:p>
          <a:p>
            <a:pPr lvl="1"/>
            <a:r>
              <a:rPr lang="zh-CN" altLang="en-US" dirty="0"/>
              <a:t>答案：</a:t>
            </a:r>
            <a:r>
              <a:rPr lang="en-US" altLang="zh-CN" dirty="0"/>
              <a:t>D</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在进程控制块中，不保存下面哪项信息？</a:t>
            </a:r>
            <a:endParaRPr lang="en-US" altLang="zh-CN" dirty="0"/>
          </a:p>
          <a:p>
            <a:pPr lvl="1"/>
            <a:r>
              <a:rPr lang="en-US" altLang="zh-CN" dirty="0"/>
              <a:t>A</a:t>
            </a:r>
            <a:r>
              <a:rPr lang="zh-CN" altLang="en-US" dirty="0"/>
              <a:t>）进程优先级        </a:t>
            </a:r>
            <a:r>
              <a:rPr lang="en-US" altLang="zh-CN" dirty="0"/>
              <a:t>B</a:t>
            </a:r>
            <a:r>
              <a:rPr lang="zh-CN" altLang="en-US" dirty="0"/>
              <a:t>）进程内部标志</a:t>
            </a:r>
            <a:endParaRPr lang="en-US" altLang="zh-CN" dirty="0"/>
          </a:p>
          <a:p>
            <a:pPr lvl="1"/>
            <a:r>
              <a:rPr lang="en-US" altLang="zh-CN" dirty="0"/>
              <a:t>C</a:t>
            </a:r>
            <a:r>
              <a:rPr lang="zh-CN" altLang="en-US" dirty="0"/>
              <a:t>）进程打开文件表     </a:t>
            </a:r>
            <a:r>
              <a:rPr lang="en-US" altLang="zh-CN" dirty="0"/>
              <a:t>D</a:t>
            </a:r>
            <a:r>
              <a:rPr lang="zh-CN" altLang="en-US" dirty="0"/>
              <a:t>）进程代码段</a:t>
            </a:r>
            <a:endParaRPr lang="en-US" altLang="zh-CN" dirty="0"/>
          </a:p>
          <a:p>
            <a:pPr lvl="1"/>
            <a:r>
              <a:rPr lang="zh-CN" altLang="en-US" dirty="0"/>
              <a:t>答案：</a:t>
            </a:r>
            <a:r>
              <a:rPr lang="en-US" altLang="zh-CN" dirty="0"/>
              <a:t>D</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为了快速找到等待某个事件的进程，使用（    ）数据结构。</a:t>
            </a:r>
            <a:endParaRPr lang="en-US" altLang="zh-CN" dirty="0"/>
          </a:p>
          <a:p>
            <a:pPr lvl="1"/>
            <a:r>
              <a:rPr lang="en-US" altLang="zh-CN" dirty="0"/>
              <a:t>A</a:t>
            </a:r>
            <a:r>
              <a:rPr lang="zh-CN" altLang="en-US" dirty="0"/>
              <a:t>）索引表     </a:t>
            </a:r>
            <a:r>
              <a:rPr lang="en-US" altLang="zh-CN" dirty="0"/>
              <a:t>B</a:t>
            </a:r>
            <a:r>
              <a:rPr lang="zh-CN" altLang="en-US" dirty="0"/>
              <a:t>）等待队列    </a:t>
            </a:r>
            <a:r>
              <a:rPr lang="en-US" altLang="zh-CN" dirty="0"/>
              <a:t>C</a:t>
            </a:r>
            <a:r>
              <a:rPr lang="zh-CN" altLang="en-US" dirty="0"/>
              <a:t>）就绪队列     </a:t>
            </a:r>
            <a:r>
              <a:rPr lang="en-US" altLang="zh-CN" dirty="0"/>
              <a:t>D</a:t>
            </a:r>
            <a:r>
              <a:rPr lang="zh-CN" altLang="en-US" dirty="0"/>
              <a:t>）进程链接</a:t>
            </a:r>
            <a:endParaRPr lang="en-US" altLang="zh-CN" dirty="0"/>
          </a:p>
          <a:p>
            <a:pPr lvl="1"/>
            <a:r>
              <a:rPr lang="zh-CN" altLang="en-US" dirty="0"/>
              <a:t>答案：</a:t>
            </a:r>
            <a:r>
              <a:rPr lang="en-US" altLang="zh-CN" dirty="0"/>
              <a:t>B</a:t>
            </a:r>
            <a:endParaRPr lang="en-US" altLang="zh-CN" dirty="0"/>
          </a:p>
          <a:p>
            <a:r>
              <a:rPr lang="zh-CN" altLang="en-US" dirty="0"/>
              <a:t>为了适应系统进程数量变化范围广，查询效率要求高的情况，需要采用（     ）组织结构</a:t>
            </a:r>
            <a:endParaRPr lang="en-US" altLang="zh-CN" dirty="0"/>
          </a:p>
          <a:p>
            <a:pPr lvl="1"/>
            <a:r>
              <a:rPr lang="en-US" altLang="zh-CN" dirty="0"/>
              <a:t>A</a:t>
            </a:r>
            <a:r>
              <a:rPr lang="zh-CN" altLang="en-US" dirty="0"/>
              <a:t>） 数组       </a:t>
            </a:r>
            <a:r>
              <a:rPr lang="en-US" altLang="zh-CN" dirty="0"/>
              <a:t>B</a:t>
            </a:r>
            <a:r>
              <a:rPr lang="zh-CN" altLang="en-US" dirty="0"/>
              <a:t>）链表      </a:t>
            </a:r>
            <a:r>
              <a:rPr lang="en-US" altLang="zh-CN" dirty="0"/>
              <a:t>C</a:t>
            </a:r>
            <a:r>
              <a:rPr lang="zh-CN" altLang="en-US" dirty="0"/>
              <a:t>） 索引     </a:t>
            </a:r>
            <a:r>
              <a:rPr lang="en-US" altLang="zh-CN" dirty="0"/>
              <a:t>D</a:t>
            </a:r>
            <a:r>
              <a:rPr lang="zh-CN" altLang="en-US" dirty="0"/>
              <a:t>）队列</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操作系统用户态又称</a:t>
            </a:r>
            <a:r>
              <a:rPr lang="en-US" altLang="zh-CN" dirty="0"/>
              <a:t>(     ).</a:t>
            </a:r>
            <a:endParaRPr lang="en-US" altLang="zh-CN" dirty="0"/>
          </a:p>
          <a:p>
            <a:pPr lvl="1"/>
            <a:r>
              <a:rPr lang="en-US" altLang="zh-CN" dirty="0"/>
              <a:t>A</a:t>
            </a:r>
            <a:r>
              <a:rPr lang="zh-CN" altLang="en-US" dirty="0"/>
              <a:t>）管态     </a:t>
            </a:r>
            <a:r>
              <a:rPr lang="en-US" altLang="zh-CN" dirty="0"/>
              <a:t>B</a:t>
            </a:r>
            <a:r>
              <a:rPr lang="zh-CN" altLang="en-US" dirty="0"/>
              <a:t>）系统态     </a:t>
            </a:r>
            <a:r>
              <a:rPr lang="en-US" altLang="zh-CN" dirty="0"/>
              <a:t>C</a:t>
            </a:r>
            <a:r>
              <a:rPr lang="zh-CN" altLang="en-US" dirty="0"/>
              <a:t>）目态      </a:t>
            </a:r>
            <a:r>
              <a:rPr lang="en-US" altLang="zh-CN" dirty="0"/>
              <a:t>D</a:t>
            </a:r>
            <a:r>
              <a:rPr lang="zh-CN" altLang="en-US" dirty="0"/>
              <a:t>）内核态</a:t>
            </a:r>
            <a:endParaRPr lang="en-US" altLang="zh-CN" dirty="0"/>
          </a:p>
          <a:p>
            <a:pPr lvl="1"/>
            <a:r>
              <a:rPr lang="zh-CN" altLang="en-US" dirty="0"/>
              <a:t>答案：</a:t>
            </a:r>
            <a:r>
              <a:rPr lang="en-US" altLang="zh-CN" dirty="0"/>
              <a:t>C</a:t>
            </a:r>
            <a:endParaRPr lang="en-US" altLang="zh-CN" dirty="0"/>
          </a:p>
          <a:p>
            <a:r>
              <a:rPr lang="zh-CN" altLang="en-US" dirty="0"/>
              <a:t>在操作系统内核中，通常不实现以下哪项功能：</a:t>
            </a:r>
            <a:endParaRPr lang="en-US" altLang="zh-CN" dirty="0"/>
          </a:p>
          <a:p>
            <a:pPr lvl="1"/>
            <a:r>
              <a:rPr lang="en-US" altLang="zh-CN" dirty="0"/>
              <a:t>A</a:t>
            </a:r>
            <a:r>
              <a:rPr lang="zh-CN" altLang="en-US" dirty="0"/>
              <a:t>）中断处理    </a:t>
            </a:r>
            <a:r>
              <a:rPr lang="en-US" altLang="zh-CN" dirty="0"/>
              <a:t>B</a:t>
            </a:r>
            <a:r>
              <a:rPr lang="zh-CN" altLang="en-US" dirty="0"/>
              <a:t>）进程调度    </a:t>
            </a:r>
            <a:r>
              <a:rPr lang="en-US" altLang="zh-CN" dirty="0"/>
              <a:t>C</a:t>
            </a:r>
            <a:r>
              <a:rPr lang="zh-CN" altLang="en-US" dirty="0"/>
              <a:t>）时钟管理   </a:t>
            </a:r>
            <a:r>
              <a:rPr lang="en-US" altLang="zh-CN" dirty="0"/>
              <a:t>D</a:t>
            </a:r>
            <a:r>
              <a:rPr lang="zh-CN" altLang="en-US" dirty="0"/>
              <a:t>）文件服务</a:t>
            </a:r>
            <a:endParaRPr lang="en-US" altLang="zh-CN"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953903"/>
            <a:ext cx="10999176" cy="5157643"/>
          </a:xfrm>
        </p:spPr>
        <p:txBody>
          <a:bodyPr/>
          <a:lstStyle/>
          <a:p>
            <a:r>
              <a:rPr lang="zh-CN" altLang="zh-CN" dirty="0"/>
              <a:t>操作系统中有一组常称为特殊系统调用．它们不能被系统中断，在操作系统中称为</a:t>
            </a:r>
            <a:r>
              <a:rPr lang="en-US" altLang="zh-CN" dirty="0"/>
              <a:t>( )</a:t>
            </a:r>
            <a:endParaRPr lang="zh-CN" altLang="zh-CN" dirty="0"/>
          </a:p>
          <a:p>
            <a:pPr lvl="1"/>
            <a:r>
              <a:rPr lang="en-US" altLang="zh-CN" dirty="0"/>
              <a:t>A. </a:t>
            </a:r>
            <a:r>
              <a:rPr lang="zh-CN" altLang="zh-CN" dirty="0"/>
              <a:t>初始化程序</a:t>
            </a:r>
            <a:r>
              <a:rPr lang="en-US" altLang="zh-CN" dirty="0"/>
              <a:t> B</a:t>
            </a:r>
            <a:r>
              <a:rPr lang="zh-CN" altLang="zh-CN" dirty="0"/>
              <a:t>．原语</a:t>
            </a:r>
            <a:r>
              <a:rPr lang="en-US" altLang="zh-CN" dirty="0"/>
              <a:t> C</a:t>
            </a:r>
            <a:r>
              <a:rPr lang="zh-CN" altLang="zh-CN" dirty="0"/>
              <a:t>．子程序</a:t>
            </a:r>
            <a:r>
              <a:rPr lang="en-US" altLang="zh-CN" dirty="0"/>
              <a:t> D. </a:t>
            </a:r>
            <a:r>
              <a:rPr lang="zh-CN" altLang="zh-CN" dirty="0"/>
              <a:t>控制模块</a:t>
            </a:r>
            <a:endParaRPr lang="zh-CN" altLang="zh-CN" dirty="0"/>
          </a:p>
          <a:p>
            <a:pPr lvl="1"/>
            <a:r>
              <a:rPr lang="zh-CN" altLang="zh-CN" dirty="0"/>
              <a:t>答案：</a:t>
            </a:r>
            <a:r>
              <a:rPr lang="en-US" altLang="zh-CN" dirty="0"/>
              <a:t>B</a:t>
            </a:r>
            <a:endParaRPr lang="en-US" altLang="zh-CN" dirty="0"/>
          </a:p>
          <a:p>
            <a:r>
              <a:rPr lang="zh-CN" altLang="en-US" dirty="0"/>
              <a:t>下面关于原语的论述不正确的是：</a:t>
            </a:r>
            <a:endParaRPr lang="en-US" altLang="zh-CN" dirty="0"/>
          </a:p>
          <a:p>
            <a:pPr lvl="1"/>
            <a:r>
              <a:rPr lang="en-US" altLang="zh-CN" dirty="0"/>
              <a:t>A</a:t>
            </a:r>
            <a:r>
              <a:rPr lang="zh-CN" altLang="en-US" dirty="0"/>
              <a:t>）原语执行具有不可分性   </a:t>
            </a:r>
            <a:endParaRPr lang="en-US" altLang="zh-CN" dirty="0"/>
          </a:p>
          <a:p>
            <a:pPr lvl="1"/>
            <a:r>
              <a:rPr lang="en-US" altLang="zh-CN" dirty="0"/>
              <a:t>B</a:t>
            </a:r>
            <a:r>
              <a:rPr lang="zh-CN" altLang="en-US" dirty="0"/>
              <a:t>）多</a:t>
            </a:r>
            <a:r>
              <a:rPr lang="en-US" altLang="zh-CN" dirty="0"/>
              <a:t>CPU</a:t>
            </a:r>
            <a:r>
              <a:rPr lang="zh-CN" altLang="en-US" dirty="0"/>
              <a:t>下可以通过关中断来实现</a:t>
            </a:r>
            <a:endParaRPr lang="en-US" altLang="zh-CN" dirty="0"/>
          </a:p>
          <a:p>
            <a:pPr lvl="1"/>
            <a:r>
              <a:rPr lang="en-US" altLang="zh-CN" dirty="0"/>
              <a:t>C</a:t>
            </a:r>
            <a:r>
              <a:rPr lang="zh-CN" altLang="en-US" dirty="0"/>
              <a:t>）由若干条指令构成                </a:t>
            </a:r>
            <a:r>
              <a:rPr lang="en-US" altLang="zh-CN" dirty="0"/>
              <a:t>D</a:t>
            </a:r>
            <a:r>
              <a:rPr lang="zh-CN" altLang="en-US" dirty="0"/>
              <a:t>）实现一定的功能的过程</a:t>
            </a:r>
            <a:endParaRPr lang="en-US" altLang="zh-CN" dirty="0"/>
          </a:p>
          <a:p>
            <a:pPr lvl="1"/>
            <a:r>
              <a:rPr lang="zh-CN" altLang="en-US" dirty="0"/>
              <a:t>答案：</a:t>
            </a:r>
            <a:r>
              <a:rPr lang="en-US" altLang="zh-CN" dirty="0"/>
              <a:t>B</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下面那个论述是错误的（  ）</a:t>
            </a:r>
            <a:endParaRPr lang="en-US" altLang="zh-CN" dirty="0"/>
          </a:p>
          <a:p>
            <a:pPr lvl="1"/>
            <a:r>
              <a:rPr lang="en-US" altLang="zh-CN" dirty="0"/>
              <a:t>A</a:t>
            </a:r>
            <a:r>
              <a:rPr lang="zh-CN" altLang="en-US" dirty="0"/>
              <a:t>）子进程继承父进程的资源，如打开文件</a:t>
            </a:r>
            <a:endParaRPr lang="en-US" altLang="zh-CN" dirty="0"/>
          </a:p>
          <a:p>
            <a:pPr lvl="1"/>
            <a:r>
              <a:rPr lang="en-US" altLang="zh-CN" dirty="0"/>
              <a:t>B</a:t>
            </a:r>
            <a:r>
              <a:rPr lang="zh-CN" altLang="en-US" dirty="0"/>
              <a:t>）父进程结束会导致子进程结束</a:t>
            </a:r>
            <a:endParaRPr lang="en-US" altLang="zh-CN" dirty="0"/>
          </a:p>
          <a:p>
            <a:pPr lvl="1"/>
            <a:r>
              <a:rPr lang="en-US" altLang="zh-CN" dirty="0"/>
              <a:t>C</a:t>
            </a:r>
            <a:r>
              <a:rPr lang="zh-CN" altLang="en-US" dirty="0"/>
              <a:t>）</a:t>
            </a:r>
            <a:r>
              <a:rPr lang="en-US" altLang="zh-CN" dirty="0"/>
              <a:t>Linux</a:t>
            </a:r>
            <a:r>
              <a:rPr lang="zh-CN" altLang="en-US" dirty="0"/>
              <a:t>系统的进程树只有一个根节点</a:t>
            </a:r>
            <a:endParaRPr lang="en-US" altLang="zh-CN" dirty="0"/>
          </a:p>
          <a:p>
            <a:pPr lvl="1"/>
            <a:r>
              <a:rPr lang="en-US" altLang="zh-CN" dirty="0"/>
              <a:t>D</a:t>
            </a:r>
            <a:r>
              <a:rPr lang="zh-CN" altLang="en-US" dirty="0"/>
              <a:t>）</a:t>
            </a:r>
            <a:r>
              <a:rPr lang="en-US" altLang="zh-CN" dirty="0"/>
              <a:t>Windows</a:t>
            </a:r>
            <a:r>
              <a:rPr lang="zh-CN" altLang="en-US" dirty="0"/>
              <a:t>可以有多课进程树</a:t>
            </a:r>
            <a:endParaRPr lang="en-US" altLang="zh-CN"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进程创建不会做以下哪项操作：</a:t>
            </a:r>
            <a:endParaRPr lang="en-US" altLang="zh-CN" dirty="0"/>
          </a:p>
          <a:p>
            <a:pPr lvl="1"/>
            <a:r>
              <a:rPr lang="en-US" altLang="zh-CN" dirty="0"/>
              <a:t>A</a:t>
            </a:r>
            <a:r>
              <a:rPr lang="zh-CN" altLang="en-US" dirty="0"/>
              <a:t>）创建进程</a:t>
            </a:r>
            <a:r>
              <a:rPr lang="en-US" altLang="zh-CN" dirty="0"/>
              <a:t>PCB          B</a:t>
            </a:r>
            <a:r>
              <a:rPr lang="zh-CN" altLang="en-US" dirty="0"/>
              <a:t>）装入进程所有代码    </a:t>
            </a:r>
            <a:endParaRPr lang="en-US" altLang="zh-CN" dirty="0"/>
          </a:p>
          <a:p>
            <a:pPr lvl="1"/>
            <a:r>
              <a:rPr lang="en-US" altLang="zh-CN" dirty="0"/>
              <a:t>C</a:t>
            </a:r>
            <a:r>
              <a:rPr lang="zh-CN" altLang="en-US" dirty="0"/>
              <a:t>）分配必要的资源     </a:t>
            </a:r>
            <a:r>
              <a:rPr lang="en-US" altLang="zh-CN" dirty="0"/>
              <a:t>D</a:t>
            </a:r>
            <a:r>
              <a:rPr lang="zh-CN" altLang="en-US" dirty="0"/>
              <a:t>）新进程加入就绪队列</a:t>
            </a:r>
            <a:endParaRPr lang="en-US" altLang="zh-CN" dirty="0"/>
          </a:p>
          <a:p>
            <a:pPr lvl="1"/>
            <a:r>
              <a:rPr lang="zh-CN" altLang="en-US" dirty="0"/>
              <a:t>答案 </a:t>
            </a:r>
            <a:r>
              <a:rPr lang="en-US" altLang="zh-CN" dirty="0"/>
              <a:t>B</a:t>
            </a:r>
            <a:endParaRPr lang="en-US" altLang="zh-CN" dirty="0"/>
          </a:p>
          <a:p>
            <a:r>
              <a:rPr lang="en-US" altLang="zh-CN" dirty="0"/>
              <a:t>Linux</a:t>
            </a:r>
            <a:r>
              <a:rPr lang="zh-CN" altLang="en-US" dirty="0"/>
              <a:t>的两个系统调用</a:t>
            </a:r>
            <a:r>
              <a:rPr lang="en-US" altLang="zh-CN" dirty="0"/>
              <a:t>fork</a:t>
            </a:r>
            <a:r>
              <a:rPr lang="zh-CN" altLang="en-US" dirty="0"/>
              <a:t>和</a:t>
            </a:r>
            <a:r>
              <a:rPr lang="en-US" altLang="zh-CN" dirty="0"/>
              <a:t>clone</a:t>
            </a:r>
            <a:r>
              <a:rPr lang="zh-CN" altLang="en-US" dirty="0"/>
              <a:t>的差别是：</a:t>
            </a:r>
            <a:endParaRPr lang="en-US" altLang="zh-CN" dirty="0"/>
          </a:p>
          <a:p>
            <a:pPr lvl="1"/>
            <a:r>
              <a:rPr lang="en-US" altLang="zh-CN" dirty="0"/>
              <a:t>A</a:t>
            </a:r>
            <a:r>
              <a:rPr lang="zh-CN" altLang="en-US" dirty="0"/>
              <a:t>）</a:t>
            </a:r>
            <a:r>
              <a:rPr lang="en-US" altLang="zh-CN" dirty="0"/>
              <a:t>fork</a:t>
            </a:r>
            <a:r>
              <a:rPr lang="zh-CN" altLang="en-US" dirty="0"/>
              <a:t>创建进程，</a:t>
            </a:r>
            <a:r>
              <a:rPr lang="en-US" altLang="zh-CN" dirty="0"/>
              <a:t>clone</a:t>
            </a:r>
            <a:r>
              <a:rPr lang="zh-CN" altLang="en-US" dirty="0"/>
              <a:t>创建线程   </a:t>
            </a:r>
            <a:r>
              <a:rPr lang="en-US" altLang="zh-CN" dirty="0"/>
              <a:t>B</a:t>
            </a:r>
            <a:r>
              <a:rPr lang="zh-CN" altLang="en-US" dirty="0"/>
              <a:t>）</a:t>
            </a:r>
            <a:r>
              <a:rPr lang="en-US" altLang="zh-CN" dirty="0"/>
              <a:t>fork</a:t>
            </a:r>
            <a:r>
              <a:rPr lang="zh-CN" altLang="en-US" dirty="0"/>
              <a:t>可控制复制内容</a:t>
            </a:r>
            <a:endParaRPr lang="en-US" altLang="zh-CN" dirty="0"/>
          </a:p>
          <a:p>
            <a:pPr lvl="1"/>
            <a:r>
              <a:rPr lang="en-US" altLang="zh-CN" dirty="0"/>
              <a:t>C</a:t>
            </a:r>
            <a:r>
              <a:rPr lang="zh-CN" altLang="en-US" dirty="0"/>
              <a:t>）</a:t>
            </a:r>
            <a:r>
              <a:rPr lang="en-US" altLang="zh-CN" dirty="0"/>
              <a:t>clone</a:t>
            </a:r>
            <a:r>
              <a:rPr lang="zh-CN" altLang="en-US" dirty="0"/>
              <a:t>可以控制复制的父进程内容   </a:t>
            </a:r>
            <a:r>
              <a:rPr lang="en-US" altLang="zh-CN" dirty="0"/>
              <a:t>D</a:t>
            </a:r>
            <a:r>
              <a:rPr lang="zh-CN" altLang="en-US" dirty="0"/>
              <a:t>）</a:t>
            </a:r>
            <a:r>
              <a:rPr lang="en-US" altLang="zh-CN" dirty="0"/>
              <a:t>Clone</a:t>
            </a:r>
            <a:r>
              <a:rPr lang="zh-CN" altLang="en-US" dirty="0"/>
              <a:t>不分配</a:t>
            </a:r>
            <a:r>
              <a:rPr lang="en-US" altLang="zh-CN" dirty="0"/>
              <a:t>PCB</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936979"/>
            <a:ext cx="10999176" cy="5400346"/>
          </a:xfrm>
        </p:spPr>
        <p:txBody>
          <a:bodyPr/>
          <a:lstStyle/>
          <a:p>
            <a:r>
              <a:rPr lang="zh-CN" altLang="en-US" dirty="0"/>
              <a:t>（     ）不会造成进程退出</a:t>
            </a:r>
            <a:endParaRPr lang="en-US" altLang="zh-CN" dirty="0"/>
          </a:p>
          <a:p>
            <a:pPr lvl="1"/>
            <a:r>
              <a:rPr lang="en-US" altLang="zh-CN" dirty="0"/>
              <a:t>A</a:t>
            </a:r>
            <a:r>
              <a:rPr lang="zh-CN" altLang="en-US" dirty="0"/>
              <a:t>）特权指令错      </a:t>
            </a:r>
            <a:r>
              <a:rPr lang="en-US" altLang="zh-CN" dirty="0"/>
              <a:t>B</a:t>
            </a:r>
            <a:r>
              <a:rPr lang="zh-CN" altLang="en-US" dirty="0"/>
              <a:t>）程序到了结束点</a:t>
            </a:r>
            <a:endParaRPr lang="en-US" altLang="zh-CN" dirty="0"/>
          </a:p>
          <a:p>
            <a:pPr lvl="1"/>
            <a:r>
              <a:rPr lang="en-US" altLang="zh-CN" dirty="0"/>
              <a:t>C</a:t>
            </a:r>
            <a:r>
              <a:rPr lang="zh-CN" altLang="en-US" dirty="0"/>
              <a:t>）父进程请求终止子进程     </a:t>
            </a:r>
            <a:r>
              <a:rPr lang="en-US" altLang="zh-CN" dirty="0"/>
              <a:t>D</a:t>
            </a:r>
            <a:r>
              <a:rPr lang="zh-CN" altLang="en-US" dirty="0"/>
              <a:t>）子进程结束</a:t>
            </a:r>
            <a:endParaRPr lang="en-US" altLang="zh-CN" dirty="0"/>
          </a:p>
          <a:p>
            <a:pPr lvl="1"/>
            <a:r>
              <a:rPr lang="zh-CN" altLang="en-US" dirty="0"/>
              <a:t>答案：</a:t>
            </a:r>
            <a:r>
              <a:rPr lang="en-US" altLang="zh-CN" dirty="0"/>
              <a:t>D</a:t>
            </a:r>
            <a:endParaRPr lang="en-US" altLang="zh-CN" dirty="0"/>
          </a:p>
          <a:p>
            <a:r>
              <a:rPr lang="zh-CN" altLang="en-US" dirty="0"/>
              <a:t>（    ）不是</a:t>
            </a:r>
            <a:r>
              <a:rPr lang="en-US" altLang="zh-CN" dirty="0"/>
              <a:t>Linux</a:t>
            </a:r>
            <a:r>
              <a:rPr lang="zh-CN" altLang="en-US" dirty="0"/>
              <a:t>进程正常结束。</a:t>
            </a:r>
            <a:endParaRPr lang="en-US" altLang="zh-CN" dirty="0"/>
          </a:p>
          <a:p>
            <a:pPr lvl="1">
              <a:lnSpc>
                <a:spcPct val="90000"/>
              </a:lnSpc>
            </a:pPr>
            <a:r>
              <a:rPr lang="en-US" altLang="zh-CN" dirty="0"/>
              <a:t>A</a:t>
            </a:r>
            <a:r>
              <a:rPr lang="zh-CN" altLang="en-US" dirty="0"/>
              <a:t>）在</a:t>
            </a:r>
            <a:r>
              <a:rPr lang="en-US" altLang="zh-CN" dirty="0"/>
              <a:t>main()</a:t>
            </a:r>
            <a:r>
              <a:rPr lang="zh-CN" altLang="en-US" dirty="0"/>
              <a:t>函数中执行</a:t>
            </a:r>
            <a:r>
              <a:rPr lang="en-US" altLang="zh-CN" dirty="0"/>
              <a:t>return    B</a:t>
            </a:r>
            <a:r>
              <a:rPr lang="zh-CN" altLang="en-US" dirty="0"/>
              <a:t>）调用</a:t>
            </a:r>
            <a:r>
              <a:rPr lang="en-US" altLang="zh-CN" dirty="0"/>
              <a:t>exit()</a:t>
            </a:r>
            <a:r>
              <a:rPr lang="zh-CN" altLang="en-US" dirty="0"/>
              <a:t>函数</a:t>
            </a:r>
            <a:endParaRPr lang="zh-CN" altLang="en-US" dirty="0"/>
          </a:p>
          <a:p>
            <a:pPr lvl="1">
              <a:lnSpc>
                <a:spcPct val="90000"/>
              </a:lnSpc>
            </a:pPr>
            <a:r>
              <a:rPr lang="en-US" altLang="zh-CN" dirty="0"/>
              <a:t>C</a:t>
            </a:r>
            <a:r>
              <a:rPr lang="zh-CN" altLang="en-US" dirty="0"/>
              <a:t>）调用</a:t>
            </a:r>
            <a:r>
              <a:rPr lang="en-US" altLang="zh-CN" dirty="0"/>
              <a:t>_exit()</a:t>
            </a:r>
            <a:r>
              <a:rPr lang="zh-CN" altLang="en-US" dirty="0"/>
              <a:t>函数                      </a:t>
            </a:r>
            <a:r>
              <a:rPr lang="en-US" altLang="zh-CN" dirty="0"/>
              <a:t>D</a:t>
            </a:r>
            <a:r>
              <a:rPr lang="zh-CN" altLang="en-US" dirty="0"/>
              <a:t>）调用</a:t>
            </a:r>
            <a:r>
              <a:rPr lang="en-US" altLang="zh-CN" dirty="0"/>
              <a:t>abort</a:t>
            </a:r>
            <a:r>
              <a:rPr lang="zh-CN" altLang="en-US" dirty="0"/>
              <a:t>函数</a:t>
            </a:r>
            <a:endParaRPr lang="zh-CN" altLang="en-US"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下面哪项不会引起内核进行进程调度？</a:t>
            </a:r>
            <a:endParaRPr lang="en-US" altLang="zh-CN" dirty="0"/>
          </a:p>
          <a:p>
            <a:pPr lvl="1"/>
            <a:r>
              <a:rPr lang="en-US" altLang="zh-CN" dirty="0"/>
              <a:t>A</a:t>
            </a:r>
            <a:r>
              <a:rPr lang="zh-CN" altLang="en-US" dirty="0"/>
              <a:t>）创建新进程   </a:t>
            </a:r>
            <a:r>
              <a:rPr lang="en-US" altLang="zh-CN" dirty="0"/>
              <a:t>B</a:t>
            </a:r>
            <a:r>
              <a:rPr lang="zh-CN" altLang="en-US" dirty="0"/>
              <a:t>）进程终止    </a:t>
            </a:r>
            <a:r>
              <a:rPr lang="en-US" altLang="zh-CN" dirty="0"/>
              <a:t>C</a:t>
            </a:r>
            <a:r>
              <a:rPr lang="zh-CN" altLang="en-US" dirty="0"/>
              <a:t>）挂起进程   </a:t>
            </a:r>
            <a:r>
              <a:rPr lang="en-US" altLang="zh-CN" dirty="0"/>
              <a:t>D</a:t>
            </a:r>
            <a:r>
              <a:rPr lang="zh-CN" altLang="en-US" dirty="0"/>
              <a:t>）进入系统调用进入</a:t>
            </a:r>
            <a:endParaRPr lang="en-US" altLang="zh-CN" dirty="0"/>
          </a:p>
          <a:p>
            <a:pPr lvl="1"/>
            <a:r>
              <a:rPr lang="zh-CN" altLang="en-US" dirty="0"/>
              <a:t>答案：</a:t>
            </a:r>
            <a:r>
              <a:rPr lang="en-US" altLang="zh-CN" dirty="0"/>
              <a:t>D</a:t>
            </a:r>
            <a:endParaRPr lang="en-US" altLang="zh-CN" dirty="0"/>
          </a:p>
          <a:p>
            <a:r>
              <a:rPr lang="zh-CN" altLang="en-US" dirty="0"/>
              <a:t>（    ）原语由进程自身发起。</a:t>
            </a:r>
            <a:endParaRPr lang="en-US" altLang="zh-CN" dirty="0"/>
          </a:p>
          <a:p>
            <a:pPr lvl="1"/>
            <a:r>
              <a:rPr lang="en-US" altLang="zh-CN" dirty="0"/>
              <a:t>A</a:t>
            </a:r>
            <a:r>
              <a:rPr lang="zh-CN" altLang="en-US" dirty="0"/>
              <a:t>）阻塞    </a:t>
            </a:r>
            <a:r>
              <a:rPr lang="en-US" altLang="zh-CN" dirty="0"/>
              <a:t>B</a:t>
            </a:r>
            <a:r>
              <a:rPr lang="zh-CN" altLang="en-US" dirty="0"/>
              <a:t>）挂起    </a:t>
            </a:r>
            <a:r>
              <a:rPr lang="en-US" altLang="zh-CN" dirty="0"/>
              <a:t>C</a:t>
            </a:r>
            <a:r>
              <a:rPr lang="zh-CN" altLang="en-US" dirty="0"/>
              <a:t>）唤醒      </a:t>
            </a:r>
            <a:r>
              <a:rPr lang="en-US" altLang="zh-CN" dirty="0"/>
              <a:t>D</a:t>
            </a:r>
            <a:r>
              <a:rPr lang="zh-CN" altLang="en-US" dirty="0"/>
              <a:t>）激活</a:t>
            </a:r>
            <a:endParaRPr lang="en-US" altLang="zh-CN" dirty="0"/>
          </a:p>
          <a:p>
            <a:pPr lvl="1"/>
            <a:r>
              <a:rPr lang="zh-CN" altLang="en-US" dirty="0"/>
              <a:t>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948267"/>
            <a:ext cx="10999176" cy="5389057"/>
          </a:xfrm>
        </p:spPr>
        <p:txBody>
          <a:bodyPr/>
          <a:lstStyle/>
          <a:p>
            <a:r>
              <a:rPr lang="zh-CN" altLang="zh-CN" dirty="0"/>
              <a:t>在一段时间内只允许一个进程访问的资源，称为</a:t>
            </a:r>
            <a:r>
              <a:rPr lang="en-US" altLang="zh-CN" dirty="0"/>
              <a:t>(     )</a:t>
            </a:r>
            <a:endParaRPr lang="zh-CN" altLang="zh-CN" dirty="0"/>
          </a:p>
          <a:p>
            <a:pPr lvl="1"/>
            <a:r>
              <a:rPr lang="en-US" altLang="zh-CN" dirty="0"/>
              <a:t>A.</a:t>
            </a:r>
            <a:r>
              <a:rPr lang="zh-CN" altLang="zh-CN" dirty="0"/>
              <a:t>共享资源</a:t>
            </a:r>
            <a:r>
              <a:rPr lang="en-US" altLang="zh-CN" dirty="0"/>
              <a:t> B</a:t>
            </a:r>
            <a:r>
              <a:rPr lang="zh-CN" altLang="zh-CN" dirty="0"/>
              <a:t>．临界区</a:t>
            </a:r>
            <a:r>
              <a:rPr lang="en-US" altLang="zh-CN" dirty="0"/>
              <a:t> C</a:t>
            </a:r>
            <a:r>
              <a:rPr lang="zh-CN" altLang="zh-CN" dirty="0"/>
              <a:t>．临界资源</a:t>
            </a:r>
            <a:r>
              <a:rPr lang="en-US" altLang="zh-CN" dirty="0"/>
              <a:t> D</a:t>
            </a:r>
            <a:r>
              <a:rPr lang="zh-CN" altLang="zh-CN" dirty="0"/>
              <a:t>．共享区</a:t>
            </a:r>
            <a:endParaRPr lang="zh-CN" altLang="zh-CN" dirty="0"/>
          </a:p>
          <a:p>
            <a:pPr lvl="1"/>
            <a:r>
              <a:rPr lang="zh-CN" altLang="zh-CN" dirty="0"/>
              <a:t>答案：</a:t>
            </a:r>
            <a:r>
              <a:rPr lang="en-US" altLang="zh-CN" dirty="0"/>
              <a:t>C</a:t>
            </a:r>
            <a:endParaRPr lang="en-US" altLang="zh-CN" dirty="0"/>
          </a:p>
          <a:p>
            <a:r>
              <a:rPr lang="zh-CN" altLang="zh-CN" dirty="0"/>
              <a:t>操作系统对临界区调用的原则之一是</a:t>
            </a:r>
            <a:r>
              <a:rPr lang="en-US" altLang="zh-CN" dirty="0"/>
              <a:t>( )</a:t>
            </a:r>
            <a:endParaRPr lang="zh-CN" altLang="zh-CN" dirty="0"/>
          </a:p>
          <a:p>
            <a:pPr lvl="1"/>
            <a:r>
              <a:rPr lang="en-US" altLang="zh-CN" dirty="0"/>
              <a:t>A. </a:t>
            </a:r>
            <a:r>
              <a:rPr lang="zh-CN" altLang="zh-CN" dirty="0"/>
              <a:t>当无进程处于临界区时</a:t>
            </a:r>
            <a:r>
              <a:rPr lang="en-US" altLang="zh-CN" dirty="0"/>
              <a:t>        B</a:t>
            </a:r>
            <a:r>
              <a:rPr lang="zh-CN" altLang="zh-CN" dirty="0"/>
              <a:t>．当有进程处于临界区时</a:t>
            </a:r>
            <a:endParaRPr lang="zh-CN" altLang="zh-CN" dirty="0"/>
          </a:p>
          <a:p>
            <a:pPr lvl="1"/>
            <a:r>
              <a:rPr lang="en-US" altLang="zh-CN" dirty="0"/>
              <a:t>C</a:t>
            </a:r>
            <a:r>
              <a:rPr lang="zh-CN" altLang="zh-CN" dirty="0"/>
              <a:t>．当进程处于就绪状态时</a:t>
            </a:r>
            <a:r>
              <a:rPr lang="en-US" altLang="zh-CN" dirty="0"/>
              <a:t>       D</a:t>
            </a:r>
            <a:r>
              <a:rPr lang="zh-CN" altLang="zh-CN" dirty="0"/>
              <a:t>．当进程开始创建时</a:t>
            </a:r>
            <a:endParaRPr lang="zh-CN" altLang="zh-CN" dirty="0"/>
          </a:p>
          <a:p>
            <a:pPr lvl="1"/>
            <a:r>
              <a:rPr lang="zh-CN" altLang="zh-CN" dirty="0"/>
              <a:t>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a:xfrm>
            <a:off x="596265" y="850265"/>
            <a:ext cx="10276205" cy="5471795"/>
          </a:xfrm>
        </p:spPr>
        <p:txBody>
          <a:bodyPr/>
          <a:lstStyle/>
          <a:p>
            <a:r>
              <a:rPr lang="zh-CN" altLang="en-US" dirty="0"/>
              <a:t>下面对单纯使用硬件实现互斥的说法不正确的是：</a:t>
            </a:r>
            <a:endParaRPr lang="en-US" altLang="zh-CN" dirty="0"/>
          </a:p>
          <a:p>
            <a:pPr lvl="1"/>
            <a:r>
              <a:rPr lang="en-US" altLang="zh-CN" dirty="0"/>
              <a:t>A</a:t>
            </a:r>
            <a:r>
              <a:rPr lang="zh-CN" altLang="en-US" dirty="0"/>
              <a:t>）存在忙等问题               </a:t>
            </a:r>
            <a:r>
              <a:rPr lang="en-US" altLang="zh-CN" dirty="0"/>
              <a:t>B</a:t>
            </a:r>
            <a:r>
              <a:rPr lang="zh-CN" altLang="en-US" dirty="0"/>
              <a:t>）存在饥饿现象</a:t>
            </a:r>
            <a:endParaRPr lang="en-US" altLang="zh-CN" dirty="0"/>
          </a:p>
          <a:p>
            <a:pPr lvl="1"/>
            <a:r>
              <a:rPr lang="en-US" altLang="zh-CN" dirty="0"/>
              <a:t>C</a:t>
            </a:r>
            <a:r>
              <a:rPr lang="zh-CN" altLang="en-US" dirty="0"/>
              <a:t>）软件方式能完全代替硬件      </a:t>
            </a:r>
            <a:r>
              <a:rPr lang="en-US" altLang="zh-CN" dirty="0"/>
              <a:t>D</a:t>
            </a:r>
            <a:r>
              <a:rPr lang="zh-CN" altLang="en-US" dirty="0"/>
              <a:t>）存在死锁可能</a:t>
            </a:r>
            <a:endParaRPr lang="en-US" altLang="zh-CN" dirty="0"/>
          </a:p>
          <a:p>
            <a:pPr lvl="1"/>
            <a:r>
              <a:rPr lang="zh-CN" altLang="en-US" dirty="0"/>
              <a:t>答案： </a:t>
            </a:r>
            <a:r>
              <a:rPr lang="en-US" altLang="zh-CN" dirty="0"/>
              <a:t>C  </a:t>
            </a:r>
            <a:r>
              <a:rPr lang="zh-CN" altLang="en-US" dirty="0"/>
              <a:t>软件不能保证互斥</a:t>
            </a:r>
            <a:endParaRPr lang="en-US" altLang="zh-CN" dirty="0"/>
          </a:p>
          <a:p>
            <a:r>
              <a:rPr lang="zh-CN" altLang="en-US" dirty="0"/>
              <a:t>下面论述不正确的一项是</a:t>
            </a:r>
            <a:r>
              <a:rPr lang="zh-CN" altLang="en-US" dirty="0">
                <a:sym typeface="Wingdings" panose="05000000000000000000" pitchFamily="2" charset="2"/>
              </a:rPr>
              <a:t>（     ） </a:t>
            </a:r>
            <a:endParaRPr lang="en-US" altLang="zh-CN" dirty="0">
              <a:sym typeface="Wingdings" panose="05000000000000000000" pitchFamily="2" charset="2"/>
            </a:endParaRPr>
          </a:p>
          <a:p>
            <a:pPr lvl="1"/>
            <a:r>
              <a:rPr lang="en-US" altLang="zh-CN" dirty="0">
                <a:sym typeface="Wingdings" panose="05000000000000000000" pitchFamily="2" charset="2"/>
              </a:rPr>
              <a:t>A</a:t>
            </a:r>
            <a:r>
              <a:rPr lang="zh-CN" altLang="en-US" dirty="0">
                <a:sym typeface="Wingdings" panose="05000000000000000000" pitchFamily="2" charset="2"/>
              </a:rPr>
              <a:t>）</a:t>
            </a:r>
            <a:r>
              <a:rPr lang="en-US" altLang="zh-CN" dirty="0">
                <a:sym typeface="Wingdings" panose="05000000000000000000" pitchFamily="2" charset="2"/>
              </a:rPr>
              <a:t>TS</a:t>
            </a:r>
            <a:r>
              <a:rPr lang="zh-CN" altLang="en-US" dirty="0">
                <a:sym typeface="Wingdings" panose="05000000000000000000" pitchFamily="2" charset="2"/>
              </a:rPr>
              <a:t>指令和</a:t>
            </a:r>
            <a:r>
              <a:rPr lang="en-US" altLang="zh-CN" dirty="0">
                <a:sym typeface="Wingdings" panose="05000000000000000000" pitchFamily="2" charset="2"/>
              </a:rPr>
              <a:t>Swap</a:t>
            </a:r>
            <a:r>
              <a:rPr lang="zh-CN" altLang="en-US" dirty="0">
                <a:sym typeface="Wingdings" panose="05000000000000000000" pitchFamily="2" charset="2"/>
              </a:rPr>
              <a:t>指令都利用一个全局标志来表示锁状态</a:t>
            </a:r>
            <a:endParaRPr lang="en-US" altLang="zh-CN" dirty="0">
              <a:sym typeface="Wingdings" panose="05000000000000000000" pitchFamily="2" charset="2"/>
            </a:endParaRPr>
          </a:p>
          <a:p>
            <a:pPr lvl="1"/>
            <a:r>
              <a:rPr lang="en-US" altLang="zh-CN" dirty="0">
                <a:sym typeface="Wingdings" panose="05000000000000000000" pitchFamily="2" charset="2"/>
              </a:rPr>
              <a:t>B</a:t>
            </a:r>
            <a:r>
              <a:rPr lang="zh-CN" altLang="en-US" dirty="0">
                <a:sym typeface="Wingdings" panose="05000000000000000000" pitchFamily="2" charset="2"/>
              </a:rPr>
              <a:t>）关中断可以用于多</a:t>
            </a:r>
            <a:r>
              <a:rPr lang="en-US" altLang="zh-CN" dirty="0">
                <a:sym typeface="Wingdings" panose="05000000000000000000" pitchFamily="2" charset="2"/>
              </a:rPr>
              <a:t>CPU</a:t>
            </a:r>
            <a:r>
              <a:rPr lang="zh-CN" altLang="en-US" dirty="0">
                <a:sym typeface="Wingdings" panose="05000000000000000000" pitchFamily="2" charset="2"/>
              </a:rPr>
              <a:t>系统     </a:t>
            </a:r>
            <a:endParaRPr lang="zh-CN" altLang="en-US" dirty="0">
              <a:sym typeface="Wingdings" panose="05000000000000000000" pitchFamily="2" charset="2"/>
            </a:endParaRPr>
          </a:p>
          <a:p>
            <a:pPr lvl="1"/>
            <a:r>
              <a:rPr lang="en-US" altLang="zh-CN" dirty="0">
                <a:sym typeface="Wingdings" panose="05000000000000000000" pitchFamily="2" charset="2"/>
              </a:rPr>
              <a:t>C</a:t>
            </a:r>
            <a:r>
              <a:rPr lang="zh-CN" altLang="en-US" dirty="0">
                <a:sym typeface="Wingdings" panose="05000000000000000000" pitchFamily="2" charset="2"/>
              </a:rPr>
              <a:t>）软件、硬件都可实现多个进程的互斥</a:t>
            </a:r>
            <a:endParaRPr lang="en-US" altLang="zh-CN" dirty="0">
              <a:sym typeface="Wingdings" panose="05000000000000000000" pitchFamily="2" charset="2"/>
            </a:endParaRPr>
          </a:p>
          <a:p>
            <a:pPr lvl="1"/>
            <a:r>
              <a:rPr lang="en-US" altLang="zh-CN" dirty="0">
                <a:sym typeface="Wingdings" panose="05000000000000000000" pitchFamily="2" charset="2"/>
              </a:rPr>
              <a:t>D</a:t>
            </a:r>
            <a:r>
              <a:rPr lang="zh-CN" altLang="en-US" dirty="0">
                <a:sym typeface="Wingdings" panose="05000000000000000000" pitchFamily="2" charset="2"/>
              </a:rPr>
              <a:t>）关中断可能导致漏处理中断或者延迟处理中断</a:t>
            </a:r>
            <a:endParaRPr lang="en-US" altLang="zh-CN" dirty="0">
              <a:sym typeface="Wingdings" panose="05000000000000000000" pitchFamily="2" charset="2"/>
            </a:endParaRPr>
          </a:p>
          <a:p>
            <a:pPr lvl="1"/>
            <a:r>
              <a:rPr lang="zh-CN" altLang="en-US" dirty="0">
                <a:sym typeface="Wingdings" panose="05000000000000000000" pitchFamily="2" charset="2"/>
              </a:rPr>
              <a:t>答案：</a:t>
            </a:r>
            <a:r>
              <a:rPr lang="en-US" altLang="zh-CN" dirty="0">
                <a:sym typeface="Wingdings" panose="05000000000000000000" pitchFamily="2" charset="2"/>
              </a:rPr>
              <a:t>C   </a:t>
            </a:r>
            <a:r>
              <a:rPr lang="zh-CN" altLang="en-US" dirty="0">
                <a:sym typeface="Wingdings" panose="05000000000000000000" pitchFamily="2" charset="2"/>
              </a:rPr>
              <a:t>（</a:t>
            </a:r>
            <a:r>
              <a:rPr lang="en-US" altLang="zh-CN" dirty="0">
                <a:sym typeface="Wingdings" panose="05000000000000000000" pitchFamily="2" charset="2"/>
              </a:rPr>
              <a:t>B</a:t>
            </a:r>
            <a:r>
              <a:rPr lang="zh-CN" altLang="en-US" dirty="0">
                <a:sym typeface="Wingdings" panose="05000000000000000000" pitchFamily="2" charset="2"/>
              </a:rPr>
              <a:t>也是错的吧？？？？？）</a:t>
            </a:r>
            <a:endParaRPr lang="zh-CN" altLang="en-US" dirty="0">
              <a:sym typeface="Wingdings" panose="05000000000000000000" pitchFamily="2" charset="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a:xfrm>
            <a:off x="571501" y="801511"/>
            <a:ext cx="10999176" cy="5535813"/>
          </a:xfrm>
        </p:spPr>
        <p:txBody>
          <a:bodyPr/>
          <a:lstStyle/>
          <a:p>
            <a:r>
              <a:rPr lang="zh-CN" altLang="en-US" dirty="0"/>
              <a:t>下面论述正确的是？</a:t>
            </a:r>
            <a:endParaRPr lang="en-US" altLang="zh-CN" dirty="0"/>
          </a:p>
          <a:p>
            <a:pPr lvl="1"/>
            <a:r>
              <a:rPr lang="en-US" altLang="zh-CN" dirty="0"/>
              <a:t>A</a:t>
            </a:r>
            <a:r>
              <a:rPr lang="zh-CN" altLang="en-US" dirty="0"/>
              <a:t>）整型信号量可以解决忙等问题</a:t>
            </a:r>
            <a:endParaRPr lang="en-US" altLang="zh-CN" dirty="0"/>
          </a:p>
          <a:p>
            <a:pPr lvl="1"/>
            <a:r>
              <a:rPr lang="en-US" altLang="zh-CN" dirty="0"/>
              <a:t>B</a:t>
            </a:r>
            <a:r>
              <a:rPr lang="zh-CN" altLang="en-US" dirty="0"/>
              <a:t>）记录信号量和整型信号量相同</a:t>
            </a:r>
            <a:endParaRPr lang="en-US" altLang="zh-CN" dirty="0"/>
          </a:p>
          <a:p>
            <a:pPr lvl="1"/>
            <a:r>
              <a:rPr lang="en-US" altLang="zh-CN" dirty="0"/>
              <a:t>C</a:t>
            </a:r>
            <a:r>
              <a:rPr lang="zh-CN" altLang="en-US" dirty="0"/>
              <a:t>）资源信号量和互斥信号量使用相同的底层机制</a:t>
            </a:r>
            <a:endParaRPr lang="en-US" altLang="zh-CN" dirty="0"/>
          </a:p>
          <a:p>
            <a:pPr lvl="1"/>
            <a:r>
              <a:rPr lang="en-US" altLang="zh-CN" dirty="0"/>
              <a:t>D</a:t>
            </a:r>
            <a:r>
              <a:rPr lang="zh-CN" altLang="en-US" dirty="0"/>
              <a:t>）资源信号量的初始值只能是</a:t>
            </a:r>
            <a:r>
              <a:rPr lang="en-US" altLang="zh-CN" dirty="0"/>
              <a:t>1</a:t>
            </a:r>
            <a:endParaRPr lang="en-US" altLang="zh-CN" dirty="0"/>
          </a:p>
          <a:p>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     )</a:t>
            </a:r>
            <a:r>
              <a:rPr lang="zh-CN" altLang="zh-CN" dirty="0"/>
              <a:t>是一种能由</a:t>
            </a:r>
            <a:r>
              <a:rPr lang="en-US" altLang="zh-CN" dirty="0"/>
              <a:t>P</a:t>
            </a:r>
            <a:r>
              <a:rPr lang="zh-CN" altLang="zh-CN" dirty="0"/>
              <a:t>和</a:t>
            </a:r>
            <a:r>
              <a:rPr lang="en-US" altLang="zh-CN" dirty="0"/>
              <a:t>V</a:t>
            </a:r>
            <a:r>
              <a:rPr lang="zh-CN" altLang="zh-CN" dirty="0"/>
              <a:t>操作所改变的整型变量。</a:t>
            </a:r>
            <a:endParaRPr lang="zh-CN" altLang="zh-CN" dirty="0"/>
          </a:p>
          <a:p>
            <a:pPr lvl="1"/>
            <a:r>
              <a:rPr lang="en-US" altLang="zh-CN" dirty="0"/>
              <a:t>A. </a:t>
            </a:r>
            <a:r>
              <a:rPr lang="zh-CN" altLang="zh-CN" dirty="0"/>
              <a:t>控制变量</a:t>
            </a:r>
            <a:r>
              <a:rPr lang="en-US" altLang="zh-CN" dirty="0"/>
              <a:t> B</a:t>
            </a:r>
            <a:r>
              <a:rPr lang="zh-CN" altLang="zh-CN" dirty="0"/>
              <a:t>．锁</a:t>
            </a:r>
            <a:r>
              <a:rPr lang="en-US" altLang="zh-CN" dirty="0"/>
              <a:t> C</a:t>
            </a:r>
            <a:r>
              <a:rPr lang="zh-CN" altLang="zh-CN" dirty="0"/>
              <a:t>．整型信号量</a:t>
            </a:r>
            <a:r>
              <a:rPr lang="en-US" altLang="zh-CN" dirty="0"/>
              <a:t> D</a:t>
            </a:r>
            <a:r>
              <a:rPr lang="zh-CN" altLang="zh-CN" dirty="0"/>
              <a:t>．记录型信号量</a:t>
            </a:r>
            <a:endParaRPr lang="zh-CN" altLang="zh-CN" dirty="0"/>
          </a:p>
          <a:p>
            <a:pPr lvl="1"/>
            <a:r>
              <a:rPr lang="zh-CN" altLang="zh-CN" dirty="0"/>
              <a:t>答案：</a:t>
            </a:r>
            <a:r>
              <a:rPr lang="en-US" altLang="zh-CN" dirty="0"/>
              <a:t>C</a:t>
            </a:r>
            <a:endParaRPr lang="en-US" altLang="zh-CN" dirty="0"/>
          </a:p>
          <a:p>
            <a:r>
              <a:rPr lang="zh-CN" altLang="en-US" dirty="0"/>
              <a:t>某种资源有</a:t>
            </a:r>
            <a:r>
              <a:rPr lang="en-US" altLang="zh-CN" dirty="0"/>
              <a:t>n</a:t>
            </a:r>
            <a:r>
              <a:rPr lang="zh-CN" altLang="en-US" dirty="0"/>
              <a:t>个可分配对象，现在需要分配给</a:t>
            </a:r>
            <a:r>
              <a:rPr lang="en-US" altLang="zh-CN" dirty="0"/>
              <a:t>m(m&gt;n)</a:t>
            </a:r>
            <a:r>
              <a:rPr lang="zh-CN" altLang="en-US" dirty="0"/>
              <a:t>个进程使用，采用资源信号量实现，则资源信号量的</a:t>
            </a:r>
            <a:r>
              <a:rPr lang="en-US" altLang="zh-CN" dirty="0"/>
              <a:t>value</a:t>
            </a:r>
            <a:r>
              <a:rPr lang="zh-CN" altLang="en-US" dirty="0"/>
              <a:t>取值范围是：</a:t>
            </a:r>
            <a:endParaRPr lang="en-US" altLang="zh-CN" dirty="0"/>
          </a:p>
          <a:p>
            <a:pPr lvl="1"/>
            <a:r>
              <a:rPr lang="en-US" altLang="zh-CN" dirty="0"/>
              <a:t>A</a:t>
            </a:r>
            <a:r>
              <a:rPr lang="zh-CN" altLang="en-US" dirty="0"/>
              <a:t>）</a:t>
            </a:r>
            <a:r>
              <a:rPr lang="en-US" altLang="zh-CN" dirty="0"/>
              <a:t>0~n       B</a:t>
            </a:r>
            <a:r>
              <a:rPr lang="zh-CN" altLang="en-US" dirty="0"/>
              <a:t>）</a:t>
            </a:r>
            <a:r>
              <a:rPr lang="en-US" altLang="zh-CN" dirty="0"/>
              <a:t>0~m        C</a:t>
            </a:r>
            <a:r>
              <a:rPr lang="zh-CN" altLang="en-US" dirty="0"/>
              <a:t>）</a:t>
            </a:r>
            <a:r>
              <a:rPr lang="en-US" altLang="zh-CN" dirty="0"/>
              <a:t>-1 ~  m      D</a:t>
            </a:r>
            <a:r>
              <a:rPr lang="zh-CN" altLang="en-US" dirty="0"/>
              <a:t>）</a:t>
            </a:r>
            <a:r>
              <a:rPr lang="en-US" altLang="zh-CN" dirty="0"/>
              <a:t>-(m-n)  ~ n</a:t>
            </a:r>
            <a:endParaRPr lang="en-US" altLang="zh-CN"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信号量用于互斥的总结</a:t>
            </a:r>
            <a:endParaRPr lang="zh-CN" altLang="en-US" dirty="0"/>
          </a:p>
        </p:txBody>
      </p:sp>
      <p:sp>
        <p:nvSpPr>
          <p:cNvPr id="126979" name="内容占位符 2"/>
          <p:cNvSpPr>
            <a:spLocks noGrp="1" noChangeArrowheads="1"/>
          </p:cNvSpPr>
          <p:nvPr>
            <p:ph idx="1"/>
          </p:nvPr>
        </p:nvSpPr>
        <p:spPr/>
        <p:txBody>
          <a:bodyPr/>
          <a:lstStyle/>
          <a:p>
            <a:r>
              <a:rPr lang="zh-CN" altLang="en-US"/>
              <a:t>确定每个运行实体，即进程；</a:t>
            </a:r>
            <a:endParaRPr lang="en-US" altLang="zh-CN"/>
          </a:p>
          <a:p>
            <a:r>
              <a:rPr lang="zh-CN" altLang="en-US"/>
              <a:t>确定有那些资源需要互斥访问；</a:t>
            </a:r>
            <a:endParaRPr lang="en-US" altLang="zh-CN"/>
          </a:p>
          <a:p>
            <a:r>
              <a:rPr lang="zh-CN" altLang="en-US"/>
              <a:t>为每类资源安排一个信号量；</a:t>
            </a:r>
            <a:endParaRPr lang="en-US" altLang="zh-CN"/>
          </a:p>
          <a:p>
            <a:r>
              <a:rPr lang="zh-CN" altLang="en-US"/>
              <a:t>每个信号量的初值为</a:t>
            </a:r>
            <a:r>
              <a:rPr lang="en-US" altLang="zh-CN"/>
              <a:t>1</a:t>
            </a:r>
            <a:r>
              <a:rPr lang="zh-CN" altLang="en-US"/>
              <a:t>（如果同类资源有多个设为资源个数）；</a:t>
            </a:r>
            <a:endParaRPr lang="en-US" altLang="zh-CN"/>
          </a:p>
          <a:p>
            <a:r>
              <a:rPr lang="zh-CN" altLang="en-US"/>
              <a:t>在访问资源前</a:t>
            </a:r>
            <a:r>
              <a:rPr lang="en-US" altLang="zh-CN"/>
              <a:t>wait</a:t>
            </a:r>
            <a:r>
              <a:rPr lang="zh-CN" altLang="en-US"/>
              <a:t>资源对应的信号量；</a:t>
            </a:r>
            <a:endParaRPr lang="en-US" altLang="zh-CN"/>
          </a:p>
          <a:p>
            <a:r>
              <a:rPr lang="zh-CN" altLang="en-US"/>
              <a:t>在访问完资源后</a:t>
            </a:r>
            <a:r>
              <a:rPr lang="en-US" altLang="zh-CN"/>
              <a:t>signal</a:t>
            </a:r>
            <a:r>
              <a:rPr lang="zh-CN" altLang="en-US"/>
              <a:t>对应资源的信号量；</a:t>
            </a:r>
            <a:endParaRPr lang="en-US"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课堂测试</a:t>
            </a:r>
            <a:endParaRPr lang="zh-CN" altLang="en-US" dirty="0"/>
          </a:p>
        </p:txBody>
      </p:sp>
      <p:sp>
        <p:nvSpPr>
          <p:cNvPr id="128003" name="内容占位符 2"/>
          <p:cNvSpPr>
            <a:spLocks noGrp="1" noChangeArrowheads="1"/>
          </p:cNvSpPr>
          <p:nvPr>
            <p:ph idx="1"/>
          </p:nvPr>
        </p:nvSpPr>
        <p:spPr/>
        <p:txBody>
          <a:bodyPr/>
          <a:lstStyle/>
          <a:p>
            <a:r>
              <a:rPr lang="zh-CN" altLang="en-US"/>
              <a:t>银行个人账户互斥访问的实现？</a:t>
            </a:r>
            <a:endParaRPr lang="en-US" altLang="zh-CN"/>
          </a:p>
          <a:p>
            <a:pPr lvl="1"/>
            <a:r>
              <a:rPr lang="zh-CN" altLang="en-US"/>
              <a:t>问题：个人账户保存在内存中，多个进程共享该数据结构，如何实现对个人账户的互斥访问？</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课堂测试示例</a:t>
            </a:r>
            <a:endParaRPr lang="zh-CN" altLang="en-US" dirty="0"/>
          </a:p>
        </p:txBody>
      </p:sp>
      <p:sp>
        <p:nvSpPr>
          <p:cNvPr id="5" name="内容占位符 4"/>
          <p:cNvSpPr>
            <a:spLocks noGrp="1"/>
          </p:cNvSpPr>
          <p:nvPr>
            <p:ph idx="1"/>
          </p:nvPr>
        </p:nvSpPr>
        <p:spPr>
          <a:xfrm>
            <a:off x="571501" y="948267"/>
            <a:ext cx="10999176" cy="5389057"/>
          </a:xfrm>
        </p:spPr>
        <p:txBody>
          <a:bodyPr/>
          <a:lstStyle/>
          <a:p>
            <a:r>
              <a:rPr lang="zh-CN" altLang="en-US" dirty="0"/>
              <a:t>为个人账户设置一个信号量</a:t>
            </a:r>
            <a:r>
              <a:rPr lang="en-US" altLang="zh-CN" dirty="0"/>
              <a:t>S</a:t>
            </a:r>
            <a:r>
              <a:rPr lang="zh-CN" altLang="en-US" dirty="0"/>
              <a:t>，每个访问进程的流程大致如下：</a:t>
            </a:r>
            <a:endParaRPr lang="en-US" altLang="zh-CN" dirty="0"/>
          </a:p>
          <a:p>
            <a:pPr marL="274320" lvl="1" indent="0">
              <a:buNone/>
            </a:pPr>
            <a:r>
              <a:rPr lang="en-US" altLang="zh-CN" dirty="0"/>
              <a:t>process()</a:t>
            </a:r>
            <a:endParaRPr lang="en-US" altLang="zh-CN" dirty="0"/>
          </a:p>
          <a:p>
            <a:pPr marL="274320" lvl="1" indent="0">
              <a:buNone/>
            </a:pPr>
            <a:r>
              <a:rPr lang="en-US" altLang="zh-CN" dirty="0"/>
              <a:t>{</a:t>
            </a:r>
            <a:endParaRPr lang="en-US" altLang="zh-CN" dirty="0"/>
          </a:p>
          <a:p>
            <a:pPr marL="502920" lvl="2" indent="0">
              <a:buNone/>
            </a:pPr>
            <a:r>
              <a:rPr lang="en-US" altLang="zh-CN" dirty="0"/>
              <a:t>	</a:t>
            </a:r>
            <a:r>
              <a:rPr lang="zh-CN" altLang="en-US" dirty="0"/>
              <a:t>其他处理；</a:t>
            </a:r>
            <a:endParaRPr lang="en-US" altLang="zh-CN" dirty="0"/>
          </a:p>
          <a:p>
            <a:pPr marL="502920" lvl="2" indent="0">
              <a:buNone/>
            </a:pPr>
            <a:r>
              <a:rPr lang="en-US" altLang="zh-CN" dirty="0"/>
              <a:t>	wait(S</a:t>
            </a:r>
            <a:r>
              <a:rPr lang="zh-CN" altLang="en-US" dirty="0"/>
              <a:t>）</a:t>
            </a:r>
            <a:endParaRPr lang="en-US" altLang="zh-CN" dirty="0"/>
          </a:p>
          <a:p>
            <a:pPr marL="502920" lvl="2" indent="0">
              <a:buNone/>
            </a:pPr>
            <a:r>
              <a:rPr lang="en-US" altLang="zh-CN" dirty="0"/>
              <a:t>	</a:t>
            </a:r>
            <a:r>
              <a:rPr lang="zh-CN" altLang="en-US" dirty="0"/>
              <a:t>读或者写个人账户，完成用户账户操作</a:t>
            </a:r>
            <a:endParaRPr lang="en-US" altLang="zh-CN" dirty="0"/>
          </a:p>
          <a:p>
            <a:pPr marL="502920" lvl="2" indent="0">
              <a:buNone/>
            </a:pPr>
            <a:r>
              <a:rPr lang="en-US" altLang="zh-CN" dirty="0"/>
              <a:t>	signal(S)</a:t>
            </a:r>
            <a:endParaRPr lang="en-US" altLang="zh-CN" dirty="0"/>
          </a:p>
          <a:p>
            <a:pPr marL="502920" lvl="2" indent="0">
              <a:buNone/>
            </a:pPr>
            <a:r>
              <a:rPr lang="en-US" altLang="zh-CN" dirty="0"/>
              <a:t>	</a:t>
            </a:r>
            <a:r>
              <a:rPr lang="zh-CN" altLang="en-US" dirty="0"/>
              <a:t>其他操作；</a:t>
            </a:r>
            <a:endParaRPr lang="en-US" altLang="zh-CN" dirty="0"/>
          </a:p>
          <a:p>
            <a:pPr marL="274320" lvl="1" indent="0">
              <a:buNone/>
            </a:pPr>
            <a:r>
              <a:rPr lang="en-US" altLang="zh-CN" dirty="0"/>
              <a:t>}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用信号量解决前趋关系（同步）</a:t>
            </a:r>
            <a:endParaRPr lang="zh-CN" altLang="en-US" dirty="0"/>
          </a:p>
        </p:txBody>
      </p:sp>
      <p:sp>
        <p:nvSpPr>
          <p:cNvPr id="131075" name="内容占位符 2"/>
          <p:cNvSpPr>
            <a:spLocks noGrp="1" noChangeArrowheads="1"/>
          </p:cNvSpPr>
          <p:nvPr>
            <p:ph idx="1"/>
          </p:nvPr>
        </p:nvSpPr>
        <p:spPr/>
        <p:txBody>
          <a:bodyPr/>
          <a:lstStyle/>
          <a:p>
            <a:r>
              <a:rPr lang="zh-CN" altLang="en-US"/>
              <a:t>确定所有需要同步的关系（即图中的边）；</a:t>
            </a:r>
            <a:endParaRPr lang="en-US" altLang="zh-CN"/>
          </a:p>
          <a:p>
            <a:r>
              <a:rPr lang="zh-CN" altLang="en-US"/>
              <a:t>为每个边安排一个信号量；</a:t>
            </a:r>
            <a:endParaRPr lang="en-US" altLang="zh-CN"/>
          </a:p>
          <a:p>
            <a:r>
              <a:rPr lang="zh-CN" altLang="en-US"/>
              <a:t>每个信号量的初值设置为</a:t>
            </a:r>
            <a:r>
              <a:rPr lang="en-US" altLang="zh-CN"/>
              <a:t>0</a:t>
            </a:r>
            <a:r>
              <a:rPr lang="zh-CN" altLang="en-US"/>
              <a:t>；</a:t>
            </a:r>
            <a:endParaRPr lang="en-US" altLang="zh-CN"/>
          </a:p>
          <a:p>
            <a:r>
              <a:rPr lang="zh-CN" altLang="en-US"/>
              <a:t>每个操作如果有前趋，则在操作前等待每个前趋到自己的边对应的信号量；</a:t>
            </a:r>
            <a:endParaRPr lang="en-US" altLang="zh-CN"/>
          </a:p>
          <a:p>
            <a:r>
              <a:rPr lang="zh-CN" altLang="en-US"/>
              <a:t>完成后，如果有后继，则为每个后继的边做对应的</a:t>
            </a:r>
            <a:r>
              <a:rPr lang="en-US" altLang="zh-CN"/>
              <a:t>signal</a:t>
            </a:r>
            <a:r>
              <a:rPr lang="zh-CN" altLang="en-US"/>
              <a:t>。</a:t>
            </a:r>
            <a:endParaRPr lang="en-US" altLang="zh-CN"/>
          </a:p>
          <a:p>
            <a:r>
              <a:rPr lang="zh-CN" altLang="en-US"/>
              <a:t>每个操作都是一个运行实体。</a:t>
            </a:r>
            <a:endParaRPr lang="en-US" altLang="zh-CN"/>
          </a:p>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课堂测试：实现如下前趋图的同步</a:t>
            </a:r>
            <a:endParaRPr lang="zh-CN" altLang="en-US" dirty="0"/>
          </a:p>
        </p:txBody>
      </p:sp>
      <p:grpSp>
        <p:nvGrpSpPr>
          <p:cNvPr id="132099" name="组合 79"/>
          <p:cNvGrpSpPr/>
          <p:nvPr/>
        </p:nvGrpSpPr>
        <p:grpSpPr bwMode="auto">
          <a:xfrm>
            <a:off x="2927351" y="1241777"/>
            <a:ext cx="6697663" cy="4916891"/>
            <a:chOff x="-107950" y="1196975"/>
            <a:chExt cx="5472038" cy="4363528"/>
          </a:xfrm>
        </p:grpSpPr>
        <p:sp>
          <p:nvSpPr>
            <p:cNvPr id="132100" name="AutoShape 3"/>
            <p:cNvSpPr>
              <a:spLocks noChangeAspect="1" noChangeArrowheads="1" noTextEdit="1"/>
            </p:cNvSpPr>
            <p:nvPr/>
          </p:nvSpPr>
          <p:spPr bwMode="auto">
            <a:xfrm>
              <a:off x="-107950" y="1196975"/>
              <a:ext cx="5472038" cy="404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32101" name="Freeform 5"/>
            <p:cNvSpPr/>
            <p:nvPr/>
          </p:nvSpPr>
          <p:spPr bwMode="auto">
            <a:xfrm>
              <a:off x="107950" y="2486025"/>
              <a:ext cx="449263" cy="449263"/>
            </a:xfrm>
            <a:custGeom>
              <a:avLst/>
              <a:gdLst>
                <a:gd name="T0" fmla="*/ 0 w 283"/>
                <a:gd name="T1" fmla="*/ 2147483646 h 283"/>
                <a:gd name="T2" fmla="*/ 2147483646 w 283"/>
                <a:gd name="T3" fmla="*/ 2147483646 h 283"/>
                <a:gd name="T4" fmla="*/ 2147483646 w 283"/>
                <a:gd name="T5" fmla="*/ 2147483646 h 283"/>
                <a:gd name="T6" fmla="*/ 2147483646 w 283"/>
                <a:gd name="T7" fmla="*/ 0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2147483646 h 283"/>
                <a:gd name="T22" fmla="*/ 2147483646 w 283"/>
                <a:gd name="T23" fmla="*/ 2147483646 h 283"/>
                <a:gd name="T24" fmla="*/ 0 w 283"/>
                <a:gd name="T25" fmla="*/ 2147483646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3" h="283">
                  <a:moveTo>
                    <a:pt x="0" y="147"/>
                  </a:moveTo>
                  <a:lnTo>
                    <a:pt x="12" y="74"/>
                  </a:lnTo>
                  <a:lnTo>
                    <a:pt x="61" y="12"/>
                  </a:lnTo>
                  <a:lnTo>
                    <a:pt x="135" y="0"/>
                  </a:lnTo>
                  <a:lnTo>
                    <a:pt x="209" y="12"/>
                  </a:lnTo>
                  <a:lnTo>
                    <a:pt x="271" y="74"/>
                  </a:lnTo>
                  <a:lnTo>
                    <a:pt x="283" y="147"/>
                  </a:lnTo>
                  <a:lnTo>
                    <a:pt x="271" y="209"/>
                  </a:lnTo>
                  <a:lnTo>
                    <a:pt x="209" y="270"/>
                  </a:lnTo>
                  <a:lnTo>
                    <a:pt x="135" y="283"/>
                  </a:lnTo>
                  <a:lnTo>
                    <a:pt x="61" y="270"/>
                  </a:lnTo>
                  <a:lnTo>
                    <a:pt x="12" y="209"/>
                  </a:lnTo>
                  <a:lnTo>
                    <a:pt x="0" y="147"/>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102" name="Rectangle 6"/>
            <p:cNvSpPr>
              <a:spLocks noChangeArrowheads="1"/>
            </p:cNvSpPr>
            <p:nvPr/>
          </p:nvSpPr>
          <p:spPr bwMode="auto">
            <a:xfrm>
              <a:off x="204788" y="2563813"/>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03" name="Rectangle 7"/>
            <p:cNvSpPr>
              <a:spLocks noChangeArrowheads="1"/>
            </p:cNvSpPr>
            <p:nvPr/>
          </p:nvSpPr>
          <p:spPr bwMode="auto">
            <a:xfrm>
              <a:off x="341313" y="2720975"/>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1</a:t>
              </a:r>
              <a:endParaRPr lang="zh-CN" altLang="zh-CN" sz="2400">
                <a:latin typeface="Tahoma" panose="020B0604030504040204" pitchFamily="34" charset="0"/>
              </a:endParaRPr>
            </a:p>
          </p:txBody>
        </p:sp>
        <p:sp>
          <p:nvSpPr>
            <p:cNvPr id="132104" name="Freeform 8"/>
            <p:cNvSpPr/>
            <p:nvPr/>
          </p:nvSpPr>
          <p:spPr bwMode="auto">
            <a:xfrm>
              <a:off x="1300163" y="2486025"/>
              <a:ext cx="469900" cy="449263"/>
            </a:xfrm>
            <a:custGeom>
              <a:avLst/>
              <a:gdLst>
                <a:gd name="T0" fmla="*/ 0 w 296"/>
                <a:gd name="T1" fmla="*/ 2147483646 h 283"/>
                <a:gd name="T2" fmla="*/ 2147483646 w 296"/>
                <a:gd name="T3" fmla="*/ 2147483646 h 283"/>
                <a:gd name="T4" fmla="*/ 2147483646 w 296"/>
                <a:gd name="T5" fmla="*/ 2147483646 h 283"/>
                <a:gd name="T6" fmla="*/ 2147483646 w 296"/>
                <a:gd name="T7" fmla="*/ 0 h 283"/>
                <a:gd name="T8" fmla="*/ 2147483646 w 296"/>
                <a:gd name="T9" fmla="*/ 2147483646 h 283"/>
                <a:gd name="T10" fmla="*/ 2147483646 w 296"/>
                <a:gd name="T11" fmla="*/ 2147483646 h 283"/>
                <a:gd name="T12" fmla="*/ 2147483646 w 296"/>
                <a:gd name="T13" fmla="*/ 2147483646 h 283"/>
                <a:gd name="T14" fmla="*/ 2147483646 w 296"/>
                <a:gd name="T15" fmla="*/ 2147483646 h 283"/>
                <a:gd name="T16" fmla="*/ 2147483646 w 296"/>
                <a:gd name="T17" fmla="*/ 2147483646 h 283"/>
                <a:gd name="T18" fmla="*/ 2147483646 w 296"/>
                <a:gd name="T19" fmla="*/ 2147483646 h 283"/>
                <a:gd name="T20" fmla="*/ 2147483646 w 296"/>
                <a:gd name="T21" fmla="*/ 2147483646 h 283"/>
                <a:gd name="T22" fmla="*/ 2147483646 w 296"/>
                <a:gd name="T23" fmla="*/ 2147483646 h 283"/>
                <a:gd name="T24" fmla="*/ 0 w 296"/>
                <a:gd name="T25" fmla="*/ 2147483646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6" h="283">
                  <a:moveTo>
                    <a:pt x="0" y="147"/>
                  </a:moveTo>
                  <a:lnTo>
                    <a:pt x="25" y="74"/>
                  </a:lnTo>
                  <a:lnTo>
                    <a:pt x="74" y="12"/>
                  </a:lnTo>
                  <a:lnTo>
                    <a:pt x="148" y="0"/>
                  </a:lnTo>
                  <a:lnTo>
                    <a:pt x="222" y="12"/>
                  </a:lnTo>
                  <a:lnTo>
                    <a:pt x="271" y="74"/>
                  </a:lnTo>
                  <a:lnTo>
                    <a:pt x="296" y="147"/>
                  </a:lnTo>
                  <a:lnTo>
                    <a:pt x="271" y="209"/>
                  </a:lnTo>
                  <a:lnTo>
                    <a:pt x="222" y="270"/>
                  </a:lnTo>
                  <a:lnTo>
                    <a:pt x="148" y="283"/>
                  </a:lnTo>
                  <a:lnTo>
                    <a:pt x="74" y="270"/>
                  </a:lnTo>
                  <a:lnTo>
                    <a:pt x="25" y="209"/>
                  </a:lnTo>
                  <a:lnTo>
                    <a:pt x="0" y="147"/>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105" name="Rectangle 9"/>
            <p:cNvSpPr>
              <a:spLocks noChangeArrowheads="1"/>
            </p:cNvSpPr>
            <p:nvPr/>
          </p:nvSpPr>
          <p:spPr bwMode="auto">
            <a:xfrm>
              <a:off x="1417638" y="2563813"/>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06" name="Rectangle 10"/>
            <p:cNvSpPr>
              <a:spLocks noChangeArrowheads="1"/>
            </p:cNvSpPr>
            <p:nvPr/>
          </p:nvSpPr>
          <p:spPr bwMode="auto">
            <a:xfrm>
              <a:off x="1554163" y="2720975"/>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3</a:t>
              </a:r>
              <a:endParaRPr lang="zh-CN" altLang="zh-CN" sz="2400">
                <a:latin typeface="Tahoma" panose="020B0604030504040204" pitchFamily="34" charset="0"/>
              </a:endParaRPr>
            </a:p>
          </p:txBody>
        </p:sp>
        <p:sp>
          <p:nvSpPr>
            <p:cNvPr id="132107" name="Freeform 11"/>
            <p:cNvSpPr/>
            <p:nvPr/>
          </p:nvSpPr>
          <p:spPr bwMode="auto">
            <a:xfrm>
              <a:off x="3295650" y="2486025"/>
              <a:ext cx="450850" cy="449263"/>
            </a:xfrm>
            <a:custGeom>
              <a:avLst/>
              <a:gdLst>
                <a:gd name="T0" fmla="*/ 0 w 284"/>
                <a:gd name="T1" fmla="*/ 2147483646 h 283"/>
                <a:gd name="T2" fmla="*/ 2147483646 w 284"/>
                <a:gd name="T3" fmla="*/ 2147483646 h 283"/>
                <a:gd name="T4" fmla="*/ 2147483646 w 284"/>
                <a:gd name="T5" fmla="*/ 2147483646 h 283"/>
                <a:gd name="T6" fmla="*/ 2147483646 w 284"/>
                <a:gd name="T7" fmla="*/ 0 h 283"/>
                <a:gd name="T8" fmla="*/ 2147483646 w 284"/>
                <a:gd name="T9" fmla="*/ 2147483646 h 283"/>
                <a:gd name="T10" fmla="*/ 2147483646 w 284"/>
                <a:gd name="T11" fmla="*/ 2147483646 h 283"/>
                <a:gd name="T12" fmla="*/ 2147483646 w 284"/>
                <a:gd name="T13" fmla="*/ 2147483646 h 283"/>
                <a:gd name="T14" fmla="*/ 2147483646 w 284"/>
                <a:gd name="T15" fmla="*/ 2147483646 h 283"/>
                <a:gd name="T16" fmla="*/ 2147483646 w 284"/>
                <a:gd name="T17" fmla="*/ 2147483646 h 283"/>
                <a:gd name="T18" fmla="*/ 2147483646 w 284"/>
                <a:gd name="T19" fmla="*/ 2147483646 h 283"/>
                <a:gd name="T20" fmla="*/ 2147483646 w 284"/>
                <a:gd name="T21" fmla="*/ 2147483646 h 283"/>
                <a:gd name="T22" fmla="*/ 2147483646 w 284"/>
                <a:gd name="T23" fmla="*/ 2147483646 h 283"/>
                <a:gd name="T24" fmla="*/ 0 w 284"/>
                <a:gd name="T25" fmla="*/ 2147483646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4" h="283">
                  <a:moveTo>
                    <a:pt x="0" y="147"/>
                  </a:moveTo>
                  <a:lnTo>
                    <a:pt x="13" y="74"/>
                  </a:lnTo>
                  <a:lnTo>
                    <a:pt x="62" y="12"/>
                  </a:lnTo>
                  <a:lnTo>
                    <a:pt x="136" y="0"/>
                  </a:lnTo>
                  <a:lnTo>
                    <a:pt x="210" y="12"/>
                  </a:lnTo>
                  <a:lnTo>
                    <a:pt x="271" y="74"/>
                  </a:lnTo>
                  <a:lnTo>
                    <a:pt x="284" y="147"/>
                  </a:lnTo>
                  <a:lnTo>
                    <a:pt x="271" y="209"/>
                  </a:lnTo>
                  <a:lnTo>
                    <a:pt x="210" y="270"/>
                  </a:lnTo>
                  <a:lnTo>
                    <a:pt x="136" y="283"/>
                  </a:lnTo>
                  <a:lnTo>
                    <a:pt x="62" y="270"/>
                  </a:lnTo>
                  <a:lnTo>
                    <a:pt x="13" y="209"/>
                  </a:lnTo>
                  <a:lnTo>
                    <a:pt x="0" y="147"/>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108" name="Rectangle 12"/>
            <p:cNvSpPr>
              <a:spLocks noChangeArrowheads="1"/>
            </p:cNvSpPr>
            <p:nvPr/>
          </p:nvSpPr>
          <p:spPr bwMode="auto">
            <a:xfrm>
              <a:off x="3394075" y="2563813"/>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09" name="Rectangle 13"/>
            <p:cNvSpPr>
              <a:spLocks noChangeArrowheads="1"/>
            </p:cNvSpPr>
            <p:nvPr/>
          </p:nvSpPr>
          <p:spPr bwMode="auto">
            <a:xfrm>
              <a:off x="3530600" y="2720975"/>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dirty="0">
                  <a:solidFill>
                    <a:srgbClr val="000000"/>
                  </a:solidFill>
                  <a:latin typeface="Times" panose="00000500000000020000" pitchFamily="18" charset="0"/>
                </a:rPr>
                <a:t>8</a:t>
              </a:r>
              <a:endParaRPr lang="zh-CN" altLang="zh-CN" sz="2400" dirty="0">
                <a:latin typeface="Tahoma" panose="020B0604030504040204" pitchFamily="34" charset="0"/>
              </a:endParaRPr>
            </a:p>
          </p:txBody>
        </p:sp>
        <p:sp>
          <p:nvSpPr>
            <p:cNvPr id="132110" name="Freeform 14"/>
            <p:cNvSpPr/>
            <p:nvPr/>
          </p:nvSpPr>
          <p:spPr bwMode="auto">
            <a:xfrm>
              <a:off x="4529138" y="2486025"/>
              <a:ext cx="468313" cy="449263"/>
            </a:xfrm>
            <a:custGeom>
              <a:avLst/>
              <a:gdLst>
                <a:gd name="T0" fmla="*/ 0 w 295"/>
                <a:gd name="T1" fmla="*/ 2147483646 h 283"/>
                <a:gd name="T2" fmla="*/ 2147483646 w 295"/>
                <a:gd name="T3" fmla="*/ 2147483646 h 283"/>
                <a:gd name="T4" fmla="*/ 2147483646 w 295"/>
                <a:gd name="T5" fmla="*/ 2147483646 h 283"/>
                <a:gd name="T6" fmla="*/ 2147483646 w 295"/>
                <a:gd name="T7" fmla="*/ 0 h 283"/>
                <a:gd name="T8" fmla="*/ 2147483646 w 295"/>
                <a:gd name="T9" fmla="*/ 2147483646 h 283"/>
                <a:gd name="T10" fmla="*/ 2147483646 w 295"/>
                <a:gd name="T11" fmla="*/ 2147483646 h 283"/>
                <a:gd name="T12" fmla="*/ 2147483646 w 295"/>
                <a:gd name="T13" fmla="*/ 2147483646 h 283"/>
                <a:gd name="T14" fmla="*/ 2147483646 w 295"/>
                <a:gd name="T15" fmla="*/ 2147483646 h 283"/>
                <a:gd name="T16" fmla="*/ 2147483646 w 295"/>
                <a:gd name="T17" fmla="*/ 2147483646 h 283"/>
                <a:gd name="T18" fmla="*/ 2147483646 w 295"/>
                <a:gd name="T19" fmla="*/ 2147483646 h 283"/>
                <a:gd name="T20" fmla="*/ 2147483646 w 295"/>
                <a:gd name="T21" fmla="*/ 2147483646 h 283"/>
                <a:gd name="T22" fmla="*/ 2147483646 w 295"/>
                <a:gd name="T23" fmla="*/ 2147483646 h 283"/>
                <a:gd name="T24" fmla="*/ 0 w 295"/>
                <a:gd name="T25" fmla="*/ 2147483646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5" h="283">
                  <a:moveTo>
                    <a:pt x="0" y="147"/>
                  </a:moveTo>
                  <a:lnTo>
                    <a:pt x="24" y="74"/>
                  </a:lnTo>
                  <a:lnTo>
                    <a:pt x="73" y="12"/>
                  </a:lnTo>
                  <a:lnTo>
                    <a:pt x="147" y="0"/>
                  </a:lnTo>
                  <a:lnTo>
                    <a:pt x="221" y="12"/>
                  </a:lnTo>
                  <a:lnTo>
                    <a:pt x="271" y="74"/>
                  </a:lnTo>
                  <a:lnTo>
                    <a:pt x="295" y="147"/>
                  </a:lnTo>
                  <a:lnTo>
                    <a:pt x="271" y="209"/>
                  </a:lnTo>
                  <a:lnTo>
                    <a:pt x="221" y="270"/>
                  </a:lnTo>
                  <a:lnTo>
                    <a:pt x="147" y="283"/>
                  </a:lnTo>
                  <a:lnTo>
                    <a:pt x="73" y="270"/>
                  </a:lnTo>
                  <a:lnTo>
                    <a:pt x="24" y="209"/>
                  </a:lnTo>
                  <a:lnTo>
                    <a:pt x="0" y="147"/>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111" name="Rectangle 15"/>
            <p:cNvSpPr>
              <a:spLocks noChangeArrowheads="1"/>
            </p:cNvSpPr>
            <p:nvPr/>
          </p:nvSpPr>
          <p:spPr bwMode="auto">
            <a:xfrm>
              <a:off x="4645025" y="2563813"/>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12" name="Rectangle 16"/>
            <p:cNvSpPr>
              <a:spLocks noChangeArrowheads="1"/>
            </p:cNvSpPr>
            <p:nvPr/>
          </p:nvSpPr>
          <p:spPr bwMode="auto">
            <a:xfrm>
              <a:off x="4783138" y="2720975"/>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9</a:t>
              </a:r>
              <a:endParaRPr lang="zh-CN" altLang="zh-CN" sz="2400">
                <a:latin typeface="Tahoma" panose="020B0604030504040204" pitchFamily="34" charset="0"/>
              </a:endParaRPr>
            </a:p>
          </p:txBody>
        </p:sp>
        <p:sp>
          <p:nvSpPr>
            <p:cNvPr id="132113" name="Freeform 17"/>
            <p:cNvSpPr/>
            <p:nvPr/>
          </p:nvSpPr>
          <p:spPr bwMode="auto">
            <a:xfrm>
              <a:off x="1300163" y="3676650"/>
              <a:ext cx="469900" cy="468313"/>
            </a:xfrm>
            <a:custGeom>
              <a:avLst/>
              <a:gdLst>
                <a:gd name="T0" fmla="*/ 0 w 296"/>
                <a:gd name="T1" fmla="*/ 2147483646 h 295"/>
                <a:gd name="T2" fmla="*/ 2147483646 w 296"/>
                <a:gd name="T3" fmla="*/ 2147483646 h 295"/>
                <a:gd name="T4" fmla="*/ 2147483646 w 296"/>
                <a:gd name="T5" fmla="*/ 2147483646 h 295"/>
                <a:gd name="T6" fmla="*/ 2147483646 w 296"/>
                <a:gd name="T7" fmla="*/ 0 h 295"/>
                <a:gd name="T8" fmla="*/ 2147483646 w 296"/>
                <a:gd name="T9" fmla="*/ 2147483646 h 295"/>
                <a:gd name="T10" fmla="*/ 2147483646 w 296"/>
                <a:gd name="T11" fmla="*/ 2147483646 h 295"/>
                <a:gd name="T12" fmla="*/ 2147483646 w 296"/>
                <a:gd name="T13" fmla="*/ 2147483646 h 295"/>
                <a:gd name="T14" fmla="*/ 2147483646 w 296"/>
                <a:gd name="T15" fmla="*/ 2147483646 h 295"/>
                <a:gd name="T16" fmla="*/ 2147483646 w 296"/>
                <a:gd name="T17" fmla="*/ 2147483646 h 295"/>
                <a:gd name="T18" fmla="*/ 2147483646 w 296"/>
                <a:gd name="T19" fmla="*/ 2147483646 h 295"/>
                <a:gd name="T20" fmla="*/ 2147483646 w 296"/>
                <a:gd name="T21" fmla="*/ 2147483646 h 295"/>
                <a:gd name="T22" fmla="*/ 2147483646 w 296"/>
                <a:gd name="T23" fmla="*/ 2147483646 h 295"/>
                <a:gd name="T24" fmla="*/ 0 w 296"/>
                <a:gd name="T25" fmla="*/ 2147483646 h 2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6" h="295">
                  <a:moveTo>
                    <a:pt x="0" y="148"/>
                  </a:moveTo>
                  <a:lnTo>
                    <a:pt x="25" y="74"/>
                  </a:lnTo>
                  <a:lnTo>
                    <a:pt x="74" y="25"/>
                  </a:lnTo>
                  <a:lnTo>
                    <a:pt x="148" y="0"/>
                  </a:lnTo>
                  <a:lnTo>
                    <a:pt x="222" y="25"/>
                  </a:lnTo>
                  <a:lnTo>
                    <a:pt x="271" y="74"/>
                  </a:lnTo>
                  <a:lnTo>
                    <a:pt x="296" y="148"/>
                  </a:lnTo>
                  <a:lnTo>
                    <a:pt x="271" y="221"/>
                  </a:lnTo>
                  <a:lnTo>
                    <a:pt x="222" y="271"/>
                  </a:lnTo>
                  <a:lnTo>
                    <a:pt x="148" y="295"/>
                  </a:lnTo>
                  <a:lnTo>
                    <a:pt x="74" y="271"/>
                  </a:lnTo>
                  <a:lnTo>
                    <a:pt x="25" y="221"/>
                  </a:lnTo>
                  <a:lnTo>
                    <a:pt x="0" y="148"/>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114" name="Rectangle 18"/>
            <p:cNvSpPr>
              <a:spLocks noChangeArrowheads="1"/>
            </p:cNvSpPr>
            <p:nvPr/>
          </p:nvSpPr>
          <p:spPr bwMode="auto">
            <a:xfrm>
              <a:off x="1417638" y="3754438"/>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15" name="Rectangle 19"/>
            <p:cNvSpPr>
              <a:spLocks noChangeArrowheads="1"/>
            </p:cNvSpPr>
            <p:nvPr/>
          </p:nvSpPr>
          <p:spPr bwMode="auto">
            <a:xfrm>
              <a:off x="1554163" y="3911600"/>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4</a:t>
              </a:r>
              <a:endParaRPr lang="zh-CN" altLang="zh-CN" sz="2400">
                <a:latin typeface="Tahoma" panose="020B0604030504040204" pitchFamily="34" charset="0"/>
              </a:endParaRPr>
            </a:p>
          </p:txBody>
        </p:sp>
        <p:sp>
          <p:nvSpPr>
            <p:cNvPr id="132116" name="Freeform 20"/>
            <p:cNvSpPr/>
            <p:nvPr/>
          </p:nvSpPr>
          <p:spPr bwMode="auto">
            <a:xfrm>
              <a:off x="1300163" y="1274763"/>
              <a:ext cx="469900" cy="468313"/>
            </a:xfrm>
            <a:custGeom>
              <a:avLst/>
              <a:gdLst>
                <a:gd name="T0" fmla="*/ 0 w 296"/>
                <a:gd name="T1" fmla="*/ 2147483646 h 295"/>
                <a:gd name="T2" fmla="*/ 2147483646 w 296"/>
                <a:gd name="T3" fmla="*/ 2147483646 h 295"/>
                <a:gd name="T4" fmla="*/ 2147483646 w 296"/>
                <a:gd name="T5" fmla="*/ 2147483646 h 295"/>
                <a:gd name="T6" fmla="*/ 2147483646 w 296"/>
                <a:gd name="T7" fmla="*/ 0 h 295"/>
                <a:gd name="T8" fmla="*/ 2147483646 w 296"/>
                <a:gd name="T9" fmla="*/ 2147483646 h 295"/>
                <a:gd name="T10" fmla="*/ 2147483646 w 296"/>
                <a:gd name="T11" fmla="*/ 2147483646 h 295"/>
                <a:gd name="T12" fmla="*/ 2147483646 w 296"/>
                <a:gd name="T13" fmla="*/ 2147483646 h 295"/>
                <a:gd name="T14" fmla="*/ 2147483646 w 296"/>
                <a:gd name="T15" fmla="*/ 2147483646 h 295"/>
                <a:gd name="T16" fmla="*/ 2147483646 w 296"/>
                <a:gd name="T17" fmla="*/ 2147483646 h 295"/>
                <a:gd name="T18" fmla="*/ 2147483646 w 296"/>
                <a:gd name="T19" fmla="*/ 2147483646 h 295"/>
                <a:gd name="T20" fmla="*/ 2147483646 w 296"/>
                <a:gd name="T21" fmla="*/ 2147483646 h 295"/>
                <a:gd name="T22" fmla="*/ 2147483646 w 296"/>
                <a:gd name="T23" fmla="*/ 2147483646 h 295"/>
                <a:gd name="T24" fmla="*/ 0 w 296"/>
                <a:gd name="T25" fmla="*/ 2147483646 h 2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6" h="295">
                  <a:moveTo>
                    <a:pt x="0" y="148"/>
                  </a:moveTo>
                  <a:lnTo>
                    <a:pt x="25" y="74"/>
                  </a:lnTo>
                  <a:lnTo>
                    <a:pt x="74" y="25"/>
                  </a:lnTo>
                  <a:lnTo>
                    <a:pt x="148" y="0"/>
                  </a:lnTo>
                  <a:lnTo>
                    <a:pt x="222" y="25"/>
                  </a:lnTo>
                  <a:lnTo>
                    <a:pt x="271" y="74"/>
                  </a:lnTo>
                  <a:lnTo>
                    <a:pt x="296" y="148"/>
                  </a:lnTo>
                  <a:lnTo>
                    <a:pt x="271" y="222"/>
                  </a:lnTo>
                  <a:lnTo>
                    <a:pt x="222" y="271"/>
                  </a:lnTo>
                  <a:lnTo>
                    <a:pt x="148" y="295"/>
                  </a:lnTo>
                  <a:lnTo>
                    <a:pt x="74" y="271"/>
                  </a:lnTo>
                  <a:lnTo>
                    <a:pt x="25" y="222"/>
                  </a:lnTo>
                  <a:lnTo>
                    <a:pt x="0" y="148"/>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117" name="Rectangle 21"/>
            <p:cNvSpPr>
              <a:spLocks noChangeArrowheads="1"/>
            </p:cNvSpPr>
            <p:nvPr/>
          </p:nvSpPr>
          <p:spPr bwMode="auto">
            <a:xfrm>
              <a:off x="1417638" y="1352550"/>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18" name="Rectangle 22"/>
            <p:cNvSpPr>
              <a:spLocks noChangeArrowheads="1"/>
            </p:cNvSpPr>
            <p:nvPr/>
          </p:nvSpPr>
          <p:spPr bwMode="auto">
            <a:xfrm>
              <a:off x="1554163" y="1528763"/>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2</a:t>
              </a:r>
              <a:endParaRPr lang="zh-CN" altLang="zh-CN" sz="2400">
                <a:latin typeface="Tahoma" panose="020B0604030504040204" pitchFamily="34" charset="0"/>
              </a:endParaRPr>
            </a:p>
          </p:txBody>
        </p:sp>
        <p:sp>
          <p:nvSpPr>
            <p:cNvPr id="132119" name="Line 23"/>
            <p:cNvSpPr>
              <a:spLocks noChangeShapeType="1"/>
            </p:cNvSpPr>
            <p:nvPr/>
          </p:nvSpPr>
          <p:spPr bwMode="auto">
            <a:xfrm>
              <a:off x="557213" y="2719388"/>
              <a:ext cx="742950"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20" name="Freeform 24"/>
            <p:cNvSpPr/>
            <p:nvPr/>
          </p:nvSpPr>
          <p:spPr bwMode="auto">
            <a:xfrm>
              <a:off x="1065213" y="2660650"/>
              <a:ext cx="234950" cy="98425"/>
            </a:xfrm>
            <a:custGeom>
              <a:avLst/>
              <a:gdLst>
                <a:gd name="T0" fmla="*/ 0 w 148"/>
                <a:gd name="T1" fmla="*/ 0 h 62"/>
                <a:gd name="T2" fmla="*/ 2147483646 w 148"/>
                <a:gd name="T3" fmla="*/ 2147483646 h 62"/>
                <a:gd name="T4" fmla="*/ 0 w 148"/>
                <a:gd name="T5" fmla="*/ 2147483646 h 62"/>
                <a:gd name="T6" fmla="*/ 2147483646 w 148"/>
                <a:gd name="T7" fmla="*/ 2147483646 h 62"/>
                <a:gd name="T8" fmla="*/ 0 w 148"/>
                <a:gd name="T9" fmla="*/ 0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62">
                  <a:moveTo>
                    <a:pt x="0" y="0"/>
                  </a:moveTo>
                  <a:lnTo>
                    <a:pt x="25" y="37"/>
                  </a:lnTo>
                  <a:lnTo>
                    <a:pt x="0" y="62"/>
                  </a:lnTo>
                  <a:lnTo>
                    <a:pt x="148" y="37"/>
                  </a:lnTo>
                  <a:lnTo>
                    <a:pt x="0" y="0"/>
                  </a:lnTo>
                  <a:close/>
                </a:path>
              </a:pathLst>
            </a:custGeom>
            <a:solidFill>
              <a:srgbClr val="000000"/>
            </a:solidFill>
            <a:ln w="19050">
              <a:solidFill>
                <a:srgbClr val="000000"/>
              </a:solidFill>
              <a:prstDash val="solid"/>
              <a:round/>
            </a:ln>
          </p:spPr>
          <p:txBody>
            <a:bodyPr/>
            <a:lstStyle/>
            <a:p>
              <a:endParaRPr lang="zh-CN" altLang="en-US"/>
            </a:p>
          </p:txBody>
        </p:sp>
        <p:sp>
          <p:nvSpPr>
            <p:cNvPr id="132121" name="Line 25"/>
            <p:cNvSpPr>
              <a:spLocks noChangeShapeType="1"/>
            </p:cNvSpPr>
            <p:nvPr/>
          </p:nvSpPr>
          <p:spPr bwMode="auto">
            <a:xfrm flipH="1">
              <a:off x="1711325" y="2212975"/>
              <a:ext cx="606425" cy="35083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22" name="Line 26"/>
            <p:cNvSpPr>
              <a:spLocks noChangeShapeType="1"/>
            </p:cNvSpPr>
            <p:nvPr/>
          </p:nvSpPr>
          <p:spPr bwMode="auto">
            <a:xfrm flipH="1">
              <a:off x="458788" y="1646238"/>
              <a:ext cx="881063" cy="8778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23" name="Line 27"/>
            <p:cNvSpPr>
              <a:spLocks noChangeShapeType="1"/>
            </p:cNvSpPr>
            <p:nvPr/>
          </p:nvSpPr>
          <p:spPr bwMode="auto">
            <a:xfrm flipH="1" flipV="1">
              <a:off x="1770063" y="1547813"/>
              <a:ext cx="1565275" cy="10160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24" name="Freeform 28"/>
            <p:cNvSpPr/>
            <p:nvPr/>
          </p:nvSpPr>
          <p:spPr bwMode="auto">
            <a:xfrm>
              <a:off x="2141538" y="1763713"/>
              <a:ext cx="215900" cy="174625"/>
            </a:xfrm>
            <a:custGeom>
              <a:avLst/>
              <a:gdLst>
                <a:gd name="T0" fmla="*/ 2147483646 w 136"/>
                <a:gd name="T1" fmla="*/ 0 h 110"/>
                <a:gd name="T2" fmla="*/ 2147483646 w 136"/>
                <a:gd name="T3" fmla="*/ 2147483646 h 110"/>
                <a:gd name="T4" fmla="*/ 0 w 136"/>
                <a:gd name="T5" fmla="*/ 2147483646 h 110"/>
                <a:gd name="T6" fmla="*/ 2147483646 w 136"/>
                <a:gd name="T7" fmla="*/ 2147483646 h 110"/>
                <a:gd name="T8" fmla="*/ 214748364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25" y="0"/>
                  </a:moveTo>
                  <a:lnTo>
                    <a:pt x="37" y="49"/>
                  </a:lnTo>
                  <a:lnTo>
                    <a:pt x="0" y="49"/>
                  </a:lnTo>
                  <a:lnTo>
                    <a:pt x="136" y="110"/>
                  </a:lnTo>
                  <a:lnTo>
                    <a:pt x="25" y="0"/>
                  </a:lnTo>
                  <a:close/>
                </a:path>
              </a:pathLst>
            </a:custGeom>
            <a:solidFill>
              <a:srgbClr val="000000"/>
            </a:solidFill>
            <a:ln w="19050">
              <a:solidFill>
                <a:srgbClr val="000000"/>
              </a:solidFill>
              <a:prstDash val="solid"/>
              <a:round/>
            </a:ln>
          </p:spPr>
          <p:txBody>
            <a:bodyPr/>
            <a:lstStyle/>
            <a:p>
              <a:endParaRPr lang="zh-CN" altLang="en-US"/>
            </a:p>
          </p:txBody>
        </p:sp>
        <p:sp>
          <p:nvSpPr>
            <p:cNvPr id="132125" name="Freeform 29"/>
            <p:cNvSpPr/>
            <p:nvPr/>
          </p:nvSpPr>
          <p:spPr bwMode="auto">
            <a:xfrm>
              <a:off x="1144588" y="1646238"/>
              <a:ext cx="214313" cy="195263"/>
            </a:xfrm>
            <a:custGeom>
              <a:avLst/>
              <a:gdLst>
                <a:gd name="T0" fmla="*/ 0 w 135"/>
                <a:gd name="T1" fmla="*/ 2147483646 h 123"/>
                <a:gd name="T2" fmla="*/ 2147483646 w 135"/>
                <a:gd name="T3" fmla="*/ 2147483646 h 123"/>
                <a:gd name="T4" fmla="*/ 2147483646 w 135"/>
                <a:gd name="T5" fmla="*/ 2147483646 h 123"/>
                <a:gd name="T6" fmla="*/ 2147483646 w 135"/>
                <a:gd name="T7" fmla="*/ 0 h 123"/>
                <a:gd name="T8" fmla="*/ 0 w 135"/>
                <a:gd name="T9" fmla="*/ 2147483646 h 1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 h="123">
                  <a:moveTo>
                    <a:pt x="0" y="86"/>
                  </a:moveTo>
                  <a:lnTo>
                    <a:pt x="49" y="86"/>
                  </a:lnTo>
                  <a:lnTo>
                    <a:pt x="49" y="123"/>
                  </a:lnTo>
                  <a:lnTo>
                    <a:pt x="135" y="0"/>
                  </a:lnTo>
                  <a:lnTo>
                    <a:pt x="0" y="86"/>
                  </a:lnTo>
                  <a:close/>
                </a:path>
              </a:pathLst>
            </a:custGeom>
            <a:solidFill>
              <a:srgbClr val="000000"/>
            </a:solidFill>
            <a:ln w="19050">
              <a:solidFill>
                <a:srgbClr val="000000"/>
              </a:solidFill>
              <a:prstDash val="solid"/>
              <a:round/>
            </a:ln>
          </p:spPr>
          <p:txBody>
            <a:bodyPr/>
            <a:lstStyle/>
            <a:p>
              <a:endParaRPr lang="zh-CN" altLang="en-US"/>
            </a:p>
          </p:txBody>
        </p:sp>
        <p:sp>
          <p:nvSpPr>
            <p:cNvPr id="132126" name="Freeform 30"/>
            <p:cNvSpPr/>
            <p:nvPr/>
          </p:nvSpPr>
          <p:spPr bwMode="auto">
            <a:xfrm>
              <a:off x="2298700" y="1879600"/>
              <a:ext cx="449263" cy="469900"/>
            </a:xfrm>
            <a:custGeom>
              <a:avLst/>
              <a:gdLst>
                <a:gd name="T0" fmla="*/ 0 w 283"/>
                <a:gd name="T1" fmla="*/ 2147483646 h 296"/>
                <a:gd name="T2" fmla="*/ 2147483646 w 283"/>
                <a:gd name="T3" fmla="*/ 2147483646 h 296"/>
                <a:gd name="T4" fmla="*/ 2147483646 w 283"/>
                <a:gd name="T5" fmla="*/ 2147483646 h 296"/>
                <a:gd name="T6" fmla="*/ 2147483646 w 283"/>
                <a:gd name="T7" fmla="*/ 0 h 296"/>
                <a:gd name="T8" fmla="*/ 2147483646 w 283"/>
                <a:gd name="T9" fmla="*/ 2147483646 h 296"/>
                <a:gd name="T10" fmla="*/ 2147483646 w 283"/>
                <a:gd name="T11" fmla="*/ 2147483646 h 296"/>
                <a:gd name="T12" fmla="*/ 2147483646 w 283"/>
                <a:gd name="T13" fmla="*/ 2147483646 h 296"/>
                <a:gd name="T14" fmla="*/ 2147483646 w 283"/>
                <a:gd name="T15" fmla="*/ 2147483646 h 296"/>
                <a:gd name="T16" fmla="*/ 2147483646 w 283"/>
                <a:gd name="T17" fmla="*/ 2147483646 h 296"/>
                <a:gd name="T18" fmla="*/ 2147483646 w 283"/>
                <a:gd name="T19" fmla="*/ 2147483646 h 296"/>
                <a:gd name="T20" fmla="*/ 2147483646 w 283"/>
                <a:gd name="T21" fmla="*/ 2147483646 h 296"/>
                <a:gd name="T22" fmla="*/ 2147483646 w 283"/>
                <a:gd name="T23" fmla="*/ 2147483646 h 296"/>
                <a:gd name="T24" fmla="*/ 0 w 283"/>
                <a:gd name="T25" fmla="*/ 2147483646 h 2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3" h="296">
                  <a:moveTo>
                    <a:pt x="0" y="148"/>
                  </a:moveTo>
                  <a:lnTo>
                    <a:pt x="12" y="74"/>
                  </a:lnTo>
                  <a:lnTo>
                    <a:pt x="74" y="25"/>
                  </a:lnTo>
                  <a:lnTo>
                    <a:pt x="148" y="0"/>
                  </a:lnTo>
                  <a:lnTo>
                    <a:pt x="209" y="25"/>
                  </a:lnTo>
                  <a:lnTo>
                    <a:pt x="271" y="74"/>
                  </a:lnTo>
                  <a:lnTo>
                    <a:pt x="283" y="148"/>
                  </a:lnTo>
                  <a:lnTo>
                    <a:pt x="271" y="222"/>
                  </a:lnTo>
                  <a:lnTo>
                    <a:pt x="209" y="271"/>
                  </a:lnTo>
                  <a:lnTo>
                    <a:pt x="148" y="296"/>
                  </a:lnTo>
                  <a:lnTo>
                    <a:pt x="74" y="271"/>
                  </a:lnTo>
                  <a:lnTo>
                    <a:pt x="12" y="222"/>
                  </a:lnTo>
                  <a:lnTo>
                    <a:pt x="0" y="148"/>
                  </a:lnTo>
                  <a:close/>
                </a:path>
              </a:pathLst>
            </a:custGeom>
            <a:solidFill>
              <a:srgbClr val="FFFFFF"/>
            </a:solidFill>
            <a:ln w="19050">
              <a:solidFill>
                <a:srgbClr val="000000"/>
              </a:solidFill>
              <a:prstDash val="solid"/>
              <a:round/>
            </a:ln>
          </p:spPr>
          <p:txBody>
            <a:bodyPr/>
            <a:lstStyle/>
            <a:p>
              <a:endParaRPr lang="zh-CN" altLang="en-US"/>
            </a:p>
          </p:txBody>
        </p:sp>
        <p:sp>
          <p:nvSpPr>
            <p:cNvPr id="132127" name="Rectangle 31"/>
            <p:cNvSpPr>
              <a:spLocks noChangeArrowheads="1"/>
            </p:cNvSpPr>
            <p:nvPr/>
          </p:nvSpPr>
          <p:spPr bwMode="auto">
            <a:xfrm>
              <a:off x="2395538" y="1957388"/>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28" name="Rectangle 32"/>
            <p:cNvSpPr>
              <a:spLocks noChangeArrowheads="1"/>
            </p:cNvSpPr>
            <p:nvPr/>
          </p:nvSpPr>
          <p:spPr bwMode="auto">
            <a:xfrm>
              <a:off x="2533650" y="2114550"/>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5</a:t>
              </a:r>
              <a:endParaRPr lang="zh-CN" altLang="zh-CN" sz="2400">
                <a:latin typeface="Tahoma" panose="020B0604030504040204" pitchFamily="34" charset="0"/>
              </a:endParaRPr>
            </a:p>
          </p:txBody>
        </p:sp>
        <p:sp>
          <p:nvSpPr>
            <p:cNvPr id="132129" name="Freeform 33"/>
            <p:cNvSpPr/>
            <p:nvPr/>
          </p:nvSpPr>
          <p:spPr bwMode="auto">
            <a:xfrm>
              <a:off x="3100388" y="2408238"/>
              <a:ext cx="234950" cy="155575"/>
            </a:xfrm>
            <a:custGeom>
              <a:avLst/>
              <a:gdLst>
                <a:gd name="T0" fmla="*/ 2147483646 w 148"/>
                <a:gd name="T1" fmla="*/ 0 h 98"/>
                <a:gd name="T2" fmla="*/ 2147483646 w 148"/>
                <a:gd name="T3" fmla="*/ 2147483646 h 98"/>
                <a:gd name="T4" fmla="*/ 0 w 148"/>
                <a:gd name="T5" fmla="*/ 2147483646 h 98"/>
                <a:gd name="T6" fmla="*/ 2147483646 w 148"/>
                <a:gd name="T7" fmla="*/ 2147483646 h 98"/>
                <a:gd name="T8" fmla="*/ 2147483646 w 148"/>
                <a:gd name="T9" fmla="*/ 0 h 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98">
                  <a:moveTo>
                    <a:pt x="37" y="0"/>
                  </a:moveTo>
                  <a:lnTo>
                    <a:pt x="37" y="36"/>
                  </a:lnTo>
                  <a:lnTo>
                    <a:pt x="0" y="49"/>
                  </a:lnTo>
                  <a:lnTo>
                    <a:pt x="148" y="98"/>
                  </a:lnTo>
                  <a:lnTo>
                    <a:pt x="37" y="0"/>
                  </a:lnTo>
                  <a:close/>
                </a:path>
              </a:pathLst>
            </a:custGeom>
            <a:solidFill>
              <a:srgbClr val="000000"/>
            </a:solidFill>
            <a:ln w="19050">
              <a:solidFill>
                <a:srgbClr val="000000"/>
              </a:solidFill>
              <a:prstDash val="solid"/>
              <a:round/>
            </a:ln>
          </p:spPr>
          <p:txBody>
            <a:bodyPr/>
            <a:lstStyle/>
            <a:p>
              <a:endParaRPr lang="zh-CN" altLang="en-US"/>
            </a:p>
          </p:txBody>
        </p:sp>
        <p:sp>
          <p:nvSpPr>
            <p:cNvPr id="132130" name="Line 34"/>
            <p:cNvSpPr>
              <a:spLocks noChangeShapeType="1"/>
            </p:cNvSpPr>
            <p:nvPr/>
          </p:nvSpPr>
          <p:spPr bwMode="auto">
            <a:xfrm>
              <a:off x="3746500" y="2719388"/>
              <a:ext cx="782638"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31" name="Freeform 35"/>
            <p:cNvSpPr/>
            <p:nvPr/>
          </p:nvSpPr>
          <p:spPr bwMode="auto">
            <a:xfrm>
              <a:off x="4294188" y="2660650"/>
              <a:ext cx="234950" cy="98425"/>
            </a:xfrm>
            <a:custGeom>
              <a:avLst/>
              <a:gdLst>
                <a:gd name="T0" fmla="*/ 0 w 148"/>
                <a:gd name="T1" fmla="*/ 0 h 62"/>
                <a:gd name="T2" fmla="*/ 2147483646 w 148"/>
                <a:gd name="T3" fmla="*/ 2147483646 h 62"/>
                <a:gd name="T4" fmla="*/ 0 w 148"/>
                <a:gd name="T5" fmla="*/ 2147483646 h 62"/>
                <a:gd name="T6" fmla="*/ 2147483646 w 148"/>
                <a:gd name="T7" fmla="*/ 2147483646 h 62"/>
                <a:gd name="T8" fmla="*/ 0 w 148"/>
                <a:gd name="T9" fmla="*/ 0 h 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62">
                  <a:moveTo>
                    <a:pt x="0" y="0"/>
                  </a:moveTo>
                  <a:lnTo>
                    <a:pt x="24" y="37"/>
                  </a:lnTo>
                  <a:lnTo>
                    <a:pt x="0" y="62"/>
                  </a:lnTo>
                  <a:lnTo>
                    <a:pt x="148" y="37"/>
                  </a:lnTo>
                  <a:lnTo>
                    <a:pt x="0" y="0"/>
                  </a:lnTo>
                  <a:close/>
                </a:path>
              </a:pathLst>
            </a:custGeom>
            <a:solidFill>
              <a:srgbClr val="000000"/>
            </a:solidFill>
            <a:ln w="19050">
              <a:solidFill>
                <a:srgbClr val="000000"/>
              </a:solidFill>
              <a:prstDash val="solid"/>
              <a:round/>
            </a:ln>
          </p:spPr>
          <p:txBody>
            <a:bodyPr/>
            <a:lstStyle/>
            <a:p>
              <a:endParaRPr lang="zh-CN" altLang="en-US"/>
            </a:p>
          </p:txBody>
        </p:sp>
        <p:sp>
          <p:nvSpPr>
            <p:cNvPr id="132132" name="Line 36"/>
            <p:cNvSpPr>
              <a:spLocks noChangeShapeType="1"/>
            </p:cNvSpPr>
            <p:nvPr/>
          </p:nvSpPr>
          <p:spPr bwMode="auto">
            <a:xfrm>
              <a:off x="458788" y="2895600"/>
              <a:ext cx="881063" cy="8794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33" name="Line 37"/>
            <p:cNvSpPr>
              <a:spLocks noChangeShapeType="1"/>
            </p:cNvSpPr>
            <p:nvPr/>
          </p:nvSpPr>
          <p:spPr bwMode="auto">
            <a:xfrm flipH="1">
              <a:off x="1711325" y="2855913"/>
              <a:ext cx="1624013" cy="9191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34" name="Freeform 38"/>
            <p:cNvSpPr/>
            <p:nvPr/>
          </p:nvSpPr>
          <p:spPr bwMode="auto">
            <a:xfrm>
              <a:off x="2298700" y="3071813"/>
              <a:ext cx="449263" cy="468313"/>
            </a:xfrm>
            <a:custGeom>
              <a:avLst/>
              <a:gdLst>
                <a:gd name="T0" fmla="*/ 0 w 283"/>
                <a:gd name="T1" fmla="*/ 2147483646 h 295"/>
                <a:gd name="T2" fmla="*/ 2147483646 w 283"/>
                <a:gd name="T3" fmla="*/ 2147483646 h 295"/>
                <a:gd name="T4" fmla="*/ 2147483646 w 283"/>
                <a:gd name="T5" fmla="*/ 2147483646 h 295"/>
                <a:gd name="T6" fmla="*/ 2147483646 w 283"/>
                <a:gd name="T7" fmla="*/ 0 h 295"/>
                <a:gd name="T8" fmla="*/ 2147483646 w 283"/>
                <a:gd name="T9" fmla="*/ 2147483646 h 295"/>
                <a:gd name="T10" fmla="*/ 2147483646 w 283"/>
                <a:gd name="T11" fmla="*/ 2147483646 h 295"/>
                <a:gd name="T12" fmla="*/ 2147483646 w 283"/>
                <a:gd name="T13" fmla="*/ 2147483646 h 295"/>
                <a:gd name="T14" fmla="*/ 2147483646 w 283"/>
                <a:gd name="T15" fmla="*/ 2147483646 h 295"/>
                <a:gd name="T16" fmla="*/ 2147483646 w 283"/>
                <a:gd name="T17" fmla="*/ 2147483646 h 295"/>
                <a:gd name="T18" fmla="*/ 2147483646 w 283"/>
                <a:gd name="T19" fmla="*/ 2147483646 h 295"/>
                <a:gd name="T20" fmla="*/ 2147483646 w 283"/>
                <a:gd name="T21" fmla="*/ 2147483646 h 295"/>
                <a:gd name="T22" fmla="*/ 2147483646 w 283"/>
                <a:gd name="T23" fmla="*/ 2147483646 h 295"/>
                <a:gd name="T24" fmla="*/ 0 w 283"/>
                <a:gd name="T25" fmla="*/ 2147483646 h 2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3" h="295">
                  <a:moveTo>
                    <a:pt x="0" y="147"/>
                  </a:moveTo>
                  <a:lnTo>
                    <a:pt x="12" y="74"/>
                  </a:lnTo>
                  <a:lnTo>
                    <a:pt x="74" y="24"/>
                  </a:lnTo>
                  <a:lnTo>
                    <a:pt x="148" y="0"/>
                  </a:lnTo>
                  <a:lnTo>
                    <a:pt x="209" y="24"/>
                  </a:lnTo>
                  <a:lnTo>
                    <a:pt x="271" y="74"/>
                  </a:lnTo>
                  <a:lnTo>
                    <a:pt x="283" y="147"/>
                  </a:lnTo>
                  <a:lnTo>
                    <a:pt x="271" y="221"/>
                  </a:lnTo>
                  <a:lnTo>
                    <a:pt x="209" y="270"/>
                  </a:lnTo>
                  <a:lnTo>
                    <a:pt x="148" y="295"/>
                  </a:lnTo>
                  <a:lnTo>
                    <a:pt x="74" y="270"/>
                  </a:lnTo>
                  <a:lnTo>
                    <a:pt x="12" y="221"/>
                  </a:lnTo>
                  <a:lnTo>
                    <a:pt x="0" y="147"/>
                  </a:lnTo>
                  <a:close/>
                </a:path>
              </a:pathLst>
            </a:custGeom>
            <a:solidFill>
              <a:srgbClr val="FFFFFF"/>
            </a:solidFill>
            <a:ln w="19050">
              <a:solidFill>
                <a:srgbClr val="000000"/>
              </a:solidFill>
              <a:prstDash val="solid"/>
              <a:round/>
            </a:ln>
          </p:spPr>
          <p:txBody>
            <a:bodyPr/>
            <a:lstStyle/>
            <a:p>
              <a:endParaRPr lang="zh-CN" altLang="en-US"/>
            </a:p>
          </p:txBody>
        </p:sp>
        <p:sp>
          <p:nvSpPr>
            <p:cNvPr id="132135" name="Rectangle 39"/>
            <p:cNvSpPr>
              <a:spLocks noChangeArrowheads="1"/>
            </p:cNvSpPr>
            <p:nvPr/>
          </p:nvSpPr>
          <p:spPr bwMode="auto">
            <a:xfrm>
              <a:off x="2395538" y="3149600"/>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36" name="Rectangle 40"/>
            <p:cNvSpPr>
              <a:spLocks noChangeArrowheads="1"/>
            </p:cNvSpPr>
            <p:nvPr/>
          </p:nvSpPr>
          <p:spPr bwMode="auto">
            <a:xfrm>
              <a:off x="2533650" y="3325813"/>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6</a:t>
              </a:r>
              <a:endParaRPr lang="zh-CN" altLang="zh-CN" sz="2400">
                <a:latin typeface="Tahoma" panose="020B0604030504040204" pitchFamily="34" charset="0"/>
              </a:endParaRPr>
            </a:p>
          </p:txBody>
        </p:sp>
        <p:sp>
          <p:nvSpPr>
            <p:cNvPr id="132137" name="Freeform 41"/>
            <p:cNvSpPr/>
            <p:nvPr/>
          </p:nvSpPr>
          <p:spPr bwMode="auto">
            <a:xfrm>
              <a:off x="2082800" y="3422650"/>
              <a:ext cx="234950" cy="157163"/>
            </a:xfrm>
            <a:custGeom>
              <a:avLst/>
              <a:gdLst>
                <a:gd name="T0" fmla="*/ 0 w 148"/>
                <a:gd name="T1" fmla="*/ 2147483646 h 99"/>
                <a:gd name="T2" fmla="*/ 2147483646 w 148"/>
                <a:gd name="T3" fmla="*/ 2147483646 h 99"/>
                <a:gd name="T4" fmla="*/ 2147483646 w 148"/>
                <a:gd name="T5" fmla="*/ 2147483646 h 99"/>
                <a:gd name="T6" fmla="*/ 2147483646 w 148"/>
                <a:gd name="T7" fmla="*/ 0 h 99"/>
                <a:gd name="T8" fmla="*/ 0 w 148"/>
                <a:gd name="T9" fmla="*/ 2147483646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99">
                  <a:moveTo>
                    <a:pt x="0" y="49"/>
                  </a:moveTo>
                  <a:lnTo>
                    <a:pt x="49" y="62"/>
                  </a:lnTo>
                  <a:lnTo>
                    <a:pt x="37" y="99"/>
                  </a:lnTo>
                  <a:lnTo>
                    <a:pt x="148" y="0"/>
                  </a:lnTo>
                  <a:lnTo>
                    <a:pt x="0" y="49"/>
                  </a:lnTo>
                  <a:close/>
                </a:path>
              </a:pathLst>
            </a:custGeom>
            <a:solidFill>
              <a:srgbClr val="000000"/>
            </a:solidFill>
            <a:ln w="19050">
              <a:solidFill>
                <a:srgbClr val="000000"/>
              </a:solidFill>
              <a:prstDash val="solid"/>
              <a:round/>
            </a:ln>
          </p:spPr>
          <p:txBody>
            <a:bodyPr/>
            <a:lstStyle/>
            <a:p>
              <a:endParaRPr lang="zh-CN" altLang="en-US"/>
            </a:p>
          </p:txBody>
        </p:sp>
        <p:sp>
          <p:nvSpPr>
            <p:cNvPr id="132138" name="Freeform 42"/>
            <p:cNvSpPr/>
            <p:nvPr/>
          </p:nvSpPr>
          <p:spPr bwMode="auto">
            <a:xfrm>
              <a:off x="3100388" y="2855913"/>
              <a:ext cx="234950" cy="157163"/>
            </a:xfrm>
            <a:custGeom>
              <a:avLst/>
              <a:gdLst>
                <a:gd name="T0" fmla="*/ 0 w 148"/>
                <a:gd name="T1" fmla="*/ 2147483646 h 99"/>
                <a:gd name="T2" fmla="*/ 2147483646 w 148"/>
                <a:gd name="T3" fmla="*/ 2147483646 h 99"/>
                <a:gd name="T4" fmla="*/ 2147483646 w 148"/>
                <a:gd name="T5" fmla="*/ 2147483646 h 99"/>
                <a:gd name="T6" fmla="*/ 2147483646 w 148"/>
                <a:gd name="T7" fmla="*/ 0 h 99"/>
                <a:gd name="T8" fmla="*/ 0 w 148"/>
                <a:gd name="T9" fmla="*/ 2147483646 h 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99">
                  <a:moveTo>
                    <a:pt x="0" y="50"/>
                  </a:moveTo>
                  <a:lnTo>
                    <a:pt x="37" y="62"/>
                  </a:lnTo>
                  <a:lnTo>
                    <a:pt x="25" y="99"/>
                  </a:lnTo>
                  <a:lnTo>
                    <a:pt x="148" y="0"/>
                  </a:lnTo>
                  <a:lnTo>
                    <a:pt x="0" y="50"/>
                  </a:lnTo>
                  <a:close/>
                </a:path>
              </a:pathLst>
            </a:custGeom>
            <a:solidFill>
              <a:srgbClr val="000000"/>
            </a:solidFill>
            <a:ln w="19050">
              <a:solidFill>
                <a:srgbClr val="000000"/>
              </a:solidFill>
              <a:prstDash val="solid"/>
              <a:round/>
            </a:ln>
          </p:spPr>
          <p:txBody>
            <a:bodyPr/>
            <a:lstStyle/>
            <a:p>
              <a:endParaRPr lang="zh-CN" altLang="en-US"/>
            </a:p>
          </p:txBody>
        </p:sp>
        <p:sp>
          <p:nvSpPr>
            <p:cNvPr id="132139" name="Line 43"/>
            <p:cNvSpPr>
              <a:spLocks noChangeShapeType="1"/>
            </p:cNvSpPr>
            <p:nvPr/>
          </p:nvSpPr>
          <p:spPr bwMode="auto">
            <a:xfrm flipV="1">
              <a:off x="2728913" y="2895600"/>
              <a:ext cx="1897063" cy="15224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40" name="Freeform 44"/>
            <p:cNvSpPr/>
            <p:nvPr/>
          </p:nvSpPr>
          <p:spPr bwMode="auto">
            <a:xfrm>
              <a:off x="2298700" y="4281488"/>
              <a:ext cx="449263" cy="449263"/>
            </a:xfrm>
            <a:custGeom>
              <a:avLst/>
              <a:gdLst>
                <a:gd name="T0" fmla="*/ 0 w 283"/>
                <a:gd name="T1" fmla="*/ 2147483646 h 283"/>
                <a:gd name="T2" fmla="*/ 2147483646 w 283"/>
                <a:gd name="T3" fmla="*/ 2147483646 h 283"/>
                <a:gd name="T4" fmla="*/ 2147483646 w 283"/>
                <a:gd name="T5" fmla="*/ 2147483646 h 283"/>
                <a:gd name="T6" fmla="*/ 2147483646 w 283"/>
                <a:gd name="T7" fmla="*/ 0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2147483646 h 283"/>
                <a:gd name="T22" fmla="*/ 2147483646 w 283"/>
                <a:gd name="T23" fmla="*/ 2147483646 h 283"/>
                <a:gd name="T24" fmla="*/ 0 w 283"/>
                <a:gd name="T25" fmla="*/ 2147483646 h 28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83" h="283">
                  <a:moveTo>
                    <a:pt x="0" y="148"/>
                  </a:moveTo>
                  <a:lnTo>
                    <a:pt x="12" y="74"/>
                  </a:lnTo>
                  <a:lnTo>
                    <a:pt x="74" y="13"/>
                  </a:lnTo>
                  <a:lnTo>
                    <a:pt x="148" y="0"/>
                  </a:lnTo>
                  <a:lnTo>
                    <a:pt x="209" y="13"/>
                  </a:lnTo>
                  <a:lnTo>
                    <a:pt x="271" y="74"/>
                  </a:lnTo>
                  <a:lnTo>
                    <a:pt x="283" y="148"/>
                  </a:lnTo>
                  <a:lnTo>
                    <a:pt x="271" y="222"/>
                  </a:lnTo>
                  <a:lnTo>
                    <a:pt x="209" y="271"/>
                  </a:lnTo>
                  <a:lnTo>
                    <a:pt x="148" y="283"/>
                  </a:lnTo>
                  <a:lnTo>
                    <a:pt x="74" y="271"/>
                  </a:lnTo>
                  <a:lnTo>
                    <a:pt x="12" y="222"/>
                  </a:lnTo>
                  <a:lnTo>
                    <a:pt x="0" y="148"/>
                  </a:lnTo>
                  <a:close/>
                </a:path>
              </a:pathLst>
            </a:custGeom>
            <a:solidFill>
              <a:srgbClr val="FFFFFF"/>
            </a:solidFill>
            <a:ln w="19050">
              <a:solidFill>
                <a:srgbClr val="000000"/>
              </a:solidFill>
              <a:prstDash val="solid"/>
              <a:round/>
            </a:ln>
          </p:spPr>
          <p:txBody>
            <a:bodyPr/>
            <a:lstStyle/>
            <a:p>
              <a:endParaRPr lang="zh-CN" altLang="en-US"/>
            </a:p>
          </p:txBody>
        </p:sp>
        <p:sp>
          <p:nvSpPr>
            <p:cNvPr id="132141" name="Rectangle 45"/>
            <p:cNvSpPr>
              <a:spLocks noChangeArrowheads="1"/>
            </p:cNvSpPr>
            <p:nvPr/>
          </p:nvSpPr>
          <p:spPr bwMode="auto">
            <a:xfrm>
              <a:off x="2395538" y="4359275"/>
              <a:ext cx="116561"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P</a:t>
              </a:r>
              <a:endParaRPr lang="zh-CN" altLang="zh-CN" sz="2400">
                <a:latin typeface="Tahoma" panose="020B0604030504040204" pitchFamily="34" charset="0"/>
              </a:endParaRPr>
            </a:p>
          </p:txBody>
        </p:sp>
        <p:sp>
          <p:nvSpPr>
            <p:cNvPr id="132142" name="Rectangle 46"/>
            <p:cNvSpPr>
              <a:spLocks noChangeArrowheads="1"/>
            </p:cNvSpPr>
            <p:nvPr/>
          </p:nvSpPr>
          <p:spPr bwMode="auto">
            <a:xfrm>
              <a:off x="2533650" y="4516438"/>
              <a:ext cx="73341" cy="184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1400">
                  <a:solidFill>
                    <a:srgbClr val="000000"/>
                  </a:solidFill>
                  <a:latin typeface="Times" panose="00000500000000020000" pitchFamily="18" charset="0"/>
                </a:rPr>
                <a:t>7</a:t>
              </a:r>
              <a:endParaRPr lang="zh-CN" altLang="zh-CN" sz="2400">
                <a:latin typeface="Tahoma" panose="020B0604030504040204" pitchFamily="34" charset="0"/>
              </a:endParaRPr>
            </a:p>
          </p:txBody>
        </p:sp>
        <p:sp>
          <p:nvSpPr>
            <p:cNvPr id="132143" name="Line 47"/>
            <p:cNvSpPr>
              <a:spLocks noChangeShapeType="1"/>
            </p:cNvSpPr>
            <p:nvPr/>
          </p:nvSpPr>
          <p:spPr bwMode="auto">
            <a:xfrm flipH="1" flipV="1">
              <a:off x="1711325" y="4048125"/>
              <a:ext cx="606425" cy="3698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2144" name="Freeform 48"/>
            <p:cNvSpPr/>
            <p:nvPr/>
          </p:nvSpPr>
          <p:spPr bwMode="auto">
            <a:xfrm>
              <a:off x="2082800" y="4262438"/>
              <a:ext cx="234950" cy="155575"/>
            </a:xfrm>
            <a:custGeom>
              <a:avLst/>
              <a:gdLst>
                <a:gd name="T0" fmla="*/ 2147483646 w 148"/>
                <a:gd name="T1" fmla="*/ 0 h 98"/>
                <a:gd name="T2" fmla="*/ 2147483646 w 148"/>
                <a:gd name="T3" fmla="*/ 2147483646 h 98"/>
                <a:gd name="T4" fmla="*/ 0 w 148"/>
                <a:gd name="T5" fmla="*/ 2147483646 h 98"/>
                <a:gd name="T6" fmla="*/ 2147483646 w 148"/>
                <a:gd name="T7" fmla="*/ 2147483646 h 98"/>
                <a:gd name="T8" fmla="*/ 2147483646 w 148"/>
                <a:gd name="T9" fmla="*/ 0 h 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98">
                  <a:moveTo>
                    <a:pt x="25" y="0"/>
                  </a:moveTo>
                  <a:lnTo>
                    <a:pt x="37" y="37"/>
                  </a:lnTo>
                  <a:lnTo>
                    <a:pt x="0" y="49"/>
                  </a:lnTo>
                  <a:lnTo>
                    <a:pt x="148" y="98"/>
                  </a:lnTo>
                  <a:lnTo>
                    <a:pt x="25" y="0"/>
                  </a:lnTo>
                  <a:close/>
                </a:path>
              </a:pathLst>
            </a:custGeom>
            <a:solidFill>
              <a:srgbClr val="000000"/>
            </a:solidFill>
            <a:ln w="19050">
              <a:solidFill>
                <a:srgbClr val="000000"/>
              </a:solidFill>
              <a:prstDash val="solid"/>
              <a:round/>
            </a:ln>
          </p:spPr>
          <p:txBody>
            <a:bodyPr/>
            <a:lstStyle/>
            <a:p>
              <a:endParaRPr lang="zh-CN" altLang="en-US"/>
            </a:p>
          </p:txBody>
        </p:sp>
        <p:sp>
          <p:nvSpPr>
            <p:cNvPr id="132145" name="Freeform 49"/>
            <p:cNvSpPr/>
            <p:nvPr/>
          </p:nvSpPr>
          <p:spPr bwMode="auto">
            <a:xfrm>
              <a:off x="4411663" y="2876550"/>
              <a:ext cx="214313" cy="195263"/>
            </a:xfrm>
            <a:custGeom>
              <a:avLst/>
              <a:gdLst>
                <a:gd name="T0" fmla="*/ 0 w 135"/>
                <a:gd name="T1" fmla="*/ 2147483646 h 123"/>
                <a:gd name="T2" fmla="*/ 2147483646 w 135"/>
                <a:gd name="T3" fmla="*/ 2147483646 h 123"/>
                <a:gd name="T4" fmla="*/ 2147483646 w 135"/>
                <a:gd name="T5" fmla="*/ 2147483646 h 123"/>
                <a:gd name="T6" fmla="*/ 2147483646 w 135"/>
                <a:gd name="T7" fmla="*/ 0 h 123"/>
                <a:gd name="T8" fmla="*/ 0 w 135"/>
                <a:gd name="T9" fmla="*/ 2147483646 h 1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5" h="123">
                  <a:moveTo>
                    <a:pt x="0" y="86"/>
                  </a:moveTo>
                  <a:lnTo>
                    <a:pt x="37" y="86"/>
                  </a:lnTo>
                  <a:lnTo>
                    <a:pt x="37" y="123"/>
                  </a:lnTo>
                  <a:lnTo>
                    <a:pt x="135" y="0"/>
                  </a:lnTo>
                  <a:lnTo>
                    <a:pt x="0" y="86"/>
                  </a:lnTo>
                  <a:close/>
                </a:path>
              </a:pathLst>
            </a:custGeom>
            <a:solidFill>
              <a:srgbClr val="000000"/>
            </a:solidFill>
            <a:ln w="19050">
              <a:solidFill>
                <a:srgbClr val="000000"/>
              </a:solidFill>
              <a:prstDash val="solid"/>
              <a:round/>
            </a:ln>
          </p:spPr>
          <p:txBody>
            <a:bodyPr/>
            <a:lstStyle/>
            <a:p>
              <a:endParaRPr lang="zh-CN" altLang="en-US"/>
            </a:p>
          </p:txBody>
        </p:sp>
        <p:sp>
          <p:nvSpPr>
            <p:cNvPr id="132146" name="Rectangle 63"/>
            <p:cNvSpPr>
              <a:spLocks noChangeArrowheads="1"/>
            </p:cNvSpPr>
            <p:nvPr/>
          </p:nvSpPr>
          <p:spPr bwMode="auto">
            <a:xfrm>
              <a:off x="947738" y="5276850"/>
              <a:ext cx="69413"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a:t>
              </a:r>
              <a:endParaRPr lang="zh-CN" altLang="zh-CN" sz="2400">
                <a:latin typeface="Tahoma" panose="020B0604030504040204" pitchFamily="34" charset="0"/>
              </a:endParaRPr>
            </a:p>
          </p:txBody>
        </p:sp>
        <p:sp>
          <p:nvSpPr>
            <p:cNvPr id="132147" name="Rectangle 64"/>
            <p:cNvSpPr>
              <a:spLocks noChangeArrowheads="1"/>
            </p:cNvSpPr>
            <p:nvPr/>
          </p:nvSpPr>
          <p:spPr bwMode="auto">
            <a:xfrm>
              <a:off x="1027113" y="5276850"/>
              <a:ext cx="104773"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i="1">
                  <a:solidFill>
                    <a:srgbClr val="000000"/>
                  </a:solidFill>
                  <a:latin typeface="Times" panose="00000500000000020000" pitchFamily="18" charset="0"/>
                </a:rPr>
                <a:t>a</a:t>
              </a:r>
              <a:endParaRPr lang="zh-CN" altLang="zh-CN" sz="2400">
                <a:latin typeface="Tahoma" panose="020B0604030504040204" pitchFamily="34" charset="0"/>
              </a:endParaRPr>
            </a:p>
          </p:txBody>
        </p:sp>
        <p:sp>
          <p:nvSpPr>
            <p:cNvPr id="132148" name="Rectangle 65"/>
            <p:cNvSpPr>
              <a:spLocks noChangeArrowheads="1"/>
            </p:cNvSpPr>
            <p:nvPr/>
          </p:nvSpPr>
          <p:spPr bwMode="auto">
            <a:xfrm>
              <a:off x="1163638" y="5276850"/>
              <a:ext cx="121799"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Times" panose="00000500000000020000" pitchFamily="18" charset="0"/>
                </a:rPr>
                <a:t>) </a:t>
              </a:r>
              <a:endParaRPr lang="zh-CN" altLang="zh-CN" sz="2400">
                <a:latin typeface="Tahoma" panose="020B0604030504040204" pitchFamily="34" charset="0"/>
              </a:endParaRPr>
            </a:p>
          </p:txBody>
        </p:sp>
        <p:sp>
          <p:nvSpPr>
            <p:cNvPr id="132149" name="Rectangle 66"/>
            <p:cNvSpPr>
              <a:spLocks noChangeArrowheads="1"/>
            </p:cNvSpPr>
            <p:nvPr/>
          </p:nvSpPr>
          <p:spPr bwMode="auto">
            <a:xfrm>
              <a:off x="1300163" y="5297488"/>
              <a:ext cx="2095464" cy="26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zh-CN" sz="2000">
                  <a:solidFill>
                    <a:srgbClr val="000000"/>
                  </a:solidFill>
                  <a:latin typeface="宋体" panose="02010600030101010101" pitchFamily="2" charset="-122"/>
                </a:rPr>
                <a:t>具有九个结点的前趋图</a:t>
              </a:r>
              <a:endParaRPr lang="zh-CN" altLang="zh-CN" sz="2400">
                <a:latin typeface="Tahoma" panose="020B0604030504040204" pitchFamily="34" charset="0"/>
              </a:endParaRPr>
            </a:p>
          </p:txBody>
        </p:sp>
        <p:sp>
          <p:nvSpPr>
            <p:cNvPr id="132150" name="Freeform 71"/>
            <p:cNvSpPr/>
            <p:nvPr/>
          </p:nvSpPr>
          <p:spPr bwMode="auto">
            <a:xfrm>
              <a:off x="2082800" y="2212975"/>
              <a:ext cx="234950" cy="155575"/>
            </a:xfrm>
            <a:custGeom>
              <a:avLst/>
              <a:gdLst>
                <a:gd name="T0" fmla="*/ 0 w 148"/>
                <a:gd name="T1" fmla="*/ 2147483646 h 98"/>
                <a:gd name="T2" fmla="*/ 2147483646 w 148"/>
                <a:gd name="T3" fmla="*/ 2147483646 h 98"/>
                <a:gd name="T4" fmla="*/ 2147483646 w 148"/>
                <a:gd name="T5" fmla="*/ 2147483646 h 98"/>
                <a:gd name="T6" fmla="*/ 2147483646 w 148"/>
                <a:gd name="T7" fmla="*/ 0 h 98"/>
                <a:gd name="T8" fmla="*/ 0 w 148"/>
                <a:gd name="T9" fmla="*/ 2147483646 h 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98">
                  <a:moveTo>
                    <a:pt x="0" y="49"/>
                  </a:moveTo>
                  <a:lnTo>
                    <a:pt x="37" y="61"/>
                  </a:lnTo>
                  <a:lnTo>
                    <a:pt x="25" y="98"/>
                  </a:lnTo>
                  <a:lnTo>
                    <a:pt x="148" y="0"/>
                  </a:lnTo>
                  <a:lnTo>
                    <a:pt x="0" y="49"/>
                  </a:lnTo>
                  <a:close/>
                </a:path>
              </a:pathLst>
            </a:custGeom>
            <a:solidFill>
              <a:srgbClr val="000000"/>
            </a:solidFill>
            <a:ln w="19050">
              <a:solidFill>
                <a:srgbClr val="000000"/>
              </a:solidFill>
              <a:prstDash val="solid"/>
              <a:round/>
            </a:ln>
          </p:spPr>
          <p:txBody>
            <a:bodyPr/>
            <a:lstStyle/>
            <a:p>
              <a:endParaRPr lang="zh-CN" altLang="en-US"/>
            </a:p>
          </p:txBody>
        </p:sp>
        <p:sp>
          <p:nvSpPr>
            <p:cNvPr id="132151" name="Freeform 72"/>
            <p:cNvSpPr/>
            <p:nvPr/>
          </p:nvSpPr>
          <p:spPr bwMode="auto">
            <a:xfrm>
              <a:off x="1144588" y="3559175"/>
              <a:ext cx="195263" cy="215900"/>
            </a:xfrm>
            <a:custGeom>
              <a:avLst/>
              <a:gdLst>
                <a:gd name="T0" fmla="*/ 2147483646 w 123"/>
                <a:gd name="T1" fmla="*/ 0 h 136"/>
                <a:gd name="T2" fmla="*/ 2147483646 w 123"/>
                <a:gd name="T3" fmla="*/ 2147483646 h 136"/>
                <a:gd name="T4" fmla="*/ 0 w 123"/>
                <a:gd name="T5" fmla="*/ 2147483646 h 136"/>
                <a:gd name="T6" fmla="*/ 2147483646 w 123"/>
                <a:gd name="T7" fmla="*/ 2147483646 h 136"/>
                <a:gd name="T8" fmla="*/ 2147483646 w 123"/>
                <a:gd name="T9" fmla="*/ 0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36">
                  <a:moveTo>
                    <a:pt x="37" y="0"/>
                  </a:moveTo>
                  <a:lnTo>
                    <a:pt x="37" y="49"/>
                  </a:lnTo>
                  <a:lnTo>
                    <a:pt x="0" y="49"/>
                  </a:lnTo>
                  <a:lnTo>
                    <a:pt x="123" y="136"/>
                  </a:lnTo>
                  <a:lnTo>
                    <a:pt x="37" y="0"/>
                  </a:lnTo>
                  <a:close/>
                </a:path>
              </a:pathLst>
            </a:custGeom>
            <a:solidFill>
              <a:srgbClr val="000000"/>
            </a:solidFill>
            <a:ln w="19050">
              <a:solidFill>
                <a:srgbClr val="000000"/>
              </a:solidFill>
              <a:prstDash val="solid"/>
              <a:round/>
            </a:ln>
          </p:spPr>
          <p:txBody>
            <a:bodyPr/>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49570" y="970077"/>
            <a:ext cx="10770648" cy="5157643"/>
          </a:xfrm>
        </p:spPr>
        <p:txBody>
          <a:bodyPr/>
          <a:lstStyle/>
          <a:p>
            <a:pPr>
              <a:spcBef>
                <a:spcPts val="600"/>
              </a:spcBef>
            </a:pPr>
            <a:r>
              <a:rPr lang="zh-CN" altLang="en-US" dirty="0"/>
              <a:t>信号量的含义：整型信号量和记录型信号量，是除了初始化外只能进行</a:t>
            </a:r>
            <a:r>
              <a:rPr lang="en-US" altLang="zh-CN" dirty="0"/>
              <a:t>wait</a:t>
            </a:r>
            <a:r>
              <a:rPr lang="zh-CN" altLang="en-US" dirty="0"/>
              <a:t>和</a:t>
            </a:r>
            <a:r>
              <a:rPr lang="en-US" altLang="zh-CN" dirty="0"/>
              <a:t>signal</a:t>
            </a:r>
            <a:r>
              <a:rPr lang="zh-CN" altLang="en-US" dirty="0"/>
              <a:t>的变量。理解</a:t>
            </a:r>
            <a:r>
              <a:rPr lang="en-US" altLang="zh-CN" dirty="0"/>
              <a:t>wait</a:t>
            </a:r>
            <a:r>
              <a:rPr lang="zh-CN" altLang="en-US" dirty="0"/>
              <a:t>和</a:t>
            </a:r>
            <a:r>
              <a:rPr lang="en-US" altLang="zh-CN" dirty="0"/>
              <a:t>signal</a:t>
            </a:r>
            <a:r>
              <a:rPr lang="zh-CN" altLang="en-US" dirty="0"/>
              <a:t>的实现。</a:t>
            </a:r>
            <a:endParaRPr lang="en-US" altLang="zh-CN" dirty="0"/>
          </a:p>
          <a:p>
            <a:pPr>
              <a:spcBef>
                <a:spcPts val="600"/>
              </a:spcBef>
            </a:pPr>
            <a:r>
              <a:rPr lang="zh-CN" altLang="en-US" dirty="0"/>
              <a:t>信号量的物理意义：一个信号量</a:t>
            </a:r>
            <a:r>
              <a:rPr lang="en-US" altLang="zh-CN" dirty="0"/>
              <a:t>S</a:t>
            </a:r>
            <a:r>
              <a:rPr lang="zh-CN" altLang="en-US" dirty="0"/>
              <a:t>对应通常对应一类临界资源。</a:t>
            </a:r>
            <a:r>
              <a:rPr lang="en-US" altLang="zh-CN" dirty="0" err="1"/>
              <a:t>S.value</a:t>
            </a:r>
            <a:r>
              <a:rPr lang="zh-CN" altLang="en-US" dirty="0"/>
              <a:t>的含义？</a:t>
            </a:r>
            <a:r>
              <a:rPr lang="en-US" altLang="zh-CN" dirty="0"/>
              <a:t>Wait</a:t>
            </a:r>
            <a:r>
              <a:rPr lang="zh-CN" altLang="en-US" dirty="0"/>
              <a:t>是消耗资源，</a:t>
            </a:r>
            <a:r>
              <a:rPr lang="en-US" altLang="zh-CN" dirty="0"/>
              <a:t>signal</a:t>
            </a:r>
            <a:r>
              <a:rPr lang="zh-CN" altLang="en-US" dirty="0"/>
              <a:t>是释放资源。</a:t>
            </a:r>
            <a:endParaRPr lang="en-US" altLang="zh-CN" dirty="0"/>
          </a:p>
          <a:p>
            <a:pPr>
              <a:spcBef>
                <a:spcPts val="600"/>
              </a:spcBef>
            </a:pPr>
            <a:r>
              <a:rPr lang="zh-CN" altLang="en-US" dirty="0"/>
              <a:t>用信号量实现</a:t>
            </a:r>
            <a:r>
              <a:rPr lang="zh-CN" altLang="en-US" dirty="0">
                <a:solidFill>
                  <a:srgbClr val="FF0000"/>
                </a:solidFill>
              </a:rPr>
              <a:t>互斥</a:t>
            </a:r>
            <a:r>
              <a:rPr lang="zh-CN" altLang="en-US" dirty="0"/>
              <a:t>：一个临界资源一个信号量，初值为</a:t>
            </a:r>
            <a:r>
              <a:rPr lang="en-US" altLang="zh-CN" dirty="0"/>
              <a:t>1</a:t>
            </a:r>
            <a:r>
              <a:rPr lang="zh-CN" altLang="en-US" dirty="0"/>
              <a:t>，进入临界区</a:t>
            </a:r>
            <a:r>
              <a:rPr lang="en-US" altLang="zh-CN" dirty="0"/>
              <a:t>wait</a:t>
            </a:r>
            <a:r>
              <a:rPr lang="zh-CN" altLang="en-US" dirty="0"/>
              <a:t>，退出临界区</a:t>
            </a:r>
            <a:r>
              <a:rPr lang="en-US" altLang="zh-CN" dirty="0"/>
              <a:t>signal</a:t>
            </a:r>
            <a:r>
              <a:rPr lang="zh-CN" altLang="en-US" dirty="0"/>
              <a:t>，必须成对出现。</a:t>
            </a:r>
            <a:endParaRPr lang="en-US" altLang="zh-CN" dirty="0"/>
          </a:p>
          <a:p>
            <a:pPr>
              <a:spcBef>
                <a:spcPts val="600"/>
              </a:spcBef>
            </a:pPr>
            <a:r>
              <a:rPr lang="zh-CN" altLang="en-US" dirty="0"/>
              <a:t>用信号量实现</a:t>
            </a:r>
            <a:r>
              <a:rPr lang="zh-CN" altLang="en-US" dirty="0">
                <a:solidFill>
                  <a:srgbClr val="FF0000"/>
                </a:solidFill>
              </a:rPr>
              <a:t>前趋关系</a:t>
            </a:r>
            <a:r>
              <a:rPr lang="zh-CN" altLang="en-US" dirty="0"/>
              <a:t>：是同步关系，每个关系设置一个信号量，初值为</a:t>
            </a:r>
            <a:r>
              <a:rPr lang="en-US" altLang="zh-CN" dirty="0"/>
              <a:t>0</a:t>
            </a:r>
            <a:r>
              <a:rPr lang="zh-CN" altLang="en-US" dirty="0"/>
              <a:t>，后继进程</a:t>
            </a:r>
            <a:r>
              <a:rPr lang="en-US" altLang="zh-CN" dirty="0"/>
              <a:t>wait</a:t>
            </a:r>
            <a:r>
              <a:rPr lang="zh-CN" altLang="en-US" dirty="0"/>
              <a:t>，前趋进程</a:t>
            </a:r>
            <a:r>
              <a:rPr lang="en-US" altLang="zh-CN" dirty="0"/>
              <a:t>signal</a:t>
            </a:r>
            <a:r>
              <a:rPr lang="zh-CN" altLang="en-US" dirty="0"/>
              <a:t>。</a:t>
            </a:r>
            <a:endParaRPr lang="en-US" altLang="zh-CN" dirty="0"/>
          </a:p>
          <a:p>
            <a:pPr>
              <a:spcBef>
                <a:spcPts val="600"/>
              </a:spcBef>
            </a:pPr>
            <a:r>
              <a:rPr lang="zh-CN" altLang="en-US" dirty="0"/>
              <a:t>用信号量实现</a:t>
            </a:r>
            <a:r>
              <a:rPr lang="zh-CN" altLang="en-US" dirty="0">
                <a:solidFill>
                  <a:srgbClr val="FF0000"/>
                </a:solidFill>
              </a:rPr>
              <a:t>资源使用</a:t>
            </a:r>
            <a:r>
              <a:rPr lang="zh-CN" altLang="en-US" dirty="0"/>
              <a:t>：资源使用的信号量初始化为开始资源数，使用时</a:t>
            </a:r>
            <a:r>
              <a:rPr lang="en-US" altLang="zh-CN" dirty="0"/>
              <a:t>wait</a:t>
            </a:r>
            <a:r>
              <a:rPr lang="zh-CN" altLang="en-US" dirty="0"/>
              <a:t>，释放时</a:t>
            </a:r>
            <a:r>
              <a:rPr lang="en-US" altLang="zh-CN" dirty="0"/>
              <a:t>signal</a:t>
            </a:r>
            <a:r>
              <a:rPr lang="zh-CN" altLang="en-US" dirty="0"/>
              <a:t>。</a:t>
            </a:r>
            <a:endParaRPr lang="zh-CN" altLang="en-US" dirty="0"/>
          </a:p>
        </p:txBody>
      </p:sp>
      <p:sp>
        <p:nvSpPr>
          <p:cNvPr id="3" name="标题 2"/>
          <p:cNvSpPr>
            <a:spLocks noGrp="1"/>
          </p:cNvSpPr>
          <p:nvPr>
            <p:ph type="title"/>
          </p:nvPr>
        </p:nvSpPr>
        <p:spPr>
          <a:xfrm>
            <a:off x="597535" y="-161925"/>
            <a:ext cx="10515600" cy="1325563"/>
          </a:xfrm>
        </p:spPr>
        <p:txBody>
          <a:bodyPr/>
          <a:lstStyle/>
          <a:p>
            <a:r>
              <a:rPr lang="zh-CN" altLang="en-US" dirty="0"/>
              <a:t>信号量机制总结</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72148" y="1453523"/>
            <a:ext cx="10770648" cy="5157643"/>
          </a:xfrm>
        </p:spPr>
        <p:txBody>
          <a:bodyPr/>
          <a:lstStyle/>
          <a:p>
            <a:r>
              <a:rPr lang="zh-CN" altLang="en-US" dirty="0"/>
              <a:t>分析问题的含义：有哪些活动实体？如消费者和生产者。每个活动实体就是一个进程。每个实体的活动流程是什么，将活动流程用伪代码表示出来。</a:t>
            </a:r>
            <a:endParaRPr lang="en-US" altLang="zh-CN" dirty="0"/>
          </a:p>
          <a:p>
            <a:r>
              <a:rPr lang="zh-CN" altLang="en-US" dirty="0"/>
              <a:t>分析同步和互斥关系：哪些是需要互斥访问的临界资源？哪些是需要同步的关系？是否可以转换为资源使用？为临界资源、同步关系和资源使用分别设置信号量。</a:t>
            </a:r>
            <a:endParaRPr lang="en-US" altLang="zh-CN" dirty="0"/>
          </a:p>
          <a:p>
            <a:r>
              <a:rPr lang="zh-CN" altLang="en-US" dirty="0"/>
              <a:t>安排同步和互斥操作：参见信号量总结</a:t>
            </a:r>
            <a:endParaRPr lang="en-US" altLang="zh-CN" dirty="0"/>
          </a:p>
          <a:p>
            <a:r>
              <a:rPr lang="zh-CN" altLang="en-US" dirty="0"/>
              <a:t>检查</a:t>
            </a:r>
            <a:r>
              <a:rPr lang="en-US" altLang="zh-CN" dirty="0"/>
              <a:t>wait</a:t>
            </a:r>
            <a:r>
              <a:rPr lang="zh-CN" altLang="en-US" dirty="0"/>
              <a:t>和</a:t>
            </a:r>
            <a:r>
              <a:rPr lang="en-US" altLang="zh-CN" dirty="0"/>
              <a:t>signal</a:t>
            </a:r>
            <a:r>
              <a:rPr lang="zh-CN" altLang="en-US" dirty="0"/>
              <a:t>是否匹配，是否有多余的同步和互斥，是否有遗漏的同步和互斥，完善流程。</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用信号量解决问题的思路 习题</a:t>
            </a:r>
            <a:r>
              <a:rPr lang="en-US" altLang="zh-CN" dirty="0"/>
              <a:t>P34</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3" name="Rectangle 3"/>
          <p:cNvSpPr>
            <a:spLocks noGrp="1" noRot="1" noChangeArrowheads="1"/>
          </p:cNvSpPr>
          <p:nvPr>
            <p:ph idx="1"/>
          </p:nvPr>
        </p:nvSpPr>
        <p:spPr/>
        <p:txBody>
          <a:bodyPr/>
          <a:lstStyle/>
          <a:p>
            <a:pPr>
              <a:spcBef>
                <a:spcPts val="600"/>
              </a:spcBef>
            </a:pPr>
            <a:r>
              <a:rPr lang="zh-CN" altLang="en-US" dirty="0">
                <a:solidFill>
                  <a:srgbClr val="FF0000"/>
                </a:solidFill>
              </a:rPr>
              <a:t>进程应该先申请资源信号量，再申请互斥信号量，顺序不能颠倒</a:t>
            </a:r>
            <a:r>
              <a:rPr lang="zh-CN" altLang="en-US" dirty="0"/>
              <a:t>。</a:t>
            </a:r>
            <a:endParaRPr lang="zh-CN" altLang="en-US" dirty="0"/>
          </a:p>
          <a:p>
            <a:pPr>
              <a:spcBef>
                <a:spcPts val="600"/>
              </a:spcBef>
            </a:pPr>
            <a:r>
              <a:rPr lang="zh-CN" altLang="en-US" dirty="0"/>
              <a:t>对任何信号量的</a:t>
            </a:r>
            <a:r>
              <a:rPr lang="en-US" altLang="zh-CN" dirty="0"/>
              <a:t>wait</a:t>
            </a:r>
            <a:r>
              <a:rPr lang="zh-CN" altLang="en-US" dirty="0"/>
              <a:t>与</a:t>
            </a:r>
            <a:r>
              <a:rPr lang="en-US" altLang="zh-CN" dirty="0"/>
              <a:t>signal</a:t>
            </a:r>
            <a:r>
              <a:rPr lang="zh-CN" altLang="en-US" dirty="0"/>
              <a:t>操作必须配对。</a:t>
            </a:r>
            <a:r>
              <a:rPr lang="zh-CN" altLang="en-US" dirty="0">
                <a:solidFill>
                  <a:srgbClr val="FF0000"/>
                </a:solidFill>
              </a:rPr>
              <a:t>同一进程中的多对</a:t>
            </a:r>
            <a:r>
              <a:rPr lang="en-US" altLang="zh-CN" dirty="0">
                <a:solidFill>
                  <a:srgbClr val="FF0000"/>
                </a:solidFill>
              </a:rPr>
              <a:t>wait</a:t>
            </a:r>
            <a:r>
              <a:rPr lang="zh-CN" altLang="en-US" dirty="0">
                <a:solidFill>
                  <a:srgbClr val="FF0000"/>
                </a:solidFill>
              </a:rPr>
              <a:t>与</a:t>
            </a:r>
            <a:r>
              <a:rPr lang="en-US" altLang="zh-CN" dirty="0">
                <a:solidFill>
                  <a:srgbClr val="FF0000"/>
                </a:solidFill>
              </a:rPr>
              <a:t>signal</a:t>
            </a:r>
            <a:r>
              <a:rPr lang="zh-CN" altLang="en-US" dirty="0">
                <a:solidFill>
                  <a:srgbClr val="FF0000"/>
                </a:solidFill>
              </a:rPr>
              <a:t>语句只能嵌套，不能交叉</a:t>
            </a:r>
            <a:r>
              <a:rPr lang="zh-CN" altLang="en-US" dirty="0"/>
              <a:t>。</a:t>
            </a:r>
            <a:endParaRPr lang="zh-CN" altLang="en-US" dirty="0"/>
          </a:p>
          <a:p>
            <a:pPr>
              <a:spcBef>
                <a:spcPts val="600"/>
              </a:spcBef>
            </a:pPr>
            <a:r>
              <a:rPr lang="zh-CN" altLang="en-US" dirty="0"/>
              <a:t>对同一个资源信号量的</a:t>
            </a:r>
            <a:r>
              <a:rPr lang="en-US" altLang="zh-CN" dirty="0"/>
              <a:t>wait</a:t>
            </a:r>
            <a:r>
              <a:rPr lang="zh-CN" altLang="en-US" dirty="0"/>
              <a:t>与</a:t>
            </a:r>
            <a:r>
              <a:rPr lang="en-US" altLang="zh-CN" dirty="0"/>
              <a:t>signal</a:t>
            </a:r>
            <a:r>
              <a:rPr lang="zh-CN" altLang="en-US" dirty="0"/>
              <a:t>可以不在同一个进程中。</a:t>
            </a:r>
            <a:endParaRPr lang="en-US" altLang="zh-CN" dirty="0"/>
          </a:p>
          <a:p>
            <a:pPr lvl="1">
              <a:spcBef>
                <a:spcPts val="600"/>
              </a:spcBef>
            </a:pPr>
            <a:r>
              <a:rPr lang="zh-CN" altLang="en-US" dirty="0"/>
              <a:t>例如，</a:t>
            </a:r>
            <a:r>
              <a:rPr lang="en-US" altLang="zh-CN" dirty="0"/>
              <a:t>wait(empty)</a:t>
            </a:r>
            <a:r>
              <a:rPr lang="zh-CN" altLang="en-US" dirty="0"/>
              <a:t>在计算进程中，而</a:t>
            </a:r>
            <a:r>
              <a:rPr lang="en-US" altLang="zh-CN" dirty="0"/>
              <a:t>signal(empty)</a:t>
            </a:r>
            <a:r>
              <a:rPr lang="zh-CN" altLang="en-US" dirty="0"/>
              <a:t>则在打印进程中，计算进程若因执行</a:t>
            </a:r>
            <a:r>
              <a:rPr lang="en-US" altLang="zh-CN" dirty="0"/>
              <a:t>wait(empty)</a:t>
            </a:r>
            <a:r>
              <a:rPr lang="zh-CN" altLang="en-US" dirty="0"/>
              <a:t>而阻塞， 则以后将由打印进程将它唤醒</a:t>
            </a:r>
            <a:endParaRPr lang="zh-CN" altLang="en-US" dirty="0"/>
          </a:p>
          <a:p>
            <a:pPr>
              <a:spcBef>
                <a:spcPts val="600"/>
              </a:spcBef>
            </a:pPr>
            <a:r>
              <a:rPr lang="en-US" altLang="zh-CN" dirty="0">
                <a:solidFill>
                  <a:srgbClr val="FF0000"/>
                </a:solidFill>
              </a:rPr>
              <a:t>wait</a:t>
            </a:r>
            <a:r>
              <a:rPr lang="zh-CN" altLang="en-US" dirty="0">
                <a:solidFill>
                  <a:srgbClr val="FF0000"/>
                </a:solidFill>
              </a:rPr>
              <a:t>与</a:t>
            </a:r>
            <a:r>
              <a:rPr lang="en-US" altLang="zh-CN" dirty="0">
                <a:solidFill>
                  <a:srgbClr val="FF0000"/>
                </a:solidFill>
              </a:rPr>
              <a:t>signal</a:t>
            </a:r>
            <a:r>
              <a:rPr lang="zh-CN" altLang="en-US" dirty="0">
                <a:solidFill>
                  <a:srgbClr val="FF0000"/>
                </a:solidFill>
              </a:rPr>
              <a:t>语句不能颠倒顺序</a:t>
            </a:r>
            <a:r>
              <a:rPr lang="zh-CN" altLang="en-US" dirty="0"/>
              <a:t>，</a:t>
            </a:r>
            <a:r>
              <a:rPr lang="en-US" altLang="zh-CN" dirty="0"/>
              <a:t>wait</a:t>
            </a:r>
            <a:r>
              <a:rPr lang="zh-CN" altLang="en-US" dirty="0"/>
              <a:t>语句一定先于</a:t>
            </a:r>
            <a:r>
              <a:rPr lang="en-US" altLang="zh-CN" dirty="0"/>
              <a:t>signal</a:t>
            </a:r>
            <a:r>
              <a:rPr lang="zh-CN" altLang="en-US" dirty="0"/>
              <a:t>语句，否则可能引起进程死锁。</a:t>
            </a:r>
            <a:r>
              <a:rPr lang="en-US" altLang="zh-CN" dirty="0"/>
              <a:t>(</a:t>
            </a:r>
            <a:r>
              <a:rPr lang="zh-CN" altLang="en-US" dirty="0"/>
              <a:t>在同一进程内不可，但不同进程之间呢？否则前趋关系如何实现？</a:t>
            </a:r>
            <a:r>
              <a:rPr lang="en-US" altLang="zh-CN" dirty="0"/>
              <a:t>)</a:t>
            </a:r>
            <a:endParaRPr lang="en-US" altLang="zh-CN" dirty="0"/>
          </a:p>
        </p:txBody>
      </p:sp>
      <p:sp>
        <p:nvSpPr>
          <p:cNvPr id="151554" name="Rectangle 2"/>
          <p:cNvSpPr>
            <a:spLocks noGrp="1" noRot="1" noChangeArrowheads="1"/>
          </p:cNvSpPr>
          <p:nvPr>
            <p:ph type="title"/>
          </p:nvPr>
        </p:nvSpPr>
        <p:spPr/>
        <p:txBody>
          <a:bodyPr/>
          <a:lstStyle/>
          <a:p>
            <a:r>
              <a:rPr lang="zh-CN" altLang="en-US"/>
              <a:t>注意</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403">
                                            <p:txEl>
                                              <p:pRg st="0" end="0"/>
                                            </p:txEl>
                                          </p:spTgt>
                                        </p:tgtEl>
                                        <p:attrNameLst>
                                          <p:attrName>style.visibility</p:attrName>
                                        </p:attrNameLst>
                                      </p:cBhvr>
                                      <p:to>
                                        <p:strVal val="visible"/>
                                      </p:to>
                                    </p:set>
                                    <p:animEffect transition="in" filter="fade">
                                      <p:cBhvr>
                                        <p:cTn id="7" dur="500"/>
                                        <p:tgtEl>
                                          <p:spTgt spid="6144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403">
                                            <p:txEl>
                                              <p:pRg st="1" end="1"/>
                                            </p:txEl>
                                          </p:spTgt>
                                        </p:tgtEl>
                                        <p:attrNameLst>
                                          <p:attrName>style.visibility</p:attrName>
                                        </p:attrNameLst>
                                      </p:cBhvr>
                                      <p:to>
                                        <p:strVal val="visible"/>
                                      </p:to>
                                    </p:set>
                                    <p:animEffect transition="in" filter="fade">
                                      <p:cBhvr>
                                        <p:cTn id="12" dur="500"/>
                                        <p:tgtEl>
                                          <p:spTgt spid="6144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14403">
                                            <p:txEl>
                                              <p:pRg st="2" end="2"/>
                                            </p:txEl>
                                          </p:spTgt>
                                        </p:tgtEl>
                                        <p:attrNameLst>
                                          <p:attrName>style.visibility</p:attrName>
                                        </p:attrNameLst>
                                      </p:cBhvr>
                                      <p:to>
                                        <p:strVal val="visible"/>
                                      </p:to>
                                    </p:set>
                                    <p:animEffect transition="in" filter="fade">
                                      <p:cBhvr>
                                        <p:cTn id="17" dur="500"/>
                                        <p:tgtEl>
                                          <p:spTgt spid="6144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403">
                                            <p:txEl>
                                              <p:pRg st="3" end="3"/>
                                            </p:txEl>
                                          </p:spTgt>
                                        </p:tgtEl>
                                        <p:attrNameLst>
                                          <p:attrName>style.visibility</p:attrName>
                                        </p:attrNameLst>
                                      </p:cBhvr>
                                      <p:to>
                                        <p:strVal val="visible"/>
                                      </p:to>
                                    </p:set>
                                    <p:animEffect transition="in" filter="fade">
                                      <p:cBhvr>
                                        <p:cTn id="22" dur="500"/>
                                        <p:tgtEl>
                                          <p:spTgt spid="6144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4403">
                                            <p:txEl>
                                              <p:pRg st="4" end="4"/>
                                            </p:txEl>
                                          </p:spTgt>
                                        </p:tgtEl>
                                        <p:attrNameLst>
                                          <p:attrName>style.visibility</p:attrName>
                                        </p:attrNameLst>
                                      </p:cBhvr>
                                      <p:to>
                                        <p:strVal val="visible"/>
                                      </p:to>
                                    </p:set>
                                    <p:animEffect transition="in" filter="fade">
                                      <p:cBhvr>
                                        <p:cTn id="27" dur="500"/>
                                        <p:tgtEl>
                                          <p:spTgt spid="614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type="body" idx="1"/>
          </p:nvPr>
        </p:nvSpPr>
        <p:spPr/>
        <p:txBody>
          <a:bodyPr/>
          <a:lstStyle/>
          <a:p>
            <a:r>
              <a:rPr lang="en-US" altLang="zh-CN" dirty="0" err="1"/>
              <a:t>a,b</a:t>
            </a:r>
            <a:r>
              <a:rPr lang="en-US" altLang="zh-CN" dirty="0"/>
              <a:t> </a:t>
            </a:r>
            <a:r>
              <a:rPr lang="zh-CN" altLang="en-US" dirty="0"/>
              <a:t>两点间是一段东西向的单行车道，现要设计一个自动管理系统，管理规则如下：</a:t>
            </a:r>
            <a:endParaRPr lang="en-US" altLang="zh-CN" dirty="0"/>
          </a:p>
          <a:p>
            <a:pPr lvl="1"/>
            <a:r>
              <a:rPr lang="zh-CN" altLang="en-US" dirty="0"/>
              <a:t>当</a:t>
            </a:r>
            <a:r>
              <a:rPr lang="en-US" altLang="zh-CN" dirty="0"/>
              <a:t>ab</a:t>
            </a:r>
            <a:r>
              <a:rPr lang="zh-CN" altLang="en-US" dirty="0"/>
              <a:t>间有车辆在行驶时同方向的车可以同时驶入</a:t>
            </a:r>
            <a:r>
              <a:rPr lang="en-US" altLang="zh-CN" dirty="0"/>
              <a:t>ab</a:t>
            </a:r>
            <a:r>
              <a:rPr lang="zh-CN" altLang="en-US" dirty="0"/>
              <a:t>段，但另一方向的车必须在</a:t>
            </a:r>
            <a:r>
              <a:rPr lang="en-US" altLang="zh-CN" dirty="0"/>
              <a:t>ab</a:t>
            </a:r>
            <a:r>
              <a:rPr lang="zh-CN" altLang="en-US" dirty="0"/>
              <a:t>段外等待；</a:t>
            </a:r>
            <a:endParaRPr lang="en-US" altLang="zh-CN" dirty="0"/>
          </a:p>
          <a:p>
            <a:pPr lvl="1"/>
            <a:r>
              <a:rPr lang="zh-CN" altLang="en-US" dirty="0"/>
              <a:t>当</a:t>
            </a:r>
            <a:r>
              <a:rPr lang="en-US" altLang="zh-CN" dirty="0"/>
              <a:t>ab</a:t>
            </a:r>
            <a:r>
              <a:rPr lang="zh-CN" altLang="en-US" dirty="0"/>
              <a:t>之间无车时，到达</a:t>
            </a:r>
            <a:r>
              <a:rPr lang="en-US" altLang="zh-CN" dirty="0"/>
              <a:t>a</a:t>
            </a:r>
            <a:r>
              <a:rPr lang="zh-CN" altLang="en-US" dirty="0"/>
              <a:t>（或</a:t>
            </a:r>
            <a:r>
              <a:rPr lang="en-US" altLang="zh-CN" dirty="0"/>
              <a:t>b</a:t>
            </a:r>
            <a:r>
              <a:rPr lang="zh-CN" altLang="en-US" dirty="0"/>
              <a:t>）的车辆可以进入</a:t>
            </a:r>
            <a:r>
              <a:rPr lang="en-US" altLang="zh-CN" dirty="0"/>
              <a:t>ab</a:t>
            </a:r>
            <a:r>
              <a:rPr lang="zh-CN" altLang="en-US" dirty="0"/>
              <a:t>段，但不能从</a:t>
            </a:r>
            <a:r>
              <a:rPr lang="en-US" altLang="zh-CN" dirty="0"/>
              <a:t>a</a:t>
            </a:r>
            <a:r>
              <a:rPr lang="zh-CN" altLang="en-US" dirty="0"/>
              <a:t>，</a:t>
            </a:r>
            <a:r>
              <a:rPr lang="en-US" altLang="zh-CN" dirty="0"/>
              <a:t>b</a:t>
            </a:r>
            <a:r>
              <a:rPr lang="zh-CN" altLang="en-US" dirty="0"/>
              <a:t>点同时驶入；</a:t>
            </a:r>
            <a:endParaRPr lang="en-US" altLang="zh-CN" dirty="0"/>
          </a:p>
          <a:p>
            <a:pPr lvl="1"/>
            <a:r>
              <a:rPr lang="zh-CN" altLang="en-US" dirty="0"/>
              <a:t>当某方向在</a:t>
            </a:r>
            <a:r>
              <a:rPr lang="en-US" altLang="zh-CN" dirty="0"/>
              <a:t>ab</a:t>
            </a:r>
            <a:r>
              <a:rPr lang="zh-CN" altLang="en-US" dirty="0"/>
              <a:t>段行驶的车辆使出了</a:t>
            </a:r>
            <a:r>
              <a:rPr lang="en-US" altLang="zh-CN" dirty="0"/>
              <a:t>ab</a:t>
            </a:r>
            <a:r>
              <a:rPr lang="zh-CN" altLang="en-US" dirty="0"/>
              <a:t>段且无车辆进入</a:t>
            </a:r>
            <a:r>
              <a:rPr lang="en-US" altLang="zh-CN" dirty="0"/>
              <a:t>ab</a:t>
            </a:r>
            <a:r>
              <a:rPr lang="zh-CN" altLang="en-US" dirty="0"/>
              <a:t>段时，应让另一方向等待的车辆进入</a:t>
            </a:r>
            <a:r>
              <a:rPr lang="en-US" altLang="zh-CN" dirty="0"/>
              <a:t>ab</a:t>
            </a:r>
            <a:r>
              <a:rPr lang="zh-CN" altLang="en-US" dirty="0"/>
              <a:t>段行驶。</a:t>
            </a:r>
            <a:endParaRPr lang="en-US" altLang="zh-CN" dirty="0"/>
          </a:p>
          <a:p>
            <a:r>
              <a:rPr lang="zh-CN" altLang="en-US" dirty="0"/>
              <a:t>请用</a:t>
            </a:r>
            <a:r>
              <a:rPr lang="en-US" altLang="zh-CN" dirty="0" err="1"/>
              <a:t>wait,signal</a:t>
            </a:r>
            <a:r>
              <a:rPr lang="zh-CN" altLang="en-US" dirty="0"/>
              <a:t>工具对</a:t>
            </a:r>
            <a:r>
              <a:rPr lang="en-US" altLang="zh-CN" dirty="0"/>
              <a:t>ab</a:t>
            </a:r>
            <a:r>
              <a:rPr lang="zh-CN" altLang="en-US" dirty="0"/>
              <a:t>段实现正确管理。</a:t>
            </a:r>
            <a:endParaRPr lang="zh-CN" altLang="en-US" dirty="0"/>
          </a:p>
          <a:p>
            <a:endParaRPr lang="en-US" altLang="zh-CN" dirty="0"/>
          </a:p>
        </p:txBody>
      </p:sp>
      <p:sp>
        <p:nvSpPr>
          <p:cNvPr id="570370" name="Rectangle 2"/>
          <p:cNvSpPr>
            <a:spLocks noGrp="1" noChangeArrowheads="1"/>
          </p:cNvSpPr>
          <p:nvPr>
            <p:ph type="title"/>
          </p:nvPr>
        </p:nvSpPr>
        <p:spPr/>
        <p:txBody>
          <a:bodyPr/>
          <a:lstStyle/>
          <a:p>
            <a:r>
              <a:rPr lang="zh-CN" altLang="en-US"/>
              <a:t>练习（容易考）</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4" name="Rectangle 2"/>
          <p:cNvSpPr>
            <a:spLocks noGrp="1" noChangeArrowheads="1"/>
          </p:cNvSpPr>
          <p:nvPr>
            <p:ph type="title"/>
          </p:nvPr>
        </p:nvSpPr>
        <p:spPr/>
        <p:txBody>
          <a:bodyPr/>
          <a:lstStyle/>
          <a:p>
            <a:pPr eaLnBrk="1" hangingPunct="1">
              <a:defRPr/>
            </a:pPr>
            <a:r>
              <a:rPr lang="zh-CN" altLang="en-US"/>
              <a:t>答：</a:t>
            </a:r>
            <a:endParaRPr lang="zh-CN" altLang="en-US"/>
          </a:p>
        </p:txBody>
      </p:sp>
      <p:sp>
        <p:nvSpPr>
          <p:cNvPr id="167939" name="Rectangle 3"/>
          <p:cNvSpPr>
            <a:spLocks noGrp="1" noChangeArrowheads="1"/>
          </p:cNvSpPr>
          <p:nvPr>
            <p:ph type="body" idx="1"/>
          </p:nvPr>
        </p:nvSpPr>
        <p:spPr>
          <a:xfrm>
            <a:off x="1039881" y="1288987"/>
            <a:ext cx="10770648" cy="5157643"/>
          </a:xfrm>
        </p:spPr>
        <p:txBody>
          <a:bodyPr/>
          <a:lstStyle/>
          <a:p>
            <a:pPr lvl="1" eaLnBrk="1" hangingPunct="1">
              <a:spcBef>
                <a:spcPts val="600"/>
              </a:spcBef>
              <a:buFont typeface="Times New Roman" panose="02020603050405020304" pitchFamily="18" charset="0"/>
              <a:buNone/>
            </a:pPr>
            <a:r>
              <a:rPr lang="en-US" altLang="zh-CN" sz="2400" dirty="0"/>
              <a:t>Semaphore s, </a:t>
            </a:r>
            <a:r>
              <a:rPr lang="en-US" altLang="zh-CN" sz="2400" dirty="0" err="1"/>
              <a:t>mutexab,mutexba</a:t>
            </a:r>
            <a:endParaRPr lang="en-US" altLang="zh-CN" sz="2400" dirty="0"/>
          </a:p>
          <a:p>
            <a:pPr lvl="1" eaLnBrk="1" hangingPunct="1">
              <a:spcBef>
                <a:spcPts val="600"/>
              </a:spcBef>
              <a:buFont typeface="Times New Roman" panose="02020603050405020304" pitchFamily="18" charset="0"/>
              <a:buNone/>
            </a:pPr>
            <a:r>
              <a:rPr lang="en-US" altLang="zh-CN" sz="2400" dirty="0" err="1"/>
              <a:t>Pab</a:t>
            </a:r>
            <a:r>
              <a:rPr lang="zh-CN" altLang="en-US" sz="2400" dirty="0"/>
              <a:t>：</a:t>
            </a:r>
            <a:endParaRPr lang="zh-CN" altLang="en-US" sz="2400" dirty="0"/>
          </a:p>
          <a:p>
            <a:pPr lvl="2" eaLnBrk="1" hangingPunct="1">
              <a:spcBef>
                <a:spcPts val="600"/>
              </a:spcBef>
              <a:buFont typeface="Times New Roman" panose="02020603050405020304" pitchFamily="18" charset="0"/>
              <a:buNone/>
            </a:pPr>
            <a:r>
              <a:rPr lang="en-US" altLang="zh-CN" dirty="0"/>
              <a:t>Wait(</a:t>
            </a:r>
            <a:r>
              <a:rPr lang="en-US" altLang="zh-CN" dirty="0" err="1"/>
              <a:t>mutexab</a:t>
            </a:r>
            <a:r>
              <a:rPr lang="en-US" altLang="zh-CN" dirty="0"/>
              <a:t>)</a:t>
            </a:r>
            <a:endParaRPr lang="en-US" altLang="zh-CN" dirty="0"/>
          </a:p>
          <a:p>
            <a:pPr lvl="2" eaLnBrk="1" hangingPunct="1">
              <a:spcBef>
                <a:spcPts val="600"/>
              </a:spcBef>
              <a:buFont typeface="Times New Roman" panose="02020603050405020304" pitchFamily="18" charset="0"/>
              <a:buNone/>
            </a:pPr>
            <a:r>
              <a:rPr lang="en-US" altLang="zh-CN" dirty="0" err="1"/>
              <a:t>Countab</a:t>
            </a:r>
            <a:r>
              <a:rPr lang="en-US" altLang="zh-CN" dirty="0"/>
              <a:t>++</a:t>
            </a:r>
            <a:endParaRPr lang="en-US" altLang="zh-CN" dirty="0"/>
          </a:p>
          <a:p>
            <a:pPr lvl="2" eaLnBrk="1" hangingPunct="1">
              <a:spcBef>
                <a:spcPts val="600"/>
              </a:spcBef>
              <a:buFont typeface="Times New Roman" panose="02020603050405020304" pitchFamily="18" charset="0"/>
              <a:buNone/>
            </a:pPr>
            <a:r>
              <a:rPr lang="en-US" altLang="zh-CN" dirty="0"/>
              <a:t>If </a:t>
            </a:r>
            <a:r>
              <a:rPr lang="en-US" altLang="zh-CN" dirty="0" err="1"/>
              <a:t>countab</a:t>
            </a:r>
            <a:r>
              <a:rPr lang="en-US" altLang="zh-CN" dirty="0"/>
              <a:t>=1 then wait(s); </a:t>
            </a:r>
            <a:r>
              <a:rPr lang="zh-CN" altLang="en-US" dirty="0"/>
              <a:t>先加抢的更快</a:t>
            </a:r>
            <a:endParaRPr lang="en-US" altLang="zh-CN" dirty="0"/>
          </a:p>
          <a:p>
            <a:pPr lvl="2" eaLnBrk="1" hangingPunct="1">
              <a:spcBef>
                <a:spcPts val="600"/>
              </a:spcBef>
              <a:buFont typeface="Times New Roman" panose="02020603050405020304" pitchFamily="18" charset="0"/>
              <a:buNone/>
            </a:pPr>
            <a:r>
              <a:rPr lang="en-US" altLang="zh-CN" dirty="0"/>
              <a:t>Signal(</a:t>
            </a:r>
            <a:r>
              <a:rPr lang="en-US" altLang="zh-CN" dirty="0" err="1"/>
              <a:t>mutexab</a:t>
            </a:r>
            <a:r>
              <a:rPr lang="en-US" altLang="zh-CN" dirty="0"/>
              <a:t>)</a:t>
            </a:r>
            <a:endParaRPr lang="en-US" altLang="zh-CN" dirty="0"/>
          </a:p>
          <a:p>
            <a:pPr lvl="2" eaLnBrk="1" hangingPunct="1">
              <a:spcBef>
                <a:spcPts val="600"/>
              </a:spcBef>
              <a:buFont typeface="Times New Roman" panose="02020603050405020304" pitchFamily="18" charset="0"/>
              <a:buNone/>
            </a:pPr>
            <a:r>
              <a:rPr lang="en-US" altLang="zh-CN" dirty="0"/>
              <a:t>    …..</a:t>
            </a:r>
            <a:endParaRPr lang="en-US" altLang="zh-CN" dirty="0"/>
          </a:p>
          <a:p>
            <a:pPr lvl="2" eaLnBrk="1" hangingPunct="1">
              <a:spcBef>
                <a:spcPts val="600"/>
              </a:spcBef>
              <a:buFont typeface="Times New Roman" panose="02020603050405020304" pitchFamily="18" charset="0"/>
              <a:buNone/>
            </a:pPr>
            <a:r>
              <a:rPr lang="en-US" altLang="zh-CN" dirty="0"/>
              <a:t>wait(</a:t>
            </a:r>
            <a:r>
              <a:rPr lang="en-US" altLang="zh-CN" dirty="0" err="1"/>
              <a:t>mutexab</a:t>
            </a:r>
            <a:r>
              <a:rPr lang="en-US" altLang="zh-CN" dirty="0"/>
              <a:t>)</a:t>
            </a:r>
            <a:endParaRPr lang="en-US" altLang="zh-CN" dirty="0"/>
          </a:p>
          <a:p>
            <a:pPr lvl="2" eaLnBrk="1" hangingPunct="1">
              <a:spcBef>
                <a:spcPts val="600"/>
              </a:spcBef>
              <a:buFont typeface="Times New Roman" panose="02020603050405020304" pitchFamily="18" charset="0"/>
              <a:buNone/>
            </a:pPr>
            <a:r>
              <a:rPr lang="en-US" altLang="zh-CN" dirty="0" err="1"/>
              <a:t>countab</a:t>
            </a:r>
            <a:r>
              <a:rPr lang="en-US" altLang="zh-CN" dirty="0"/>
              <a:t>- -;</a:t>
            </a:r>
            <a:endParaRPr lang="en-US" altLang="zh-CN" dirty="0"/>
          </a:p>
          <a:p>
            <a:pPr lvl="2" eaLnBrk="1" hangingPunct="1">
              <a:spcBef>
                <a:spcPts val="600"/>
              </a:spcBef>
              <a:buFont typeface="Times New Roman" panose="02020603050405020304" pitchFamily="18" charset="0"/>
              <a:buNone/>
            </a:pPr>
            <a:r>
              <a:rPr lang="en-US" altLang="zh-CN" dirty="0"/>
              <a:t>if </a:t>
            </a:r>
            <a:r>
              <a:rPr lang="en-US" altLang="zh-CN" dirty="0" err="1"/>
              <a:t>countab</a:t>
            </a:r>
            <a:r>
              <a:rPr lang="en-US" altLang="zh-CN" dirty="0"/>
              <a:t>=0 then signal(s)</a:t>
            </a:r>
            <a:endParaRPr lang="en-US" altLang="zh-CN" dirty="0"/>
          </a:p>
          <a:p>
            <a:pPr lvl="2" eaLnBrk="1" hangingPunct="1">
              <a:spcBef>
                <a:spcPts val="600"/>
              </a:spcBef>
              <a:buFont typeface="Times New Roman" panose="02020603050405020304" pitchFamily="18" charset="0"/>
              <a:buNone/>
            </a:pPr>
            <a:r>
              <a:rPr lang="en-US" altLang="zh-CN" dirty="0"/>
              <a:t>signal(</a:t>
            </a:r>
            <a:r>
              <a:rPr lang="en-US" altLang="zh-CN" dirty="0" err="1"/>
              <a:t>mutexab</a:t>
            </a:r>
            <a:r>
              <a:rPr lang="en-US" altLang="zh-CN" dirty="0"/>
              <a:t>);</a:t>
            </a:r>
            <a:endParaRPr lang="en-US" altLang="zh-CN" dirty="0"/>
          </a:p>
          <a:p>
            <a:pPr eaLnBrk="1" hangingPunct="1">
              <a:spcBef>
                <a:spcPts val="600"/>
              </a:spcBef>
            </a:pP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pPr eaLnBrk="1" hangingPunct="1">
              <a:defRPr/>
            </a:pPr>
            <a:r>
              <a:rPr lang="zh-CN" altLang="en-US"/>
              <a:t>答：</a:t>
            </a:r>
            <a:endParaRPr lang="zh-CN" altLang="en-US"/>
          </a:p>
        </p:txBody>
      </p:sp>
      <p:sp>
        <p:nvSpPr>
          <p:cNvPr id="168963" name="Rectangle 3"/>
          <p:cNvSpPr>
            <a:spLocks noGrp="1" noChangeArrowheads="1"/>
          </p:cNvSpPr>
          <p:nvPr>
            <p:ph type="body" idx="1"/>
          </p:nvPr>
        </p:nvSpPr>
        <p:spPr>
          <a:xfrm>
            <a:off x="1017304" y="1108365"/>
            <a:ext cx="10770648" cy="5157643"/>
          </a:xfrm>
        </p:spPr>
        <p:txBody>
          <a:bodyPr/>
          <a:lstStyle/>
          <a:p>
            <a:pPr eaLnBrk="1" hangingPunct="1">
              <a:spcBef>
                <a:spcPts val="600"/>
              </a:spcBef>
              <a:buFont typeface="Wingdings" panose="05000000000000000000" pitchFamily="2" charset="2"/>
              <a:buNone/>
            </a:pPr>
            <a:r>
              <a:rPr lang="en-US" altLang="zh-CN" dirty="0" err="1"/>
              <a:t>Pba</a:t>
            </a:r>
            <a:r>
              <a:rPr lang="en-US" altLang="zh-CN" dirty="0"/>
              <a:t>:</a:t>
            </a:r>
            <a:endParaRPr lang="en-US" altLang="zh-CN" dirty="0"/>
          </a:p>
          <a:p>
            <a:pPr lvl="1" eaLnBrk="1" hangingPunct="1">
              <a:spcBef>
                <a:spcPts val="600"/>
              </a:spcBef>
              <a:buFont typeface="Times New Roman" panose="02020603050405020304" pitchFamily="18" charset="0"/>
              <a:buNone/>
            </a:pPr>
            <a:r>
              <a:rPr lang="en-US" altLang="zh-CN" sz="2400" dirty="0"/>
              <a:t>wait(</a:t>
            </a:r>
            <a:r>
              <a:rPr lang="en-US" altLang="zh-CN" sz="2400" dirty="0" err="1"/>
              <a:t>mutexba</a:t>
            </a:r>
            <a:r>
              <a:rPr lang="en-US" altLang="zh-CN" sz="2400" dirty="0"/>
              <a:t>)</a:t>
            </a:r>
            <a:endParaRPr lang="en-US" altLang="zh-CN" sz="2400" dirty="0"/>
          </a:p>
          <a:p>
            <a:pPr lvl="1" eaLnBrk="1" hangingPunct="1">
              <a:spcBef>
                <a:spcPts val="600"/>
              </a:spcBef>
              <a:buFont typeface="Times New Roman" panose="02020603050405020304" pitchFamily="18" charset="0"/>
              <a:buNone/>
            </a:pPr>
            <a:r>
              <a:rPr lang="en-US" altLang="zh-CN" sz="2400" dirty="0" err="1"/>
              <a:t>countba</a:t>
            </a:r>
            <a:r>
              <a:rPr lang="en-US" altLang="zh-CN" sz="2400" dirty="0"/>
              <a:t>=countba+1;</a:t>
            </a:r>
            <a:endParaRPr lang="en-US" altLang="zh-CN" sz="2400" dirty="0"/>
          </a:p>
          <a:p>
            <a:pPr lvl="1" eaLnBrk="1" hangingPunct="1">
              <a:spcBef>
                <a:spcPts val="600"/>
              </a:spcBef>
              <a:buFont typeface="Times New Roman" panose="02020603050405020304" pitchFamily="18" charset="0"/>
              <a:buNone/>
            </a:pPr>
            <a:r>
              <a:rPr lang="en-US" altLang="zh-CN" sz="2400" dirty="0"/>
              <a:t>If </a:t>
            </a:r>
            <a:r>
              <a:rPr lang="en-US" altLang="zh-CN" sz="2400" dirty="0" err="1"/>
              <a:t>countba</a:t>
            </a:r>
            <a:r>
              <a:rPr lang="en-US" altLang="zh-CN" sz="2400" dirty="0"/>
              <a:t>=1 then wait(s)</a:t>
            </a:r>
            <a:endParaRPr lang="en-US" altLang="zh-CN" sz="2400" dirty="0"/>
          </a:p>
          <a:p>
            <a:pPr lvl="1" eaLnBrk="1" hangingPunct="1">
              <a:spcBef>
                <a:spcPts val="600"/>
              </a:spcBef>
              <a:buFont typeface="Times New Roman" panose="02020603050405020304" pitchFamily="18" charset="0"/>
              <a:buNone/>
            </a:pPr>
            <a:r>
              <a:rPr lang="en-US" altLang="zh-CN" sz="2400" dirty="0"/>
              <a:t>signal(</a:t>
            </a:r>
            <a:r>
              <a:rPr lang="en-US" altLang="zh-CN" sz="2400" dirty="0" err="1"/>
              <a:t>mutexba</a:t>
            </a:r>
            <a:r>
              <a:rPr lang="en-US" altLang="zh-CN" sz="2400" dirty="0"/>
              <a:t>)</a:t>
            </a:r>
            <a:endParaRPr lang="en-US" altLang="zh-CN" sz="2400" dirty="0"/>
          </a:p>
          <a:p>
            <a:pPr lvl="1" eaLnBrk="1" hangingPunct="1">
              <a:spcBef>
                <a:spcPts val="600"/>
              </a:spcBef>
              <a:buFont typeface="Times New Roman" panose="02020603050405020304" pitchFamily="18" charset="0"/>
              <a:buNone/>
            </a:pPr>
            <a:r>
              <a:rPr lang="en-US" altLang="zh-CN" sz="2400" dirty="0"/>
              <a:t>          enter;</a:t>
            </a:r>
            <a:endParaRPr lang="en-US" altLang="zh-CN" sz="2400" dirty="0"/>
          </a:p>
          <a:p>
            <a:pPr lvl="1" eaLnBrk="1" hangingPunct="1">
              <a:spcBef>
                <a:spcPts val="600"/>
              </a:spcBef>
              <a:buFont typeface="Times New Roman" panose="02020603050405020304" pitchFamily="18" charset="0"/>
              <a:buNone/>
            </a:pPr>
            <a:r>
              <a:rPr lang="en-US" altLang="zh-CN" sz="2400" dirty="0"/>
              <a:t>		……</a:t>
            </a:r>
            <a:endParaRPr lang="en-US" altLang="zh-CN" sz="2400" dirty="0"/>
          </a:p>
          <a:p>
            <a:pPr lvl="1" eaLnBrk="1" hangingPunct="1">
              <a:spcBef>
                <a:spcPts val="600"/>
              </a:spcBef>
              <a:buFont typeface="Times New Roman" panose="02020603050405020304" pitchFamily="18" charset="0"/>
              <a:buNone/>
            </a:pPr>
            <a:r>
              <a:rPr lang="en-US" altLang="zh-CN" sz="2400" dirty="0"/>
              <a:t>wait(</a:t>
            </a:r>
            <a:r>
              <a:rPr lang="en-US" altLang="zh-CN" sz="2400" dirty="0" err="1"/>
              <a:t>mutexba</a:t>
            </a:r>
            <a:r>
              <a:rPr lang="en-US" altLang="zh-CN" sz="2400" dirty="0"/>
              <a:t>)</a:t>
            </a:r>
            <a:endParaRPr lang="en-US" altLang="zh-CN" sz="2400" dirty="0"/>
          </a:p>
          <a:p>
            <a:pPr lvl="1" eaLnBrk="1" hangingPunct="1">
              <a:spcBef>
                <a:spcPts val="600"/>
              </a:spcBef>
              <a:buFont typeface="Times New Roman" panose="02020603050405020304" pitchFamily="18" charset="0"/>
              <a:buNone/>
            </a:pPr>
            <a:r>
              <a:rPr lang="en-US" altLang="zh-CN" sz="2400" dirty="0" err="1"/>
              <a:t>countba</a:t>
            </a:r>
            <a:r>
              <a:rPr lang="en-US" altLang="zh-CN" sz="2400" dirty="0"/>
              <a:t>--;</a:t>
            </a:r>
            <a:endParaRPr lang="en-US" altLang="zh-CN" sz="2400" dirty="0"/>
          </a:p>
          <a:p>
            <a:pPr lvl="1" eaLnBrk="1" hangingPunct="1">
              <a:spcBef>
                <a:spcPts val="600"/>
              </a:spcBef>
              <a:buFont typeface="Times New Roman" panose="02020603050405020304" pitchFamily="18" charset="0"/>
              <a:buNone/>
            </a:pPr>
            <a:r>
              <a:rPr lang="en-US" altLang="zh-CN" sz="2400" dirty="0"/>
              <a:t>if </a:t>
            </a:r>
            <a:r>
              <a:rPr lang="en-US" altLang="zh-CN" sz="2400" dirty="0" err="1"/>
              <a:t>countba</a:t>
            </a:r>
            <a:r>
              <a:rPr lang="en-US" altLang="zh-CN" sz="2400" dirty="0"/>
              <a:t>=0 then signal(s)</a:t>
            </a:r>
            <a:endParaRPr lang="en-US" altLang="zh-CN" sz="2400" dirty="0"/>
          </a:p>
          <a:p>
            <a:pPr lvl="1" eaLnBrk="1" hangingPunct="1">
              <a:spcBef>
                <a:spcPts val="600"/>
              </a:spcBef>
              <a:buFont typeface="Times New Roman" panose="02020603050405020304" pitchFamily="18" charset="0"/>
              <a:buNone/>
            </a:pPr>
            <a:r>
              <a:rPr lang="en-US" altLang="zh-CN" sz="2400" dirty="0"/>
              <a:t>signal(</a:t>
            </a:r>
            <a:r>
              <a:rPr lang="en-US" altLang="zh-CN" sz="2400" dirty="0" err="1"/>
              <a:t>mutexba</a:t>
            </a:r>
            <a:r>
              <a:rPr lang="en-US" altLang="zh-CN" sz="2400" dirty="0"/>
              <a:t>);</a:t>
            </a:r>
            <a:endParaRPr lang="en-US" altLang="zh-CN" sz="2400" dirty="0"/>
          </a:p>
          <a:p>
            <a:pPr lvl="1" eaLnBrk="1" hangingPunct="1"/>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指导书例</a:t>
            </a:r>
            <a:r>
              <a:rPr lang="en-US" altLang="zh-CN" dirty="0"/>
              <a:t>17</a:t>
            </a:r>
            <a:r>
              <a:rPr lang="zh-CN" altLang="en-US" dirty="0"/>
              <a:t>：水果问题</a:t>
            </a:r>
            <a:endParaRPr lang="zh-CN" altLang="en-US" dirty="0"/>
          </a:p>
        </p:txBody>
      </p:sp>
      <p:sp>
        <p:nvSpPr>
          <p:cNvPr id="3" name="内容占位符 2"/>
          <p:cNvSpPr>
            <a:spLocks noGrp="1"/>
          </p:cNvSpPr>
          <p:nvPr>
            <p:ph idx="1"/>
          </p:nvPr>
        </p:nvSpPr>
        <p:spPr>
          <a:xfrm>
            <a:off x="571501" y="993423"/>
            <a:ext cx="10999176" cy="5343902"/>
          </a:xfrm>
        </p:spPr>
        <p:txBody>
          <a:bodyPr/>
          <a:lstStyle/>
          <a:p>
            <a:r>
              <a:rPr lang="zh-CN" altLang="en-US" dirty="0"/>
              <a:t>桌上有个能盛得下五个水果的空盘子。爸爸不停地向盘中放苹果或桔子，儿子不停地从盘中取出桔子享用，女儿不停地盘中取出苹果享用。规定三人不能同时从盘子中取出水果。试用信号量实现爸爸、儿子和女儿这三个循环进程之间的同步。</a:t>
            </a:r>
            <a:endParaRPr lang="en-US" altLang="zh-CN" dirty="0"/>
          </a:p>
          <a:p>
            <a:r>
              <a:rPr lang="zh-CN" altLang="en-US" dirty="0"/>
              <a:t>问题的活动实体：爸爸、儿子、女儿</a:t>
            </a:r>
            <a:endParaRPr lang="en-US" altLang="zh-CN" dirty="0"/>
          </a:p>
          <a:p>
            <a:r>
              <a:rPr lang="zh-CN" altLang="en-US" dirty="0"/>
              <a:t>实体的流程：</a:t>
            </a:r>
            <a:endParaRPr lang="en-US" altLang="zh-CN" dirty="0"/>
          </a:p>
          <a:p>
            <a:r>
              <a:rPr lang="zh-CN" altLang="en-US" dirty="0"/>
              <a:t>存在的互斥：不同同时访问盘子</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水果问题分析</a:t>
            </a:r>
            <a:endParaRPr lang="zh-CN" altLang="en-US" dirty="0"/>
          </a:p>
        </p:txBody>
      </p:sp>
      <p:sp>
        <p:nvSpPr>
          <p:cNvPr id="3" name="内容占位符 2"/>
          <p:cNvSpPr>
            <a:spLocks noGrp="1"/>
          </p:cNvSpPr>
          <p:nvPr>
            <p:ph idx="1"/>
          </p:nvPr>
        </p:nvSpPr>
        <p:spPr>
          <a:xfrm>
            <a:off x="763412" y="850178"/>
            <a:ext cx="10999176" cy="5157643"/>
          </a:xfrm>
        </p:spPr>
        <p:txBody>
          <a:bodyPr/>
          <a:lstStyle/>
          <a:p>
            <a:r>
              <a:rPr lang="zh-CN" altLang="en-US" dirty="0"/>
              <a:t>存在的同步：</a:t>
            </a:r>
            <a:endParaRPr lang="en-US" altLang="zh-CN" dirty="0"/>
          </a:p>
          <a:p>
            <a:pPr lvl="1"/>
            <a:r>
              <a:rPr lang="zh-CN" altLang="en-US" dirty="0"/>
              <a:t>盘子满了不能再放</a:t>
            </a:r>
            <a:endParaRPr lang="en-US" altLang="zh-CN" dirty="0"/>
          </a:p>
          <a:p>
            <a:pPr lvl="1"/>
            <a:r>
              <a:rPr lang="zh-CN" altLang="en-US" dirty="0"/>
              <a:t>没有桔子儿子等待放入桔子</a:t>
            </a:r>
            <a:endParaRPr lang="en-US" altLang="zh-CN" dirty="0"/>
          </a:p>
          <a:p>
            <a:pPr lvl="1"/>
            <a:r>
              <a:rPr lang="zh-CN" altLang="en-US" dirty="0"/>
              <a:t>没有苹果女儿等待放入苹果</a:t>
            </a:r>
            <a:endParaRPr lang="en-US" altLang="zh-CN" dirty="0"/>
          </a:p>
          <a:p>
            <a:r>
              <a:rPr lang="zh-CN" altLang="en-US" dirty="0"/>
              <a:t>信号量设置：（要赋初值！！）</a:t>
            </a:r>
            <a:endParaRPr lang="en-US" altLang="zh-CN" dirty="0"/>
          </a:p>
          <a:p>
            <a:pPr lvl="1"/>
            <a:r>
              <a:rPr lang="zh-CN" altLang="en-US" dirty="0"/>
              <a:t>互斥资源盘子：</a:t>
            </a:r>
            <a:r>
              <a:rPr lang="en-US" altLang="zh-CN" dirty="0"/>
              <a:t>mutex=1</a:t>
            </a:r>
            <a:endParaRPr lang="en-US" altLang="zh-CN" dirty="0"/>
          </a:p>
          <a:p>
            <a:pPr lvl="1"/>
            <a:r>
              <a:rPr lang="zh-CN" altLang="en-US" dirty="0"/>
              <a:t>盘子空位：</a:t>
            </a:r>
            <a:r>
              <a:rPr lang="en-US" altLang="zh-CN" dirty="0"/>
              <a:t>empty=0</a:t>
            </a:r>
            <a:endParaRPr lang="en-US" altLang="zh-CN" dirty="0"/>
          </a:p>
          <a:p>
            <a:pPr lvl="1"/>
            <a:r>
              <a:rPr lang="zh-CN" altLang="en-US" dirty="0"/>
              <a:t>可用桔子：</a:t>
            </a:r>
            <a:r>
              <a:rPr lang="en-US" altLang="zh-CN" dirty="0"/>
              <a:t>orange=0</a:t>
            </a:r>
            <a:endParaRPr lang="en-US" altLang="zh-CN" dirty="0"/>
          </a:p>
          <a:p>
            <a:pPr lvl="1"/>
            <a:r>
              <a:rPr lang="zh-CN" altLang="en-US" dirty="0"/>
              <a:t>可用苹果：</a:t>
            </a:r>
            <a:r>
              <a:rPr lang="en-US" altLang="zh-CN" dirty="0"/>
              <a:t>apple=0</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水果问题答案</a:t>
            </a:r>
            <a:r>
              <a:rPr lang="en-US" altLang="zh-CN" dirty="0"/>
              <a:t>:</a:t>
            </a:r>
            <a:endParaRPr lang="zh-CN" altLang="en-US" dirty="0"/>
          </a:p>
        </p:txBody>
      </p:sp>
      <p:sp>
        <p:nvSpPr>
          <p:cNvPr id="3" name="内容占位符 2"/>
          <p:cNvSpPr>
            <a:spLocks noGrp="1"/>
          </p:cNvSpPr>
          <p:nvPr>
            <p:ph sz="half" idx="1"/>
          </p:nvPr>
        </p:nvSpPr>
        <p:spPr>
          <a:xfrm>
            <a:off x="527051" y="1072444"/>
            <a:ext cx="5562600" cy="5020381"/>
          </a:xfrm>
        </p:spPr>
        <p:txBody>
          <a:bodyPr/>
          <a:lstStyle/>
          <a:p>
            <a:pPr marL="0" indent="0">
              <a:buNone/>
            </a:pPr>
            <a:r>
              <a:rPr lang="en-US" altLang="zh-CN" dirty="0"/>
              <a:t>Dad(){</a:t>
            </a:r>
            <a:endParaRPr lang="en-US" altLang="zh-CN" dirty="0"/>
          </a:p>
          <a:p>
            <a:pPr marL="274320" lvl="1" indent="0">
              <a:buNone/>
            </a:pPr>
            <a:r>
              <a:rPr lang="en-US" altLang="zh-CN" sz="2800" dirty="0"/>
              <a:t>While(1){</a:t>
            </a:r>
            <a:endParaRPr lang="en-US" altLang="zh-CN" sz="2800" dirty="0"/>
          </a:p>
          <a:p>
            <a:pPr marL="506095" lvl="2" indent="0">
              <a:buNone/>
            </a:pPr>
            <a:r>
              <a:rPr lang="en-US" altLang="zh-CN" sz="2800" dirty="0"/>
              <a:t>  Wait(empty)</a:t>
            </a:r>
            <a:endParaRPr lang="en-US" altLang="zh-CN" sz="2800" dirty="0"/>
          </a:p>
          <a:p>
            <a:pPr marL="506095" lvl="2" indent="0">
              <a:buNone/>
            </a:pPr>
            <a:r>
              <a:rPr lang="en-US" altLang="zh-CN" sz="2800" dirty="0"/>
              <a:t>  Wait(mutex)</a:t>
            </a:r>
            <a:endParaRPr lang="en-US" altLang="zh-CN" sz="2800" dirty="0"/>
          </a:p>
          <a:p>
            <a:pPr marL="506095" lvl="2" indent="0">
              <a:buNone/>
            </a:pPr>
            <a:r>
              <a:rPr lang="zh-CN" altLang="en-US" sz="2800" dirty="0"/>
              <a:t>  将水果放入盘中</a:t>
            </a:r>
            <a:endParaRPr lang="en-US" altLang="zh-CN" sz="2800" dirty="0"/>
          </a:p>
          <a:p>
            <a:pPr marL="506095" lvl="2" indent="0">
              <a:buNone/>
            </a:pPr>
            <a:r>
              <a:rPr lang="en-US" altLang="zh-CN" sz="2800" dirty="0"/>
              <a:t>  Signal(mutex)</a:t>
            </a:r>
            <a:endParaRPr lang="en-US" altLang="zh-CN" sz="2800" dirty="0"/>
          </a:p>
          <a:p>
            <a:pPr marL="506095" lvl="2" indent="0">
              <a:buNone/>
            </a:pPr>
            <a:r>
              <a:rPr lang="en-US" altLang="zh-CN" sz="2800" dirty="0"/>
              <a:t>  If(</a:t>
            </a:r>
            <a:r>
              <a:rPr lang="zh-CN" altLang="en-US" sz="2800" dirty="0"/>
              <a:t>放入的是桔子） </a:t>
            </a:r>
            <a:r>
              <a:rPr lang="en-US" altLang="zh-CN" sz="2800" dirty="0"/>
              <a:t>signal(orange)</a:t>
            </a:r>
            <a:endParaRPr lang="en-US" altLang="zh-CN" sz="2800" dirty="0"/>
          </a:p>
          <a:p>
            <a:pPr marL="506095" lvl="2" indent="0">
              <a:buNone/>
            </a:pPr>
            <a:r>
              <a:rPr lang="en-US" altLang="zh-CN" sz="2800" dirty="0"/>
              <a:t>  Else  signal(apple)</a:t>
            </a:r>
            <a:endParaRPr lang="en-US" altLang="zh-CN" sz="2800" dirty="0"/>
          </a:p>
          <a:p>
            <a:pPr marL="506095" lvl="2" indent="0">
              <a:buNone/>
            </a:pPr>
            <a:r>
              <a:rPr lang="en-US" altLang="zh-CN" sz="2800" dirty="0"/>
              <a:t>}</a:t>
            </a:r>
            <a:endParaRPr lang="en-US" altLang="zh-CN" sz="2800" dirty="0"/>
          </a:p>
          <a:p>
            <a:pPr marL="0" lvl="2" indent="0">
              <a:buNone/>
            </a:pPr>
            <a:r>
              <a:rPr lang="en-US" altLang="zh-CN" sz="2800" dirty="0"/>
              <a:t>}</a:t>
            </a:r>
            <a:endParaRPr lang="zh-CN" altLang="en-US" sz="2800" dirty="0"/>
          </a:p>
        </p:txBody>
      </p:sp>
      <p:sp>
        <p:nvSpPr>
          <p:cNvPr id="4" name="内容占位符 3"/>
          <p:cNvSpPr>
            <a:spLocks noGrp="1"/>
          </p:cNvSpPr>
          <p:nvPr>
            <p:ph sz="half" idx="2"/>
          </p:nvPr>
        </p:nvSpPr>
        <p:spPr>
          <a:xfrm>
            <a:off x="6292851" y="1072444"/>
            <a:ext cx="5564716" cy="5020381"/>
          </a:xfrm>
        </p:spPr>
        <p:txBody>
          <a:bodyPr/>
          <a:lstStyle/>
          <a:p>
            <a:pPr marL="0" indent="0">
              <a:buNone/>
            </a:pPr>
            <a:r>
              <a:rPr lang="en-US" altLang="zh-CN" dirty="0"/>
              <a:t>Son(){</a:t>
            </a:r>
            <a:endParaRPr lang="en-US" altLang="zh-CN" dirty="0"/>
          </a:p>
          <a:p>
            <a:pPr marL="274320" lvl="1" indent="0">
              <a:buNone/>
            </a:pPr>
            <a:r>
              <a:rPr lang="en-US" altLang="zh-CN" sz="2800" dirty="0"/>
              <a:t>While(1){</a:t>
            </a:r>
            <a:endParaRPr lang="en-US" altLang="zh-CN" sz="2800" dirty="0"/>
          </a:p>
          <a:p>
            <a:pPr marL="506095" lvl="2" indent="0">
              <a:buNone/>
            </a:pPr>
            <a:r>
              <a:rPr lang="en-US" altLang="zh-CN" sz="2800" dirty="0"/>
              <a:t>Wait(orange)</a:t>
            </a:r>
            <a:endParaRPr lang="en-US" altLang="zh-CN" sz="2800" dirty="0"/>
          </a:p>
          <a:p>
            <a:pPr marL="506095" lvl="2" indent="0">
              <a:buNone/>
            </a:pPr>
            <a:r>
              <a:rPr lang="en-US" altLang="zh-CN" sz="2800" dirty="0"/>
              <a:t>Wait(mutex)</a:t>
            </a:r>
            <a:endParaRPr lang="en-US" altLang="zh-CN" sz="2800" dirty="0"/>
          </a:p>
          <a:p>
            <a:pPr marL="506095" lvl="2" indent="0">
              <a:buNone/>
            </a:pPr>
            <a:r>
              <a:rPr lang="zh-CN" altLang="en-US" sz="2800" dirty="0"/>
              <a:t>从盘中取出一个桔子</a:t>
            </a:r>
            <a:endParaRPr lang="en-US" altLang="zh-CN" sz="2800" dirty="0"/>
          </a:p>
          <a:p>
            <a:pPr marL="506095" lvl="2" indent="0">
              <a:buNone/>
            </a:pPr>
            <a:r>
              <a:rPr lang="en-US" altLang="zh-CN" sz="2800" dirty="0"/>
              <a:t>Signal(mutex)</a:t>
            </a:r>
            <a:endParaRPr lang="en-US" altLang="zh-CN" sz="2800" dirty="0"/>
          </a:p>
          <a:p>
            <a:pPr marL="506095" lvl="2" indent="0">
              <a:buNone/>
            </a:pPr>
            <a:r>
              <a:rPr lang="en-US" altLang="zh-CN" sz="2800" dirty="0"/>
              <a:t>Signal(empty)</a:t>
            </a:r>
            <a:endParaRPr lang="en-US" altLang="zh-CN" sz="2800" dirty="0"/>
          </a:p>
          <a:p>
            <a:pPr marL="506095" lvl="2" indent="0">
              <a:buNone/>
            </a:pPr>
            <a:r>
              <a:rPr lang="zh-CN" altLang="en-US" sz="2800" dirty="0"/>
              <a:t>享用桔子</a:t>
            </a:r>
            <a:endParaRPr lang="en-US" altLang="zh-CN" sz="2800" dirty="0"/>
          </a:p>
          <a:p>
            <a:pPr marL="274320" lvl="1" indent="0">
              <a:buNone/>
            </a:pPr>
            <a:r>
              <a:rPr lang="en-US" altLang="zh-CN" sz="2800" dirty="0"/>
              <a:t>}</a:t>
            </a:r>
            <a:endParaRPr lang="en-US" altLang="zh-CN" sz="2800" dirty="0"/>
          </a:p>
          <a:p>
            <a:pPr marL="0" lvl="1" indent="0">
              <a:buNone/>
            </a:pPr>
            <a:r>
              <a:rPr lang="en-US" altLang="zh-CN" sz="2800" dirty="0"/>
              <a:t>}</a:t>
            </a:r>
            <a:endParaRPr lang="zh-CN" altLang="en-US" sz="2800" dirty="0"/>
          </a:p>
        </p:txBody>
      </p:sp>
    </p:spTree>
  </p:cSld>
  <p:clrMapOvr>
    <a:masterClrMapping/>
  </p:clrMapOvr>
  <p:transition>
    <p:sndAc>
      <p:stSnd>
        <p:snd r:embed="rId1" name="chimes.wav"/>
      </p:stSnd>
    </p:sndAc>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指导书</a:t>
            </a:r>
            <a:r>
              <a:rPr lang="en-US" altLang="zh-CN" dirty="0"/>
              <a:t>43</a:t>
            </a:r>
            <a:r>
              <a:rPr lang="zh-CN" altLang="en-US" dirty="0"/>
              <a:t>页例题</a:t>
            </a:r>
            <a:endParaRPr lang="zh-CN" altLang="en-US" dirty="0"/>
          </a:p>
        </p:txBody>
      </p:sp>
      <p:pic>
        <p:nvPicPr>
          <p:cNvPr id="169987" name="内容占位符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762530" y="1409172"/>
            <a:ext cx="10916161" cy="2383895"/>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理发师问题分析</a:t>
            </a:r>
            <a:endParaRPr lang="zh-CN" altLang="en-US" dirty="0"/>
          </a:p>
        </p:txBody>
      </p:sp>
      <p:sp>
        <p:nvSpPr>
          <p:cNvPr id="5" name="内容占位符 4"/>
          <p:cNvSpPr>
            <a:spLocks noGrp="1"/>
          </p:cNvSpPr>
          <p:nvPr>
            <p:ph idx="1"/>
          </p:nvPr>
        </p:nvSpPr>
        <p:spPr>
          <a:xfrm>
            <a:off x="571501" y="948267"/>
            <a:ext cx="10999176" cy="5389057"/>
          </a:xfrm>
        </p:spPr>
        <p:txBody>
          <a:bodyPr/>
          <a:lstStyle/>
          <a:p>
            <a:pPr>
              <a:spcBef>
                <a:spcPts val="600"/>
              </a:spcBef>
            </a:pPr>
            <a:r>
              <a:rPr lang="zh-CN" altLang="en-US" dirty="0"/>
              <a:t>实体：理发师、顾客</a:t>
            </a:r>
            <a:endParaRPr lang="en-US" altLang="zh-CN" dirty="0"/>
          </a:p>
          <a:p>
            <a:pPr>
              <a:spcBef>
                <a:spcPts val="600"/>
              </a:spcBef>
            </a:pPr>
            <a:r>
              <a:rPr lang="zh-CN" altLang="en-US" dirty="0"/>
              <a:t>理发师的流程：</a:t>
            </a:r>
            <a:endParaRPr lang="en-US" altLang="zh-CN" dirty="0"/>
          </a:p>
          <a:p>
            <a:pPr lvl="1">
              <a:spcBef>
                <a:spcPts val="600"/>
              </a:spcBef>
            </a:pPr>
            <a:r>
              <a:rPr lang="zh-CN" altLang="en-US" dirty="0"/>
              <a:t>看是否有空沙发，没有则离开</a:t>
            </a:r>
            <a:endParaRPr lang="en-US" altLang="zh-CN" dirty="0"/>
          </a:p>
          <a:p>
            <a:pPr lvl="1">
              <a:spcBef>
                <a:spcPts val="600"/>
              </a:spcBef>
            </a:pPr>
            <a:r>
              <a:rPr lang="zh-CN" altLang="en-US" dirty="0"/>
              <a:t>有其他顾客在理发则坐到空沙发上等待</a:t>
            </a:r>
            <a:endParaRPr lang="en-US" altLang="zh-CN" dirty="0"/>
          </a:p>
          <a:p>
            <a:pPr lvl="1">
              <a:spcBef>
                <a:spcPts val="600"/>
              </a:spcBef>
            </a:pPr>
            <a:r>
              <a:rPr lang="zh-CN" altLang="en-US" dirty="0"/>
              <a:t>唤醒理发师给自己理发</a:t>
            </a:r>
            <a:endParaRPr lang="en-US" altLang="zh-CN" dirty="0"/>
          </a:p>
          <a:p>
            <a:pPr lvl="1">
              <a:spcBef>
                <a:spcPts val="600"/>
              </a:spcBef>
            </a:pPr>
            <a:r>
              <a:rPr lang="zh-CN" altLang="en-US" dirty="0"/>
              <a:t>被理发</a:t>
            </a:r>
            <a:endParaRPr lang="en-US" altLang="zh-CN" dirty="0"/>
          </a:p>
          <a:p>
            <a:pPr lvl="1">
              <a:spcBef>
                <a:spcPts val="600"/>
              </a:spcBef>
            </a:pPr>
            <a:r>
              <a:rPr lang="zh-CN" altLang="en-US" dirty="0"/>
              <a:t>通知理发师收钱</a:t>
            </a:r>
            <a:endParaRPr lang="en-US" altLang="zh-CN" dirty="0"/>
          </a:p>
          <a:p>
            <a:pPr lvl="1">
              <a:spcBef>
                <a:spcPts val="600"/>
              </a:spcBef>
            </a:pPr>
            <a:r>
              <a:rPr lang="zh-CN" altLang="en-US" dirty="0"/>
              <a:t>付钱</a:t>
            </a:r>
            <a:endParaRPr lang="en-US" altLang="zh-CN" dirty="0"/>
          </a:p>
          <a:p>
            <a:pPr lvl="1">
              <a:spcBef>
                <a:spcPts val="600"/>
              </a:spcBef>
            </a:pPr>
            <a:r>
              <a:rPr lang="zh-CN" altLang="en-US" dirty="0"/>
              <a:t>等待确认已付钱</a:t>
            </a:r>
            <a:endParaRPr lang="en-US" altLang="zh-CN" dirty="0"/>
          </a:p>
          <a:p>
            <a:pPr lvl="1">
              <a:spcBef>
                <a:spcPts val="600"/>
              </a:spcBef>
            </a:pPr>
            <a:r>
              <a:rPr lang="zh-CN" altLang="en-US" dirty="0"/>
              <a:t>离开理发店</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理发师问题分析</a:t>
            </a:r>
            <a:endParaRPr lang="zh-CN" altLang="en-US" dirty="0"/>
          </a:p>
        </p:txBody>
      </p:sp>
      <p:sp>
        <p:nvSpPr>
          <p:cNvPr id="3" name="内容占位符 2"/>
          <p:cNvSpPr>
            <a:spLocks noGrp="1"/>
          </p:cNvSpPr>
          <p:nvPr>
            <p:ph idx="1"/>
          </p:nvPr>
        </p:nvSpPr>
        <p:spPr>
          <a:xfrm>
            <a:off x="571501" y="925689"/>
            <a:ext cx="10999176" cy="5411635"/>
          </a:xfrm>
        </p:spPr>
        <p:txBody>
          <a:bodyPr/>
          <a:lstStyle/>
          <a:p>
            <a:r>
              <a:rPr lang="zh-CN" altLang="en-US" dirty="0"/>
              <a:t>理发师的流程：</a:t>
            </a:r>
            <a:endParaRPr lang="en-US" altLang="zh-CN" dirty="0"/>
          </a:p>
          <a:p>
            <a:pPr lvl="1"/>
            <a:r>
              <a:rPr lang="zh-CN" altLang="en-US" dirty="0"/>
              <a:t>等待顾客唤醒自己</a:t>
            </a:r>
            <a:endParaRPr lang="en-US" altLang="zh-CN" dirty="0"/>
          </a:p>
          <a:p>
            <a:pPr lvl="1"/>
            <a:r>
              <a:rPr lang="zh-CN" altLang="en-US" dirty="0"/>
              <a:t>给顾客理发</a:t>
            </a:r>
            <a:endParaRPr lang="en-US" altLang="zh-CN" dirty="0"/>
          </a:p>
          <a:p>
            <a:pPr lvl="1"/>
            <a:r>
              <a:rPr lang="zh-CN" altLang="en-US" dirty="0"/>
              <a:t>等待客人通知收钱</a:t>
            </a:r>
            <a:endParaRPr lang="en-US" altLang="zh-CN" dirty="0"/>
          </a:p>
          <a:p>
            <a:pPr lvl="1"/>
            <a:r>
              <a:rPr lang="zh-CN" altLang="en-US" dirty="0"/>
              <a:t>收钱</a:t>
            </a:r>
            <a:endParaRPr lang="en-US" altLang="zh-CN" dirty="0"/>
          </a:p>
          <a:p>
            <a:pPr lvl="1"/>
            <a:r>
              <a:rPr lang="zh-CN" altLang="en-US" dirty="0"/>
              <a:t>通知客人可以离开</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理发师问题分析</a:t>
            </a:r>
            <a:endParaRPr lang="zh-CN" altLang="en-US" dirty="0"/>
          </a:p>
        </p:txBody>
      </p:sp>
      <p:sp>
        <p:nvSpPr>
          <p:cNvPr id="3" name="内容占位符 2"/>
          <p:cNvSpPr>
            <a:spLocks noGrp="1"/>
          </p:cNvSpPr>
          <p:nvPr>
            <p:ph idx="1"/>
          </p:nvPr>
        </p:nvSpPr>
        <p:spPr/>
        <p:txBody>
          <a:bodyPr/>
          <a:lstStyle/>
          <a:p>
            <a:r>
              <a:rPr lang="zh-CN" altLang="en-US" dirty="0"/>
              <a:t>存在资源使用：</a:t>
            </a:r>
            <a:endParaRPr lang="en-US" altLang="zh-CN" dirty="0"/>
          </a:p>
          <a:p>
            <a:pPr lvl="1"/>
            <a:r>
              <a:rPr lang="en-US" altLang="zh-CN" dirty="0"/>
              <a:t>N</a:t>
            </a:r>
            <a:r>
              <a:rPr lang="zh-CN" altLang="en-US" dirty="0"/>
              <a:t>个沙发：顾客看没有空闲沙发则离开，否则占用空闲沙发</a:t>
            </a:r>
            <a:endParaRPr lang="en-US" altLang="zh-CN" dirty="0"/>
          </a:p>
          <a:p>
            <a:r>
              <a:rPr lang="zh-CN" altLang="en-US" dirty="0"/>
              <a:t>存在的互斥：</a:t>
            </a:r>
            <a:endParaRPr lang="en-US" altLang="zh-CN" dirty="0"/>
          </a:p>
          <a:p>
            <a:pPr lvl="1"/>
            <a:r>
              <a:rPr lang="zh-CN" altLang="en-US" dirty="0"/>
              <a:t>理发椅</a:t>
            </a:r>
            <a:endParaRPr lang="en-US" altLang="zh-CN" dirty="0"/>
          </a:p>
          <a:p>
            <a:r>
              <a:rPr lang="zh-CN" altLang="en-US" dirty="0"/>
              <a:t>存在的同步（协作）：</a:t>
            </a:r>
            <a:endParaRPr lang="en-US" altLang="zh-CN" dirty="0"/>
          </a:p>
          <a:p>
            <a:pPr lvl="1"/>
            <a:r>
              <a:rPr lang="zh-CN" altLang="en-US" dirty="0"/>
              <a:t>理发师等待顾客和顾客唤醒理发师</a:t>
            </a:r>
            <a:endParaRPr lang="en-US" altLang="zh-CN" dirty="0"/>
          </a:p>
          <a:p>
            <a:pPr lvl="1"/>
            <a:r>
              <a:rPr lang="zh-CN" altLang="en-US" dirty="0"/>
              <a:t>理发师等待顾客付费和顾客通知付费</a:t>
            </a:r>
            <a:endParaRPr lang="en-US" altLang="zh-CN" dirty="0"/>
          </a:p>
          <a:p>
            <a:pPr lvl="1"/>
            <a:r>
              <a:rPr lang="zh-CN" altLang="en-US" dirty="0"/>
              <a:t>客户等待收费确认和理发师确认</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理发师问题分析</a:t>
            </a:r>
            <a:endParaRPr lang="zh-CN" altLang="en-US" dirty="0"/>
          </a:p>
        </p:txBody>
      </p:sp>
      <p:sp>
        <p:nvSpPr>
          <p:cNvPr id="3" name="内容占位符 2"/>
          <p:cNvSpPr>
            <a:spLocks noGrp="1"/>
          </p:cNvSpPr>
          <p:nvPr>
            <p:ph idx="1"/>
          </p:nvPr>
        </p:nvSpPr>
        <p:spPr>
          <a:xfrm>
            <a:off x="571501" y="757048"/>
            <a:ext cx="10999176" cy="5745351"/>
          </a:xfrm>
        </p:spPr>
        <p:txBody>
          <a:bodyPr/>
          <a:lstStyle/>
          <a:p>
            <a:pPr>
              <a:spcBef>
                <a:spcPts val="0"/>
              </a:spcBef>
            </a:pPr>
            <a:r>
              <a:rPr lang="zh-CN" altLang="en-US" dirty="0"/>
              <a:t>如何里实现没有空沙发时离开？</a:t>
            </a:r>
            <a:endParaRPr lang="en-US" altLang="zh-CN" dirty="0"/>
          </a:p>
          <a:p>
            <a:pPr lvl="1">
              <a:spcBef>
                <a:spcPts val="0"/>
              </a:spcBef>
            </a:pPr>
            <a:r>
              <a:rPr lang="zh-CN" altLang="en-US" dirty="0"/>
              <a:t>如果设置资源信号量表示沙发，在</a:t>
            </a:r>
            <a:r>
              <a:rPr lang="en-US" altLang="zh-CN" dirty="0"/>
              <a:t>wait</a:t>
            </a:r>
            <a:r>
              <a:rPr lang="zh-CN" altLang="en-US" dirty="0"/>
              <a:t>资源信号量时必然陷入阻塞，无法离开。</a:t>
            </a:r>
            <a:endParaRPr lang="en-US" altLang="zh-CN" dirty="0"/>
          </a:p>
          <a:p>
            <a:pPr lvl="1">
              <a:spcBef>
                <a:spcPts val="0"/>
              </a:spcBef>
            </a:pPr>
            <a:r>
              <a:rPr lang="zh-CN" altLang="en-US" dirty="0"/>
              <a:t>解决办法是用变量表示沙发数，用一个互斥量保护变量，这样既可通过条件判断避免阻塞。</a:t>
            </a:r>
            <a:endParaRPr lang="en-US" altLang="zh-CN" dirty="0"/>
          </a:p>
          <a:p>
            <a:pPr marL="506095" lvl="2" indent="0">
              <a:spcBef>
                <a:spcPts val="0"/>
              </a:spcBef>
              <a:buNone/>
            </a:pPr>
            <a:r>
              <a:rPr lang="en-US" altLang="zh-CN" dirty="0"/>
              <a:t>int count=n</a:t>
            </a:r>
            <a:r>
              <a:rPr lang="zh-CN" altLang="en-US" dirty="0"/>
              <a:t>，</a:t>
            </a:r>
            <a:r>
              <a:rPr lang="en-US" altLang="zh-CN" dirty="0"/>
              <a:t>semaphore mutex=1</a:t>
            </a:r>
            <a:endParaRPr lang="en-US" altLang="zh-CN" dirty="0"/>
          </a:p>
          <a:p>
            <a:pPr marL="506095" lvl="2" indent="0">
              <a:spcBef>
                <a:spcPts val="0"/>
              </a:spcBef>
              <a:buNone/>
            </a:pPr>
            <a:r>
              <a:rPr lang="en-US" altLang="zh-CN" dirty="0"/>
              <a:t>Wait(mutex)</a:t>
            </a:r>
            <a:endParaRPr lang="en-US" altLang="zh-CN" dirty="0"/>
          </a:p>
          <a:p>
            <a:pPr marL="506095" lvl="2" indent="0">
              <a:spcBef>
                <a:spcPts val="0"/>
              </a:spcBef>
              <a:buNone/>
            </a:pPr>
            <a:r>
              <a:rPr lang="en-US" altLang="zh-CN" dirty="0"/>
              <a:t>If( count &gt;= N){</a:t>
            </a:r>
            <a:endParaRPr lang="en-US" altLang="zh-CN" dirty="0"/>
          </a:p>
          <a:p>
            <a:pPr marL="506095" lvl="2" indent="0">
              <a:spcBef>
                <a:spcPts val="0"/>
              </a:spcBef>
              <a:buNone/>
            </a:pPr>
            <a:r>
              <a:rPr lang="en-US" altLang="zh-CN" dirty="0"/>
              <a:t>	signal(mutex)</a:t>
            </a:r>
            <a:endParaRPr lang="en-US" altLang="zh-CN" dirty="0"/>
          </a:p>
          <a:p>
            <a:pPr marL="506095" lvl="2" indent="0">
              <a:spcBef>
                <a:spcPts val="0"/>
              </a:spcBef>
              <a:buNone/>
            </a:pPr>
            <a:r>
              <a:rPr lang="en-US" altLang="zh-CN" dirty="0"/>
              <a:t>	</a:t>
            </a:r>
            <a:r>
              <a:rPr lang="zh-CN" altLang="en-US" dirty="0"/>
              <a:t>离开理发店</a:t>
            </a:r>
            <a:endParaRPr lang="en-US" altLang="zh-CN" dirty="0"/>
          </a:p>
          <a:p>
            <a:pPr marL="506095" lvl="2" indent="0">
              <a:spcBef>
                <a:spcPts val="0"/>
              </a:spcBef>
              <a:buNone/>
            </a:pPr>
            <a:r>
              <a:rPr lang="en-US" altLang="zh-CN" dirty="0"/>
              <a:t>}else{</a:t>
            </a:r>
            <a:endParaRPr lang="en-US" altLang="zh-CN" dirty="0"/>
          </a:p>
          <a:p>
            <a:pPr marL="506095" lvl="2" indent="0">
              <a:spcBef>
                <a:spcPts val="0"/>
              </a:spcBef>
              <a:buNone/>
            </a:pPr>
            <a:r>
              <a:rPr lang="en-US" altLang="zh-CN" dirty="0"/>
              <a:t>	count++</a:t>
            </a:r>
            <a:endParaRPr lang="en-US" altLang="zh-CN" dirty="0"/>
          </a:p>
          <a:p>
            <a:pPr marL="506095" lvl="2" indent="0">
              <a:spcBef>
                <a:spcPts val="0"/>
              </a:spcBef>
              <a:buNone/>
            </a:pPr>
            <a:r>
              <a:rPr lang="en-US" altLang="zh-CN" dirty="0"/>
              <a:t>	signal(mutex)</a:t>
            </a:r>
            <a:endParaRPr lang="en-US" altLang="zh-CN" dirty="0"/>
          </a:p>
          <a:p>
            <a:pPr marL="506095" lvl="2" indent="0">
              <a:spcBef>
                <a:spcPts val="0"/>
              </a:spcBef>
              <a:buNone/>
            </a:pPr>
            <a:r>
              <a:rPr lang="en-US" altLang="zh-CN" dirty="0"/>
              <a:t>     ……</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课后作业</a:t>
            </a:r>
            <a:r>
              <a:rPr lang="en-US" altLang="zh-CN" dirty="0"/>
              <a:t>1</a:t>
            </a:r>
            <a:endParaRPr lang="zh-CN" altLang="en-US" dirty="0"/>
          </a:p>
        </p:txBody>
      </p:sp>
      <p:sp>
        <p:nvSpPr>
          <p:cNvPr id="171011" name="内容占位符 2"/>
          <p:cNvSpPr>
            <a:spLocks noGrp="1" noChangeArrowheads="1"/>
          </p:cNvSpPr>
          <p:nvPr>
            <p:ph idx="1"/>
          </p:nvPr>
        </p:nvSpPr>
        <p:spPr/>
        <p:txBody>
          <a:bodyPr/>
          <a:lstStyle/>
          <a:p>
            <a:r>
              <a:rPr lang="zh-CN" altLang="zh-CN" dirty="0"/>
              <a:t>某机场的入口有</a:t>
            </a:r>
            <a:r>
              <a:rPr lang="en-US" altLang="zh-CN" dirty="0"/>
              <a:t>1</a:t>
            </a:r>
            <a:r>
              <a:rPr lang="zh-CN" altLang="zh-CN" dirty="0"/>
              <a:t>条通道，该通道有</a:t>
            </a:r>
            <a:r>
              <a:rPr lang="en-US" altLang="zh-CN" dirty="0"/>
              <a:t>3</a:t>
            </a:r>
            <a:r>
              <a:rPr lang="zh-CN" altLang="zh-CN" dirty="0"/>
              <a:t>名证件查验员，再往里是一个安检室，内有</a:t>
            </a:r>
            <a:r>
              <a:rPr lang="en-US" altLang="zh-CN" dirty="0"/>
              <a:t>5</a:t>
            </a:r>
            <a:r>
              <a:rPr lang="zh-CN" altLang="zh-CN" dirty="0"/>
              <a:t>名安检员。安检室可容纳五人等待（另有五人正在被检查）。入场者可让任意一名证件查验员检查，在证件查验员核对正确并放行后进入安检室等待并被检验，安检员放行后进入机场。证件查验员无人时休息，来人时被来人唤醒，查验来人证件后，确认安检室有空位后让来人入安检室。安检员无人时休息，直到被来人唤醒，检查完来人后放行来人入机场。</a:t>
            </a:r>
            <a:endParaRPr lang="en-US" altLang="zh-CN" dirty="0"/>
          </a:p>
          <a:p>
            <a:r>
              <a:rPr lang="zh-CN" altLang="zh-CN" dirty="0"/>
              <a:t>请用信号量机制实现上述过程中的同步和互斥。</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zh-CN" dirty="0"/>
              <a:t>一家茶馆共有三名侍者，大厅有</a:t>
            </a:r>
            <a:r>
              <a:rPr lang="en-US" altLang="zh-CN" dirty="0"/>
              <a:t>10</a:t>
            </a:r>
            <a:r>
              <a:rPr lang="zh-CN" altLang="zh-CN" dirty="0"/>
              <a:t>个座位供客人坐下饮茶，还有一个收银员负责收银。客人来到茶馆时若没有座位则立即离开，如果有座位则进入并坐一个座位，然后叫侍者为其上茶，客人饮完茶后即叫收银员收银，在得到收银员同意后即离开茶馆。侍者没有事时休息等待呼叫，有人呼叫时则为客人上茶，完后继续休息等待；收银员无人呼叫时也休息，有人呼叫时则收钱，确认金额正确后通知客人离开，然后继续休息。</a:t>
            </a:r>
            <a:endParaRPr lang="en-US" altLang="zh-CN" dirty="0"/>
          </a:p>
          <a:p>
            <a:r>
              <a:rPr lang="zh-CN" altLang="zh-CN" dirty="0"/>
              <a:t>请用信号量模拟侍者、客人和收银员三者在上述过程中的同步与互斥，非信号量部分可用伪代码。</a:t>
            </a:r>
            <a:endParaRPr lang="zh-CN" altLang="en-US" dirty="0"/>
          </a:p>
        </p:txBody>
      </p:sp>
      <p:sp>
        <p:nvSpPr>
          <p:cNvPr id="3" name="标题 2"/>
          <p:cNvSpPr>
            <a:spLocks noGrp="1"/>
          </p:cNvSpPr>
          <p:nvPr>
            <p:ph type="title"/>
          </p:nvPr>
        </p:nvSpPr>
        <p:spPr/>
        <p:txBody>
          <a:bodyPr/>
          <a:lstStyle/>
          <a:p>
            <a:r>
              <a:rPr lang="zh-CN" altLang="en-US" dirty="0"/>
              <a:t>课后作业</a:t>
            </a:r>
            <a:r>
              <a:rPr lang="en-US" altLang="zh-CN" dirty="0"/>
              <a:t>2</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a:xfrm>
            <a:off x="571501" y="967030"/>
            <a:ext cx="10999176" cy="5157643"/>
          </a:xfrm>
        </p:spPr>
        <p:txBody>
          <a:bodyPr/>
          <a:lstStyle/>
          <a:p>
            <a:r>
              <a:rPr lang="zh-CN" altLang="en-US" sz="2800" dirty="0"/>
              <a:t>是非判断：在内核支持线程的系统中，进程是系统资源分配和调度的基本单位。</a:t>
            </a:r>
            <a:endParaRPr lang="en-US" altLang="zh-CN" sz="2800" dirty="0"/>
          </a:p>
          <a:p>
            <a:pPr lvl="1"/>
            <a:r>
              <a:rPr lang="en-US" altLang="zh-CN" sz="2400" dirty="0"/>
              <a:t>A</a:t>
            </a:r>
            <a:r>
              <a:rPr lang="zh-CN" altLang="en-US" sz="2400" dirty="0"/>
              <a:t>）正确      </a:t>
            </a:r>
            <a:r>
              <a:rPr lang="en-US" altLang="zh-CN" sz="2400" dirty="0"/>
              <a:t>B</a:t>
            </a:r>
            <a:r>
              <a:rPr lang="zh-CN" altLang="en-US" sz="2400" dirty="0"/>
              <a:t>）错误</a:t>
            </a:r>
            <a:endParaRPr lang="en-US" altLang="zh-CN" sz="2400" dirty="0"/>
          </a:p>
          <a:p>
            <a:pPr lvl="1"/>
            <a:r>
              <a:rPr lang="zh-CN" altLang="en-US" sz="2400" dirty="0"/>
              <a:t>答案  </a:t>
            </a:r>
            <a:r>
              <a:rPr lang="en-US" altLang="zh-CN" sz="2400" dirty="0"/>
              <a:t>B</a:t>
            </a:r>
            <a:endParaRPr lang="en-US" altLang="zh-CN" sz="2400" dirty="0"/>
          </a:p>
          <a:p>
            <a:r>
              <a:rPr lang="zh-CN" altLang="en-US" sz="2800" dirty="0"/>
              <a:t>下面论述错误的是（ ）</a:t>
            </a:r>
            <a:endParaRPr lang="en-US" altLang="zh-CN" sz="2800" dirty="0"/>
          </a:p>
          <a:p>
            <a:pPr lvl="1"/>
            <a:r>
              <a:rPr lang="en-US" altLang="zh-CN" sz="2400" dirty="0"/>
              <a:t>A</a:t>
            </a:r>
            <a:r>
              <a:rPr lang="zh-CN" altLang="en-US" sz="2400" dirty="0"/>
              <a:t>）线程共享进程的资源，可并发运行</a:t>
            </a:r>
            <a:endParaRPr lang="en-US" altLang="zh-CN" sz="2400" dirty="0"/>
          </a:p>
          <a:p>
            <a:pPr lvl="1"/>
            <a:r>
              <a:rPr lang="en-US" altLang="zh-CN" sz="2400" dirty="0"/>
              <a:t>B</a:t>
            </a:r>
            <a:r>
              <a:rPr lang="zh-CN" altLang="en-US" sz="2400" dirty="0"/>
              <a:t>）终止进程将终止其中的线程</a:t>
            </a:r>
            <a:endParaRPr lang="en-US" altLang="zh-CN" sz="2400" dirty="0"/>
          </a:p>
          <a:p>
            <a:pPr lvl="1"/>
            <a:r>
              <a:rPr lang="en-US" altLang="zh-CN" sz="2400" dirty="0"/>
              <a:t>C</a:t>
            </a:r>
            <a:r>
              <a:rPr lang="zh-CN" altLang="en-US" sz="2400" dirty="0"/>
              <a:t>）引入线程的目的是降低并发的时空开销</a:t>
            </a:r>
            <a:endParaRPr lang="en-US" altLang="zh-CN" sz="2400" dirty="0"/>
          </a:p>
          <a:p>
            <a:pPr lvl="1"/>
            <a:r>
              <a:rPr lang="en-US" altLang="zh-CN" sz="2400" dirty="0"/>
              <a:t>D</a:t>
            </a:r>
            <a:r>
              <a:rPr lang="zh-CN" altLang="en-US" sz="2400" dirty="0"/>
              <a:t>）线程是资源分配和调度的基本单位</a:t>
            </a:r>
            <a:endParaRPr lang="en-US" altLang="zh-CN" sz="2400" dirty="0"/>
          </a:p>
          <a:p>
            <a:pPr lvl="1"/>
            <a:r>
              <a:rPr lang="zh-CN" altLang="en-US" sz="2400" dirty="0"/>
              <a:t>答案：</a:t>
            </a:r>
            <a:r>
              <a:rPr lang="en-US" altLang="zh-CN" sz="2400" dirty="0"/>
              <a:t>D</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下面论述不正确的是 </a:t>
            </a:r>
            <a:r>
              <a:rPr lang="en-US" altLang="zh-CN" dirty="0"/>
              <a:t>(   )</a:t>
            </a:r>
            <a:endParaRPr lang="en-US" altLang="zh-CN" dirty="0"/>
          </a:p>
          <a:p>
            <a:pPr lvl="1"/>
            <a:r>
              <a:rPr lang="en-US" altLang="zh-CN" dirty="0"/>
              <a:t>A</a:t>
            </a:r>
            <a:r>
              <a:rPr lang="zh-CN" altLang="en-US" dirty="0"/>
              <a:t>）线程的并发粒度并进程更小，并发性更好。</a:t>
            </a:r>
            <a:endParaRPr lang="en-US" altLang="zh-CN" dirty="0"/>
          </a:p>
          <a:p>
            <a:pPr lvl="1"/>
            <a:r>
              <a:rPr lang="en-US" altLang="zh-CN" dirty="0"/>
              <a:t>B</a:t>
            </a:r>
            <a:r>
              <a:rPr lang="zh-CN" altLang="en-US" dirty="0"/>
              <a:t>）不同进程间的线程通信的效率和进程间通信相同。</a:t>
            </a:r>
            <a:endParaRPr lang="en-US" altLang="zh-CN" dirty="0"/>
          </a:p>
          <a:p>
            <a:pPr lvl="1"/>
            <a:r>
              <a:rPr lang="en-US" altLang="zh-CN" dirty="0"/>
              <a:t>C</a:t>
            </a:r>
            <a:r>
              <a:rPr lang="zh-CN" altLang="en-US" dirty="0"/>
              <a:t>）线程和进程相比，具有更好的独立性。</a:t>
            </a:r>
            <a:endParaRPr lang="en-US" altLang="zh-CN" dirty="0"/>
          </a:p>
          <a:p>
            <a:pPr lvl="1"/>
            <a:r>
              <a:rPr lang="en-US" altLang="zh-CN" dirty="0"/>
              <a:t>D</a:t>
            </a:r>
            <a:r>
              <a:rPr lang="zh-CN" altLang="en-US" dirty="0"/>
              <a:t>）线程更有利于支持多处理机系统。</a:t>
            </a:r>
            <a:endParaRPr lang="en-US" altLang="zh-CN" dirty="0"/>
          </a:p>
          <a:p>
            <a:pPr lvl="1"/>
            <a:r>
              <a:rPr lang="zh-CN" altLang="en-US" dirty="0"/>
              <a:t>答案：</a:t>
            </a:r>
            <a:r>
              <a:rPr lang="en-US" altLang="zh-CN" dirty="0"/>
              <a:t>C</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下面哪项不是线程的上下文：</a:t>
            </a:r>
            <a:endParaRPr lang="en-US" altLang="zh-CN" dirty="0"/>
          </a:p>
          <a:p>
            <a:pPr lvl="1"/>
            <a:r>
              <a:rPr lang="en-US" altLang="zh-CN" dirty="0"/>
              <a:t>A</a:t>
            </a:r>
            <a:r>
              <a:rPr lang="zh-CN" altLang="en-US" dirty="0"/>
              <a:t>）一组寄存器     </a:t>
            </a:r>
            <a:r>
              <a:rPr lang="en-US" altLang="zh-CN" dirty="0"/>
              <a:t>			B</a:t>
            </a:r>
            <a:r>
              <a:rPr lang="zh-CN" altLang="en-US" dirty="0"/>
              <a:t>）用户堆栈  </a:t>
            </a:r>
            <a:endParaRPr lang="en-US" altLang="zh-CN" dirty="0"/>
          </a:p>
          <a:p>
            <a:pPr lvl="1"/>
            <a:r>
              <a:rPr lang="en-US" altLang="zh-CN" dirty="0"/>
              <a:t>C</a:t>
            </a:r>
            <a:r>
              <a:rPr lang="zh-CN" altLang="en-US" dirty="0"/>
              <a:t>）专用存储区</a:t>
            </a:r>
            <a:r>
              <a:rPr lang="en-US" altLang="zh-CN" dirty="0"/>
              <a:t>			D</a:t>
            </a:r>
            <a:r>
              <a:rPr lang="zh-CN" altLang="en-US" dirty="0"/>
              <a:t>）线程运行状态</a:t>
            </a:r>
            <a:endParaRPr lang="en-US" altLang="zh-CN" dirty="0"/>
          </a:p>
          <a:p>
            <a:pPr lvl="1"/>
            <a:r>
              <a:rPr lang="zh-CN" altLang="en-US" dirty="0"/>
              <a:t>答案：都是</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normAutofit/>
          </a:bodyPr>
          <a:p>
            <a:r>
              <a:rPr lang="zh-CN" altLang="en-US"/>
              <a:t>第三章</a:t>
            </a:r>
            <a:br>
              <a:rPr lang="zh-CN" altLang="en-US"/>
            </a:br>
            <a:r>
              <a:rPr lang="zh-CN" altLang="en-US"/>
              <a:t>处理机调度与死锁</a:t>
            </a:r>
            <a:endParaRPr lang="zh-CN" altLang="en-US"/>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6" name="内容占位符 5"/>
          <p:cNvSpPr>
            <a:spLocks noGrp="1"/>
          </p:cNvSpPr>
          <p:nvPr>
            <p:ph idx="1"/>
          </p:nvPr>
        </p:nvSpPr>
        <p:spPr/>
        <p:txBody>
          <a:bodyPr/>
          <a:lstStyle/>
          <a:p>
            <a:r>
              <a:rPr lang="zh-CN" altLang="en-US" dirty="0"/>
              <a:t>下面描述正确的一项是（   ）</a:t>
            </a:r>
            <a:endParaRPr lang="en-US" altLang="zh-CN" dirty="0"/>
          </a:p>
          <a:p>
            <a:pPr lvl="1"/>
            <a:r>
              <a:rPr lang="en-US" altLang="zh-CN" dirty="0"/>
              <a:t>A</a:t>
            </a:r>
            <a:r>
              <a:rPr lang="zh-CN" altLang="en-US" dirty="0"/>
              <a:t>）对比三级调度，调度频度最高的是高级调度。</a:t>
            </a:r>
            <a:endParaRPr lang="en-US" altLang="zh-CN" dirty="0"/>
          </a:p>
          <a:p>
            <a:pPr lvl="1"/>
            <a:r>
              <a:rPr lang="en-US" altLang="zh-CN" dirty="0"/>
              <a:t>B</a:t>
            </a:r>
            <a:r>
              <a:rPr lang="zh-CN" altLang="en-US" dirty="0"/>
              <a:t>）中级调度的对象是作业。</a:t>
            </a:r>
            <a:endParaRPr lang="en-US" altLang="zh-CN" dirty="0"/>
          </a:p>
          <a:p>
            <a:pPr lvl="1"/>
            <a:r>
              <a:rPr lang="en-US" altLang="zh-CN" dirty="0"/>
              <a:t>C</a:t>
            </a:r>
            <a:r>
              <a:rPr lang="zh-CN" altLang="en-US" dirty="0"/>
              <a:t>）中级调度是所有操作系统必须的。</a:t>
            </a:r>
            <a:endParaRPr lang="en-US" altLang="zh-CN" dirty="0"/>
          </a:p>
          <a:p>
            <a:pPr lvl="1"/>
            <a:r>
              <a:rPr lang="en-US" altLang="zh-CN" dirty="0"/>
              <a:t>D</a:t>
            </a:r>
            <a:r>
              <a:rPr lang="zh-CN" altLang="en-US" dirty="0"/>
              <a:t>）决定谁使用</a:t>
            </a:r>
            <a:r>
              <a:rPr lang="en-US" altLang="zh-CN" dirty="0"/>
              <a:t>CPU</a:t>
            </a:r>
            <a:r>
              <a:rPr lang="zh-CN" altLang="en-US" dirty="0"/>
              <a:t>的是低级调度。</a:t>
            </a:r>
            <a:endParaRPr lang="en-US" altLang="zh-CN"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761736"/>
            <a:ext cx="10770648" cy="5698058"/>
          </a:xfrm>
        </p:spPr>
        <p:txBody>
          <a:bodyPr/>
          <a:lstStyle/>
          <a:p>
            <a:r>
              <a:rPr lang="zh-CN" altLang="zh-CN" dirty="0"/>
              <a:t>有两个程序：</a:t>
            </a:r>
            <a:r>
              <a:rPr lang="en-US" altLang="zh-CN" dirty="0"/>
              <a:t>A</a:t>
            </a:r>
            <a:r>
              <a:rPr lang="zh-CN" altLang="zh-CN" dirty="0"/>
              <a:t>程序按顺序使用</a:t>
            </a:r>
            <a:r>
              <a:rPr lang="en-US" altLang="zh-CN" dirty="0"/>
              <a:t>CPU l0s</a:t>
            </a:r>
            <a:r>
              <a:rPr lang="zh-CN" altLang="zh-CN" dirty="0"/>
              <a:t>，使用设备甲</a:t>
            </a:r>
            <a:r>
              <a:rPr lang="en-US" altLang="zh-CN" dirty="0"/>
              <a:t>5s</a:t>
            </a:r>
            <a:r>
              <a:rPr lang="zh-CN" altLang="zh-CN" dirty="0"/>
              <a:t>，使用</a:t>
            </a:r>
            <a:r>
              <a:rPr lang="en-US" altLang="zh-CN" dirty="0"/>
              <a:t>CPU 5s</a:t>
            </a:r>
            <a:r>
              <a:rPr lang="zh-CN" altLang="zh-CN" dirty="0"/>
              <a:t>，使用设备乙</a:t>
            </a:r>
            <a:r>
              <a:rPr lang="en-US" altLang="zh-CN" dirty="0"/>
              <a:t>10s</a:t>
            </a:r>
            <a:r>
              <a:rPr lang="zh-CN" altLang="zh-CN" dirty="0"/>
              <a:t>，最后使用</a:t>
            </a:r>
            <a:r>
              <a:rPr lang="en-US" altLang="zh-CN" dirty="0"/>
              <a:t>CPU 10s</a:t>
            </a:r>
            <a:r>
              <a:rPr lang="zh-CN" altLang="zh-CN" dirty="0"/>
              <a:t>；</a:t>
            </a:r>
            <a:r>
              <a:rPr lang="en-US" altLang="zh-CN" dirty="0"/>
              <a:t>B</a:t>
            </a:r>
            <a:r>
              <a:rPr lang="zh-CN" altLang="zh-CN" dirty="0"/>
              <a:t>程序顺序使用设备甲</a:t>
            </a:r>
            <a:r>
              <a:rPr lang="en-US" altLang="zh-CN" dirty="0"/>
              <a:t>10s</a:t>
            </a:r>
            <a:r>
              <a:rPr lang="zh-CN" altLang="zh-CN" dirty="0"/>
              <a:t>，使用</a:t>
            </a:r>
            <a:r>
              <a:rPr lang="en-US" altLang="zh-CN" dirty="0"/>
              <a:t>CPU 10s</a:t>
            </a:r>
            <a:r>
              <a:rPr lang="zh-CN" altLang="zh-CN" dirty="0"/>
              <a:t>，使用设备乙</a:t>
            </a:r>
            <a:r>
              <a:rPr lang="en-US" altLang="zh-CN" dirty="0"/>
              <a:t>5s</a:t>
            </a:r>
            <a:r>
              <a:rPr lang="zh-CN" altLang="zh-CN" dirty="0"/>
              <a:t>，使用</a:t>
            </a:r>
            <a:r>
              <a:rPr lang="en-US" altLang="zh-CN" dirty="0"/>
              <a:t>CPU 5s</a:t>
            </a:r>
            <a:r>
              <a:rPr lang="zh-CN" altLang="zh-CN" dirty="0"/>
              <a:t>，使用设备乙</a:t>
            </a:r>
            <a:r>
              <a:rPr lang="en-US" altLang="zh-CN" dirty="0"/>
              <a:t>10s</a:t>
            </a:r>
            <a:r>
              <a:rPr lang="zh-CN" altLang="zh-CN" dirty="0"/>
              <a:t>，在顺序环境下执行</a:t>
            </a:r>
            <a:r>
              <a:rPr lang="en-US" altLang="zh-CN" dirty="0"/>
              <a:t>A</a:t>
            </a:r>
            <a:r>
              <a:rPr lang="zh-CN" altLang="zh-CN" dirty="0"/>
              <a:t>程序和</a:t>
            </a:r>
            <a:r>
              <a:rPr lang="en-US" altLang="zh-CN" dirty="0"/>
              <a:t>B</a:t>
            </a:r>
            <a:r>
              <a:rPr lang="zh-CN" altLang="zh-CN" dirty="0"/>
              <a:t>程序，</a:t>
            </a:r>
            <a:r>
              <a:rPr lang="en-US" altLang="zh-CN" dirty="0"/>
              <a:t>CPU</a:t>
            </a:r>
            <a:r>
              <a:rPr lang="zh-CN" altLang="zh-CN" dirty="0"/>
              <a:t>的利用率为</a:t>
            </a:r>
            <a:r>
              <a:rPr lang="en-US" altLang="zh-CN" dirty="0"/>
              <a:t>(    ) </a:t>
            </a:r>
            <a:r>
              <a:rPr lang="zh-CN" altLang="en-US" dirty="0"/>
              <a:t>：</a:t>
            </a:r>
            <a:endParaRPr lang="en-US" altLang="zh-CN" dirty="0"/>
          </a:p>
          <a:p>
            <a:pPr lvl="1"/>
            <a:r>
              <a:rPr lang="en-US" altLang="zh-CN" dirty="0"/>
              <a:t>A</a:t>
            </a:r>
            <a:r>
              <a:rPr lang="zh-CN" altLang="zh-CN" dirty="0"/>
              <a:t>．</a:t>
            </a:r>
            <a:r>
              <a:rPr lang="en-US" altLang="zh-CN" dirty="0"/>
              <a:t>30</a:t>
            </a:r>
            <a:r>
              <a:rPr lang="zh-CN" altLang="zh-CN" dirty="0"/>
              <a:t>％</a:t>
            </a:r>
            <a:r>
              <a:rPr lang="en-US" altLang="zh-CN" dirty="0"/>
              <a:t> B</a:t>
            </a:r>
            <a:r>
              <a:rPr lang="zh-CN" altLang="zh-CN" dirty="0"/>
              <a:t>．</a:t>
            </a:r>
            <a:r>
              <a:rPr lang="en-US" altLang="zh-CN" dirty="0"/>
              <a:t>40</a:t>
            </a:r>
            <a:r>
              <a:rPr lang="zh-CN" altLang="zh-CN" dirty="0"/>
              <a:t>％</a:t>
            </a:r>
            <a:r>
              <a:rPr lang="en-US" altLang="zh-CN" dirty="0"/>
              <a:t> C</a:t>
            </a:r>
            <a:r>
              <a:rPr lang="zh-CN" altLang="zh-CN" dirty="0"/>
              <a:t>．</a:t>
            </a:r>
            <a:r>
              <a:rPr lang="en-US" altLang="zh-CN" dirty="0"/>
              <a:t>50</a:t>
            </a:r>
            <a:r>
              <a:rPr lang="zh-CN" altLang="zh-CN" dirty="0"/>
              <a:t>％</a:t>
            </a:r>
            <a:r>
              <a:rPr lang="en-US" altLang="zh-CN" dirty="0"/>
              <a:t> D</a:t>
            </a:r>
            <a:r>
              <a:rPr lang="zh-CN" altLang="zh-CN" dirty="0"/>
              <a:t>．</a:t>
            </a:r>
            <a:r>
              <a:rPr lang="en-US" altLang="zh-CN" dirty="0"/>
              <a:t>60</a:t>
            </a:r>
            <a:r>
              <a:rPr lang="zh-CN" altLang="zh-CN" dirty="0"/>
              <a:t>％</a:t>
            </a:r>
            <a:endParaRPr lang="zh-CN" altLang="zh-CN" dirty="0"/>
          </a:p>
          <a:p>
            <a:pPr lvl="1"/>
            <a:r>
              <a:rPr lang="zh-CN" altLang="zh-CN" dirty="0"/>
              <a:t>答案：</a:t>
            </a:r>
            <a:r>
              <a:rPr lang="en-US" altLang="zh-CN" dirty="0"/>
              <a:t>C</a:t>
            </a:r>
            <a:endParaRPr lang="en-US" altLang="zh-CN" dirty="0"/>
          </a:p>
          <a:p>
            <a:r>
              <a:rPr lang="zh-CN" altLang="en-US" dirty="0"/>
              <a:t>操作系统调度的共同目标不包括：</a:t>
            </a:r>
            <a:endParaRPr lang="en-US" altLang="zh-CN" dirty="0"/>
          </a:p>
          <a:p>
            <a:pPr lvl="1"/>
            <a:r>
              <a:rPr lang="en-US" altLang="zh-CN" dirty="0"/>
              <a:t>A</a:t>
            </a:r>
            <a:r>
              <a:rPr lang="zh-CN" altLang="en-US" dirty="0"/>
              <a:t>）资源利用率 </a:t>
            </a:r>
            <a:r>
              <a:rPr lang="en-US" altLang="zh-CN" dirty="0"/>
              <a:t>B)</a:t>
            </a:r>
            <a:r>
              <a:rPr lang="zh-CN" altLang="en-US" dirty="0"/>
              <a:t>公平性 </a:t>
            </a:r>
            <a:r>
              <a:rPr lang="en-US" altLang="zh-CN" dirty="0"/>
              <a:t>C)</a:t>
            </a:r>
            <a:r>
              <a:rPr lang="zh-CN" altLang="en-US" dirty="0"/>
              <a:t>平均周转时间 </a:t>
            </a:r>
            <a:r>
              <a:rPr lang="en-US" altLang="zh-CN" dirty="0"/>
              <a:t>D)</a:t>
            </a:r>
            <a:r>
              <a:rPr lang="zh-CN" altLang="en-US" dirty="0"/>
              <a:t>策略强制执行。</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742023"/>
            <a:ext cx="10770648" cy="5157643"/>
          </a:xfrm>
        </p:spPr>
        <p:txBody>
          <a:bodyPr/>
          <a:lstStyle/>
          <a:p>
            <a:r>
              <a:rPr lang="zh-CN" altLang="en-US" dirty="0"/>
              <a:t>批处理系统调度调度目标通常不包括：</a:t>
            </a:r>
            <a:endParaRPr lang="en-US" altLang="zh-CN" dirty="0"/>
          </a:p>
          <a:p>
            <a:pPr lvl="1"/>
            <a:r>
              <a:rPr lang="en-US" altLang="zh-CN" dirty="0"/>
              <a:t>A</a:t>
            </a:r>
            <a:r>
              <a:rPr lang="zh-CN" altLang="en-US" dirty="0"/>
              <a:t>）高资源利用率     </a:t>
            </a:r>
            <a:r>
              <a:rPr lang="en-US" altLang="zh-CN" dirty="0"/>
              <a:t>		B</a:t>
            </a:r>
            <a:r>
              <a:rPr lang="zh-CN" altLang="en-US" dirty="0"/>
              <a:t>）高吞吐量    </a:t>
            </a:r>
            <a:endParaRPr lang="en-US" altLang="zh-CN" dirty="0"/>
          </a:p>
          <a:p>
            <a:pPr lvl="1"/>
            <a:r>
              <a:rPr lang="en-US" altLang="zh-CN" dirty="0"/>
              <a:t>C</a:t>
            </a:r>
            <a:r>
              <a:rPr lang="zh-CN" altLang="en-US" dirty="0"/>
              <a:t>）低平均周转时间  </a:t>
            </a:r>
            <a:r>
              <a:rPr lang="en-US" altLang="zh-CN" dirty="0"/>
              <a:t>		D)</a:t>
            </a:r>
            <a:r>
              <a:rPr lang="zh-CN" altLang="en-US" dirty="0"/>
              <a:t>低平均响应时间</a:t>
            </a:r>
            <a:endParaRPr lang="en-US" altLang="zh-CN" dirty="0"/>
          </a:p>
          <a:p>
            <a:pPr lvl="1"/>
            <a:r>
              <a:rPr lang="zh-CN" altLang="en-US" dirty="0"/>
              <a:t>答案：</a:t>
            </a:r>
            <a:r>
              <a:rPr lang="en-US" altLang="zh-CN" dirty="0"/>
              <a:t>D</a:t>
            </a:r>
            <a:endParaRPr lang="en-US" altLang="zh-CN" dirty="0"/>
          </a:p>
          <a:p>
            <a:r>
              <a:rPr lang="zh-CN" altLang="en-US" dirty="0"/>
              <a:t>周转时间包括：</a:t>
            </a:r>
            <a:endParaRPr lang="en-US" altLang="zh-CN" dirty="0"/>
          </a:p>
          <a:p>
            <a:pPr lvl="1"/>
            <a:r>
              <a:rPr lang="en-US" altLang="zh-CN" dirty="0"/>
              <a:t>A</a:t>
            </a:r>
            <a:r>
              <a:rPr lang="zh-CN" altLang="en-US" dirty="0"/>
              <a:t>）接纳等待、执行等待、执行时间、</a:t>
            </a:r>
            <a:r>
              <a:rPr lang="en-US" altLang="zh-CN" dirty="0"/>
              <a:t>I/O</a:t>
            </a:r>
            <a:r>
              <a:rPr lang="zh-CN" altLang="en-US" dirty="0"/>
              <a:t>时间</a:t>
            </a:r>
            <a:endParaRPr lang="en-US" altLang="zh-CN" dirty="0"/>
          </a:p>
          <a:p>
            <a:pPr lvl="1"/>
            <a:r>
              <a:rPr lang="en-US" altLang="zh-CN" dirty="0"/>
              <a:t>B</a:t>
            </a:r>
            <a:r>
              <a:rPr lang="zh-CN" altLang="en-US" dirty="0"/>
              <a:t>）接纳等待、处理时间、显示时间</a:t>
            </a:r>
            <a:endParaRPr lang="en-US" altLang="zh-CN" dirty="0"/>
          </a:p>
          <a:p>
            <a:pPr lvl="1"/>
            <a:r>
              <a:rPr lang="en-US" altLang="zh-CN" dirty="0"/>
              <a:t>C</a:t>
            </a:r>
            <a:r>
              <a:rPr lang="zh-CN" altLang="en-US" dirty="0"/>
              <a:t>）输入时间、执行等待、执行时间、</a:t>
            </a:r>
            <a:r>
              <a:rPr lang="en-US" altLang="zh-CN" dirty="0"/>
              <a:t>I/O</a:t>
            </a:r>
            <a:r>
              <a:rPr lang="zh-CN" altLang="en-US" dirty="0"/>
              <a:t>时间</a:t>
            </a:r>
            <a:endParaRPr lang="en-US" altLang="zh-CN" dirty="0"/>
          </a:p>
          <a:p>
            <a:pPr lvl="1"/>
            <a:r>
              <a:rPr lang="en-US" altLang="zh-CN" dirty="0"/>
              <a:t>D</a:t>
            </a:r>
            <a:r>
              <a:rPr lang="zh-CN" altLang="en-US" dirty="0"/>
              <a:t>）接纳等待、执行等待、处理时间、显示时间</a:t>
            </a:r>
            <a:endParaRPr lang="en-US" altLang="zh-CN" dirty="0"/>
          </a:p>
          <a:p>
            <a:pPr lvl="1"/>
            <a:r>
              <a:rPr lang="zh-CN" altLang="en-US" dirty="0"/>
              <a:t>答案：</a:t>
            </a:r>
            <a:r>
              <a:rPr lang="en-US" altLang="zh-CN" dirty="0"/>
              <a:t>A</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pPr>
              <a:spcBef>
                <a:spcPts val="600"/>
              </a:spcBef>
            </a:pPr>
            <a:r>
              <a:rPr lang="zh-CN" altLang="zh-CN" sz="2800" dirty="0"/>
              <a:t>实现脱机作业控制的方式有作业控制卡和作业说明书，它们使用由系统规定的</a:t>
            </a:r>
            <a:r>
              <a:rPr lang="en-US" altLang="zh-CN" sz="2800" dirty="0"/>
              <a:t>(     )</a:t>
            </a:r>
            <a:r>
              <a:rPr lang="zh-CN" altLang="zh-CN" sz="2800" dirty="0"/>
              <a:t>来编制。</a:t>
            </a:r>
            <a:endParaRPr lang="en-US" altLang="zh-CN" sz="2800" dirty="0"/>
          </a:p>
          <a:p>
            <a:pPr lvl="1">
              <a:spcBef>
                <a:spcPts val="600"/>
              </a:spcBef>
            </a:pPr>
            <a:r>
              <a:rPr lang="en-US" altLang="zh-CN" sz="2400" dirty="0"/>
              <a:t>A.</a:t>
            </a:r>
            <a:r>
              <a:rPr lang="zh-CN" altLang="zh-CN" sz="2400" dirty="0"/>
              <a:t>作业控制语言</a:t>
            </a:r>
            <a:r>
              <a:rPr lang="en-US" altLang="zh-CN" sz="2400" dirty="0"/>
              <a:t>  B.</a:t>
            </a:r>
            <a:r>
              <a:rPr lang="zh-CN" altLang="zh-CN" sz="2400" dirty="0"/>
              <a:t>原语</a:t>
            </a:r>
            <a:r>
              <a:rPr lang="en-US" altLang="zh-CN" sz="2400" dirty="0"/>
              <a:t>   C.</a:t>
            </a:r>
            <a:r>
              <a:rPr lang="zh-CN" altLang="zh-CN" sz="2400" dirty="0"/>
              <a:t>批处理语言</a:t>
            </a:r>
            <a:r>
              <a:rPr lang="en-US" altLang="zh-CN" sz="2400" dirty="0"/>
              <a:t>   D.</a:t>
            </a:r>
            <a:r>
              <a:rPr lang="zh-CN" altLang="zh-CN" sz="2400" dirty="0"/>
              <a:t>机器语言</a:t>
            </a:r>
            <a:endParaRPr lang="en-US" altLang="zh-CN" sz="2400" dirty="0"/>
          </a:p>
          <a:p>
            <a:pPr lvl="1">
              <a:spcBef>
                <a:spcPts val="600"/>
              </a:spcBef>
            </a:pPr>
            <a:r>
              <a:rPr lang="zh-CN" altLang="zh-CN" sz="2400" dirty="0"/>
              <a:t>答案：</a:t>
            </a:r>
            <a:r>
              <a:rPr lang="en-US" altLang="zh-CN" sz="2400" dirty="0"/>
              <a:t>A</a:t>
            </a:r>
            <a:endParaRPr lang="en-US" altLang="zh-CN" sz="2400" dirty="0"/>
          </a:p>
          <a:p>
            <a:pPr>
              <a:spcBef>
                <a:spcPts val="600"/>
              </a:spcBef>
            </a:pPr>
            <a:r>
              <a:rPr lang="zh-CN" altLang="zh-CN" sz="2800" dirty="0"/>
              <a:t>批处理操作系统在作业运行过程中，</a:t>
            </a:r>
            <a:r>
              <a:rPr lang="en-US" altLang="zh-CN" sz="2800" dirty="0"/>
              <a:t>( )</a:t>
            </a:r>
            <a:r>
              <a:rPr lang="zh-CN" altLang="zh-CN" sz="2800" dirty="0"/>
              <a:t>的内容反映了作业的运行情况，并且是作业存在的唯一标志。</a:t>
            </a:r>
            <a:endParaRPr lang="zh-CN" altLang="zh-CN" sz="2800" dirty="0"/>
          </a:p>
          <a:p>
            <a:pPr lvl="1">
              <a:spcBef>
                <a:spcPts val="600"/>
              </a:spcBef>
            </a:pPr>
            <a:r>
              <a:rPr lang="en-US" altLang="zh-CN" sz="2400" dirty="0"/>
              <a:t>A</a:t>
            </a:r>
            <a:r>
              <a:rPr lang="zh-CN" altLang="zh-CN" sz="2400" dirty="0"/>
              <a:t>．作业状态</a:t>
            </a:r>
            <a:r>
              <a:rPr lang="en-US" altLang="zh-CN" sz="2400" dirty="0"/>
              <a:t> B</a:t>
            </a:r>
            <a:r>
              <a:rPr lang="zh-CN" altLang="zh-CN" sz="2400" dirty="0"/>
              <a:t>．作业类型</a:t>
            </a:r>
            <a:r>
              <a:rPr lang="en-US" altLang="zh-CN" sz="2400" dirty="0"/>
              <a:t> C</a:t>
            </a:r>
            <a:r>
              <a:rPr lang="zh-CN" altLang="zh-CN" sz="2400" dirty="0"/>
              <a:t>．作业控制块</a:t>
            </a:r>
            <a:r>
              <a:rPr lang="en-US" altLang="zh-CN" sz="2400" dirty="0"/>
              <a:t> D</a:t>
            </a:r>
            <a:r>
              <a:rPr lang="zh-CN" altLang="zh-CN" sz="2400" dirty="0"/>
              <a:t>．作业优先级</a:t>
            </a:r>
            <a:endParaRPr lang="zh-CN" altLang="zh-CN" sz="2400" dirty="0"/>
          </a:p>
          <a:p>
            <a:pPr lvl="1">
              <a:spcBef>
                <a:spcPts val="600"/>
              </a:spcBef>
            </a:pPr>
            <a:r>
              <a:rPr lang="zh-CN" altLang="zh-CN" sz="2400" dirty="0"/>
              <a:t>答案：</a:t>
            </a:r>
            <a:r>
              <a:rPr lang="en-US" altLang="zh-CN" sz="2400" dirty="0"/>
              <a:t>C</a:t>
            </a:r>
            <a:endParaRPr lang="en-US" altLang="zh-CN" sz="2400" dirty="0"/>
          </a:p>
          <a:p>
            <a:pPr>
              <a:spcBef>
                <a:spcPts val="600"/>
              </a:spcBef>
            </a:pPr>
            <a:r>
              <a:rPr lang="zh-CN" altLang="zh-CN" sz="2800" dirty="0"/>
              <a:t>在批处理系统中，用户的作业由哪几部分组成的</a:t>
            </a:r>
            <a:r>
              <a:rPr lang="en-US" altLang="zh-CN" sz="2800" dirty="0"/>
              <a:t>( )</a:t>
            </a:r>
            <a:endParaRPr lang="zh-CN" altLang="zh-CN" sz="2800" dirty="0"/>
          </a:p>
          <a:p>
            <a:pPr lvl="1">
              <a:spcBef>
                <a:spcPts val="600"/>
              </a:spcBef>
            </a:pPr>
            <a:r>
              <a:rPr lang="en-US" altLang="zh-CN" sz="2400" dirty="0"/>
              <a:t>A.</a:t>
            </a:r>
            <a:r>
              <a:rPr lang="zh-CN" altLang="zh-CN" sz="2400" dirty="0"/>
              <a:t>程序</a:t>
            </a:r>
            <a:r>
              <a:rPr lang="en-US" altLang="zh-CN" sz="2400" dirty="0"/>
              <a:t>+</a:t>
            </a:r>
            <a:r>
              <a:rPr lang="zh-CN" altLang="zh-CN" sz="2400" dirty="0"/>
              <a:t>数据</a:t>
            </a:r>
            <a:r>
              <a:rPr lang="en-US" altLang="zh-CN" sz="2400" dirty="0"/>
              <a:t> B.</a:t>
            </a:r>
            <a:r>
              <a:rPr lang="zh-CN" altLang="zh-CN" sz="2400" dirty="0"/>
              <a:t>程序</a:t>
            </a:r>
            <a:r>
              <a:rPr lang="en-US" altLang="zh-CN" sz="2400" dirty="0"/>
              <a:t> C.</a:t>
            </a:r>
            <a:r>
              <a:rPr lang="zh-CN" altLang="zh-CN" sz="2400" dirty="0"/>
              <a:t>程序</a:t>
            </a:r>
            <a:r>
              <a:rPr lang="en-US" altLang="zh-CN" sz="2400" dirty="0"/>
              <a:t>+</a:t>
            </a:r>
            <a:r>
              <a:rPr lang="zh-CN" altLang="zh-CN" sz="2400" dirty="0"/>
              <a:t>作业说明书</a:t>
            </a:r>
            <a:r>
              <a:rPr lang="en-US" altLang="zh-CN" sz="2400" dirty="0"/>
              <a:t> D.</a:t>
            </a:r>
            <a:r>
              <a:rPr lang="zh-CN" altLang="zh-CN" sz="2400" dirty="0"/>
              <a:t>程序</a:t>
            </a:r>
            <a:r>
              <a:rPr lang="en-US" altLang="zh-CN" sz="2400" dirty="0"/>
              <a:t>+</a:t>
            </a:r>
            <a:r>
              <a:rPr lang="zh-CN" altLang="zh-CN" sz="2400" dirty="0"/>
              <a:t>数据</a:t>
            </a:r>
            <a:r>
              <a:rPr lang="en-US" altLang="zh-CN" sz="2400" dirty="0"/>
              <a:t>+</a:t>
            </a:r>
            <a:r>
              <a:rPr lang="zh-CN" altLang="zh-CN" sz="2400" dirty="0"/>
              <a:t>作业说明书</a:t>
            </a:r>
            <a:endParaRPr lang="zh-CN" altLang="zh-CN" sz="2400" dirty="0"/>
          </a:p>
          <a:p>
            <a:pPr lvl="1">
              <a:spcBef>
                <a:spcPts val="600"/>
              </a:spcBef>
            </a:pPr>
            <a:r>
              <a:rPr lang="zh-CN" altLang="zh-CN" sz="2400" dirty="0"/>
              <a:t>答案：</a:t>
            </a:r>
            <a:r>
              <a:rPr lang="en-US" altLang="zh-CN" sz="2400" dirty="0"/>
              <a:t>D</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zh-CN" dirty="0"/>
              <a:t>如果将一批作业通过批处理的方式一次提交给系统，由系统依次将这些作业逐个读入并进行处理，就形成了</a:t>
            </a:r>
            <a:r>
              <a:rPr lang="en-US" altLang="zh-CN" dirty="0"/>
              <a:t>(    )</a:t>
            </a:r>
            <a:endParaRPr lang="zh-CN" altLang="zh-CN" dirty="0"/>
          </a:p>
          <a:p>
            <a:pPr lvl="1"/>
            <a:r>
              <a:rPr lang="en-US" altLang="zh-CN" dirty="0"/>
              <a:t>A. </a:t>
            </a:r>
            <a:r>
              <a:rPr lang="zh-CN" altLang="zh-CN" dirty="0"/>
              <a:t>作业流</a:t>
            </a:r>
            <a:r>
              <a:rPr lang="en-US" altLang="zh-CN" dirty="0"/>
              <a:t>       B</a:t>
            </a:r>
            <a:r>
              <a:rPr lang="zh-CN" altLang="zh-CN" dirty="0"/>
              <a:t>．子程序</a:t>
            </a:r>
            <a:r>
              <a:rPr lang="en-US" altLang="zh-CN" dirty="0"/>
              <a:t>        C.</a:t>
            </a:r>
            <a:r>
              <a:rPr lang="zh-CN" altLang="zh-CN" dirty="0"/>
              <a:t>作业步</a:t>
            </a:r>
            <a:r>
              <a:rPr lang="en-US" altLang="zh-CN" dirty="0"/>
              <a:t>        D</a:t>
            </a:r>
            <a:r>
              <a:rPr lang="zh-CN" altLang="zh-CN" dirty="0"/>
              <a:t>．程序组</a:t>
            </a:r>
            <a:endParaRPr lang="zh-CN" altLang="zh-CN" dirty="0"/>
          </a:p>
          <a:p>
            <a:pPr lvl="1"/>
            <a:r>
              <a:rPr lang="zh-CN" altLang="zh-CN" dirty="0"/>
              <a:t>答案：</a:t>
            </a:r>
            <a:r>
              <a:rPr lang="en-US" altLang="zh-CN" dirty="0"/>
              <a:t>A </a:t>
            </a:r>
            <a:endParaRPr lang="zh-CN" altLang="zh-CN" dirty="0"/>
          </a:p>
          <a:p>
            <a:r>
              <a:rPr lang="zh-CN" altLang="zh-CN" dirty="0"/>
              <a:t>批处理系统中把一批作业安排在输入设备上，然后依次读系统进行处理，从而形成了</a:t>
            </a:r>
            <a:r>
              <a:rPr lang="en-US" altLang="zh-CN" dirty="0"/>
              <a:t>(     )</a:t>
            </a:r>
            <a:endParaRPr lang="zh-CN" altLang="zh-CN" dirty="0"/>
          </a:p>
          <a:p>
            <a:pPr lvl="1"/>
            <a:r>
              <a:rPr lang="en-US" altLang="zh-CN" dirty="0"/>
              <a:t>A</a:t>
            </a:r>
            <a:r>
              <a:rPr lang="zh-CN" altLang="zh-CN" dirty="0"/>
              <a:t>．作业控制块</a:t>
            </a:r>
            <a:r>
              <a:rPr lang="en-US" altLang="zh-CN" dirty="0"/>
              <a:t>     B</a:t>
            </a:r>
            <a:r>
              <a:rPr lang="zh-CN" altLang="zh-CN" dirty="0"/>
              <a:t>．作业流</a:t>
            </a:r>
            <a:r>
              <a:rPr lang="en-US" altLang="zh-CN" dirty="0"/>
              <a:t>      C.</a:t>
            </a:r>
            <a:r>
              <a:rPr lang="zh-CN" altLang="zh-CN" dirty="0"/>
              <a:t>作业说明书</a:t>
            </a:r>
            <a:r>
              <a:rPr lang="en-US" altLang="zh-CN" dirty="0"/>
              <a:t>      D</a:t>
            </a:r>
            <a:r>
              <a:rPr lang="zh-CN" altLang="zh-CN" dirty="0"/>
              <a:t>．作业步</a:t>
            </a:r>
            <a:endParaRPr lang="zh-CN" altLang="zh-CN" dirty="0"/>
          </a:p>
          <a:p>
            <a:pPr lvl="1"/>
            <a:r>
              <a:rPr lang="zh-CN" altLang="zh-CN" dirty="0"/>
              <a:t>答案：</a:t>
            </a:r>
            <a:r>
              <a:rPr lang="en-US" altLang="zh-CN" dirty="0"/>
              <a:t>B</a:t>
            </a:r>
            <a:endParaRPr lang="zh-CN"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a:t>先来先服务</a:t>
            </a:r>
            <a:endParaRPr lang="zh-CN" altLang="en-US" dirty="0"/>
          </a:p>
        </p:txBody>
      </p:sp>
      <p:sp>
        <p:nvSpPr>
          <p:cNvPr id="30723" name="内容占位符 2"/>
          <p:cNvSpPr>
            <a:spLocks noGrp="1"/>
          </p:cNvSpPr>
          <p:nvPr>
            <p:ph idx="1"/>
          </p:nvPr>
        </p:nvSpPr>
        <p:spPr/>
        <p:txBody>
          <a:bodyPr/>
          <a:lstStyle/>
          <a:p>
            <a:r>
              <a:rPr lang="zh-CN" altLang="en-US"/>
              <a:t>举例：下表列出了</a:t>
            </a:r>
            <a:r>
              <a:rPr lang="en-US" altLang="zh-CN"/>
              <a:t>A</a:t>
            </a:r>
            <a:r>
              <a:rPr lang="zh-CN" altLang="en-US"/>
              <a:t>、</a:t>
            </a:r>
            <a:r>
              <a:rPr lang="en-US" altLang="zh-CN"/>
              <a:t>B</a:t>
            </a:r>
            <a:r>
              <a:rPr lang="zh-CN" altLang="en-US"/>
              <a:t>、</a:t>
            </a:r>
            <a:r>
              <a:rPr lang="en-US" altLang="zh-CN"/>
              <a:t>C</a:t>
            </a:r>
            <a:r>
              <a:rPr lang="zh-CN" altLang="en-US"/>
              <a:t>、</a:t>
            </a:r>
            <a:r>
              <a:rPr lang="en-US" altLang="zh-CN"/>
              <a:t>D</a:t>
            </a:r>
            <a:r>
              <a:rPr lang="zh-CN" altLang="en-US"/>
              <a:t>四个作业分别到达系统的时间、要求服务的时间、开始执行的时间及各自的完成时间，并计算出各自的周转时间和带权周转时间。</a:t>
            </a:r>
            <a:endParaRPr lang="zh-CN" altLang="en-US"/>
          </a:p>
          <a:p>
            <a:endParaRPr lang="zh-CN" altLang="en-US"/>
          </a:p>
        </p:txBody>
      </p:sp>
      <p:sp>
        <p:nvSpPr>
          <p:cNvPr id="5" name="Text Box 457"/>
          <p:cNvSpPr txBox="1">
            <a:spLocks noChangeArrowheads="1"/>
          </p:cNvSpPr>
          <p:nvPr/>
        </p:nvSpPr>
        <p:spPr bwMode="auto">
          <a:xfrm>
            <a:off x="1752600" y="5105400"/>
            <a:ext cx="8458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Tx/>
              <a:buFontTx/>
              <a:buNone/>
            </a:pPr>
            <a:r>
              <a:rPr lang="zh-CN" altLang="en-US" dirty="0">
                <a:solidFill>
                  <a:srgbClr val="FF0000"/>
                </a:solidFill>
                <a:latin typeface="Tahoma" panose="020B0604030504040204" pitchFamily="34" charset="0"/>
                <a:ea typeface="楷体_GB2312" pitchFamily="49" charset="-122"/>
              </a:rPr>
              <a:t>缺陷：对待短作业（进程）不公平，如果他们排在队列后面，则其等待时间远大于其执行时间。</a:t>
            </a:r>
            <a:endParaRPr lang="zh-CN" altLang="en-US" dirty="0">
              <a:solidFill>
                <a:srgbClr val="FF0000"/>
              </a:solidFill>
              <a:latin typeface="Tahoma" panose="020B0604030504040204" pitchFamily="34" charset="0"/>
              <a:ea typeface="楷体_GB2312" pitchFamily="49" charset="-122"/>
            </a:endParaRPr>
          </a:p>
        </p:txBody>
      </p:sp>
      <p:pic>
        <p:nvPicPr>
          <p:cNvPr id="8909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62100" y="2024064"/>
            <a:ext cx="9067800" cy="280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24501" y="2957513"/>
            <a:ext cx="496252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连接符 5"/>
          <p:cNvCxnSpPr/>
          <p:nvPr/>
        </p:nvCxnSpPr>
        <p:spPr>
          <a:xfrm>
            <a:off x="2286000" y="4191000"/>
            <a:ext cx="7924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090"/>
                                        </p:tgtEl>
                                        <p:attrNameLst>
                                          <p:attrName>style.visibility</p:attrName>
                                        </p:attrNameLst>
                                      </p:cBhvr>
                                      <p:to>
                                        <p:strVal val="visible"/>
                                      </p:to>
                                    </p:set>
                                    <p:anim calcmode="lin" valueType="num">
                                      <p:cBhvr additive="base">
                                        <p:cTn id="7" dur="500" fill="hold"/>
                                        <p:tgtEl>
                                          <p:spTgt spid="89090"/>
                                        </p:tgtEl>
                                        <p:attrNameLst>
                                          <p:attrName>ppt_x</p:attrName>
                                        </p:attrNameLst>
                                      </p:cBhvr>
                                      <p:tavLst>
                                        <p:tav tm="0">
                                          <p:val>
                                            <p:strVal val="#ppt_x"/>
                                          </p:val>
                                        </p:tav>
                                        <p:tav tm="100000">
                                          <p:val>
                                            <p:strVal val="#ppt_x"/>
                                          </p:val>
                                        </p:tav>
                                      </p:tavLst>
                                    </p:anim>
                                    <p:anim calcmode="lin" valueType="num">
                                      <p:cBhvr additive="base">
                                        <p:cTn id="8" dur="500" fill="hold"/>
                                        <p:tgtEl>
                                          <p:spTgt spid="890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9091"/>
                                        </p:tgtEl>
                                        <p:attrNameLst>
                                          <p:attrName>style.visibility</p:attrName>
                                        </p:attrNameLst>
                                      </p:cBhvr>
                                      <p:to>
                                        <p:strVal val="visible"/>
                                      </p:to>
                                    </p:set>
                                    <p:anim calcmode="lin" valueType="num">
                                      <p:cBhvr additive="base">
                                        <p:cTn id="13" dur="500" fill="hold"/>
                                        <p:tgtEl>
                                          <p:spTgt spid="89091"/>
                                        </p:tgtEl>
                                        <p:attrNameLst>
                                          <p:attrName>ppt_x</p:attrName>
                                        </p:attrNameLst>
                                      </p:cBhvr>
                                      <p:tavLst>
                                        <p:tav tm="0">
                                          <p:val>
                                            <p:strVal val="#ppt_x"/>
                                          </p:val>
                                        </p:tav>
                                        <p:tav tm="100000">
                                          <p:val>
                                            <p:strVal val="#ppt_x"/>
                                          </p:val>
                                        </p:tav>
                                      </p:tavLst>
                                    </p:anim>
                                    <p:anim calcmode="lin" valueType="num">
                                      <p:cBhvr additive="base">
                                        <p:cTn id="14" dur="500" fill="hold"/>
                                        <p:tgtEl>
                                          <p:spTgt spid="8909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示例：周转时间和带权周转时间计算</a:t>
            </a:r>
            <a:endParaRPr lang="zh-CN" altLang="en-US" dirty="0"/>
          </a:p>
        </p:txBody>
      </p:sp>
      <p:sp>
        <p:nvSpPr>
          <p:cNvPr id="271362" name="Rectangle 2"/>
          <p:cNvSpPr>
            <a:spLocks noGrp="1" noRot="1" noChangeArrowheads="1"/>
          </p:cNvSpPr>
          <p:nvPr>
            <p:ph type="title"/>
          </p:nvPr>
        </p:nvSpPr>
        <p:spPr/>
        <p:txBody>
          <a:bodyPr/>
          <a:lstStyle/>
          <a:p>
            <a:pPr eaLnBrk="1" hangingPunct="1">
              <a:defRPr/>
            </a:pPr>
            <a:r>
              <a:rPr lang="en-US" altLang="zh-CN" dirty="0"/>
              <a:t>2</a:t>
            </a:r>
            <a:r>
              <a:rPr lang="zh-CN" altLang="en-US" dirty="0"/>
              <a:t>．短进程</a:t>
            </a:r>
            <a:r>
              <a:rPr lang="en-US" altLang="zh-CN" dirty="0"/>
              <a:t>/</a:t>
            </a:r>
            <a:r>
              <a:rPr lang="zh-CN" altLang="en-US" dirty="0"/>
              <a:t>作业优先调度算法</a:t>
            </a:r>
            <a:endParaRPr lang="zh-CN" altLang="en-US" dirty="0"/>
          </a:p>
        </p:txBody>
      </p:sp>
      <p:graphicFrame>
        <p:nvGraphicFramePr>
          <p:cNvPr id="32771" name="Object 3"/>
          <p:cNvGraphicFramePr>
            <a:graphicFrameLocks noChangeAspect="1"/>
          </p:cNvGraphicFramePr>
          <p:nvPr/>
        </p:nvGraphicFramePr>
        <p:xfrm>
          <a:off x="1943100" y="2377646"/>
          <a:ext cx="8305800" cy="4237038"/>
        </p:xfrm>
        <a:graphic>
          <a:graphicData uri="http://schemas.openxmlformats.org/presentationml/2006/ole">
            <mc:AlternateContent xmlns:mc="http://schemas.openxmlformats.org/markup-compatibility/2006">
              <mc:Choice xmlns:v="urn:schemas-microsoft-com:vml" Requires="v">
                <p:oleObj spid="_x0000_s5176" name="" r:id="rId1" imgW="6742430" imgH="4110355" progId="WangImage.Document">
                  <p:embed/>
                </p:oleObj>
              </mc:Choice>
              <mc:Fallback>
                <p:oleObj name="" r:id="rId1" imgW="6742430" imgH="4110355" progId="WangImage.Document">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2377646"/>
                        <a:ext cx="8305800" cy="423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连接符 2"/>
          <p:cNvCxnSpPr/>
          <p:nvPr/>
        </p:nvCxnSpPr>
        <p:spPr>
          <a:xfrm>
            <a:off x="7543800" y="4038600"/>
            <a:ext cx="3048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7542213" y="5257800"/>
            <a:ext cx="3048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7543800" y="4495800"/>
            <a:ext cx="3048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7542213" y="5715000"/>
            <a:ext cx="304800"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针对作业的有抢占式的高响应比优先算法，何时计算响应比？</a:t>
            </a:r>
            <a:endParaRPr lang="en-US" altLang="zh-CN" dirty="0"/>
          </a:p>
          <a:p>
            <a:pPr lvl="1"/>
            <a:r>
              <a:rPr lang="en-US" altLang="zh-CN" dirty="0"/>
              <a:t>A</a:t>
            </a:r>
            <a:r>
              <a:rPr lang="zh-CN" altLang="en-US" dirty="0"/>
              <a:t>）有作业结束      </a:t>
            </a:r>
            <a:endParaRPr lang="en-US" altLang="zh-CN" dirty="0"/>
          </a:p>
          <a:p>
            <a:pPr lvl="1"/>
            <a:r>
              <a:rPr lang="en-US" altLang="zh-CN" dirty="0"/>
              <a:t>B</a:t>
            </a:r>
            <a:r>
              <a:rPr lang="zh-CN" altLang="en-US" dirty="0"/>
              <a:t>）新作业进入   </a:t>
            </a:r>
            <a:endParaRPr lang="en-US" altLang="zh-CN" dirty="0"/>
          </a:p>
          <a:p>
            <a:pPr lvl="1"/>
            <a:r>
              <a:rPr lang="en-US" altLang="zh-CN" dirty="0"/>
              <a:t>C</a:t>
            </a:r>
            <a:r>
              <a:rPr lang="zh-CN" altLang="en-US" dirty="0"/>
              <a:t>）执行进程需要等待</a:t>
            </a:r>
            <a:r>
              <a:rPr lang="en-US" altLang="zh-CN" dirty="0"/>
              <a:t>I/O    </a:t>
            </a:r>
            <a:endParaRPr lang="en-US" altLang="zh-CN" dirty="0"/>
          </a:p>
          <a:p>
            <a:pPr lvl="1"/>
            <a:r>
              <a:rPr lang="en-US" altLang="zh-CN" dirty="0"/>
              <a:t>D</a:t>
            </a:r>
            <a:r>
              <a:rPr lang="zh-CN" altLang="en-US" dirty="0"/>
              <a:t>）定时间隔</a:t>
            </a:r>
            <a:endParaRPr lang="en-US" altLang="zh-CN" dirty="0"/>
          </a:p>
          <a:p>
            <a:pPr lvl="1"/>
            <a:r>
              <a:rPr lang="en-US" altLang="zh-CN" dirty="0"/>
              <a:t>E</a:t>
            </a:r>
            <a:r>
              <a:rPr lang="zh-CN" altLang="en-US" dirty="0"/>
              <a:t>）执行进程被挂起</a:t>
            </a:r>
            <a:endParaRPr lang="en-US" altLang="zh-CN" dirty="0"/>
          </a:p>
          <a:p>
            <a:pPr lvl="1"/>
            <a:r>
              <a:rPr lang="zh-CN" altLang="en-US" dirty="0"/>
              <a:t>答案： </a:t>
            </a:r>
            <a:r>
              <a:rPr lang="en-US" altLang="zh-CN" dirty="0"/>
              <a:t>A B </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问题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850178"/>
            <a:ext cx="10770648" cy="5157643"/>
          </a:xfrm>
        </p:spPr>
        <p:txBody>
          <a:bodyPr/>
          <a:lstStyle/>
          <a:p>
            <a:r>
              <a:rPr lang="zh-CN" altLang="en-US" sz="2800" dirty="0"/>
              <a:t>多选，下面那些是基于优先级抢占的进程调度的时机：</a:t>
            </a:r>
            <a:endParaRPr lang="en-US" altLang="zh-CN" sz="2800" dirty="0"/>
          </a:p>
          <a:p>
            <a:pPr lvl="1"/>
            <a:r>
              <a:rPr lang="en-US" altLang="zh-CN" sz="2400" dirty="0"/>
              <a:t>A </a:t>
            </a:r>
            <a:r>
              <a:rPr lang="zh-CN" altLang="en-US" sz="2400" dirty="0"/>
              <a:t>执行进程结束       </a:t>
            </a:r>
            <a:r>
              <a:rPr lang="en-US" altLang="zh-CN" sz="2400" dirty="0"/>
              <a:t>B </a:t>
            </a:r>
            <a:r>
              <a:rPr lang="zh-CN" altLang="en-US" sz="2400" dirty="0"/>
              <a:t>执行进程因等待</a:t>
            </a:r>
            <a:r>
              <a:rPr lang="en-US" altLang="zh-CN" sz="2400" dirty="0"/>
              <a:t>I/O</a:t>
            </a:r>
            <a:r>
              <a:rPr lang="zh-CN" altLang="en-US" sz="2400" dirty="0"/>
              <a:t>阻塞 </a:t>
            </a:r>
            <a:endParaRPr lang="en-US" altLang="zh-CN" sz="2400" dirty="0"/>
          </a:p>
          <a:p>
            <a:pPr lvl="1"/>
            <a:r>
              <a:rPr lang="en-US" altLang="zh-CN" sz="2400" dirty="0"/>
              <a:t>C</a:t>
            </a:r>
            <a:r>
              <a:rPr lang="zh-CN" altLang="en-US" sz="2400" dirty="0"/>
              <a:t>执行进程因同步或者通信而阻塞     </a:t>
            </a:r>
            <a:r>
              <a:rPr lang="en-US" altLang="zh-CN" sz="2400" dirty="0"/>
              <a:t>D </a:t>
            </a:r>
            <a:r>
              <a:rPr lang="zh-CN" altLang="en-US" sz="2400" dirty="0"/>
              <a:t>执行进程被挂起</a:t>
            </a:r>
            <a:endParaRPr lang="en-US" altLang="zh-CN" sz="2400" dirty="0"/>
          </a:p>
          <a:p>
            <a:pPr lvl="1"/>
            <a:r>
              <a:rPr lang="en-US" altLang="zh-CN" sz="2400" dirty="0"/>
              <a:t>E </a:t>
            </a:r>
            <a:r>
              <a:rPr lang="zh-CN" altLang="en-US" sz="2400" dirty="0"/>
              <a:t>新进程或有进程进入就绪队列        </a:t>
            </a:r>
            <a:r>
              <a:rPr lang="en-US" altLang="zh-CN" sz="2400" dirty="0"/>
              <a:t>F </a:t>
            </a:r>
            <a:r>
              <a:rPr lang="zh-CN" altLang="en-US" sz="2400" dirty="0"/>
              <a:t>时钟中断达到</a:t>
            </a:r>
            <a:endParaRPr lang="en-US" altLang="zh-CN" sz="2400" dirty="0"/>
          </a:p>
          <a:p>
            <a:pPr lvl="1"/>
            <a:r>
              <a:rPr lang="zh-CN" altLang="en-US" sz="2400" dirty="0"/>
              <a:t>答案：</a:t>
            </a:r>
            <a:r>
              <a:rPr lang="en-US" altLang="zh-CN" sz="2400" dirty="0"/>
              <a:t>A B C D E </a:t>
            </a:r>
            <a:endParaRPr lang="en-US" altLang="zh-CN" sz="2400" dirty="0"/>
          </a:p>
          <a:p>
            <a:r>
              <a:rPr lang="zh-CN" altLang="en-US" sz="2800" dirty="0"/>
              <a:t>多选，下面那些是轮转调度的时机：</a:t>
            </a:r>
            <a:endParaRPr lang="en-US" altLang="zh-CN" sz="2800" dirty="0"/>
          </a:p>
          <a:p>
            <a:pPr lvl="1"/>
            <a:r>
              <a:rPr lang="en-US" altLang="zh-CN" sz="2400" dirty="0"/>
              <a:t>A </a:t>
            </a:r>
            <a:r>
              <a:rPr lang="zh-CN" altLang="en-US" sz="2400" dirty="0"/>
              <a:t>执行进程结束       </a:t>
            </a:r>
            <a:r>
              <a:rPr lang="en-US" altLang="zh-CN" sz="2400" dirty="0"/>
              <a:t>B </a:t>
            </a:r>
            <a:r>
              <a:rPr lang="zh-CN" altLang="en-US" sz="2400" dirty="0"/>
              <a:t>执行进程因等待</a:t>
            </a:r>
            <a:r>
              <a:rPr lang="en-US" altLang="zh-CN" sz="2400" dirty="0"/>
              <a:t>I/O</a:t>
            </a:r>
            <a:r>
              <a:rPr lang="zh-CN" altLang="en-US" sz="2400" dirty="0"/>
              <a:t>阻塞 </a:t>
            </a:r>
            <a:endParaRPr lang="en-US" altLang="zh-CN" sz="2400" dirty="0"/>
          </a:p>
          <a:p>
            <a:pPr lvl="1"/>
            <a:r>
              <a:rPr lang="en-US" altLang="zh-CN" sz="2400" dirty="0"/>
              <a:t>C</a:t>
            </a:r>
            <a:r>
              <a:rPr lang="zh-CN" altLang="en-US" sz="2400" dirty="0"/>
              <a:t>执行进程因同步或者通信而阻塞     </a:t>
            </a:r>
            <a:r>
              <a:rPr lang="en-US" altLang="zh-CN" sz="2400" dirty="0"/>
              <a:t>D </a:t>
            </a:r>
            <a:r>
              <a:rPr lang="zh-CN" altLang="en-US" sz="2400" dirty="0"/>
              <a:t>执行进程被挂起</a:t>
            </a:r>
            <a:endParaRPr lang="en-US" altLang="zh-CN" sz="2400" dirty="0"/>
          </a:p>
          <a:p>
            <a:pPr lvl="1"/>
            <a:r>
              <a:rPr lang="en-US" altLang="zh-CN" sz="2400" dirty="0"/>
              <a:t>E </a:t>
            </a:r>
            <a:r>
              <a:rPr lang="zh-CN" altLang="en-US" sz="2400" dirty="0"/>
              <a:t>新进程或有进程进入就绪队列        </a:t>
            </a:r>
            <a:r>
              <a:rPr lang="en-US" altLang="zh-CN" sz="2400" dirty="0"/>
              <a:t>F </a:t>
            </a:r>
            <a:r>
              <a:rPr lang="zh-CN" altLang="en-US" sz="2400" dirty="0"/>
              <a:t>时钟中断达到</a:t>
            </a:r>
            <a:endParaRPr lang="en-US" altLang="zh-CN" sz="2400" dirty="0"/>
          </a:p>
          <a:p>
            <a:pPr lvl="1"/>
            <a:r>
              <a:rPr lang="zh-CN" altLang="en-US" sz="2400" dirty="0"/>
              <a:t>答案：</a:t>
            </a:r>
            <a:r>
              <a:rPr lang="en-US" altLang="zh-CN" sz="2400" dirty="0"/>
              <a:t>A B C D F</a:t>
            </a:r>
            <a:endParaRPr lang="en-US" altLang="zh-CN" sz="2400" dirty="0"/>
          </a:p>
          <a:p>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850178"/>
            <a:ext cx="10770648" cy="5157643"/>
          </a:xfrm>
        </p:spPr>
        <p:txBody>
          <a:bodyPr/>
          <a:lstStyle/>
          <a:p>
            <a:r>
              <a:rPr lang="zh-CN" altLang="en-US" sz="2800" dirty="0"/>
              <a:t>多选，下面那些是多级反馈队列调度的时机：</a:t>
            </a:r>
            <a:endParaRPr lang="en-US" altLang="zh-CN" sz="2800" dirty="0"/>
          </a:p>
          <a:p>
            <a:pPr lvl="1"/>
            <a:r>
              <a:rPr lang="en-US" altLang="zh-CN" sz="2400" dirty="0"/>
              <a:t>A </a:t>
            </a:r>
            <a:r>
              <a:rPr lang="zh-CN" altLang="en-US" sz="2400" dirty="0"/>
              <a:t>执行进程结束       </a:t>
            </a:r>
            <a:r>
              <a:rPr lang="en-US" altLang="zh-CN" sz="2400" dirty="0"/>
              <a:t>B </a:t>
            </a:r>
            <a:r>
              <a:rPr lang="zh-CN" altLang="en-US" sz="2400" dirty="0"/>
              <a:t>执行进程因等待</a:t>
            </a:r>
            <a:r>
              <a:rPr lang="en-US" altLang="zh-CN" sz="2400" dirty="0"/>
              <a:t>I/O</a:t>
            </a:r>
            <a:r>
              <a:rPr lang="zh-CN" altLang="en-US" sz="2400" dirty="0"/>
              <a:t>阻塞 </a:t>
            </a:r>
            <a:endParaRPr lang="en-US" altLang="zh-CN" sz="2400" dirty="0"/>
          </a:p>
          <a:p>
            <a:pPr lvl="1"/>
            <a:r>
              <a:rPr lang="en-US" altLang="zh-CN" sz="2400" dirty="0"/>
              <a:t>C</a:t>
            </a:r>
            <a:r>
              <a:rPr lang="zh-CN" altLang="en-US" sz="2400" dirty="0"/>
              <a:t>执行进程因同步或者通信而阻塞     </a:t>
            </a:r>
            <a:r>
              <a:rPr lang="en-US" altLang="zh-CN" sz="2400" dirty="0"/>
              <a:t>D </a:t>
            </a:r>
            <a:r>
              <a:rPr lang="zh-CN" altLang="en-US" sz="2400" dirty="0"/>
              <a:t>执行进程被挂起</a:t>
            </a:r>
            <a:endParaRPr lang="en-US" altLang="zh-CN" sz="2400" dirty="0"/>
          </a:p>
          <a:p>
            <a:pPr lvl="1"/>
            <a:r>
              <a:rPr lang="en-US" altLang="zh-CN" sz="2400" dirty="0"/>
              <a:t>E </a:t>
            </a:r>
            <a:r>
              <a:rPr lang="zh-CN" altLang="en-US" sz="2400" dirty="0"/>
              <a:t>新进程或有进程进入就绪队列        </a:t>
            </a:r>
            <a:r>
              <a:rPr lang="en-US" altLang="zh-CN" sz="2400" dirty="0"/>
              <a:t>F </a:t>
            </a:r>
            <a:r>
              <a:rPr lang="zh-CN" altLang="en-US" sz="2400" dirty="0"/>
              <a:t>时钟中断达到</a:t>
            </a:r>
            <a:endParaRPr lang="en-US" altLang="zh-CN" sz="2400" dirty="0"/>
          </a:p>
          <a:p>
            <a:pPr lvl="1"/>
            <a:r>
              <a:rPr lang="zh-CN" altLang="en-US" sz="2400" dirty="0"/>
              <a:t>答案：</a:t>
            </a:r>
            <a:r>
              <a:rPr lang="en-US" altLang="zh-CN" sz="2400" dirty="0"/>
              <a:t>A B C D E  F</a:t>
            </a:r>
            <a:endParaRPr lang="en-US" altLang="zh-CN" sz="2400" dirty="0"/>
          </a:p>
          <a:p>
            <a:r>
              <a:rPr lang="zh-CN" altLang="en-US" sz="2800" dirty="0"/>
              <a:t>多选，下面那些是先来先服务调度算法的调度时机：</a:t>
            </a:r>
            <a:endParaRPr lang="en-US" altLang="zh-CN" sz="2800" dirty="0"/>
          </a:p>
          <a:p>
            <a:pPr lvl="1"/>
            <a:r>
              <a:rPr lang="en-US" altLang="zh-CN" sz="2400" dirty="0"/>
              <a:t>A </a:t>
            </a:r>
            <a:r>
              <a:rPr lang="zh-CN" altLang="en-US" sz="2400" dirty="0"/>
              <a:t>执行进程结束       </a:t>
            </a:r>
            <a:r>
              <a:rPr lang="en-US" altLang="zh-CN" sz="2400" dirty="0"/>
              <a:t>B </a:t>
            </a:r>
            <a:r>
              <a:rPr lang="zh-CN" altLang="en-US" sz="2400" dirty="0"/>
              <a:t>执行进程因等待</a:t>
            </a:r>
            <a:r>
              <a:rPr lang="en-US" altLang="zh-CN" sz="2400" dirty="0"/>
              <a:t>I/O</a:t>
            </a:r>
            <a:r>
              <a:rPr lang="zh-CN" altLang="en-US" sz="2400" dirty="0"/>
              <a:t>阻塞 </a:t>
            </a:r>
            <a:endParaRPr lang="en-US" altLang="zh-CN" sz="2400" dirty="0"/>
          </a:p>
          <a:p>
            <a:pPr lvl="1"/>
            <a:r>
              <a:rPr lang="en-US" altLang="zh-CN" sz="2400" dirty="0"/>
              <a:t>C</a:t>
            </a:r>
            <a:r>
              <a:rPr lang="zh-CN" altLang="en-US" sz="2400" dirty="0"/>
              <a:t>执行进程因同步或者通信而阻塞     </a:t>
            </a:r>
            <a:r>
              <a:rPr lang="en-US" altLang="zh-CN" sz="2400" dirty="0"/>
              <a:t>D </a:t>
            </a:r>
            <a:r>
              <a:rPr lang="zh-CN" altLang="en-US" sz="2400" dirty="0"/>
              <a:t>执行进程被挂起</a:t>
            </a:r>
            <a:endParaRPr lang="en-US" altLang="zh-CN" sz="2400" dirty="0"/>
          </a:p>
          <a:p>
            <a:pPr lvl="1"/>
            <a:r>
              <a:rPr lang="en-US" altLang="zh-CN" sz="2400" dirty="0"/>
              <a:t>E </a:t>
            </a:r>
            <a:r>
              <a:rPr lang="zh-CN" altLang="en-US" sz="2400" dirty="0"/>
              <a:t>新进程或有进程进入就绪队列        </a:t>
            </a:r>
            <a:r>
              <a:rPr lang="en-US" altLang="zh-CN" sz="2400" dirty="0"/>
              <a:t>F </a:t>
            </a:r>
            <a:r>
              <a:rPr lang="zh-CN" altLang="en-US" sz="2400" dirty="0"/>
              <a:t>时钟中断达到</a:t>
            </a:r>
            <a:endParaRPr lang="en-US" altLang="zh-CN" sz="2400" dirty="0"/>
          </a:p>
          <a:p>
            <a:pPr lvl="1"/>
            <a:r>
              <a:rPr lang="zh-CN" altLang="en-US" sz="2400" dirty="0"/>
              <a:t>答案：</a:t>
            </a:r>
            <a:r>
              <a:rPr lang="en-US" altLang="zh-CN" sz="2400" dirty="0"/>
              <a:t>A B C 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p:txBody>
          <a:bodyPr/>
          <a:lstStyle/>
          <a:p>
            <a:r>
              <a:rPr lang="zh-CN" altLang="en-US" dirty="0"/>
              <a:t>优先级倒置产生的原因是：</a:t>
            </a:r>
            <a:endParaRPr lang="en-US" altLang="zh-CN" dirty="0"/>
          </a:p>
          <a:p>
            <a:r>
              <a:rPr lang="en-US" altLang="zh-CN" dirty="0"/>
              <a:t>A </a:t>
            </a:r>
            <a:r>
              <a:rPr lang="zh-CN" altLang="en-US" dirty="0"/>
              <a:t>低优先级进程先进入临界区，阻止更高优先级进程进入临界区，中优先级进程抢占低优先级进程的</a:t>
            </a:r>
            <a:r>
              <a:rPr lang="en-US" altLang="zh-CN" dirty="0"/>
              <a:t>CPU</a:t>
            </a:r>
            <a:r>
              <a:rPr lang="zh-CN" altLang="en-US" dirty="0"/>
              <a:t>，从而间接阻止更高优先级进程运行</a:t>
            </a:r>
            <a:endParaRPr lang="en-US" altLang="zh-CN" dirty="0"/>
          </a:p>
          <a:p>
            <a:r>
              <a:rPr lang="en-US" altLang="zh-CN" dirty="0"/>
              <a:t>B </a:t>
            </a:r>
            <a:r>
              <a:rPr lang="zh-CN" altLang="en-US" dirty="0"/>
              <a:t>存在着不同的优先级</a:t>
            </a:r>
            <a:endParaRPr lang="en-US" altLang="zh-CN" dirty="0"/>
          </a:p>
          <a:p>
            <a:r>
              <a:rPr lang="en-US" altLang="zh-CN" dirty="0"/>
              <a:t>C </a:t>
            </a:r>
            <a:r>
              <a:rPr lang="zh-CN" altLang="en-US" dirty="0"/>
              <a:t>存在着不同的优先级和临界区</a:t>
            </a:r>
            <a:endParaRPr lang="en-US" altLang="zh-CN" dirty="0"/>
          </a:p>
          <a:p>
            <a:r>
              <a:rPr lang="en-US" altLang="zh-CN" dirty="0"/>
              <a:t>D </a:t>
            </a:r>
            <a:r>
              <a:rPr lang="zh-CN" altLang="en-US" dirty="0"/>
              <a:t>临界区使用不当</a:t>
            </a:r>
            <a:endParaRPr lang="en-US" altLang="zh-CN" dirty="0"/>
          </a:p>
          <a:p>
            <a:r>
              <a:rPr lang="zh-CN" altLang="en-US" dirty="0"/>
              <a:t>答案： </a:t>
            </a:r>
            <a:r>
              <a:rPr lang="en-US" altLang="zh-CN" dirty="0"/>
              <a:t>A</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请描述优先级倒置的形成，以及两种解决办法。</a:t>
            </a:r>
            <a:endParaRPr lang="en-US" altLang="zh-CN" dirty="0"/>
          </a:p>
          <a:p>
            <a:pPr lvl="1"/>
            <a:r>
              <a:rPr lang="zh-CN" altLang="en-US" dirty="0"/>
              <a:t>存在高中低三个优先级的进程，高和低共享同一个临界资源，低优先级进程先进入临界区，阻止高优先级进程进入临界区，中优先级进程抢占低优先级进程的</a:t>
            </a:r>
            <a:r>
              <a:rPr lang="en-US" altLang="zh-CN" dirty="0"/>
              <a:t>CPU</a:t>
            </a:r>
            <a:r>
              <a:rPr lang="zh-CN" altLang="en-US" dirty="0"/>
              <a:t>，使得低优先级进程无法从临界区退出，从而间接阻止更高优先级进程运行。</a:t>
            </a:r>
            <a:endParaRPr lang="en-US" altLang="zh-CN" dirty="0"/>
          </a:p>
          <a:p>
            <a:pPr lvl="1"/>
            <a:r>
              <a:rPr lang="zh-CN" altLang="en-US" dirty="0"/>
              <a:t>临界区不允许抢占</a:t>
            </a:r>
            <a:endParaRPr lang="en-US" altLang="zh-CN" dirty="0"/>
          </a:p>
          <a:p>
            <a:pPr lvl="1"/>
            <a:r>
              <a:rPr lang="zh-CN" altLang="en-US" dirty="0"/>
              <a:t>优先级继承</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850178"/>
            <a:ext cx="10770648" cy="5157643"/>
          </a:xfrm>
        </p:spPr>
        <p:txBody>
          <a:bodyPr/>
          <a:lstStyle/>
          <a:p>
            <a:pPr>
              <a:spcBef>
                <a:spcPts val="600"/>
              </a:spcBef>
            </a:pPr>
            <a:r>
              <a:rPr lang="zh-CN" altLang="zh-CN" sz="2800" dirty="0"/>
              <a:t>进程</a:t>
            </a:r>
            <a:r>
              <a:rPr lang="en-US" altLang="zh-CN" sz="2800" dirty="0"/>
              <a:t>P1</a:t>
            </a:r>
            <a:r>
              <a:rPr lang="zh-CN" altLang="zh-CN" sz="2800" dirty="0"/>
              <a:t>使用资源情况：申请资源</a:t>
            </a:r>
            <a:r>
              <a:rPr lang="en-US" altLang="zh-CN" sz="2800" dirty="0"/>
              <a:t>S1</a:t>
            </a:r>
            <a:r>
              <a:rPr lang="zh-CN" altLang="zh-CN" sz="2800" dirty="0"/>
              <a:t>，</a:t>
            </a:r>
            <a:r>
              <a:rPr lang="en-US" altLang="zh-CN" sz="2800" dirty="0"/>
              <a:t>…</a:t>
            </a:r>
            <a:r>
              <a:rPr lang="zh-CN" altLang="zh-CN" sz="2800" dirty="0"/>
              <a:t>申请资源</a:t>
            </a:r>
            <a:r>
              <a:rPr lang="en-US" altLang="zh-CN" sz="2800" dirty="0"/>
              <a:t>S2</a:t>
            </a:r>
            <a:r>
              <a:rPr lang="zh-CN" altLang="zh-CN" sz="2800" dirty="0"/>
              <a:t>，…释放资源</a:t>
            </a:r>
            <a:r>
              <a:rPr lang="en-US" altLang="zh-CN" sz="2800" dirty="0"/>
              <a:t>S1</a:t>
            </a:r>
            <a:r>
              <a:rPr lang="zh-CN" altLang="zh-CN" sz="2800" dirty="0"/>
              <a:t>；进程</a:t>
            </a:r>
            <a:r>
              <a:rPr lang="en-US" altLang="zh-CN" sz="2800" dirty="0"/>
              <a:t>P2</a:t>
            </a:r>
            <a:r>
              <a:rPr lang="zh-CN" altLang="zh-CN" sz="2800" dirty="0"/>
              <a:t>使用资源情况：申请资源</a:t>
            </a:r>
            <a:r>
              <a:rPr lang="en-US" altLang="zh-CN" sz="2800" dirty="0"/>
              <a:t>S2</a:t>
            </a:r>
            <a:r>
              <a:rPr lang="zh-CN" altLang="zh-CN" sz="2800" dirty="0"/>
              <a:t>，…申请资源</a:t>
            </a:r>
            <a:r>
              <a:rPr lang="en-US" altLang="zh-CN" sz="2800" dirty="0"/>
              <a:t>S1</a:t>
            </a:r>
            <a:r>
              <a:rPr lang="zh-CN" altLang="zh-CN" sz="2800" dirty="0"/>
              <a:t>，…释放资源</a:t>
            </a:r>
            <a:r>
              <a:rPr lang="en-US" altLang="zh-CN" sz="2800" dirty="0"/>
              <a:t>S2</a:t>
            </a:r>
            <a:r>
              <a:rPr lang="zh-CN" altLang="zh-CN" sz="2800" dirty="0"/>
              <a:t>，系统并发执行进程</a:t>
            </a:r>
            <a:r>
              <a:rPr lang="en-US" altLang="zh-CN" sz="2800" dirty="0"/>
              <a:t>P1</a:t>
            </a:r>
            <a:r>
              <a:rPr lang="zh-CN" altLang="zh-CN" sz="2800" dirty="0"/>
              <a:t>，</a:t>
            </a:r>
            <a:r>
              <a:rPr lang="en-US" altLang="zh-CN" sz="2800" dirty="0"/>
              <a:t>P2</a:t>
            </a:r>
            <a:r>
              <a:rPr lang="zh-CN" altLang="zh-CN" sz="2800" dirty="0"/>
              <a:t>，系统将</a:t>
            </a:r>
            <a:r>
              <a:rPr lang="en-US" altLang="zh-CN" sz="2800" dirty="0"/>
              <a:t>( )</a:t>
            </a:r>
            <a:endParaRPr lang="zh-CN" altLang="zh-CN" sz="2800" dirty="0"/>
          </a:p>
          <a:p>
            <a:pPr lvl="1">
              <a:spcBef>
                <a:spcPts val="600"/>
              </a:spcBef>
            </a:pPr>
            <a:r>
              <a:rPr lang="en-US" altLang="zh-CN" sz="2400" dirty="0"/>
              <a:t>A.</a:t>
            </a:r>
            <a:r>
              <a:rPr lang="zh-CN" altLang="zh-CN" sz="2400" dirty="0"/>
              <a:t>必定产生死锁</a:t>
            </a:r>
            <a:r>
              <a:rPr lang="en-US" altLang="zh-CN" sz="2400" dirty="0"/>
              <a:t> 		B.</a:t>
            </a:r>
            <a:r>
              <a:rPr lang="zh-CN" altLang="zh-CN" sz="2400" dirty="0"/>
              <a:t>可能产生死锁</a:t>
            </a:r>
            <a:r>
              <a:rPr lang="en-US" altLang="zh-CN" sz="2400" dirty="0"/>
              <a:t> </a:t>
            </a:r>
            <a:endParaRPr lang="en-US" altLang="zh-CN" sz="2400" dirty="0"/>
          </a:p>
          <a:p>
            <a:pPr lvl="1">
              <a:spcBef>
                <a:spcPts val="600"/>
              </a:spcBef>
            </a:pPr>
            <a:r>
              <a:rPr lang="en-US" altLang="zh-CN" sz="2400" dirty="0"/>
              <a:t>C.</a:t>
            </a:r>
            <a:r>
              <a:rPr lang="zh-CN" altLang="zh-CN" sz="2400" dirty="0"/>
              <a:t>不会产生死锁</a:t>
            </a:r>
            <a:r>
              <a:rPr lang="en-US" altLang="zh-CN" sz="2400" dirty="0"/>
              <a:t> 		D.</a:t>
            </a:r>
            <a:r>
              <a:rPr lang="zh-CN" altLang="zh-CN" sz="2400" dirty="0"/>
              <a:t>无法确定是否会产生死锁</a:t>
            </a:r>
            <a:endParaRPr lang="zh-CN" altLang="zh-CN" sz="2400" dirty="0"/>
          </a:p>
          <a:p>
            <a:pPr lvl="1">
              <a:spcBef>
                <a:spcPts val="600"/>
              </a:spcBef>
            </a:pPr>
            <a:r>
              <a:rPr lang="zh-CN" altLang="zh-CN" sz="2400" dirty="0"/>
              <a:t>答案：</a:t>
            </a:r>
            <a:r>
              <a:rPr lang="en-US" altLang="zh-CN" sz="2400" dirty="0"/>
              <a:t>B</a:t>
            </a:r>
            <a:endParaRPr lang="en-US" altLang="zh-CN" sz="2400" dirty="0"/>
          </a:p>
          <a:p>
            <a:pPr>
              <a:spcBef>
                <a:spcPts val="600"/>
              </a:spcBef>
            </a:pPr>
            <a:r>
              <a:rPr lang="zh-CN" altLang="zh-CN" sz="2800" dirty="0"/>
              <a:t> 在为多道程序提供的可共享的资源不足时，可能出现死锁</a:t>
            </a:r>
            <a:r>
              <a:rPr lang="en-US" altLang="zh-CN" sz="2800" dirty="0"/>
              <a:t>,</a:t>
            </a:r>
            <a:r>
              <a:rPr lang="zh-CN" altLang="zh-CN" sz="2800" dirty="0"/>
              <a:t>同时，不适当的</a:t>
            </a:r>
            <a:r>
              <a:rPr lang="en-US" altLang="zh-CN" sz="2800" dirty="0"/>
              <a:t>(      )</a:t>
            </a:r>
            <a:r>
              <a:rPr lang="zh-CN" altLang="zh-CN" sz="2800" dirty="0"/>
              <a:t>也可能产生死锁。</a:t>
            </a:r>
            <a:endParaRPr lang="zh-CN" altLang="zh-CN" sz="2800" dirty="0"/>
          </a:p>
          <a:p>
            <a:pPr lvl="1">
              <a:spcBef>
                <a:spcPts val="600"/>
              </a:spcBef>
            </a:pPr>
            <a:r>
              <a:rPr lang="en-US" altLang="zh-CN" sz="2400" dirty="0"/>
              <a:t>A.</a:t>
            </a:r>
            <a:r>
              <a:rPr lang="zh-CN" altLang="zh-CN" sz="2400" dirty="0"/>
              <a:t>程序并行操作</a:t>
            </a:r>
            <a:r>
              <a:rPr lang="en-US" altLang="zh-CN" sz="2400" dirty="0"/>
              <a:t> 			B.</a:t>
            </a:r>
            <a:r>
              <a:rPr lang="zh-CN" altLang="zh-CN" sz="2400" dirty="0"/>
              <a:t>资源的线性分配 </a:t>
            </a:r>
            <a:endParaRPr lang="zh-CN" altLang="zh-CN" sz="2400" dirty="0"/>
          </a:p>
          <a:p>
            <a:pPr lvl="1">
              <a:spcBef>
                <a:spcPts val="600"/>
              </a:spcBef>
            </a:pPr>
            <a:r>
              <a:rPr lang="en-US" altLang="zh-CN" sz="2400" dirty="0"/>
              <a:t>C.</a:t>
            </a:r>
            <a:r>
              <a:rPr lang="zh-CN" altLang="zh-CN" sz="2400" dirty="0"/>
              <a:t>进程推进顺序</a:t>
            </a:r>
            <a:r>
              <a:rPr lang="en-US" altLang="zh-CN" sz="2400" dirty="0"/>
              <a:t> 			D.</a:t>
            </a:r>
            <a:r>
              <a:rPr lang="zh-CN" altLang="zh-CN" sz="2400" dirty="0"/>
              <a:t>分配队列优先权</a:t>
            </a:r>
            <a:endParaRPr lang="zh-CN" altLang="zh-CN" sz="2400" dirty="0"/>
          </a:p>
          <a:p>
            <a:pPr lvl="1">
              <a:spcBef>
                <a:spcPts val="600"/>
              </a:spcBef>
            </a:pPr>
            <a:r>
              <a:rPr lang="zh-CN" altLang="zh-CN" sz="2400" dirty="0"/>
              <a:t>答案：</a:t>
            </a:r>
            <a:r>
              <a:rPr lang="en-US" altLang="zh-CN" sz="2400" dirty="0"/>
              <a:t>C</a:t>
            </a:r>
            <a:endParaRPr lang="en-US" altLang="zh-CN" sz="2400" dirty="0"/>
          </a:p>
          <a:p>
            <a:pPr>
              <a:spcBef>
                <a:spcPts val="600"/>
              </a:spcBef>
            </a:pPr>
            <a:endParaRPr lang="zh-CN" altLang="zh-CN" sz="2800" dirty="0"/>
          </a:p>
          <a:p>
            <a:pPr>
              <a:spcBef>
                <a:spcPts val="600"/>
              </a:spcBef>
            </a:pP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在进程资源图中，</a:t>
            </a:r>
            <a:r>
              <a:rPr lang="en-US" altLang="zh-CN" dirty="0"/>
              <a:t>(         )</a:t>
            </a:r>
            <a:r>
              <a:rPr lang="zh-CN" altLang="en-US" dirty="0"/>
              <a:t>是发生死锁的必要条件。 </a:t>
            </a:r>
            <a:endParaRPr lang="zh-CN" altLang="en-US" dirty="0"/>
          </a:p>
          <a:p>
            <a:pPr lvl="1"/>
            <a:r>
              <a:rPr lang="en-US" altLang="zh-CN" dirty="0"/>
              <a:t>A.</a:t>
            </a:r>
            <a:r>
              <a:rPr lang="zh-CN" altLang="en-US" dirty="0"/>
              <a:t>互斥 </a:t>
            </a:r>
            <a:r>
              <a:rPr lang="en-US" altLang="zh-CN" dirty="0"/>
              <a:t>	 	 B.</a:t>
            </a:r>
            <a:r>
              <a:rPr lang="zh-CN" altLang="en-US" dirty="0"/>
              <a:t>可剥夺 </a:t>
            </a:r>
            <a:r>
              <a:rPr lang="en-US" altLang="zh-CN" dirty="0"/>
              <a:t>		C.</a:t>
            </a:r>
            <a:r>
              <a:rPr lang="zh-CN" altLang="en-US" dirty="0"/>
              <a:t>环路 </a:t>
            </a:r>
            <a:r>
              <a:rPr lang="en-US" altLang="zh-CN" dirty="0"/>
              <a:t>	D.</a:t>
            </a:r>
            <a:r>
              <a:rPr lang="zh-CN" altLang="en-US" dirty="0"/>
              <a:t>同步</a:t>
            </a:r>
            <a:endParaRPr lang="zh-CN" altLang="en-US" dirty="0"/>
          </a:p>
          <a:p>
            <a:pPr lvl="1"/>
            <a:r>
              <a:rPr lang="zh-CN" altLang="en-US" dirty="0"/>
              <a:t>答案 </a:t>
            </a:r>
            <a:r>
              <a:rPr lang="en-US" altLang="zh-CN" dirty="0"/>
              <a:t>A</a:t>
            </a:r>
            <a:endParaRPr lang="en-US" altLang="zh-CN" dirty="0"/>
          </a:p>
          <a:p>
            <a:r>
              <a:rPr lang="zh-CN" altLang="en-US" dirty="0"/>
              <a:t>在操作系统中，死锁出现指的是</a:t>
            </a:r>
            <a:r>
              <a:rPr lang="en-US" altLang="zh-CN" dirty="0"/>
              <a:t>(      )</a:t>
            </a:r>
            <a:endParaRPr lang="en-US" altLang="zh-CN" dirty="0"/>
          </a:p>
          <a:p>
            <a:pPr lvl="1"/>
            <a:r>
              <a:rPr lang="en-US" altLang="zh-CN" dirty="0"/>
              <a:t>A.</a:t>
            </a:r>
            <a:r>
              <a:rPr lang="zh-CN" altLang="en-US" dirty="0"/>
              <a:t>计算机系统发生了重大故障    </a:t>
            </a:r>
            <a:r>
              <a:rPr lang="en-US" altLang="zh-CN" dirty="0"/>
              <a:t>B.</a:t>
            </a:r>
            <a:r>
              <a:rPr lang="zh-CN" altLang="en-US" dirty="0"/>
              <a:t>资源数目远远少于进程数</a:t>
            </a:r>
            <a:endParaRPr lang="zh-CN" altLang="en-US" dirty="0"/>
          </a:p>
          <a:p>
            <a:pPr lvl="1"/>
            <a:r>
              <a:rPr lang="en-US" altLang="zh-CN" dirty="0"/>
              <a:t>C.</a:t>
            </a:r>
            <a:r>
              <a:rPr lang="zh-CN" altLang="en-US" dirty="0"/>
              <a:t>进程同时申请的资源数超过资源点数 </a:t>
            </a:r>
            <a:endParaRPr lang="zh-CN" altLang="en-US" dirty="0"/>
          </a:p>
          <a:p>
            <a:pPr lvl="1"/>
            <a:r>
              <a:rPr lang="en-US" altLang="zh-CN" dirty="0"/>
              <a:t>D.</a:t>
            </a:r>
            <a:r>
              <a:rPr lang="zh-CN" altLang="en-US" dirty="0"/>
              <a:t>若干进程因竞争资源而无限待其他进程释放已占有的资源</a:t>
            </a:r>
            <a:endParaRPr lang="zh-CN" altLang="en-US" dirty="0"/>
          </a:p>
          <a:p>
            <a:pPr lvl="1"/>
            <a:r>
              <a:rPr lang="zh-CN" altLang="en-US" dirty="0"/>
              <a:t>答案：</a:t>
            </a:r>
            <a:r>
              <a:rPr lang="en-US" altLang="zh-CN" dirty="0"/>
              <a:t>D</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p:txBody>
          <a:bodyPr/>
          <a:lstStyle/>
          <a:p>
            <a:r>
              <a:rPr lang="zh-CN" altLang="en-US" sz="2800" dirty="0"/>
              <a:t>根据死锁产生的四个必要条件，可采取几种措施预防死锁，采取资源的静态预分配策略，是破坏了哪一个条件</a:t>
            </a:r>
            <a:r>
              <a:rPr lang="en-US" altLang="zh-CN" sz="2800" dirty="0"/>
              <a:t>( ) </a:t>
            </a:r>
            <a:endParaRPr lang="en-US" altLang="zh-CN" sz="2800" dirty="0"/>
          </a:p>
          <a:p>
            <a:pPr lvl="1"/>
            <a:r>
              <a:rPr lang="en-US" altLang="zh-CN" sz="2400" dirty="0"/>
              <a:t>A.</a:t>
            </a:r>
            <a:r>
              <a:rPr lang="zh-CN" altLang="en-US" sz="2400" dirty="0"/>
              <a:t>互斥条件    </a:t>
            </a:r>
            <a:r>
              <a:rPr lang="en-US" altLang="zh-CN" sz="2400" dirty="0"/>
              <a:t>B.</a:t>
            </a:r>
            <a:r>
              <a:rPr lang="zh-CN" altLang="en-US" sz="2400" dirty="0"/>
              <a:t>不剥夺条件 </a:t>
            </a:r>
            <a:r>
              <a:rPr lang="en-US" altLang="zh-CN" sz="2400" dirty="0"/>
              <a:t>	C.</a:t>
            </a:r>
            <a:r>
              <a:rPr lang="zh-CN" altLang="en-US" sz="2400" dirty="0"/>
              <a:t>部分分配（请求保持） </a:t>
            </a:r>
            <a:r>
              <a:rPr lang="en-US" altLang="zh-CN" sz="2400" dirty="0"/>
              <a:t>	D.</a:t>
            </a:r>
            <a:r>
              <a:rPr lang="zh-CN" altLang="en-US" sz="2400" dirty="0"/>
              <a:t>循环等待</a:t>
            </a:r>
            <a:endParaRPr lang="zh-CN" altLang="en-US" sz="2400" dirty="0"/>
          </a:p>
          <a:p>
            <a:pPr lvl="1"/>
            <a:r>
              <a:rPr lang="zh-CN" altLang="en-US" sz="2400" dirty="0"/>
              <a:t>答案：</a:t>
            </a:r>
            <a:r>
              <a:rPr lang="en-US" altLang="zh-CN" sz="2400" dirty="0"/>
              <a:t>C</a:t>
            </a:r>
            <a:endParaRPr lang="en-US" altLang="zh-CN" sz="2400" dirty="0"/>
          </a:p>
          <a:p>
            <a:r>
              <a:rPr lang="zh-CN" altLang="en-US" sz="2800" dirty="0"/>
              <a:t>死锁预防是保证系统不进入死锁状态的静态策略，其解决办法是破坏产生死锁的四个必要条件之一。下列方法中哪一个破坏了“循环等待”条件</a:t>
            </a:r>
            <a:r>
              <a:rPr lang="en-US" altLang="zh-CN" sz="2800" dirty="0"/>
              <a:t>(   )</a:t>
            </a:r>
            <a:endParaRPr lang="en-US" altLang="zh-CN" sz="2800" dirty="0"/>
          </a:p>
          <a:p>
            <a:pPr lvl="1"/>
            <a:r>
              <a:rPr lang="en-US" altLang="zh-CN" sz="2400" dirty="0"/>
              <a:t>A.</a:t>
            </a:r>
            <a:r>
              <a:rPr lang="zh-CN" altLang="en-US" sz="2400" dirty="0"/>
              <a:t>银行家算法 </a:t>
            </a:r>
            <a:r>
              <a:rPr lang="en-US" altLang="zh-CN" sz="2400" dirty="0"/>
              <a:t>		B.</a:t>
            </a:r>
            <a:r>
              <a:rPr lang="zh-CN" altLang="en-US" sz="2400" dirty="0"/>
              <a:t>资源有序分配策略 </a:t>
            </a:r>
            <a:endParaRPr lang="zh-CN" altLang="en-US" sz="2400" dirty="0"/>
          </a:p>
          <a:p>
            <a:pPr lvl="1"/>
            <a:r>
              <a:rPr lang="en-US" altLang="zh-CN" sz="2400" dirty="0"/>
              <a:t>C.</a:t>
            </a:r>
            <a:r>
              <a:rPr lang="zh-CN" altLang="en-US" sz="2400" dirty="0"/>
              <a:t>剥夺资源法 </a:t>
            </a:r>
            <a:r>
              <a:rPr lang="en-US" altLang="zh-CN" sz="2400" dirty="0"/>
              <a:t>		D.</a:t>
            </a:r>
            <a:r>
              <a:rPr lang="zh-CN" altLang="en-US" sz="2400" dirty="0"/>
              <a:t>一次性分配策略</a:t>
            </a:r>
            <a:endParaRPr lang="zh-CN" altLang="en-US" sz="2400" dirty="0"/>
          </a:p>
          <a:p>
            <a:pPr lvl="1"/>
            <a:r>
              <a:rPr lang="zh-CN" altLang="en-US" sz="2400" dirty="0"/>
              <a:t>答案：</a:t>
            </a:r>
            <a:r>
              <a:rPr lang="en-US" altLang="zh-CN" sz="2400" dirty="0"/>
              <a:t>B</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发生死锁的必要条件为四个，要防止死锁的发生，可以破坏这四个必要条件，但破坏</a:t>
            </a:r>
            <a:r>
              <a:rPr lang="en-US" altLang="zh-CN" dirty="0"/>
              <a:t>(       )</a:t>
            </a:r>
            <a:r>
              <a:rPr lang="zh-CN" altLang="en-US" dirty="0"/>
              <a:t>条件是不太实际的。</a:t>
            </a:r>
            <a:endParaRPr lang="zh-CN" altLang="en-US" dirty="0"/>
          </a:p>
          <a:p>
            <a:pPr lvl="1"/>
            <a:r>
              <a:rPr lang="en-US" altLang="zh-CN" dirty="0"/>
              <a:t>A.</a:t>
            </a:r>
            <a:r>
              <a:rPr lang="zh-CN" altLang="en-US" dirty="0"/>
              <a:t>不可剥夺 	</a:t>
            </a:r>
            <a:r>
              <a:rPr lang="en-US" altLang="zh-CN" dirty="0"/>
              <a:t>B.</a:t>
            </a:r>
            <a:r>
              <a:rPr lang="zh-CN" altLang="en-US" dirty="0"/>
              <a:t>互斥 	</a:t>
            </a:r>
            <a:r>
              <a:rPr lang="en-US" altLang="zh-CN" dirty="0"/>
              <a:t>C.</a:t>
            </a:r>
            <a:r>
              <a:rPr lang="zh-CN" altLang="en-US" dirty="0"/>
              <a:t>部分分配 	</a:t>
            </a:r>
            <a:r>
              <a:rPr lang="en-US" altLang="zh-CN" dirty="0"/>
              <a:t>D.</a:t>
            </a:r>
            <a:r>
              <a:rPr lang="zh-CN" altLang="en-US" dirty="0"/>
              <a:t>循环等待</a:t>
            </a:r>
            <a:endParaRPr lang="zh-CN" altLang="en-US" dirty="0"/>
          </a:p>
          <a:p>
            <a:pPr lvl="1"/>
            <a:r>
              <a:rPr lang="zh-CN" altLang="en-US" dirty="0"/>
              <a:t>答案：</a:t>
            </a:r>
            <a:r>
              <a:rPr lang="en-US" altLang="zh-CN" dirty="0"/>
              <a:t>B</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354" name="Group 2"/>
          <p:cNvGrpSpPr/>
          <p:nvPr/>
        </p:nvGrpSpPr>
        <p:grpSpPr bwMode="auto">
          <a:xfrm>
            <a:off x="1839559" y="1317234"/>
            <a:ext cx="8272630" cy="3548230"/>
            <a:chOff x="-3" y="-3"/>
            <a:chExt cx="3387" cy="1618"/>
          </a:xfrm>
        </p:grpSpPr>
        <p:grpSp>
          <p:nvGrpSpPr>
            <p:cNvPr id="100356" name="Group 3"/>
            <p:cNvGrpSpPr/>
            <p:nvPr/>
          </p:nvGrpSpPr>
          <p:grpSpPr bwMode="auto">
            <a:xfrm>
              <a:off x="0" y="0"/>
              <a:ext cx="3381" cy="1612"/>
              <a:chOff x="0" y="0"/>
              <a:chExt cx="3381" cy="1612"/>
            </a:xfrm>
          </p:grpSpPr>
          <p:grpSp>
            <p:nvGrpSpPr>
              <p:cNvPr id="100358" name="Group 4"/>
              <p:cNvGrpSpPr/>
              <p:nvPr/>
            </p:nvGrpSpPr>
            <p:grpSpPr bwMode="auto">
              <a:xfrm>
                <a:off x="0" y="0"/>
                <a:ext cx="581" cy="403"/>
                <a:chOff x="0" y="0"/>
                <a:chExt cx="581" cy="403"/>
              </a:xfrm>
            </p:grpSpPr>
            <p:sp>
              <p:nvSpPr>
                <p:cNvPr id="100410" name="Rectangle 5"/>
                <p:cNvSpPr>
                  <a:spLocks noChangeArrowheads="1"/>
                </p:cNvSpPr>
                <p:nvPr/>
              </p:nvSpPr>
              <p:spPr bwMode="auto">
                <a:xfrm>
                  <a:off x="43" y="0"/>
                  <a:ext cx="49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ea typeface="楷体_GB2312" pitchFamily="49" charset="-122"/>
                    </a:rPr>
                    <a:t>进程</a:t>
                  </a:r>
                  <a:endParaRPr lang="zh-CN" altLang="en-US"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411" name="Rectangle 6"/>
                <p:cNvSpPr>
                  <a:spLocks noChangeArrowheads="1"/>
                </p:cNvSpPr>
                <p:nvPr/>
              </p:nvSpPr>
              <p:spPr bwMode="auto">
                <a:xfrm>
                  <a:off x="0" y="0"/>
                  <a:ext cx="58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59" name="Group 7"/>
              <p:cNvGrpSpPr/>
              <p:nvPr/>
            </p:nvGrpSpPr>
            <p:grpSpPr bwMode="auto">
              <a:xfrm>
                <a:off x="581" y="0"/>
                <a:ext cx="768" cy="403"/>
                <a:chOff x="581" y="0"/>
                <a:chExt cx="768" cy="403"/>
              </a:xfrm>
            </p:grpSpPr>
            <p:sp>
              <p:nvSpPr>
                <p:cNvPr id="100408" name="Rectangle 8"/>
                <p:cNvSpPr>
                  <a:spLocks noChangeArrowheads="1"/>
                </p:cNvSpPr>
                <p:nvPr/>
              </p:nvSpPr>
              <p:spPr bwMode="auto">
                <a:xfrm>
                  <a:off x="624" y="0"/>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ea typeface="楷体_GB2312" pitchFamily="49" charset="-122"/>
                    </a:rPr>
                    <a:t>最大需求</a:t>
                  </a:r>
                  <a:endParaRPr lang="zh-CN" altLang="en-US"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409" name="Rectangle 9"/>
                <p:cNvSpPr>
                  <a:spLocks noChangeArrowheads="1"/>
                </p:cNvSpPr>
                <p:nvPr/>
              </p:nvSpPr>
              <p:spPr bwMode="auto">
                <a:xfrm>
                  <a:off x="581" y="0"/>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0" name="Group 10"/>
              <p:cNvGrpSpPr/>
              <p:nvPr/>
            </p:nvGrpSpPr>
            <p:grpSpPr bwMode="auto">
              <a:xfrm>
                <a:off x="1349" y="0"/>
                <a:ext cx="768" cy="403"/>
                <a:chOff x="1349" y="0"/>
                <a:chExt cx="768" cy="403"/>
              </a:xfrm>
            </p:grpSpPr>
            <p:sp>
              <p:nvSpPr>
                <p:cNvPr id="100406" name="Rectangle 11"/>
                <p:cNvSpPr>
                  <a:spLocks noChangeArrowheads="1"/>
                </p:cNvSpPr>
                <p:nvPr/>
              </p:nvSpPr>
              <p:spPr bwMode="auto">
                <a:xfrm>
                  <a:off x="1392" y="0"/>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ea typeface="楷体_GB2312" pitchFamily="49" charset="-122"/>
                    </a:rPr>
                    <a:t>已分配</a:t>
                  </a:r>
                  <a:endParaRPr lang="zh-CN" altLang="en-US"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407" name="Rectangle 12"/>
                <p:cNvSpPr>
                  <a:spLocks noChangeArrowheads="1"/>
                </p:cNvSpPr>
                <p:nvPr/>
              </p:nvSpPr>
              <p:spPr bwMode="auto">
                <a:xfrm>
                  <a:off x="1349" y="0"/>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1" name="Group 13"/>
              <p:cNvGrpSpPr/>
              <p:nvPr/>
            </p:nvGrpSpPr>
            <p:grpSpPr bwMode="auto">
              <a:xfrm>
                <a:off x="2117" y="0"/>
                <a:ext cx="768" cy="403"/>
                <a:chOff x="2117" y="0"/>
                <a:chExt cx="768" cy="403"/>
              </a:xfrm>
            </p:grpSpPr>
            <p:sp>
              <p:nvSpPr>
                <p:cNvPr id="100404" name="Rectangle 14"/>
                <p:cNvSpPr>
                  <a:spLocks noChangeArrowheads="1"/>
                </p:cNvSpPr>
                <p:nvPr/>
              </p:nvSpPr>
              <p:spPr bwMode="auto">
                <a:xfrm>
                  <a:off x="2160" y="0"/>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ea typeface="楷体_GB2312" pitchFamily="49" charset="-122"/>
                    </a:rPr>
                    <a:t>还需要</a:t>
                  </a:r>
                  <a:endParaRPr lang="zh-CN" altLang="en-US"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405" name="Rectangle 15"/>
                <p:cNvSpPr>
                  <a:spLocks noChangeArrowheads="1"/>
                </p:cNvSpPr>
                <p:nvPr/>
              </p:nvSpPr>
              <p:spPr bwMode="auto">
                <a:xfrm>
                  <a:off x="2117" y="0"/>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2" name="Group 16"/>
              <p:cNvGrpSpPr/>
              <p:nvPr/>
            </p:nvGrpSpPr>
            <p:grpSpPr bwMode="auto">
              <a:xfrm>
                <a:off x="2885" y="0"/>
                <a:ext cx="496" cy="403"/>
                <a:chOff x="2885" y="0"/>
                <a:chExt cx="496" cy="403"/>
              </a:xfrm>
            </p:grpSpPr>
            <p:sp>
              <p:nvSpPr>
                <p:cNvPr id="100402" name="Rectangle 17"/>
                <p:cNvSpPr>
                  <a:spLocks noChangeArrowheads="1"/>
                </p:cNvSpPr>
                <p:nvPr/>
              </p:nvSpPr>
              <p:spPr bwMode="auto">
                <a:xfrm>
                  <a:off x="2928" y="0"/>
                  <a:ext cx="4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ea typeface="楷体_GB2312" pitchFamily="49" charset="-122"/>
                    </a:rPr>
                    <a:t>可用</a:t>
                  </a:r>
                  <a:endParaRPr lang="zh-CN" altLang="en-US"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403" name="Rectangle 18"/>
                <p:cNvSpPr>
                  <a:spLocks noChangeArrowheads="1"/>
                </p:cNvSpPr>
                <p:nvPr/>
              </p:nvSpPr>
              <p:spPr bwMode="auto">
                <a:xfrm>
                  <a:off x="2885" y="0"/>
                  <a:ext cx="49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3" name="Group 19"/>
              <p:cNvGrpSpPr/>
              <p:nvPr/>
            </p:nvGrpSpPr>
            <p:grpSpPr bwMode="auto">
              <a:xfrm>
                <a:off x="0" y="403"/>
                <a:ext cx="581" cy="403"/>
                <a:chOff x="0" y="403"/>
                <a:chExt cx="581" cy="403"/>
              </a:xfrm>
            </p:grpSpPr>
            <p:sp>
              <p:nvSpPr>
                <p:cNvPr id="100400" name="Rectangle 20"/>
                <p:cNvSpPr>
                  <a:spLocks noChangeArrowheads="1"/>
                </p:cNvSpPr>
                <p:nvPr/>
              </p:nvSpPr>
              <p:spPr bwMode="auto">
                <a:xfrm>
                  <a:off x="43" y="403"/>
                  <a:ext cx="49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P1</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401" name="Rectangle 21"/>
                <p:cNvSpPr>
                  <a:spLocks noChangeArrowheads="1"/>
                </p:cNvSpPr>
                <p:nvPr/>
              </p:nvSpPr>
              <p:spPr bwMode="auto">
                <a:xfrm>
                  <a:off x="0" y="403"/>
                  <a:ext cx="58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4" name="Group 22"/>
              <p:cNvGrpSpPr/>
              <p:nvPr/>
            </p:nvGrpSpPr>
            <p:grpSpPr bwMode="auto">
              <a:xfrm>
                <a:off x="581" y="403"/>
                <a:ext cx="768" cy="403"/>
                <a:chOff x="581" y="403"/>
                <a:chExt cx="768" cy="403"/>
              </a:xfrm>
            </p:grpSpPr>
            <p:sp>
              <p:nvSpPr>
                <p:cNvPr id="100398" name="Rectangle 23"/>
                <p:cNvSpPr>
                  <a:spLocks noChangeArrowheads="1"/>
                </p:cNvSpPr>
                <p:nvPr/>
              </p:nvSpPr>
              <p:spPr bwMode="auto">
                <a:xfrm>
                  <a:off x="624" y="403"/>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12</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99" name="Rectangle 24"/>
                <p:cNvSpPr>
                  <a:spLocks noChangeArrowheads="1"/>
                </p:cNvSpPr>
                <p:nvPr/>
              </p:nvSpPr>
              <p:spPr bwMode="auto">
                <a:xfrm>
                  <a:off x="581" y="403"/>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5" name="Group 25"/>
              <p:cNvGrpSpPr/>
              <p:nvPr/>
            </p:nvGrpSpPr>
            <p:grpSpPr bwMode="auto">
              <a:xfrm>
                <a:off x="1349" y="403"/>
                <a:ext cx="768" cy="403"/>
                <a:chOff x="1349" y="403"/>
                <a:chExt cx="768" cy="403"/>
              </a:xfrm>
            </p:grpSpPr>
            <p:sp>
              <p:nvSpPr>
                <p:cNvPr id="100396" name="Rectangle 26"/>
                <p:cNvSpPr>
                  <a:spLocks noChangeArrowheads="1"/>
                </p:cNvSpPr>
                <p:nvPr/>
              </p:nvSpPr>
              <p:spPr bwMode="auto">
                <a:xfrm>
                  <a:off x="1392" y="403"/>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5</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97" name="Rectangle 27"/>
                <p:cNvSpPr>
                  <a:spLocks noChangeArrowheads="1"/>
                </p:cNvSpPr>
                <p:nvPr/>
              </p:nvSpPr>
              <p:spPr bwMode="auto">
                <a:xfrm>
                  <a:off x="1349" y="403"/>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6" name="Group 28"/>
              <p:cNvGrpSpPr/>
              <p:nvPr/>
            </p:nvGrpSpPr>
            <p:grpSpPr bwMode="auto">
              <a:xfrm>
                <a:off x="2117" y="403"/>
                <a:ext cx="768" cy="403"/>
                <a:chOff x="2117" y="403"/>
                <a:chExt cx="768" cy="403"/>
              </a:xfrm>
            </p:grpSpPr>
            <p:sp>
              <p:nvSpPr>
                <p:cNvPr id="100394" name="Rectangle 29"/>
                <p:cNvSpPr>
                  <a:spLocks noChangeArrowheads="1"/>
                </p:cNvSpPr>
                <p:nvPr/>
              </p:nvSpPr>
              <p:spPr bwMode="auto">
                <a:xfrm>
                  <a:off x="2160" y="403"/>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7</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95" name="Rectangle 30"/>
                <p:cNvSpPr>
                  <a:spLocks noChangeArrowheads="1"/>
                </p:cNvSpPr>
                <p:nvPr/>
              </p:nvSpPr>
              <p:spPr bwMode="auto">
                <a:xfrm>
                  <a:off x="2117" y="403"/>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7" name="Group 31"/>
              <p:cNvGrpSpPr/>
              <p:nvPr/>
            </p:nvGrpSpPr>
            <p:grpSpPr bwMode="auto">
              <a:xfrm>
                <a:off x="2885" y="403"/>
                <a:ext cx="496" cy="1209"/>
                <a:chOff x="2885" y="403"/>
                <a:chExt cx="496" cy="1209"/>
              </a:xfrm>
            </p:grpSpPr>
            <p:sp>
              <p:nvSpPr>
                <p:cNvPr id="100392" name="Rectangle 32"/>
                <p:cNvSpPr>
                  <a:spLocks noChangeArrowheads="1"/>
                </p:cNvSpPr>
                <p:nvPr/>
              </p:nvSpPr>
              <p:spPr bwMode="auto">
                <a:xfrm>
                  <a:off x="2928" y="403"/>
                  <a:ext cx="410" cy="1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ea typeface="楷体_GB2312" pitchFamily="49" charset="-122"/>
                    </a:rPr>
                    <a:t> </a:t>
                  </a:r>
                  <a:endParaRPr lang="zh-CN" altLang="en-US" sz="2400" b="1">
                    <a:ea typeface="楷体_GB2312" pitchFamily="49" charset="-122"/>
                  </a:endParaRPr>
                </a:p>
                <a:p>
                  <a:pPr algn="ctr">
                    <a:spcBef>
                      <a:spcPct val="0"/>
                    </a:spcBef>
                    <a:buClrTx/>
                    <a:buFontTx/>
                    <a:buNone/>
                  </a:pPr>
                  <a:r>
                    <a:rPr lang="en-US" altLang="zh-CN" sz="2400" b="1">
                      <a:ea typeface="楷体_GB2312" pitchFamily="49" charset="-122"/>
                    </a:rPr>
                    <a:t>3</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93" name="Rectangle 33"/>
                <p:cNvSpPr>
                  <a:spLocks noChangeArrowheads="1"/>
                </p:cNvSpPr>
                <p:nvPr/>
              </p:nvSpPr>
              <p:spPr bwMode="auto">
                <a:xfrm>
                  <a:off x="2885" y="403"/>
                  <a:ext cx="496" cy="1209"/>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8" name="Group 34"/>
              <p:cNvGrpSpPr/>
              <p:nvPr/>
            </p:nvGrpSpPr>
            <p:grpSpPr bwMode="auto">
              <a:xfrm>
                <a:off x="0" y="806"/>
                <a:ext cx="581" cy="403"/>
                <a:chOff x="0" y="806"/>
                <a:chExt cx="581" cy="403"/>
              </a:xfrm>
            </p:grpSpPr>
            <p:sp>
              <p:nvSpPr>
                <p:cNvPr id="100390" name="Rectangle 35"/>
                <p:cNvSpPr>
                  <a:spLocks noChangeArrowheads="1"/>
                </p:cNvSpPr>
                <p:nvPr/>
              </p:nvSpPr>
              <p:spPr bwMode="auto">
                <a:xfrm>
                  <a:off x="43" y="806"/>
                  <a:ext cx="49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P2</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91" name="Rectangle 36"/>
                <p:cNvSpPr>
                  <a:spLocks noChangeArrowheads="1"/>
                </p:cNvSpPr>
                <p:nvPr/>
              </p:nvSpPr>
              <p:spPr bwMode="auto">
                <a:xfrm>
                  <a:off x="0" y="806"/>
                  <a:ext cx="58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69" name="Group 37"/>
              <p:cNvGrpSpPr/>
              <p:nvPr/>
            </p:nvGrpSpPr>
            <p:grpSpPr bwMode="auto">
              <a:xfrm>
                <a:off x="581" y="806"/>
                <a:ext cx="768" cy="403"/>
                <a:chOff x="581" y="806"/>
                <a:chExt cx="768" cy="403"/>
              </a:xfrm>
            </p:grpSpPr>
            <p:sp>
              <p:nvSpPr>
                <p:cNvPr id="100388" name="Rectangle 38"/>
                <p:cNvSpPr>
                  <a:spLocks noChangeArrowheads="1"/>
                </p:cNvSpPr>
                <p:nvPr/>
              </p:nvSpPr>
              <p:spPr bwMode="auto">
                <a:xfrm>
                  <a:off x="624" y="806"/>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4</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89" name="Rectangle 39"/>
                <p:cNvSpPr>
                  <a:spLocks noChangeArrowheads="1"/>
                </p:cNvSpPr>
                <p:nvPr/>
              </p:nvSpPr>
              <p:spPr bwMode="auto">
                <a:xfrm>
                  <a:off x="581" y="806"/>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70" name="Group 40"/>
              <p:cNvGrpSpPr/>
              <p:nvPr/>
            </p:nvGrpSpPr>
            <p:grpSpPr bwMode="auto">
              <a:xfrm>
                <a:off x="1349" y="806"/>
                <a:ext cx="768" cy="403"/>
                <a:chOff x="1349" y="806"/>
                <a:chExt cx="768" cy="403"/>
              </a:xfrm>
            </p:grpSpPr>
            <p:sp>
              <p:nvSpPr>
                <p:cNvPr id="100386" name="Rectangle 41"/>
                <p:cNvSpPr>
                  <a:spLocks noChangeArrowheads="1"/>
                </p:cNvSpPr>
                <p:nvPr/>
              </p:nvSpPr>
              <p:spPr bwMode="auto">
                <a:xfrm>
                  <a:off x="1392" y="806"/>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2</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87" name="Rectangle 42"/>
                <p:cNvSpPr>
                  <a:spLocks noChangeArrowheads="1"/>
                </p:cNvSpPr>
                <p:nvPr/>
              </p:nvSpPr>
              <p:spPr bwMode="auto">
                <a:xfrm>
                  <a:off x="1349" y="806"/>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71" name="Group 43"/>
              <p:cNvGrpSpPr/>
              <p:nvPr/>
            </p:nvGrpSpPr>
            <p:grpSpPr bwMode="auto">
              <a:xfrm>
                <a:off x="2117" y="806"/>
                <a:ext cx="768" cy="403"/>
                <a:chOff x="2117" y="806"/>
                <a:chExt cx="768" cy="403"/>
              </a:xfrm>
            </p:grpSpPr>
            <p:sp>
              <p:nvSpPr>
                <p:cNvPr id="100384" name="Rectangle 44"/>
                <p:cNvSpPr>
                  <a:spLocks noChangeArrowheads="1"/>
                </p:cNvSpPr>
                <p:nvPr/>
              </p:nvSpPr>
              <p:spPr bwMode="auto">
                <a:xfrm>
                  <a:off x="2160" y="806"/>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2</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85" name="Rectangle 45"/>
                <p:cNvSpPr>
                  <a:spLocks noChangeArrowheads="1"/>
                </p:cNvSpPr>
                <p:nvPr/>
              </p:nvSpPr>
              <p:spPr bwMode="auto">
                <a:xfrm>
                  <a:off x="2117" y="806"/>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72" name="Group 46"/>
              <p:cNvGrpSpPr/>
              <p:nvPr/>
            </p:nvGrpSpPr>
            <p:grpSpPr bwMode="auto">
              <a:xfrm>
                <a:off x="0" y="1209"/>
                <a:ext cx="581" cy="403"/>
                <a:chOff x="0" y="1209"/>
                <a:chExt cx="581" cy="403"/>
              </a:xfrm>
            </p:grpSpPr>
            <p:sp>
              <p:nvSpPr>
                <p:cNvPr id="100382" name="Rectangle 47"/>
                <p:cNvSpPr>
                  <a:spLocks noChangeArrowheads="1"/>
                </p:cNvSpPr>
                <p:nvPr/>
              </p:nvSpPr>
              <p:spPr bwMode="auto">
                <a:xfrm>
                  <a:off x="43" y="1209"/>
                  <a:ext cx="49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P3</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83" name="Rectangle 48"/>
                <p:cNvSpPr>
                  <a:spLocks noChangeArrowheads="1"/>
                </p:cNvSpPr>
                <p:nvPr/>
              </p:nvSpPr>
              <p:spPr bwMode="auto">
                <a:xfrm>
                  <a:off x="0" y="1209"/>
                  <a:ext cx="58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73" name="Group 49"/>
              <p:cNvGrpSpPr/>
              <p:nvPr/>
            </p:nvGrpSpPr>
            <p:grpSpPr bwMode="auto">
              <a:xfrm>
                <a:off x="581" y="1209"/>
                <a:ext cx="768" cy="403"/>
                <a:chOff x="581" y="1209"/>
                <a:chExt cx="768" cy="403"/>
              </a:xfrm>
            </p:grpSpPr>
            <p:sp>
              <p:nvSpPr>
                <p:cNvPr id="100380" name="Rectangle 50"/>
                <p:cNvSpPr>
                  <a:spLocks noChangeArrowheads="1"/>
                </p:cNvSpPr>
                <p:nvPr/>
              </p:nvSpPr>
              <p:spPr bwMode="auto">
                <a:xfrm>
                  <a:off x="624" y="1209"/>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9</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81" name="Rectangle 51"/>
                <p:cNvSpPr>
                  <a:spLocks noChangeArrowheads="1"/>
                </p:cNvSpPr>
                <p:nvPr/>
              </p:nvSpPr>
              <p:spPr bwMode="auto">
                <a:xfrm>
                  <a:off x="581" y="1209"/>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74" name="Group 52"/>
              <p:cNvGrpSpPr/>
              <p:nvPr/>
            </p:nvGrpSpPr>
            <p:grpSpPr bwMode="auto">
              <a:xfrm>
                <a:off x="1349" y="1209"/>
                <a:ext cx="768" cy="403"/>
                <a:chOff x="1349" y="1209"/>
                <a:chExt cx="768" cy="403"/>
              </a:xfrm>
            </p:grpSpPr>
            <p:sp>
              <p:nvSpPr>
                <p:cNvPr id="100378" name="Rectangle 53"/>
                <p:cNvSpPr>
                  <a:spLocks noChangeArrowheads="1"/>
                </p:cNvSpPr>
                <p:nvPr/>
              </p:nvSpPr>
              <p:spPr bwMode="auto">
                <a:xfrm>
                  <a:off x="1392" y="1209"/>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4</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79" name="Rectangle 54"/>
                <p:cNvSpPr>
                  <a:spLocks noChangeArrowheads="1"/>
                </p:cNvSpPr>
                <p:nvPr/>
              </p:nvSpPr>
              <p:spPr bwMode="auto">
                <a:xfrm>
                  <a:off x="1349" y="1209"/>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0375" name="Group 55"/>
              <p:cNvGrpSpPr/>
              <p:nvPr/>
            </p:nvGrpSpPr>
            <p:grpSpPr bwMode="auto">
              <a:xfrm>
                <a:off x="2117" y="1209"/>
                <a:ext cx="768" cy="403"/>
                <a:chOff x="2117" y="1209"/>
                <a:chExt cx="768" cy="403"/>
              </a:xfrm>
            </p:grpSpPr>
            <p:sp>
              <p:nvSpPr>
                <p:cNvPr id="100376" name="Rectangle 56"/>
                <p:cNvSpPr>
                  <a:spLocks noChangeArrowheads="1"/>
                </p:cNvSpPr>
                <p:nvPr/>
              </p:nvSpPr>
              <p:spPr bwMode="auto">
                <a:xfrm>
                  <a:off x="2160" y="1209"/>
                  <a:ext cx="6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ea typeface="楷体_GB2312" pitchFamily="49" charset="-122"/>
                    </a:rPr>
                    <a:t>5</a:t>
                  </a:r>
                  <a:endParaRPr lang="en-US" altLang="zh-CN" sz="2400" b="1">
                    <a:ea typeface="楷体_GB2312" pitchFamily="49" charset="-122"/>
                  </a:endParaRPr>
                </a:p>
                <a:p>
                  <a:pPr algn="ctr">
                    <a:spcBef>
                      <a:spcPct val="0"/>
                    </a:spcBef>
                    <a:buClrTx/>
                    <a:buFontTx/>
                    <a:buNone/>
                  </a:pPr>
                  <a:endParaRPr lang="zh-CN" altLang="en-US" sz="2400" b="1">
                    <a:ea typeface="楷体_GB2312" pitchFamily="49" charset="-122"/>
                  </a:endParaRPr>
                </a:p>
              </p:txBody>
            </p:sp>
            <p:sp>
              <p:nvSpPr>
                <p:cNvPr id="100377" name="Rectangle 57"/>
                <p:cNvSpPr>
                  <a:spLocks noChangeArrowheads="1"/>
                </p:cNvSpPr>
                <p:nvPr/>
              </p:nvSpPr>
              <p:spPr bwMode="auto">
                <a:xfrm>
                  <a:off x="2117" y="1209"/>
                  <a:ext cx="7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sp>
          <p:nvSpPr>
            <p:cNvPr id="100357" name="Rectangle 58"/>
            <p:cNvSpPr>
              <a:spLocks noChangeArrowheads="1"/>
            </p:cNvSpPr>
            <p:nvPr/>
          </p:nvSpPr>
          <p:spPr bwMode="auto">
            <a:xfrm>
              <a:off x="-3" y="-3"/>
              <a:ext cx="3387" cy="1618"/>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sp>
        <p:nvSpPr>
          <p:cNvPr id="485435" name="Rectangle 59"/>
          <p:cNvSpPr>
            <a:spLocks noChangeArrowheads="1"/>
          </p:cNvSpPr>
          <p:nvPr/>
        </p:nvSpPr>
        <p:spPr bwMode="auto">
          <a:xfrm>
            <a:off x="2976291" y="5078749"/>
            <a:ext cx="5432898" cy="1569660"/>
          </a:xfrm>
          <a:prstGeom prst="rect">
            <a:avLst/>
          </a:prstGeom>
          <a:noFill/>
          <a:ln>
            <a:noFill/>
          </a:ln>
          <a:effectLst/>
        </p:spPr>
        <p:txBody>
          <a:bodyPr wrap="none">
            <a:spAutoFit/>
          </a:bodyPr>
          <a:lstStyle/>
          <a:p>
            <a:pPr algn="ctr" eaLnBrk="1" hangingPunct="1">
              <a:defRPr/>
            </a:pPr>
            <a:r>
              <a:rPr lang="en-US" altLang="zh-CN" sz="3200" dirty="0">
                <a:solidFill>
                  <a:schemeClr val="tx2"/>
                </a:solidFill>
                <a:effectLst>
                  <a:outerShdw blurRad="38100" dist="38100" dir="2700000" algn="tl">
                    <a:srgbClr val="000000"/>
                  </a:outerShdw>
                </a:effectLst>
                <a:latin typeface="Times New Roman" panose="02020603050405020304" pitchFamily="18" charset="0"/>
                <a:ea typeface="仿宋_GB2312" pitchFamily="49" charset="-122"/>
              </a:rPr>
              <a:t>T</a:t>
            </a:r>
            <a:r>
              <a:rPr lang="en-US" altLang="zh-CN" sz="3200" baseline="-30000" dirty="0">
                <a:solidFill>
                  <a:schemeClr val="tx2"/>
                </a:solidFill>
                <a:effectLst>
                  <a:outerShdw blurRad="38100" dist="38100" dir="2700000" algn="tl">
                    <a:srgbClr val="000000"/>
                  </a:outerShdw>
                </a:effectLst>
                <a:latin typeface="Times New Roman" panose="02020603050405020304" pitchFamily="18" charset="0"/>
                <a:ea typeface="仿宋_GB2312" pitchFamily="49" charset="-122"/>
              </a:rPr>
              <a:t>0</a:t>
            </a:r>
            <a:r>
              <a:rPr lang="zh-CN" altLang="en-US" sz="3200" dirty="0">
                <a:solidFill>
                  <a:schemeClr val="tx2"/>
                </a:solidFill>
                <a:effectLst>
                  <a:outerShdw blurRad="38100" dist="38100" dir="2700000" algn="tl">
                    <a:srgbClr val="000000"/>
                  </a:outerShdw>
                </a:effectLst>
                <a:latin typeface="Times New Roman" panose="02020603050405020304" pitchFamily="18" charset="0"/>
                <a:ea typeface="仿宋_GB2312" pitchFamily="49" charset="-122"/>
              </a:rPr>
              <a:t>时刻系统是安全的</a:t>
            </a:r>
            <a:r>
              <a:rPr lang="en-US" altLang="zh-CN" sz="3200" dirty="0">
                <a:solidFill>
                  <a:schemeClr val="tx2"/>
                </a:solidFill>
                <a:effectLst>
                  <a:outerShdw blurRad="38100" dist="38100" dir="2700000" algn="tl">
                    <a:srgbClr val="000000"/>
                  </a:outerShdw>
                </a:effectLst>
                <a:latin typeface="Times New Roman" panose="02020603050405020304" pitchFamily="18" charset="0"/>
                <a:ea typeface="仿宋_GB2312" pitchFamily="49" charset="-122"/>
              </a:rPr>
              <a:t>,</a:t>
            </a:r>
            <a:endParaRPr lang="en-US" altLang="zh-CN" sz="3200" dirty="0">
              <a:solidFill>
                <a:schemeClr val="tx2"/>
              </a:solidFill>
              <a:effectLst>
                <a:outerShdw blurRad="38100" dist="38100" dir="2700000" algn="tl">
                  <a:srgbClr val="000000"/>
                </a:outerShdw>
              </a:effectLst>
              <a:latin typeface="Times New Roman" panose="02020603050405020304" pitchFamily="18" charset="0"/>
              <a:ea typeface="仿宋_GB2312" pitchFamily="49" charset="-122"/>
            </a:endParaRPr>
          </a:p>
          <a:p>
            <a:pPr algn="ctr" eaLnBrk="1" hangingPunct="1">
              <a:defRPr/>
            </a:pPr>
            <a:r>
              <a:rPr lang="zh-CN" altLang="en-US" sz="3200" dirty="0">
                <a:effectLst>
                  <a:outerShdw blurRad="38100" dist="38100" dir="2700000" algn="tl">
                    <a:srgbClr val="000000"/>
                  </a:outerShdw>
                </a:effectLst>
                <a:latin typeface="Times New Roman" panose="02020603050405020304" pitchFamily="18" charset="0"/>
                <a:ea typeface="仿宋_GB2312" pitchFamily="49" charset="-122"/>
              </a:rPr>
              <a:t>存在一个安全序列</a:t>
            </a:r>
            <a:r>
              <a:rPr lang="en-US" altLang="zh-CN" sz="3200" dirty="0">
                <a:effectLst>
                  <a:outerShdw blurRad="38100" dist="38100" dir="2700000" algn="tl">
                    <a:srgbClr val="000000"/>
                  </a:outerShdw>
                </a:effectLst>
                <a:latin typeface="Times New Roman" panose="02020603050405020304" pitchFamily="18" charset="0"/>
                <a:ea typeface="仿宋_GB2312" pitchFamily="49" charset="-122"/>
              </a:rPr>
              <a:t>&lt;P2,P3,P1&gt;</a:t>
            </a:r>
            <a:endParaRPr lang="en-US" altLang="zh-CN" sz="3200" dirty="0">
              <a:effectLst>
                <a:outerShdw blurRad="38100" dist="38100" dir="2700000" algn="tl">
                  <a:srgbClr val="000000"/>
                </a:outerShdw>
              </a:effectLst>
              <a:latin typeface="Times New Roman" panose="02020603050405020304" pitchFamily="18" charset="0"/>
              <a:ea typeface="仿宋_GB2312" pitchFamily="49" charset="-122"/>
            </a:endParaRPr>
          </a:p>
          <a:p>
            <a:pPr algn="ctr" eaLnBrk="1" hangingPunct="1">
              <a:defRPr/>
            </a:pPr>
            <a:endParaRPr lang="zh-CN" altLang="en-US" sz="3200" dirty="0">
              <a:solidFill>
                <a:schemeClr val="tx2"/>
              </a:solidFill>
              <a:effectLst>
                <a:outerShdw blurRad="38100" dist="38100" dir="2700000" algn="tl">
                  <a:srgbClr val="000000"/>
                </a:outerShdw>
              </a:effectLst>
              <a:latin typeface="Times New Roman" panose="02020603050405020304" pitchFamily="18" charset="0"/>
              <a:ea typeface="仿宋_GB2312" pitchFamily="49" charset="-122"/>
            </a:endParaRPr>
          </a:p>
        </p:txBody>
      </p:sp>
      <p:sp>
        <p:nvSpPr>
          <p:cNvPr id="2" name="标题 1"/>
          <p:cNvSpPr>
            <a:spLocks noGrp="1"/>
          </p:cNvSpPr>
          <p:nvPr>
            <p:ph type="title"/>
          </p:nvPr>
        </p:nvSpPr>
        <p:spPr/>
        <p:txBody>
          <a:bodyPr/>
          <a:lstStyle/>
          <a:p>
            <a:r>
              <a:rPr lang="zh-CN" altLang="en-US" dirty="0"/>
              <a:t>安全状态示例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下面关于安全状态和非安全状态说法正确的是</a:t>
            </a:r>
            <a:r>
              <a:rPr lang="en-US" altLang="zh-CN" dirty="0"/>
              <a:t>( ) </a:t>
            </a:r>
            <a:endParaRPr lang="en-US" altLang="zh-CN" dirty="0"/>
          </a:p>
          <a:p>
            <a:pPr lvl="1"/>
            <a:r>
              <a:rPr lang="en-US" altLang="zh-CN" dirty="0"/>
              <a:t>A.</a:t>
            </a:r>
            <a:r>
              <a:rPr lang="zh-CN" altLang="en-US" dirty="0"/>
              <a:t>安全状态是没有死锁的状态，非安全状态是有死锁的状态</a:t>
            </a:r>
            <a:endParaRPr lang="zh-CN" altLang="en-US" dirty="0"/>
          </a:p>
          <a:p>
            <a:pPr lvl="1"/>
            <a:r>
              <a:rPr lang="en-US" altLang="zh-CN" dirty="0"/>
              <a:t>D.</a:t>
            </a:r>
            <a:r>
              <a:rPr lang="zh-CN" altLang="en-US" dirty="0"/>
              <a:t>安全状态是可能有死锁的状态，非安全状态也可能有死锁状态</a:t>
            </a:r>
            <a:endParaRPr lang="zh-CN" altLang="en-US" dirty="0"/>
          </a:p>
          <a:p>
            <a:pPr lvl="1"/>
            <a:r>
              <a:rPr lang="en-US" altLang="zh-CN" dirty="0"/>
              <a:t>C.</a:t>
            </a:r>
            <a:r>
              <a:rPr lang="zh-CN" altLang="en-US" dirty="0"/>
              <a:t>安全状态是可能没有死锁的状态，非安装状态有死锁的状态</a:t>
            </a:r>
            <a:endParaRPr lang="zh-CN" altLang="en-US" dirty="0"/>
          </a:p>
          <a:p>
            <a:pPr lvl="1"/>
            <a:r>
              <a:rPr lang="en-US" altLang="zh-CN" dirty="0"/>
              <a:t>D.</a:t>
            </a:r>
            <a:r>
              <a:rPr lang="zh-CN" altLang="en-US" dirty="0"/>
              <a:t>安全状态没有死锁的状态，非安全状态可能有死锁的状态</a:t>
            </a:r>
            <a:endParaRPr lang="zh-CN" altLang="en-US"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defRPr/>
            </a:pPr>
            <a:r>
              <a:rPr lang="zh-CN" altLang="en-US" dirty="0"/>
              <a:t>银行家算法 </a:t>
            </a:r>
            <a:endParaRPr lang="zh-CN" altLang="en-US" dirty="0"/>
          </a:p>
        </p:txBody>
      </p:sp>
      <p:sp>
        <p:nvSpPr>
          <p:cNvPr id="101379" name="Rectangle 3"/>
          <p:cNvSpPr>
            <a:spLocks noGrp="1" noRot="1" noChangeArrowheads="1"/>
          </p:cNvSpPr>
          <p:nvPr>
            <p:ph idx="1"/>
          </p:nvPr>
        </p:nvSpPr>
        <p:spPr>
          <a:xfrm>
            <a:off x="860612" y="1196975"/>
            <a:ext cx="10208903" cy="4895850"/>
          </a:xfrm>
        </p:spPr>
        <p:txBody>
          <a:bodyPr/>
          <a:lstStyle/>
          <a:p>
            <a:pPr algn="just">
              <a:lnSpc>
                <a:spcPct val="90000"/>
              </a:lnSpc>
            </a:pPr>
            <a:r>
              <a:rPr lang="zh-CN" altLang="en-US" dirty="0"/>
              <a:t>设</a:t>
            </a:r>
            <a:r>
              <a:rPr lang="en-US" altLang="zh-CN" dirty="0" err="1"/>
              <a:t>Request</a:t>
            </a:r>
            <a:r>
              <a:rPr lang="en-US" altLang="zh-CN" baseline="-25000" dirty="0" err="1"/>
              <a:t>i</a:t>
            </a:r>
            <a:r>
              <a:rPr lang="zh-CN" altLang="en-US" dirty="0"/>
              <a:t>，是进程</a:t>
            </a:r>
            <a:r>
              <a:rPr lang="en-US" altLang="zh-CN" dirty="0"/>
              <a:t>Pi</a:t>
            </a:r>
            <a:r>
              <a:rPr lang="zh-CN" altLang="en-US" dirty="0"/>
              <a:t>的请求向量，当</a:t>
            </a:r>
            <a:r>
              <a:rPr lang="en-US" altLang="zh-CN" dirty="0"/>
              <a:t>Pi</a:t>
            </a:r>
            <a:r>
              <a:rPr lang="zh-CN" altLang="en-US" dirty="0"/>
              <a:t>发出资源请求后，系统按下述步骤进行检查：</a:t>
            </a:r>
            <a:endParaRPr lang="zh-CN" altLang="en-US" dirty="0"/>
          </a:p>
          <a:p>
            <a:pPr algn="just">
              <a:lnSpc>
                <a:spcPct val="90000"/>
              </a:lnSpc>
              <a:buFont typeface="Wingdings" panose="05000000000000000000" pitchFamily="2" charset="2"/>
              <a:buNone/>
            </a:pPr>
            <a:r>
              <a:rPr lang="zh-CN" altLang="en-US" dirty="0"/>
              <a:t>    （</a:t>
            </a:r>
            <a:r>
              <a:rPr lang="en-US" altLang="zh-CN" dirty="0"/>
              <a:t>1</a:t>
            </a:r>
            <a:r>
              <a:rPr lang="zh-CN" altLang="en-US" dirty="0"/>
              <a:t>）如果</a:t>
            </a:r>
            <a:r>
              <a:rPr lang="en-US" altLang="zh-CN" dirty="0" err="1"/>
              <a:t>Request</a:t>
            </a:r>
            <a:r>
              <a:rPr lang="en-US" altLang="zh-CN" baseline="-25000" dirty="0" err="1"/>
              <a:t>i</a:t>
            </a:r>
            <a:r>
              <a:rPr lang="en-US" altLang="zh-CN" dirty="0"/>
              <a:t>[j]≤Need[</a:t>
            </a:r>
            <a:r>
              <a:rPr lang="en-US" altLang="zh-CN" dirty="0" err="1"/>
              <a:t>i,j</a:t>
            </a:r>
            <a:r>
              <a:rPr lang="en-US" altLang="zh-CN" dirty="0"/>
              <a:t>],</a:t>
            </a:r>
            <a:r>
              <a:rPr lang="zh-CN" altLang="en-US" dirty="0"/>
              <a:t>便转向步骤</a:t>
            </a:r>
            <a:r>
              <a:rPr lang="en-US" altLang="zh-CN" dirty="0"/>
              <a:t>2</a:t>
            </a:r>
            <a:r>
              <a:rPr lang="zh-CN" altLang="en-US" dirty="0"/>
              <a:t>；否则认为出错，因为它所需要的资源数已超过它所声明的最大值。</a:t>
            </a:r>
            <a:endParaRPr lang="zh-CN" altLang="en-US" dirty="0"/>
          </a:p>
          <a:p>
            <a:pPr algn="just">
              <a:lnSpc>
                <a:spcPct val="90000"/>
              </a:lnSpc>
              <a:buFont typeface="Wingdings" panose="05000000000000000000" pitchFamily="2" charset="2"/>
              <a:buNone/>
            </a:pPr>
            <a:r>
              <a:rPr lang="zh-CN" altLang="en-US" dirty="0"/>
              <a:t>    （</a:t>
            </a:r>
            <a:r>
              <a:rPr lang="en-US" altLang="zh-CN" dirty="0"/>
              <a:t>2</a:t>
            </a:r>
            <a:r>
              <a:rPr lang="zh-CN" altLang="en-US" dirty="0"/>
              <a:t>）如果</a:t>
            </a:r>
            <a:r>
              <a:rPr lang="en-US" altLang="zh-CN" dirty="0" err="1"/>
              <a:t>Request</a:t>
            </a:r>
            <a:r>
              <a:rPr lang="en-US" altLang="zh-CN" baseline="-25000" dirty="0" err="1"/>
              <a:t>i</a:t>
            </a:r>
            <a:r>
              <a:rPr lang="en-US" altLang="zh-CN" dirty="0"/>
              <a:t>[j]≤Available[j]</a:t>
            </a:r>
            <a:r>
              <a:rPr lang="zh-CN" altLang="en-US" dirty="0"/>
              <a:t>，便转向步（</a:t>
            </a:r>
            <a:r>
              <a:rPr lang="en-US" altLang="zh-CN" dirty="0"/>
              <a:t>3</a:t>
            </a:r>
            <a:r>
              <a:rPr lang="zh-CN" altLang="en-US" dirty="0"/>
              <a:t>），否则，表示尚无足够资源，</a:t>
            </a:r>
            <a:r>
              <a:rPr lang="en-US" altLang="zh-CN" dirty="0"/>
              <a:t>Pi</a:t>
            </a:r>
            <a:r>
              <a:rPr lang="zh-CN" altLang="en-US" dirty="0"/>
              <a:t>须阻塞等待。</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 calcmode="lin" valueType="num">
                                      <p:cBhvr additive="base">
                                        <p:cTn id="7" dur="500" fill="hold"/>
                                        <p:tgtEl>
                                          <p:spTgt spid="1013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13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1379">
                                            <p:txEl>
                                              <p:pRg st="1" end="1"/>
                                            </p:txEl>
                                          </p:spTgt>
                                        </p:tgtEl>
                                        <p:attrNameLst>
                                          <p:attrName>style.visibility</p:attrName>
                                        </p:attrNameLst>
                                      </p:cBhvr>
                                      <p:to>
                                        <p:strVal val="visible"/>
                                      </p:to>
                                    </p:set>
                                    <p:anim calcmode="lin" valueType="num">
                                      <p:cBhvr additive="base">
                                        <p:cTn id="13" dur="500" fill="hold"/>
                                        <p:tgtEl>
                                          <p:spTgt spid="1013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13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1379">
                                            <p:txEl>
                                              <p:pRg st="2" end="2"/>
                                            </p:txEl>
                                          </p:spTgt>
                                        </p:tgtEl>
                                        <p:attrNameLst>
                                          <p:attrName>style.visibility</p:attrName>
                                        </p:attrNameLst>
                                      </p:cBhvr>
                                      <p:to>
                                        <p:strVal val="visible"/>
                                      </p:to>
                                    </p:set>
                                    <p:anim calcmode="lin" valueType="num">
                                      <p:cBhvr additive="base">
                                        <p:cTn id="19" dur="500" fill="hold"/>
                                        <p:tgtEl>
                                          <p:spTgt spid="1013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137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defRPr/>
            </a:pPr>
            <a:r>
              <a:rPr lang="zh-CN" altLang="en-US" dirty="0"/>
              <a:t>银行家算法 </a:t>
            </a:r>
            <a:endParaRPr lang="zh-CN" altLang="en-US" dirty="0"/>
          </a:p>
        </p:txBody>
      </p:sp>
      <p:sp>
        <p:nvSpPr>
          <p:cNvPr id="102402" name="Rectangle 2"/>
          <p:cNvSpPr>
            <a:spLocks noGrp="1" noRot="1" noChangeArrowheads="1"/>
          </p:cNvSpPr>
          <p:nvPr>
            <p:ph idx="1"/>
          </p:nvPr>
        </p:nvSpPr>
        <p:spPr>
          <a:xfrm>
            <a:off x="957431" y="1196975"/>
            <a:ext cx="10187491" cy="4895850"/>
          </a:xfrm>
        </p:spPr>
        <p:txBody>
          <a:bodyPr/>
          <a:lstStyle/>
          <a:p>
            <a:pPr algn="just">
              <a:lnSpc>
                <a:spcPct val="110000"/>
              </a:lnSpc>
              <a:buFont typeface="Wingdings" panose="05000000000000000000" pitchFamily="2" charset="2"/>
              <a:buNone/>
            </a:pPr>
            <a:r>
              <a:rPr lang="zh-CN" altLang="en-US" sz="2800" dirty="0"/>
              <a:t>（</a:t>
            </a:r>
            <a:r>
              <a:rPr lang="en-US" altLang="zh-CN" sz="2800" dirty="0"/>
              <a:t>3</a:t>
            </a:r>
            <a:r>
              <a:rPr lang="zh-CN" altLang="en-US" sz="2800" dirty="0"/>
              <a:t>）系统试探着把资源分配给进程</a:t>
            </a:r>
            <a:r>
              <a:rPr lang="en-US" altLang="zh-CN" sz="2800" dirty="0"/>
              <a:t>Pi</a:t>
            </a:r>
            <a:r>
              <a:rPr lang="zh-CN" altLang="en-US" sz="2800" dirty="0"/>
              <a:t>，并修改下面数据结构中的数值：</a:t>
            </a:r>
            <a:endParaRPr lang="zh-CN" altLang="en-US" sz="2800" dirty="0"/>
          </a:p>
          <a:p>
            <a:pPr algn="just">
              <a:lnSpc>
                <a:spcPct val="110000"/>
              </a:lnSpc>
              <a:buFont typeface="Wingdings" panose="05000000000000000000" pitchFamily="2" charset="2"/>
              <a:buChar char="l"/>
            </a:pPr>
            <a:r>
              <a:rPr lang="en-US" altLang="zh-CN" sz="2800" dirty="0"/>
              <a:t>Available[j]</a:t>
            </a:r>
            <a:r>
              <a:rPr lang="zh-CN" altLang="en-US" sz="2800" dirty="0"/>
              <a:t>：＝ </a:t>
            </a:r>
            <a:r>
              <a:rPr lang="en-US" altLang="zh-CN" sz="2800" dirty="0"/>
              <a:t>Available[j] - </a:t>
            </a:r>
            <a:r>
              <a:rPr lang="en-US" altLang="zh-CN" sz="2800" dirty="0" err="1"/>
              <a:t>Request</a:t>
            </a:r>
            <a:r>
              <a:rPr lang="en-US" altLang="zh-CN" sz="2800" baseline="-25000" dirty="0" err="1"/>
              <a:t>i</a:t>
            </a:r>
            <a:r>
              <a:rPr lang="en-US" altLang="zh-CN" sz="2800" dirty="0"/>
              <a:t>[j]</a:t>
            </a:r>
            <a:r>
              <a:rPr lang="zh-CN" altLang="en-US" sz="2800" dirty="0"/>
              <a:t>；</a:t>
            </a:r>
            <a:endParaRPr lang="zh-CN" altLang="en-US" sz="2800" dirty="0"/>
          </a:p>
          <a:p>
            <a:pPr algn="just">
              <a:lnSpc>
                <a:spcPct val="110000"/>
              </a:lnSpc>
              <a:buFont typeface="Wingdings" panose="05000000000000000000" pitchFamily="2" charset="2"/>
              <a:buChar char="l"/>
            </a:pPr>
            <a:r>
              <a:rPr lang="en-US" altLang="zh-CN" sz="2800" dirty="0"/>
              <a:t>Allocation[</a:t>
            </a:r>
            <a:r>
              <a:rPr lang="en-US" altLang="zh-CN" sz="2800" dirty="0" err="1"/>
              <a:t>i,j</a:t>
            </a:r>
            <a:r>
              <a:rPr lang="en-US" altLang="zh-CN" sz="2800" dirty="0"/>
              <a:t>] : </a:t>
            </a:r>
            <a:r>
              <a:rPr lang="zh-CN" altLang="en-US" sz="2800" dirty="0"/>
              <a:t>＝ </a:t>
            </a:r>
            <a:r>
              <a:rPr lang="en-US" altLang="zh-CN" sz="2800" dirty="0"/>
              <a:t>Allocation[</a:t>
            </a:r>
            <a:r>
              <a:rPr lang="en-US" altLang="zh-CN" sz="2800" dirty="0" err="1"/>
              <a:t>i,j</a:t>
            </a:r>
            <a:r>
              <a:rPr lang="en-US" altLang="zh-CN" sz="2800" dirty="0"/>
              <a:t>] </a:t>
            </a:r>
            <a:r>
              <a:rPr lang="zh-CN" altLang="en-US" sz="2800" dirty="0"/>
              <a:t>＋ </a:t>
            </a:r>
            <a:r>
              <a:rPr lang="en-US" altLang="zh-CN" sz="2800" dirty="0" err="1"/>
              <a:t>Request</a:t>
            </a:r>
            <a:r>
              <a:rPr lang="en-US" altLang="zh-CN" sz="2800" baseline="-25000" dirty="0" err="1"/>
              <a:t>i</a:t>
            </a:r>
            <a:r>
              <a:rPr lang="en-US" altLang="zh-CN" sz="2800" dirty="0"/>
              <a:t>[j];</a:t>
            </a:r>
            <a:endParaRPr lang="en-US" altLang="zh-CN" sz="2800" dirty="0"/>
          </a:p>
          <a:p>
            <a:pPr algn="just">
              <a:lnSpc>
                <a:spcPct val="110000"/>
              </a:lnSpc>
              <a:buFont typeface="Wingdings" panose="05000000000000000000" pitchFamily="2" charset="2"/>
              <a:buChar char="l"/>
            </a:pPr>
            <a:r>
              <a:rPr lang="en-US" altLang="zh-CN" sz="2800" dirty="0"/>
              <a:t>Need[</a:t>
            </a:r>
            <a:r>
              <a:rPr lang="en-US" altLang="zh-CN" sz="2800" dirty="0" err="1"/>
              <a:t>i,j</a:t>
            </a:r>
            <a:r>
              <a:rPr lang="en-US" altLang="zh-CN" sz="2800" dirty="0"/>
              <a:t>]: =Need[</a:t>
            </a:r>
            <a:r>
              <a:rPr lang="en-US" altLang="zh-CN" sz="2800" dirty="0" err="1"/>
              <a:t>i,j</a:t>
            </a:r>
            <a:r>
              <a:rPr lang="en-US" altLang="zh-CN" sz="2800" dirty="0"/>
              <a:t>] - </a:t>
            </a:r>
            <a:r>
              <a:rPr lang="en-US" altLang="zh-CN" sz="2800" dirty="0" err="1"/>
              <a:t>Request</a:t>
            </a:r>
            <a:r>
              <a:rPr lang="en-US" altLang="zh-CN" sz="2800" baseline="-25000" dirty="0" err="1"/>
              <a:t>i</a:t>
            </a:r>
            <a:r>
              <a:rPr lang="en-US" altLang="zh-CN" sz="2800" dirty="0"/>
              <a:t>[j]</a:t>
            </a:r>
            <a:r>
              <a:rPr lang="zh-CN" altLang="en-US" sz="2800" dirty="0"/>
              <a:t>；</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02">
                                            <p:txEl>
                                              <p:pRg st="0" end="0"/>
                                            </p:txEl>
                                          </p:spTgt>
                                        </p:tgtEl>
                                        <p:attrNameLst>
                                          <p:attrName>style.visibility</p:attrName>
                                        </p:attrNameLst>
                                      </p:cBhvr>
                                      <p:to>
                                        <p:strVal val="visible"/>
                                      </p:to>
                                    </p:set>
                                    <p:anim calcmode="lin" valueType="num">
                                      <p:cBhvr additive="base">
                                        <p:cTn id="7" dur="500" fill="hold"/>
                                        <p:tgtEl>
                                          <p:spTgt spid="10240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0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02">
                                            <p:txEl>
                                              <p:pRg st="1" end="1"/>
                                            </p:txEl>
                                          </p:spTgt>
                                        </p:tgtEl>
                                        <p:attrNameLst>
                                          <p:attrName>style.visibility</p:attrName>
                                        </p:attrNameLst>
                                      </p:cBhvr>
                                      <p:to>
                                        <p:strVal val="visible"/>
                                      </p:to>
                                    </p:set>
                                    <p:anim calcmode="lin" valueType="num">
                                      <p:cBhvr additive="base">
                                        <p:cTn id="13" dur="500" fill="hold"/>
                                        <p:tgtEl>
                                          <p:spTgt spid="10240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2402">
                                            <p:txEl>
                                              <p:pRg st="2" end="2"/>
                                            </p:txEl>
                                          </p:spTgt>
                                        </p:tgtEl>
                                        <p:attrNameLst>
                                          <p:attrName>style.visibility</p:attrName>
                                        </p:attrNameLst>
                                      </p:cBhvr>
                                      <p:to>
                                        <p:strVal val="visible"/>
                                      </p:to>
                                    </p:set>
                                    <p:anim calcmode="lin" valueType="num">
                                      <p:cBhvr additive="base">
                                        <p:cTn id="19" dur="500" fill="hold"/>
                                        <p:tgtEl>
                                          <p:spTgt spid="10240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240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2402">
                                            <p:txEl>
                                              <p:pRg st="3" end="3"/>
                                            </p:txEl>
                                          </p:spTgt>
                                        </p:tgtEl>
                                        <p:attrNameLst>
                                          <p:attrName>style.visibility</p:attrName>
                                        </p:attrNameLst>
                                      </p:cBhvr>
                                      <p:to>
                                        <p:strVal val="visible"/>
                                      </p:to>
                                    </p:set>
                                    <p:anim calcmode="lin" valueType="num">
                                      <p:cBhvr additive="base">
                                        <p:cTn id="25" dur="500" fill="hold"/>
                                        <p:tgtEl>
                                          <p:spTgt spid="10240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240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Rot="1" noChangeArrowheads="1"/>
          </p:cNvSpPr>
          <p:nvPr>
            <p:ph idx="1"/>
          </p:nvPr>
        </p:nvSpPr>
        <p:spPr>
          <a:xfrm>
            <a:off x="903642" y="1196975"/>
            <a:ext cx="10155219" cy="4895850"/>
          </a:xfrm>
        </p:spPr>
        <p:txBody>
          <a:bodyPr/>
          <a:lstStyle/>
          <a:p>
            <a:pPr>
              <a:lnSpc>
                <a:spcPct val="110000"/>
              </a:lnSpc>
              <a:buFont typeface="Wingdings" panose="05000000000000000000" pitchFamily="2" charset="2"/>
              <a:buNone/>
            </a:pPr>
            <a:r>
              <a:rPr lang="zh-CN" altLang="en-US" dirty="0"/>
              <a:t>（</a:t>
            </a:r>
            <a:r>
              <a:rPr lang="en-US" altLang="zh-CN" dirty="0"/>
              <a:t>4</a:t>
            </a:r>
            <a:r>
              <a:rPr lang="zh-CN" altLang="en-US" dirty="0"/>
              <a:t>）系统执行安全性算法，检查此次资源分配后，系统是否处于安全状态。</a:t>
            </a:r>
            <a:r>
              <a:rPr lang="zh-CN" altLang="en-US" i="1" u="sng" dirty="0">
                <a:solidFill>
                  <a:srgbClr val="3609F7"/>
                </a:solidFill>
              </a:rPr>
              <a:t>若安全，才正式将资源分配给进程</a:t>
            </a:r>
            <a:r>
              <a:rPr lang="en-US" altLang="zh-CN" i="1" u="sng" dirty="0">
                <a:solidFill>
                  <a:srgbClr val="3609F7"/>
                </a:solidFill>
              </a:rPr>
              <a:t>Pi</a:t>
            </a:r>
            <a:r>
              <a:rPr lang="zh-CN" altLang="en-US" i="1" u="sng" dirty="0">
                <a:solidFill>
                  <a:srgbClr val="3609F7"/>
                </a:solidFill>
              </a:rPr>
              <a:t>，以完成本次分配；</a:t>
            </a:r>
            <a:r>
              <a:rPr lang="zh-CN" altLang="en-US" dirty="0"/>
              <a:t>否则，将本次的试探分配作废，恢复原来的资源分配状态，让进程</a:t>
            </a:r>
            <a:r>
              <a:rPr lang="en-US" altLang="zh-CN" dirty="0"/>
              <a:t>Pi</a:t>
            </a:r>
            <a:r>
              <a:rPr lang="zh-CN" altLang="en-US" dirty="0"/>
              <a:t>等待。 </a:t>
            </a:r>
            <a:endParaRPr lang="zh-CN" altLang="en-US" dirty="0"/>
          </a:p>
          <a:p>
            <a:endParaRPr lang="zh-CN" altLang="en-US" dirty="0"/>
          </a:p>
        </p:txBody>
      </p:sp>
      <p:sp>
        <p:nvSpPr>
          <p:cNvPr id="3" name="标题 2"/>
          <p:cNvSpPr>
            <a:spLocks noGrp="1"/>
          </p:cNvSpPr>
          <p:nvPr>
            <p:ph type="title"/>
          </p:nvPr>
        </p:nvSpPr>
        <p:spPr>
          <a:xfrm>
            <a:off x="1295466" y="188914"/>
            <a:ext cx="9774049" cy="549275"/>
          </a:xfrm>
        </p:spPr>
        <p:txBody>
          <a:bodyPr/>
          <a:lstStyle/>
          <a:p>
            <a:pPr>
              <a:defRPr/>
            </a:pPr>
            <a:r>
              <a:rPr lang="zh-CN" altLang="en-US" dirty="0"/>
              <a:t>银行家算法 </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Rot="1" noChangeArrowheads="1"/>
          </p:cNvSpPr>
          <p:nvPr>
            <p:ph type="title"/>
          </p:nvPr>
        </p:nvSpPr>
        <p:spPr/>
        <p:txBody>
          <a:bodyPr/>
          <a:lstStyle/>
          <a:p>
            <a:pPr eaLnBrk="1" hangingPunct="1">
              <a:defRPr/>
            </a:pPr>
            <a:r>
              <a:rPr lang="en-US" altLang="zh-CN" dirty="0"/>
              <a:t> (</a:t>
            </a:r>
            <a:r>
              <a:rPr lang="zh-CN" altLang="en-US" dirty="0"/>
              <a:t>二</a:t>
            </a:r>
            <a:r>
              <a:rPr lang="en-US" altLang="zh-CN" dirty="0"/>
              <a:t>)</a:t>
            </a:r>
            <a:r>
              <a:rPr lang="zh-CN" altLang="en-US" dirty="0"/>
              <a:t>．安全性算法</a:t>
            </a:r>
            <a:endParaRPr lang="zh-CN" altLang="en-US" dirty="0"/>
          </a:p>
        </p:txBody>
      </p:sp>
      <p:sp>
        <p:nvSpPr>
          <p:cNvPr id="110595" name="Rectangle 3"/>
          <p:cNvSpPr>
            <a:spLocks noGrp="1" noRot="1" noChangeArrowheads="1"/>
          </p:cNvSpPr>
          <p:nvPr>
            <p:ph idx="1"/>
          </p:nvPr>
        </p:nvSpPr>
        <p:spPr>
          <a:xfrm>
            <a:off x="949570" y="1311565"/>
            <a:ext cx="10518082" cy="5157643"/>
          </a:xfrm>
        </p:spPr>
        <p:txBody>
          <a:bodyPr/>
          <a:lstStyle/>
          <a:p>
            <a:pPr marL="186055" indent="-186055" algn="just">
              <a:spcBef>
                <a:spcPts val="600"/>
              </a:spcBef>
            </a:pPr>
            <a:r>
              <a:rPr lang="zh-CN" altLang="en-US" sz="3600" i="1" dirty="0"/>
              <a:t>系统所执行的安全性算法可描述如下：</a:t>
            </a:r>
            <a:endParaRPr lang="zh-CN" altLang="en-US" sz="3600" i="1" dirty="0"/>
          </a:p>
          <a:p>
            <a:pPr marL="186055" indent="-186055" algn="just">
              <a:spcBef>
                <a:spcPts val="600"/>
              </a:spcBef>
              <a:buNone/>
            </a:pPr>
            <a:r>
              <a:rPr lang="zh-CN" altLang="en-US" dirty="0"/>
              <a:t>（</a:t>
            </a:r>
            <a:r>
              <a:rPr lang="en-US" altLang="zh-CN" dirty="0"/>
              <a:t>1</a:t>
            </a:r>
            <a:r>
              <a:rPr lang="zh-CN" altLang="en-US" dirty="0"/>
              <a:t>）设置两个向量：</a:t>
            </a:r>
            <a:endParaRPr lang="zh-CN" altLang="en-US" dirty="0"/>
          </a:p>
          <a:p>
            <a:pPr marL="186055" indent="-186055" algn="just">
              <a:spcBef>
                <a:spcPts val="600"/>
              </a:spcBef>
              <a:buNone/>
            </a:pPr>
            <a:r>
              <a:rPr lang="zh-CN" altLang="en-US" dirty="0"/>
              <a:t>  </a:t>
            </a:r>
            <a:r>
              <a:rPr lang="zh-CN" altLang="en-US" dirty="0">
                <a:solidFill>
                  <a:srgbClr val="3609F7"/>
                </a:solidFill>
              </a:rPr>
              <a:t>①工作向量</a:t>
            </a:r>
            <a:r>
              <a:rPr lang="en-US" altLang="zh-CN" dirty="0">
                <a:solidFill>
                  <a:srgbClr val="3609F7"/>
                </a:solidFill>
              </a:rPr>
              <a:t>Work:</a:t>
            </a:r>
            <a:endParaRPr lang="en-US" altLang="zh-CN" dirty="0">
              <a:solidFill>
                <a:srgbClr val="3609F7"/>
              </a:solidFill>
            </a:endParaRPr>
          </a:p>
          <a:p>
            <a:pPr marL="186055" indent="-186055" algn="just">
              <a:spcBef>
                <a:spcPts val="600"/>
              </a:spcBef>
              <a:buNone/>
            </a:pPr>
            <a:r>
              <a:rPr lang="zh-CN" altLang="en-US" dirty="0"/>
              <a:t>	它表示系统可提供给进程继续运行所需的各类资源数目，初始值</a:t>
            </a:r>
            <a:r>
              <a:rPr lang="en-US" altLang="zh-CN" dirty="0"/>
              <a:t>Work</a:t>
            </a:r>
            <a:r>
              <a:rPr lang="zh-CN" altLang="en-US" dirty="0"/>
              <a:t>：＝</a:t>
            </a:r>
            <a:r>
              <a:rPr lang="en-US" altLang="zh-CN" dirty="0"/>
              <a:t>Available</a:t>
            </a:r>
            <a:endParaRPr lang="en-US" altLang="zh-CN" dirty="0"/>
          </a:p>
          <a:p>
            <a:pPr marL="186055" indent="-186055" algn="just">
              <a:spcBef>
                <a:spcPts val="600"/>
              </a:spcBef>
              <a:buNone/>
            </a:pPr>
            <a:r>
              <a:rPr lang="en-US" altLang="zh-CN" dirty="0"/>
              <a:t> </a:t>
            </a:r>
            <a:r>
              <a:rPr lang="en-US" altLang="zh-CN" dirty="0">
                <a:solidFill>
                  <a:srgbClr val="3609F7"/>
                </a:solidFill>
              </a:rPr>
              <a:t>②</a:t>
            </a:r>
            <a:r>
              <a:rPr lang="zh-CN" altLang="en-US" dirty="0">
                <a:solidFill>
                  <a:srgbClr val="3609F7"/>
                </a:solidFill>
              </a:rPr>
              <a:t>设置数组</a:t>
            </a:r>
            <a:r>
              <a:rPr lang="en-US" altLang="zh-CN" dirty="0">
                <a:solidFill>
                  <a:srgbClr val="3609F7"/>
                </a:solidFill>
              </a:rPr>
              <a:t>Finish[n]</a:t>
            </a:r>
            <a:r>
              <a:rPr lang="zh-CN" altLang="en-US" dirty="0">
                <a:solidFill>
                  <a:srgbClr val="3609F7"/>
                </a:solidFill>
              </a:rPr>
              <a:t>：</a:t>
            </a:r>
            <a:endParaRPr lang="zh-CN" altLang="en-US" dirty="0">
              <a:solidFill>
                <a:srgbClr val="3609F7"/>
              </a:solidFill>
            </a:endParaRPr>
          </a:p>
          <a:p>
            <a:pPr marL="186055" indent="-186055" algn="just">
              <a:spcBef>
                <a:spcPts val="600"/>
              </a:spcBef>
              <a:buNone/>
            </a:pPr>
            <a:r>
              <a:rPr lang="zh-CN" altLang="en-US" dirty="0"/>
              <a:t>	   初始值</a:t>
            </a:r>
            <a:r>
              <a:rPr lang="en-US" altLang="zh-CN" dirty="0"/>
              <a:t>Finish[</a:t>
            </a:r>
            <a:r>
              <a:rPr lang="en-US" altLang="zh-CN" dirty="0" err="1"/>
              <a:t>i</a:t>
            </a:r>
            <a:r>
              <a:rPr lang="en-US" altLang="zh-CN" dirty="0"/>
              <a:t>]:=false</a:t>
            </a:r>
            <a:r>
              <a:rPr lang="zh-CN" altLang="en-US" dirty="0"/>
              <a:t>；</a:t>
            </a:r>
            <a:endParaRPr lang="zh-CN" altLang="en-US" dirty="0"/>
          </a:p>
          <a:p>
            <a:pPr marL="186055" indent="-186055" algn="just">
              <a:spcBef>
                <a:spcPts val="600"/>
              </a:spcBef>
              <a:buNone/>
            </a:pPr>
            <a:r>
              <a:rPr lang="zh-CN" altLang="en-US" dirty="0"/>
              <a:t>	   当</a:t>
            </a:r>
            <a:r>
              <a:rPr lang="en-US" altLang="zh-CN" dirty="0"/>
              <a:t>Finish[</a:t>
            </a:r>
            <a:r>
              <a:rPr lang="en-US" altLang="zh-CN" dirty="0" err="1"/>
              <a:t>i</a:t>
            </a:r>
            <a:r>
              <a:rPr lang="en-US" altLang="zh-CN" dirty="0"/>
              <a:t>]:=true</a:t>
            </a:r>
            <a:r>
              <a:rPr lang="zh-CN" altLang="en-US" dirty="0"/>
              <a:t>时，进程</a:t>
            </a:r>
            <a:r>
              <a:rPr lang="en-US" altLang="zh-CN" dirty="0"/>
              <a:t>pi</a:t>
            </a:r>
            <a:r>
              <a:rPr lang="zh-CN" altLang="en-US" dirty="0"/>
              <a:t>可获得其所需的全部资源，从而顺利执行完成。</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安全性算法</a:t>
            </a:r>
            <a:endParaRPr lang="zh-CN" altLang="en-US" dirty="0"/>
          </a:p>
        </p:txBody>
      </p:sp>
      <p:sp>
        <p:nvSpPr>
          <p:cNvPr id="315394" name="Rectangle 2"/>
          <p:cNvSpPr>
            <a:spLocks noGrp="1" noRot="1" noChangeArrowheads="1"/>
          </p:cNvSpPr>
          <p:nvPr>
            <p:ph idx="4294967295"/>
          </p:nvPr>
        </p:nvSpPr>
        <p:spPr>
          <a:xfrm>
            <a:off x="731520" y="1181100"/>
            <a:ext cx="10553252" cy="4896971"/>
          </a:xfrm>
        </p:spPr>
        <p:txBody>
          <a:bodyPr/>
          <a:lstStyle/>
          <a:p>
            <a:pPr marL="0" indent="0" algn="just">
              <a:lnSpc>
                <a:spcPct val="100000"/>
              </a:lnSpc>
              <a:spcBef>
                <a:spcPts val="600"/>
              </a:spcBef>
              <a:buNone/>
              <a:defRPr/>
            </a:pPr>
            <a:r>
              <a:rPr lang="zh-CN" altLang="en-US" sz="2400" dirty="0">
                <a:effectLst>
                  <a:outerShdw blurRad="38100" dist="38100" dir="2700000" algn="tl">
                    <a:srgbClr val="000000"/>
                  </a:outerShdw>
                </a:effectLst>
              </a:rPr>
              <a:t>（</a:t>
            </a:r>
            <a:r>
              <a:rPr lang="en-US" altLang="zh-CN" sz="2400" dirty="0">
                <a:effectLst>
                  <a:outerShdw blurRad="38100" dist="38100" dir="2700000" algn="tl">
                    <a:srgbClr val="000000"/>
                  </a:outerShdw>
                </a:effectLst>
              </a:rPr>
              <a:t>2</a:t>
            </a:r>
            <a:r>
              <a:rPr lang="zh-CN" altLang="en-US" sz="2400" dirty="0">
                <a:effectLst>
                  <a:outerShdw blurRad="38100" dist="38100" dir="2700000" algn="tl">
                    <a:srgbClr val="000000"/>
                  </a:outerShdw>
                </a:effectLst>
              </a:rPr>
              <a:t>）从进程集合中找到一个能满足下述条件的进程：</a:t>
            </a:r>
            <a:r>
              <a:rPr lang="zh-CN" altLang="en-US" sz="2400" dirty="0"/>
              <a:t> ①</a:t>
            </a:r>
            <a:r>
              <a:rPr lang="en-US" altLang="zh-CN" sz="2400" dirty="0"/>
              <a:t>Finish[</a:t>
            </a:r>
            <a:r>
              <a:rPr lang="en-US" altLang="zh-CN" sz="2400" dirty="0" err="1"/>
              <a:t>i</a:t>
            </a:r>
            <a:r>
              <a:rPr lang="en-US" altLang="zh-CN" sz="2400" dirty="0"/>
              <a:t>]=false</a:t>
            </a:r>
            <a:r>
              <a:rPr lang="zh-CN" altLang="en-US" sz="2400" dirty="0"/>
              <a:t>； ②</a:t>
            </a:r>
            <a:r>
              <a:rPr lang="en-US" altLang="zh-CN" sz="2400" dirty="0"/>
              <a:t>Need[</a:t>
            </a:r>
            <a:r>
              <a:rPr lang="en-US" altLang="zh-CN" sz="2400" dirty="0" err="1"/>
              <a:t>i,j</a:t>
            </a:r>
            <a:r>
              <a:rPr lang="en-US" altLang="zh-CN" sz="2400" dirty="0"/>
              <a:t>]≤work</a:t>
            </a:r>
            <a:r>
              <a:rPr lang="zh-CN" altLang="en-US" sz="2400" dirty="0"/>
              <a:t>；</a:t>
            </a:r>
            <a:endParaRPr lang="zh-CN" altLang="en-US" sz="2400" dirty="0"/>
          </a:p>
          <a:p>
            <a:pPr marL="0" indent="0" algn="just">
              <a:lnSpc>
                <a:spcPct val="100000"/>
              </a:lnSpc>
              <a:spcBef>
                <a:spcPts val="600"/>
              </a:spcBef>
              <a:buNone/>
              <a:defRPr/>
            </a:pPr>
            <a:r>
              <a:rPr lang="zh-CN" altLang="en-US" sz="2400" dirty="0"/>
              <a:t>   若找到，执行步骤（</a:t>
            </a:r>
            <a:r>
              <a:rPr lang="en-US" altLang="zh-CN" sz="2400" dirty="0"/>
              <a:t>3),</a:t>
            </a:r>
            <a:r>
              <a:rPr lang="zh-CN" altLang="en-US" sz="2400" dirty="0"/>
              <a:t>否则，执行步骤（</a:t>
            </a:r>
            <a:r>
              <a:rPr lang="en-US" altLang="zh-CN" sz="2400" dirty="0"/>
              <a:t>4</a:t>
            </a:r>
            <a:r>
              <a:rPr lang="zh-CN" altLang="en-US" sz="2400" dirty="0"/>
              <a:t>）。</a:t>
            </a:r>
            <a:endParaRPr lang="zh-CN" altLang="en-US" sz="2400" dirty="0"/>
          </a:p>
          <a:p>
            <a:pPr marL="0" indent="0" algn="just">
              <a:lnSpc>
                <a:spcPct val="100000"/>
              </a:lnSpc>
              <a:spcBef>
                <a:spcPts val="600"/>
              </a:spcBef>
              <a:buNone/>
              <a:defRPr/>
            </a:pPr>
            <a:r>
              <a:rPr lang="zh-CN" altLang="en-US" sz="2400" dirty="0"/>
              <a:t>（</a:t>
            </a:r>
            <a:r>
              <a:rPr lang="en-US" altLang="zh-CN" sz="2400" dirty="0"/>
              <a:t>3</a:t>
            </a:r>
            <a:r>
              <a:rPr lang="zh-CN" altLang="en-US" sz="2400" dirty="0"/>
              <a:t>）当进程</a:t>
            </a:r>
            <a:r>
              <a:rPr lang="en-US" altLang="zh-CN" sz="2400" dirty="0"/>
              <a:t>pi</a:t>
            </a:r>
            <a:r>
              <a:rPr lang="zh-CN" altLang="en-US" sz="2400" dirty="0"/>
              <a:t>获得资源后，顺利执行直至完成，并释放出分配给它的资源，故应执行：</a:t>
            </a:r>
            <a:endParaRPr lang="zh-CN" altLang="en-US" sz="2400" dirty="0"/>
          </a:p>
          <a:p>
            <a:pPr marL="0" indent="0" algn="just">
              <a:lnSpc>
                <a:spcPct val="100000"/>
              </a:lnSpc>
              <a:spcBef>
                <a:spcPts val="600"/>
              </a:spcBef>
              <a:buNone/>
              <a:defRPr/>
            </a:pPr>
            <a:r>
              <a:rPr lang="zh-CN" altLang="en-US" sz="2400" dirty="0"/>
              <a:t>        </a:t>
            </a:r>
            <a:r>
              <a:rPr lang="en-US" altLang="zh-CN" sz="2400" dirty="0"/>
              <a:t>Work</a:t>
            </a:r>
            <a:r>
              <a:rPr lang="zh-CN" altLang="en-US" sz="2400" dirty="0"/>
              <a:t>：</a:t>
            </a:r>
            <a:r>
              <a:rPr lang="en-US" altLang="zh-CN" sz="2400" dirty="0"/>
              <a:t>= </a:t>
            </a:r>
            <a:r>
              <a:rPr lang="en-US" altLang="zh-CN" sz="2400" dirty="0" err="1"/>
              <a:t>Work+Allocation</a:t>
            </a:r>
            <a:r>
              <a:rPr lang="en-US" altLang="zh-CN" sz="2400" dirty="0"/>
              <a:t>[</a:t>
            </a:r>
            <a:r>
              <a:rPr lang="en-US" altLang="zh-CN" sz="2400" dirty="0" err="1"/>
              <a:t>i,j</a:t>
            </a:r>
            <a:r>
              <a:rPr lang="en-US" altLang="zh-CN" sz="2400" dirty="0"/>
              <a:t>]</a:t>
            </a:r>
            <a:r>
              <a:rPr lang="zh-CN" altLang="en-US" sz="2400" dirty="0"/>
              <a:t>；</a:t>
            </a:r>
            <a:endParaRPr lang="zh-CN" altLang="en-US" sz="2400" dirty="0"/>
          </a:p>
          <a:p>
            <a:pPr marL="0" indent="0" algn="just">
              <a:lnSpc>
                <a:spcPct val="100000"/>
              </a:lnSpc>
              <a:spcBef>
                <a:spcPts val="600"/>
              </a:spcBef>
              <a:buNone/>
              <a:defRPr/>
            </a:pPr>
            <a:r>
              <a:rPr lang="zh-CN" altLang="en-US" sz="2400" dirty="0"/>
              <a:t>        </a:t>
            </a:r>
            <a:r>
              <a:rPr lang="en-US" altLang="zh-CN" sz="2400" dirty="0"/>
              <a:t>Finish[</a:t>
            </a:r>
            <a:r>
              <a:rPr lang="en-US" altLang="zh-CN" sz="2400" dirty="0" err="1"/>
              <a:t>i</a:t>
            </a:r>
            <a:r>
              <a:rPr lang="en-US" altLang="zh-CN" sz="2400" dirty="0"/>
              <a:t>] </a:t>
            </a:r>
            <a:r>
              <a:rPr lang="zh-CN" altLang="en-US" sz="2400" dirty="0"/>
              <a:t>：</a:t>
            </a:r>
            <a:r>
              <a:rPr lang="en-US" altLang="zh-CN" sz="2400" dirty="0"/>
              <a:t>=true; </a:t>
            </a:r>
            <a:endParaRPr lang="en-US" altLang="zh-CN" sz="2400" dirty="0"/>
          </a:p>
          <a:p>
            <a:pPr marL="0" indent="0" algn="just">
              <a:lnSpc>
                <a:spcPct val="100000"/>
              </a:lnSpc>
              <a:spcBef>
                <a:spcPts val="600"/>
              </a:spcBef>
              <a:buNone/>
              <a:defRPr/>
            </a:pPr>
            <a:r>
              <a:rPr lang="en-US" altLang="zh-CN" sz="2400" dirty="0"/>
              <a:t>        go  to  step  2</a:t>
            </a:r>
            <a:r>
              <a:rPr lang="zh-CN" altLang="en-US" sz="2400" dirty="0"/>
              <a:t>；</a:t>
            </a:r>
            <a:endParaRPr lang="zh-CN" altLang="en-US" sz="2400" dirty="0"/>
          </a:p>
          <a:p>
            <a:pPr marL="0" indent="0" algn="just">
              <a:lnSpc>
                <a:spcPct val="100000"/>
              </a:lnSpc>
              <a:spcBef>
                <a:spcPts val="600"/>
              </a:spcBef>
              <a:buNone/>
              <a:defRPr/>
            </a:pPr>
            <a:r>
              <a:rPr lang="zh-CN" altLang="en-US" sz="2400" dirty="0"/>
              <a:t> （</a:t>
            </a:r>
            <a:r>
              <a:rPr lang="en-US" altLang="zh-CN" sz="2400" dirty="0"/>
              <a:t>4</a:t>
            </a:r>
            <a:r>
              <a:rPr lang="zh-CN" altLang="en-US" sz="2400" dirty="0"/>
              <a:t>）如果所有进程的</a:t>
            </a:r>
            <a:r>
              <a:rPr lang="en-US" altLang="zh-CN" sz="2400" dirty="0"/>
              <a:t>Finish[</a:t>
            </a:r>
            <a:r>
              <a:rPr lang="en-US" altLang="zh-CN" sz="2400" dirty="0" err="1"/>
              <a:t>i</a:t>
            </a:r>
            <a:r>
              <a:rPr lang="en-US" altLang="zh-CN" sz="2400" dirty="0"/>
              <a:t>]</a:t>
            </a:r>
            <a:r>
              <a:rPr lang="zh-CN" altLang="en-US" sz="2400" dirty="0"/>
              <a:t>＝</a:t>
            </a:r>
            <a:r>
              <a:rPr lang="en-US" altLang="zh-CN" sz="2400" dirty="0"/>
              <a:t>true</a:t>
            </a:r>
            <a:r>
              <a:rPr lang="zh-CN" altLang="en-US" sz="2400" dirty="0"/>
              <a:t>都满足，则表示系统处于安全状态；否则，系统处于不安全状态。</a:t>
            </a:r>
            <a:endParaRPr lang="zh-CN" altLang="en-US" sz="2400"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775" y="1084546"/>
            <a:ext cx="10770648" cy="5157643"/>
          </a:xfrm>
        </p:spPr>
        <p:txBody>
          <a:bodyPr/>
          <a:lstStyle/>
          <a:p>
            <a:r>
              <a:rPr lang="zh-CN" altLang="en-US" dirty="0"/>
              <a:t>假定系统中有五个进程</a:t>
            </a:r>
            <a:r>
              <a:rPr lang="en-US" altLang="zh-CN" dirty="0"/>
              <a:t>{P0</a:t>
            </a:r>
            <a:r>
              <a:rPr lang="zh-CN" altLang="en-US" dirty="0"/>
              <a:t>，</a:t>
            </a:r>
            <a:r>
              <a:rPr lang="en-US" altLang="zh-CN" dirty="0"/>
              <a:t>P1</a:t>
            </a:r>
            <a:r>
              <a:rPr lang="zh-CN" altLang="en-US" dirty="0"/>
              <a:t>，</a:t>
            </a:r>
            <a:r>
              <a:rPr lang="en-US" altLang="zh-CN" dirty="0"/>
              <a:t>P2</a:t>
            </a:r>
            <a:r>
              <a:rPr lang="zh-CN" altLang="en-US" dirty="0"/>
              <a:t>，</a:t>
            </a:r>
            <a:r>
              <a:rPr lang="en-US" altLang="zh-CN" dirty="0"/>
              <a:t>P3</a:t>
            </a:r>
            <a:r>
              <a:rPr lang="zh-CN" altLang="en-US" dirty="0"/>
              <a:t>，</a:t>
            </a:r>
            <a:r>
              <a:rPr lang="en-US" altLang="zh-CN" dirty="0"/>
              <a:t>P4} </a:t>
            </a:r>
            <a:r>
              <a:rPr lang="zh-CN" altLang="en-US" dirty="0"/>
              <a:t>和三类资源</a:t>
            </a:r>
            <a:r>
              <a:rPr lang="en-US" altLang="zh-CN" dirty="0"/>
              <a:t>{A </a:t>
            </a:r>
            <a:r>
              <a:rPr lang="zh-CN" altLang="en-US" dirty="0"/>
              <a:t>，</a:t>
            </a:r>
            <a:r>
              <a:rPr lang="en-US" altLang="zh-CN" dirty="0"/>
              <a:t>B,C},</a:t>
            </a:r>
            <a:r>
              <a:rPr lang="zh-CN" altLang="en-US" dirty="0"/>
              <a:t>各种资源的数量分别为</a:t>
            </a:r>
            <a:r>
              <a:rPr lang="en-US" altLang="zh-CN" dirty="0"/>
              <a:t>10</a:t>
            </a:r>
            <a:r>
              <a:rPr lang="zh-CN" altLang="en-US" dirty="0"/>
              <a:t>、</a:t>
            </a:r>
            <a:r>
              <a:rPr lang="en-US" altLang="zh-CN" dirty="0"/>
              <a:t>5</a:t>
            </a:r>
            <a:r>
              <a:rPr lang="zh-CN" altLang="en-US" dirty="0"/>
              <a:t>、</a:t>
            </a:r>
            <a:r>
              <a:rPr lang="en-US" altLang="zh-CN" dirty="0"/>
              <a:t>7</a:t>
            </a:r>
            <a:r>
              <a:rPr lang="zh-CN" altLang="en-US" dirty="0"/>
              <a:t>，在</a:t>
            </a:r>
            <a:r>
              <a:rPr lang="en-US" altLang="zh-CN" dirty="0"/>
              <a:t>T0 </a:t>
            </a:r>
            <a:r>
              <a:rPr lang="zh-CN" altLang="en-US" dirty="0"/>
              <a:t>时刻的资源分配情况</a:t>
            </a:r>
            <a:endParaRPr lang="zh-CN" altLang="en-US" dirty="0"/>
          </a:p>
        </p:txBody>
      </p:sp>
      <p:sp>
        <p:nvSpPr>
          <p:cNvPr id="219138" name="Rectangle 2"/>
          <p:cNvSpPr>
            <a:spLocks noGrp="1" noChangeArrowheads="1"/>
          </p:cNvSpPr>
          <p:nvPr>
            <p:ph type="title"/>
          </p:nvPr>
        </p:nvSpPr>
        <p:spPr/>
        <p:txBody>
          <a:bodyPr/>
          <a:lstStyle/>
          <a:p>
            <a:r>
              <a:rPr lang="en-US" altLang="zh-CN" dirty="0"/>
              <a:t>(</a:t>
            </a:r>
            <a:r>
              <a:rPr lang="zh-CN" altLang="en-US" dirty="0"/>
              <a:t>三</a:t>
            </a:r>
            <a:r>
              <a:rPr lang="en-US" altLang="zh-CN" dirty="0"/>
              <a:t>)</a:t>
            </a:r>
            <a:r>
              <a:rPr lang="zh-CN" altLang="en-US" dirty="0"/>
              <a:t>．银行家算法之例</a:t>
            </a:r>
            <a:endParaRPr lang="zh-CN" altLang="en-US" dirty="0"/>
          </a:p>
        </p:txBody>
      </p:sp>
      <p:grpSp>
        <p:nvGrpSpPr>
          <p:cNvPr id="113667" name="Group 3"/>
          <p:cNvGrpSpPr/>
          <p:nvPr/>
        </p:nvGrpSpPr>
        <p:grpSpPr bwMode="auto">
          <a:xfrm>
            <a:off x="1538344" y="2525711"/>
            <a:ext cx="9681881" cy="4143375"/>
            <a:chOff x="-3" y="-3"/>
            <a:chExt cx="3250" cy="2808"/>
          </a:xfrm>
        </p:grpSpPr>
        <p:grpSp>
          <p:nvGrpSpPr>
            <p:cNvPr id="113669" name="Group 4"/>
            <p:cNvGrpSpPr/>
            <p:nvPr/>
          </p:nvGrpSpPr>
          <p:grpSpPr bwMode="auto">
            <a:xfrm>
              <a:off x="0" y="0"/>
              <a:ext cx="3244" cy="2802"/>
              <a:chOff x="0" y="0"/>
              <a:chExt cx="3244" cy="2802"/>
            </a:xfrm>
          </p:grpSpPr>
          <p:grpSp>
            <p:nvGrpSpPr>
              <p:cNvPr id="113671" name="Group 5"/>
              <p:cNvGrpSpPr/>
              <p:nvPr/>
            </p:nvGrpSpPr>
            <p:grpSpPr bwMode="auto">
              <a:xfrm>
                <a:off x="0" y="0"/>
                <a:ext cx="716" cy="768"/>
                <a:chOff x="0" y="0"/>
                <a:chExt cx="716" cy="768"/>
              </a:xfrm>
            </p:grpSpPr>
            <p:sp>
              <p:nvSpPr>
                <p:cNvPr id="113771" name="Rectangle 6"/>
                <p:cNvSpPr>
                  <a:spLocks noChangeArrowheads="1"/>
                </p:cNvSpPr>
                <p:nvPr/>
              </p:nvSpPr>
              <p:spPr bwMode="auto">
                <a:xfrm>
                  <a:off x="43" y="0"/>
                  <a:ext cx="630"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000" b="1">
                      <a:ea typeface="楷体_GB2312" pitchFamily="49" charset="-122"/>
                    </a:rPr>
                    <a:t>资源情况</a:t>
                  </a:r>
                  <a:endParaRPr lang="zh-CN" altLang="en-US" sz="2000" b="1">
                    <a:ea typeface="楷体_GB2312" pitchFamily="49" charset="-122"/>
                  </a:endParaRPr>
                </a:p>
                <a:p>
                  <a:pPr algn="ctr">
                    <a:spcBef>
                      <a:spcPct val="0"/>
                    </a:spcBef>
                    <a:buClrTx/>
                    <a:buFontTx/>
                    <a:buNone/>
                  </a:pPr>
                  <a:endParaRPr lang="zh-CN" altLang="en-US" sz="2000" b="1">
                    <a:ea typeface="楷体_GB2312" pitchFamily="49" charset="-122"/>
                  </a:endParaRPr>
                </a:p>
                <a:p>
                  <a:pPr algn="ctr">
                    <a:spcBef>
                      <a:spcPct val="0"/>
                    </a:spcBef>
                    <a:buClrTx/>
                    <a:buFontTx/>
                    <a:buNone/>
                  </a:pPr>
                  <a:r>
                    <a:rPr lang="zh-CN" altLang="en-US" sz="2000" b="1">
                      <a:ea typeface="楷体_GB2312" pitchFamily="49" charset="-122"/>
                    </a:rPr>
                    <a:t>进程</a:t>
                  </a:r>
                  <a:endParaRPr lang="zh-CN" altLang="en-US" sz="2000" b="1">
                    <a:ea typeface="楷体_GB2312" pitchFamily="49" charset="-122"/>
                  </a:endParaRPr>
                </a:p>
              </p:txBody>
            </p:sp>
            <p:sp>
              <p:nvSpPr>
                <p:cNvPr id="113772" name="Rectangle 7"/>
                <p:cNvSpPr>
                  <a:spLocks noChangeArrowheads="1"/>
                </p:cNvSpPr>
                <p:nvPr/>
              </p:nvSpPr>
              <p:spPr bwMode="auto">
                <a:xfrm>
                  <a:off x="0" y="0"/>
                  <a:ext cx="716" cy="76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2" name="Group 8"/>
              <p:cNvGrpSpPr/>
              <p:nvPr/>
            </p:nvGrpSpPr>
            <p:grpSpPr bwMode="auto">
              <a:xfrm>
                <a:off x="716" y="0"/>
                <a:ext cx="598" cy="384"/>
                <a:chOff x="716" y="0"/>
                <a:chExt cx="598" cy="384"/>
              </a:xfrm>
            </p:grpSpPr>
            <p:sp>
              <p:nvSpPr>
                <p:cNvPr id="113769" name="Rectangle 9"/>
                <p:cNvSpPr>
                  <a:spLocks noChangeArrowheads="1"/>
                </p:cNvSpPr>
                <p:nvPr/>
              </p:nvSpPr>
              <p:spPr bwMode="auto">
                <a:xfrm>
                  <a:off x="759" y="0"/>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Max</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70" name="Rectangle 10"/>
                <p:cNvSpPr>
                  <a:spLocks noChangeArrowheads="1"/>
                </p:cNvSpPr>
                <p:nvPr/>
              </p:nvSpPr>
              <p:spPr bwMode="auto">
                <a:xfrm>
                  <a:off x="716" y="0"/>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3" name="Group 11"/>
              <p:cNvGrpSpPr/>
              <p:nvPr/>
            </p:nvGrpSpPr>
            <p:grpSpPr bwMode="auto">
              <a:xfrm>
                <a:off x="1314" y="0"/>
                <a:ext cx="666" cy="384"/>
                <a:chOff x="1314" y="0"/>
                <a:chExt cx="666" cy="384"/>
              </a:xfrm>
            </p:grpSpPr>
            <p:sp>
              <p:nvSpPr>
                <p:cNvPr id="113767" name="Rectangle 12"/>
                <p:cNvSpPr>
                  <a:spLocks noChangeArrowheads="1"/>
                </p:cNvSpPr>
                <p:nvPr/>
              </p:nvSpPr>
              <p:spPr bwMode="auto">
                <a:xfrm>
                  <a:off x="1357" y="0"/>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Allocation</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68" name="Rectangle 13"/>
                <p:cNvSpPr>
                  <a:spLocks noChangeArrowheads="1"/>
                </p:cNvSpPr>
                <p:nvPr/>
              </p:nvSpPr>
              <p:spPr bwMode="auto">
                <a:xfrm>
                  <a:off x="1314" y="0"/>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4" name="Group 14"/>
              <p:cNvGrpSpPr/>
              <p:nvPr/>
            </p:nvGrpSpPr>
            <p:grpSpPr bwMode="auto">
              <a:xfrm>
                <a:off x="1980" y="0"/>
                <a:ext cx="632" cy="384"/>
                <a:chOff x="1980" y="0"/>
                <a:chExt cx="632" cy="384"/>
              </a:xfrm>
            </p:grpSpPr>
            <p:sp>
              <p:nvSpPr>
                <p:cNvPr id="113765" name="Rectangle 15"/>
                <p:cNvSpPr>
                  <a:spLocks noChangeArrowheads="1"/>
                </p:cNvSpPr>
                <p:nvPr/>
              </p:nvSpPr>
              <p:spPr bwMode="auto">
                <a:xfrm>
                  <a:off x="2023" y="0"/>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Need</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66" name="Rectangle 16"/>
                <p:cNvSpPr>
                  <a:spLocks noChangeArrowheads="1"/>
                </p:cNvSpPr>
                <p:nvPr/>
              </p:nvSpPr>
              <p:spPr bwMode="auto">
                <a:xfrm>
                  <a:off x="1980" y="0"/>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5" name="Group 17"/>
              <p:cNvGrpSpPr/>
              <p:nvPr/>
            </p:nvGrpSpPr>
            <p:grpSpPr bwMode="auto">
              <a:xfrm>
                <a:off x="2612" y="0"/>
                <a:ext cx="632" cy="384"/>
                <a:chOff x="2612" y="0"/>
                <a:chExt cx="632" cy="384"/>
              </a:xfrm>
            </p:grpSpPr>
            <p:sp>
              <p:nvSpPr>
                <p:cNvPr id="113763" name="Rectangle 18"/>
                <p:cNvSpPr>
                  <a:spLocks noChangeArrowheads="1"/>
                </p:cNvSpPr>
                <p:nvPr/>
              </p:nvSpPr>
              <p:spPr bwMode="auto">
                <a:xfrm>
                  <a:off x="2655" y="0"/>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Available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64" name="Rectangle 19"/>
                <p:cNvSpPr>
                  <a:spLocks noChangeArrowheads="1"/>
                </p:cNvSpPr>
                <p:nvPr/>
              </p:nvSpPr>
              <p:spPr bwMode="auto">
                <a:xfrm>
                  <a:off x="2612" y="0"/>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6" name="Group 20"/>
              <p:cNvGrpSpPr/>
              <p:nvPr/>
            </p:nvGrpSpPr>
            <p:grpSpPr bwMode="auto">
              <a:xfrm>
                <a:off x="716" y="384"/>
                <a:ext cx="598" cy="384"/>
                <a:chOff x="716" y="384"/>
                <a:chExt cx="598" cy="384"/>
              </a:xfrm>
            </p:grpSpPr>
            <p:sp>
              <p:nvSpPr>
                <p:cNvPr id="113761" name="Rectangle 21"/>
                <p:cNvSpPr>
                  <a:spLocks noChangeArrowheads="1"/>
                </p:cNvSpPr>
                <p:nvPr/>
              </p:nvSpPr>
              <p:spPr bwMode="auto">
                <a:xfrm>
                  <a:off x="759" y="384"/>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62" name="Rectangle 22"/>
                <p:cNvSpPr>
                  <a:spLocks noChangeArrowheads="1"/>
                </p:cNvSpPr>
                <p:nvPr/>
              </p:nvSpPr>
              <p:spPr bwMode="auto">
                <a:xfrm>
                  <a:off x="716" y="384"/>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7" name="Group 23"/>
              <p:cNvGrpSpPr/>
              <p:nvPr/>
            </p:nvGrpSpPr>
            <p:grpSpPr bwMode="auto">
              <a:xfrm>
                <a:off x="1314" y="384"/>
                <a:ext cx="666" cy="384"/>
                <a:chOff x="1314" y="384"/>
                <a:chExt cx="666" cy="384"/>
              </a:xfrm>
            </p:grpSpPr>
            <p:sp>
              <p:nvSpPr>
                <p:cNvPr id="113759" name="Rectangle 24"/>
                <p:cNvSpPr>
                  <a:spLocks noChangeArrowheads="1"/>
                </p:cNvSpPr>
                <p:nvPr/>
              </p:nvSpPr>
              <p:spPr bwMode="auto">
                <a:xfrm>
                  <a:off x="1357" y="384"/>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60" name="Rectangle 25"/>
                <p:cNvSpPr>
                  <a:spLocks noChangeArrowheads="1"/>
                </p:cNvSpPr>
                <p:nvPr/>
              </p:nvSpPr>
              <p:spPr bwMode="auto">
                <a:xfrm>
                  <a:off x="1314" y="384"/>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8" name="Group 26"/>
              <p:cNvGrpSpPr/>
              <p:nvPr/>
            </p:nvGrpSpPr>
            <p:grpSpPr bwMode="auto">
              <a:xfrm>
                <a:off x="1980" y="384"/>
                <a:ext cx="632" cy="384"/>
                <a:chOff x="1980" y="384"/>
                <a:chExt cx="632" cy="384"/>
              </a:xfrm>
            </p:grpSpPr>
            <p:sp>
              <p:nvSpPr>
                <p:cNvPr id="113757" name="Rectangle 27"/>
                <p:cNvSpPr>
                  <a:spLocks noChangeArrowheads="1"/>
                </p:cNvSpPr>
                <p:nvPr/>
              </p:nvSpPr>
              <p:spPr bwMode="auto">
                <a:xfrm>
                  <a:off x="2023" y="384"/>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58" name="Rectangle 28"/>
                <p:cNvSpPr>
                  <a:spLocks noChangeArrowheads="1"/>
                </p:cNvSpPr>
                <p:nvPr/>
              </p:nvSpPr>
              <p:spPr bwMode="auto">
                <a:xfrm>
                  <a:off x="1980" y="384"/>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79" name="Group 29"/>
              <p:cNvGrpSpPr/>
              <p:nvPr/>
            </p:nvGrpSpPr>
            <p:grpSpPr bwMode="auto">
              <a:xfrm>
                <a:off x="2612" y="384"/>
                <a:ext cx="632" cy="384"/>
                <a:chOff x="2612" y="384"/>
                <a:chExt cx="632" cy="384"/>
              </a:xfrm>
            </p:grpSpPr>
            <p:sp>
              <p:nvSpPr>
                <p:cNvPr id="113755" name="Rectangle 30"/>
                <p:cNvSpPr>
                  <a:spLocks noChangeArrowheads="1"/>
                </p:cNvSpPr>
                <p:nvPr/>
              </p:nvSpPr>
              <p:spPr bwMode="auto">
                <a:xfrm>
                  <a:off x="2655" y="384"/>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56" name="Rectangle 31"/>
                <p:cNvSpPr>
                  <a:spLocks noChangeArrowheads="1"/>
                </p:cNvSpPr>
                <p:nvPr/>
              </p:nvSpPr>
              <p:spPr bwMode="auto">
                <a:xfrm>
                  <a:off x="2612" y="384"/>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0" name="Group 32"/>
              <p:cNvGrpSpPr/>
              <p:nvPr/>
            </p:nvGrpSpPr>
            <p:grpSpPr bwMode="auto">
              <a:xfrm>
                <a:off x="0" y="768"/>
                <a:ext cx="716" cy="384"/>
                <a:chOff x="0" y="768"/>
                <a:chExt cx="716" cy="384"/>
              </a:xfrm>
            </p:grpSpPr>
            <p:sp>
              <p:nvSpPr>
                <p:cNvPr id="113753" name="Rectangle 33"/>
                <p:cNvSpPr>
                  <a:spLocks noChangeArrowheads="1"/>
                </p:cNvSpPr>
                <p:nvPr/>
              </p:nvSpPr>
              <p:spPr bwMode="auto">
                <a:xfrm>
                  <a:off x="43" y="768"/>
                  <a:ext cx="63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54" name="Rectangle 34"/>
                <p:cNvSpPr>
                  <a:spLocks noChangeArrowheads="1"/>
                </p:cNvSpPr>
                <p:nvPr/>
              </p:nvSpPr>
              <p:spPr bwMode="auto">
                <a:xfrm>
                  <a:off x="0" y="768"/>
                  <a:ext cx="71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1" name="Group 35"/>
              <p:cNvGrpSpPr/>
              <p:nvPr/>
            </p:nvGrpSpPr>
            <p:grpSpPr bwMode="auto">
              <a:xfrm>
                <a:off x="716" y="768"/>
                <a:ext cx="598" cy="384"/>
                <a:chOff x="716" y="768"/>
                <a:chExt cx="598" cy="384"/>
              </a:xfrm>
            </p:grpSpPr>
            <p:sp>
              <p:nvSpPr>
                <p:cNvPr id="113751" name="Rectangle 36"/>
                <p:cNvSpPr>
                  <a:spLocks noChangeArrowheads="1"/>
                </p:cNvSpPr>
                <p:nvPr/>
              </p:nvSpPr>
              <p:spPr bwMode="auto">
                <a:xfrm>
                  <a:off x="759" y="768"/>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7 5 3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52" name="Rectangle 37"/>
                <p:cNvSpPr>
                  <a:spLocks noChangeArrowheads="1"/>
                </p:cNvSpPr>
                <p:nvPr/>
              </p:nvSpPr>
              <p:spPr bwMode="auto">
                <a:xfrm>
                  <a:off x="716" y="768"/>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2" name="Group 38"/>
              <p:cNvGrpSpPr/>
              <p:nvPr/>
            </p:nvGrpSpPr>
            <p:grpSpPr bwMode="auto">
              <a:xfrm>
                <a:off x="1314" y="768"/>
                <a:ext cx="666" cy="384"/>
                <a:chOff x="1314" y="768"/>
                <a:chExt cx="666" cy="384"/>
              </a:xfrm>
            </p:grpSpPr>
            <p:sp>
              <p:nvSpPr>
                <p:cNvPr id="113749" name="Rectangle 39"/>
                <p:cNvSpPr>
                  <a:spLocks noChangeArrowheads="1"/>
                </p:cNvSpPr>
                <p:nvPr/>
              </p:nvSpPr>
              <p:spPr bwMode="auto">
                <a:xfrm>
                  <a:off x="1357" y="768"/>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0 1 0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50" name="Rectangle 40"/>
                <p:cNvSpPr>
                  <a:spLocks noChangeArrowheads="1"/>
                </p:cNvSpPr>
                <p:nvPr/>
              </p:nvSpPr>
              <p:spPr bwMode="auto">
                <a:xfrm>
                  <a:off x="1314" y="768"/>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3" name="Group 41"/>
              <p:cNvGrpSpPr/>
              <p:nvPr/>
            </p:nvGrpSpPr>
            <p:grpSpPr bwMode="auto">
              <a:xfrm>
                <a:off x="1980" y="768"/>
                <a:ext cx="632" cy="384"/>
                <a:chOff x="1980" y="768"/>
                <a:chExt cx="632" cy="384"/>
              </a:xfrm>
            </p:grpSpPr>
            <p:sp>
              <p:nvSpPr>
                <p:cNvPr id="113747" name="Rectangle 42"/>
                <p:cNvSpPr>
                  <a:spLocks noChangeArrowheads="1"/>
                </p:cNvSpPr>
                <p:nvPr/>
              </p:nvSpPr>
              <p:spPr bwMode="auto">
                <a:xfrm>
                  <a:off x="2023" y="768"/>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48" name="Rectangle 43"/>
                <p:cNvSpPr>
                  <a:spLocks noChangeArrowheads="1"/>
                </p:cNvSpPr>
                <p:nvPr/>
              </p:nvSpPr>
              <p:spPr bwMode="auto">
                <a:xfrm>
                  <a:off x="1980" y="768"/>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4" name="Group 44"/>
              <p:cNvGrpSpPr/>
              <p:nvPr/>
            </p:nvGrpSpPr>
            <p:grpSpPr bwMode="auto">
              <a:xfrm>
                <a:off x="2612" y="768"/>
                <a:ext cx="632" cy="384"/>
                <a:chOff x="2612" y="768"/>
                <a:chExt cx="632" cy="384"/>
              </a:xfrm>
            </p:grpSpPr>
            <p:sp>
              <p:nvSpPr>
                <p:cNvPr id="113745" name="Rectangle 45"/>
                <p:cNvSpPr>
                  <a:spLocks noChangeArrowheads="1"/>
                </p:cNvSpPr>
                <p:nvPr/>
              </p:nvSpPr>
              <p:spPr bwMode="auto">
                <a:xfrm>
                  <a:off x="2655" y="768"/>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3 3 2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46" name="Rectangle 46"/>
                <p:cNvSpPr>
                  <a:spLocks noChangeArrowheads="1"/>
                </p:cNvSpPr>
                <p:nvPr/>
              </p:nvSpPr>
              <p:spPr bwMode="auto">
                <a:xfrm>
                  <a:off x="2612" y="768"/>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5" name="Group 47"/>
              <p:cNvGrpSpPr/>
              <p:nvPr/>
            </p:nvGrpSpPr>
            <p:grpSpPr bwMode="auto">
              <a:xfrm>
                <a:off x="0" y="1152"/>
                <a:ext cx="716" cy="384"/>
                <a:chOff x="0" y="1152"/>
                <a:chExt cx="716" cy="384"/>
              </a:xfrm>
            </p:grpSpPr>
            <p:sp>
              <p:nvSpPr>
                <p:cNvPr id="113743" name="Rectangle 48"/>
                <p:cNvSpPr>
                  <a:spLocks noChangeArrowheads="1"/>
                </p:cNvSpPr>
                <p:nvPr/>
              </p:nvSpPr>
              <p:spPr bwMode="auto">
                <a:xfrm>
                  <a:off x="43" y="1152"/>
                  <a:ext cx="63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44" name="Rectangle 49"/>
                <p:cNvSpPr>
                  <a:spLocks noChangeArrowheads="1"/>
                </p:cNvSpPr>
                <p:nvPr/>
              </p:nvSpPr>
              <p:spPr bwMode="auto">
                <a:xfrm>
                  <a:off x="0" y="1152"/>
                  <a:ext cx="71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6" name="Group 50"/>
              <p:cNvGrpSpPr/>
              <p:nvPr/>
            </p:nvGrpSpPr>
            <p:grpSpPr bwMode="auto">
              <a:xfrm>
                <a:off x="716" y="1152"/>
                <a:ext cx="598" cy="384"/>
                <a:chOff x="716" y="1152"/>
                <a:chExt cx="598" cy="384"/>
              </a:xfrm>
            </p:grpSpPr>
            <p:sp>
              <p:nvSpPr>
                <p:cNvPr id="113741" name="Rectangle 51"/>
                <p:cNvSpPr>
                  <a:spLocks noChangeArrowheads="1"/>
                </p:cNvSpPr>
                <p:nvPr/>
              </p:nvSpPr>
              <p:spPr bwMode="auto">
                <a:xfrm>
                  <a:off x="759" y="1152"/>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3 2 2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42" name="Rectangle 52"/>
                <p:cNvSpPr>
                  <a:spLocks noChangeArrowheads="1"/>
                </p:cNvSpPr>
                <p:nvPr/>
              </p:nvSpPr>
              <p:spPr bwMode="auto">
                <a:xfrm>
                  <a:off x="716" y="1152"/>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7" name="Group 53"/>
              <p:cNvGrpSpPr/>
              <p:nvPr/>
            </p:nvGrpSpPr>
            <p:grpSpPr bwMode="auto">
              <a:xfrm>
                <a:off x="1314" y="1152"/>
                <a:ext cx="666" cy="384"/>
                <a:chOff x="1314" y="1152"/>
                <a:chExt cx="666" cy="384"/>
              </a:xfrm>
            </p:grpSpPr>
            <p:sp>
              <p:nvSpPr>
                <p:cNvPr id="113739" name="Rectangle 54"/>
                <p:cNvSpPr>
                  <a:spLocks noChangeArrowheads="1"/>
                </p:cNvSpPr>
                <p:nvPr/>
              </p:nvSpPr>
              <p:spPr bwMode="auto">
                <a:xfrm>
                  <a:off x="1357" y="1152"/>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2 0 0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40" name="Rectangle 55"/>
                <p:cNvSpPr>
                  <a:spLocks noChangeArrowheads="1"/>
                </p:cNvSpPr>
                <p:nvPr/>
              </p:nvSpPr>
              <p:spPr bwMode="auto">
                <a:xfrm>
                  <a:off x="1314" y="1152"/>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8" name="Group 56"/>
              <p:cNvGrpSpPr/>
              <p:nvPr/>
            </p:nvGrpSpPr>
            <p:grpSpPr bwMode="auto">
              <a:xfrm>
                <a:off x="1980" y="1152"/>
                <a:ext cx="632" cy="384"/>
                <a:chOff x="1980" y="1152"/>
                <a:chExt cx="632" cy="384"/>
              </a:xfrm>
            </p:grpSpPr>
            <p:sp>
              <p:nvSpPr>
                <p:cNvPr id="113737" name="Rectangle 57"/>
                <p:cNvSpPr>
                  <a:spLocks noChangeArrowheads="1"/>
                </p:cNvSpPr>
                <p:nvPr/>
              </p:nvSpPr>
              <p:spPr bwMode="auto">
                <a:xfrm>
                  <a:off x="2023" y="1152"/>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1 2 2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38" name="Rectangle 58"/>
                <p:cNvSpPr>
                  <a:spLocks noChangeArrowheads="1"/>
                </p:cNvSpPr>
                <p:nvPr/>
              </p:nvSpPr>
              <p:spPr bwMode="auto">
                <a:xfrm>
                  <a:off x="1980" y="1152"/>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89" name="Group 59"/>
              <p:cNvGrpSpPr/>
              <p:nvPr/>
            </p:nvGrpSpPr>
            <p:grpSpPr bwMode="auto">
              <a:xfrm>
                <a:off x="2612" y="1152"/>
                <a:ext cx="632" cy="384"/>
                <a:chOff x="2612" y="1152"/>
                <a:chExt cx="632" cy="384"/>
              </a:xfrm>
            </p:grpSpPr>
            <p:sp>
              <p:nvSpPr>
                <p:cNvPr id="113735" name="Rectangle 60"/>
                <p:cNvSpPr>
                  <a:spLocks noChangeArrowheads="1"/>
                </p:cNvSpPr>
                <p:nvPr/>
              </p:nvSpPr>
              <p:spPr bwMode="auto">
                <a:xfrm>
                  <a:off x="2655" y="1152"/>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36" name="Rectangle 61"/>
                <p:cNvSpPr>
                  <a:spLocks noChangeArrowheads="1"/>
                </p:cNvSpPr>
                <p:nvPr/>
              </p:nvSpPr>
              <p:spPr bwMode="auto">
                <a:xfrm>
                  <a:off x="2612" y="1152"/>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0" name="Group 62"/>
              <p:cNvGrpSpPr/>
              <p:nvPr/>
            </p:nvGrpSpPr>
            <p:grpSpPr bwMode="auto">
              <a:xfrm>
                <a:off x="0" y="1536"/>
                <a:ext cx="716" cy="422"/>
                <a:chOff x="0" y="1536"/>
                <a:chExt cx="716" cy="422"/>
              </a:xfrm>
            </p:grpSpPr>
            <p:sp>
              <p:nvSpPr>
                <p:cNvPr id="113733" name="Rectangle 63"/>
                <p:cNvSpPr>
                  <a:spLocks noChangeArrowheads="1"/>
                </p:cNvSpPr>
                <p:nvPr/>
              </p:nvSpPr>
              <p:spPr bwMode="auto">
                <a:xfrm>
                  <a:off x="43" y="1536"/>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34" name="Rectangle 64"/>
                <p:cNvSpPr>
                  <a:spLocks noChangeArrowheads="1"/>
                </p:cNvSpPr>
                <p:nvPr/>
              </p:nvSpPr>
              <p:spPr bwMode="auto">
                <a:xfrm>
                  <a:off x="0" y="1536"/>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1" name="Group 65"/>
              <p:cNvGrpSpPr/>
              <p:nvPr/>
            </p:nvGrpSpPr>
            <p:grpSpPr bwMode="auto">
              <a:xfrm>
                <a:off x="716" y="1536"/>
                <a:ext cx="598" cy="422"/>
                <a:chOff x="716" y="1536"/>
                <a:chExt cx="598" cy="422"/>
              </a:xfrm>
            </p:grpSpPr>
            <p:sp>
              <p:nvSpPr>
                <p:cNvPr id="113731" name="Rectangle 66"/>
                <p:cNvSpPr>
                  <a:spLocks noChangeArrowheads="1"/>
                </p:cNvSpPr>
                <p:nvPr/>
              </p:nvSpPr>
              <p:spPr bwMode="auto">
                <a:xfrm>
                  <a:off x="759" y="1536"/>
                  <a:ext cx="5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9 0 2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32" name="Rectangle 67"/>
                <p:cNvSpPr>
                  <a:spLocks noChangeArrowheads="1"/>
                </p:cNvSpPr>
                <p:nvPr/>
              </p:nvSpPr>
              <p:spPr bwMode="auto">
                <a:xfrm>
                  <a:off x="716" y="1536"/>
                  <a:ext cx="59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2" name="Group 68"/>
              <p:cNvGrpSpPr/>
              <p:nvPr/>
            </p:nvGrpSpPr>
            <p:grpSpPr bwMode="auto">
              <a:xfrm>
                <a:off x="1314" y="1536"/>
                <a:ext cx="666" cy="422"/>
                <a:chOff x="1314" y="1536"/>
                <a:chExt cx="666" cy="422"/>
              </a:xfrm>
            </p:grpSpPr>
            <p:sp>
              <p:nvSpPr>
                <p:cNvPr id="113729" name="Rectangle 69"/>
                <p:cNvSpPr>
                  <a:spLocks noChangeArrowheads="1"/>
                </p:cNvSpPr>
                <p:nvPr/>
              </p:nvSpPr>
              <p:spPr bwMode="auto">
                <a:xfrm>
                  <a:off x="1357" y="1536"/>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30" name="Rectangle 70"/>
                <p:cNvSpPr>
                  <a:spLocks noChangeArrowheads="1"/>
                </p:cNvSpPr>
                <p:nvPr/>
              </p:nvSpPr>
              <p:spPr bwMode="auto">
                <a:xfrm>
                  <a:off x="1314" y="1536"/>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3" name="Group 71"/>
              <p:cNvGrpSpPr/>
              <p:nvPr/>
            </p:nvGrpSpPr>
            <p:grpSpPr bwMode="auto">
              <a:xfrm>
                <a:off x="1980" y="1536"/>
                <a:ext cx="632" cy="422"/>
                <a:chOff x="1980" y="1536"/>
                <a:chExt cx="632" cy="422"/>
              </a:xfrm>
            </p:grpSpPr>
            <p:sp>
              <p:nvSpPr>
                <p:cNvPr id="113727" name="Rectangle 72"/>
                <p:cNvSpPr>
                  <a:spLocks noChangeArrowheads="1"/>
                </p:cNvSpPr>
                <p:nvPr/>
              </p:nvSpPr>
              <p:spPr bwMode="auto">
                <a:xfrm>
                  <a:off x="2023" y="1536"/>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6 0 0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28" name="Rectangle 73"/>
                <p:cNvSpPr>
                  <a:spLocks noChangeArrowheads="1"/>
                </p:cNvSpPr>
                <p:nvPr/>
              </p:nvSpPr>
              <p:spPr bwMode="auto">
                <a:xfrm>
                  <a:off x="1980" y="1536"/>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4" name="Group 74"/>
              <p:cNvGrpSpPr/>
              <p:nvPr/>
            </p:nvGrpSpPr>
            <p:grpSpPr bwMode="auto">
              <a:xfrm>
                <a:off x="2612" y="1536"/>
                <a:ext cx="632" cy="422"/>
                <a:chOff x="2612" y="1536"/>
                <a:chExt cx="632" cy="422"/>
              </a:xfrm>
            </p:grpSpPr>
            <p:sp>
              <p:nvSpPr>
                <p:cNvPr id="113725" name="Rectangle 75"/>
                <p:cNvSpPr>
                  <a:spLocks noChangeArrowheads="1"/>
                </p:cNvSpPr>
                <p:nvPr/>
              </p:nvSpPr>
              <p:spPr bwMode="auto">
                <a:xfrm>
                  <a:off x="2655" y="1536"/>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latin typeface="Courier New" panose="02070309020205020404" pitchFamily="49" charset="0"/>
                      <a:ea typeface="楷体_GB2312" pitchFamily="49" charset="-122"/>
                    </a:rPr>
                    <a:t>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26" name="Rectangle 76"/>
                <p:cNvSpPr>
                  <a:spLocks noChangeArrowheads="1"/>
                </p:cNvSpPr>
                <p:nvPr/>
              </p:nvSpPr>
              <p:spPr bwMode="auto">
                <a:xfrm>
                  <a:off x="2612" y="1536"/>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5" name="Group 77"/>
              <p:cNvGrpSpPr/>
              <p:nvPr/>
            </p:nvGrpSpPr>
            <p:grpSpPr bwMode="auto">
              <a:xfrm>
                <a:off x="0" y="1958"/>
                <a:ext cx="716" cy="422"/>
                <a:chOff x="0" y="1958"/>
                <a:chExt cx="716" cy="422"/>
              </a:xfrm>
            </p:grpSpPr>
            <p:sp>
              <p:nvSpPr>
                <p:cNvPr id="113723" name="Rectangle 78"/>
                <p:cNvSpPr>
                  <a:spLocks noChangeArrowheads="1"/>
                </p:cNvSpPr>
                <p:nvPr/>
              </p:nvSpPr>
              <p:spPr bwMode="auto">
                <a:xfrm>
                  <a:off x="43" y="1958"/>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24" name="Rectangle 79"/>
                <p:cNvSpPr>
                  <a:spLocks noChangeArrowheads="1"/>
                </p:cNvSpPr>
                <p:nvPr/>
              </p:nvSpPr>
              <p:spPr bwMode="auto">
                <a:xfrm>
                  <a:off x="0" y="1958"/>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6" name="Group 80"/>
              <p:cNvGrpSpPr/>
              <p:nvPr/>
            </p:nvGrpSpPr>
            <p:grpSpPr bwMode="auto">
              <a:xfrm>
                <a:off x="716" y="1958"/>
                <a:ext cx="598" cy="422"/>
                <a:chOff x="716" y="1958"/>
                <a:chExt cx="598" cy="422"/>
              </a:xfrm>
            </p:grpSpPr>
            <p:sp>
              <p:nvSpPr>
                <p:cNvPr id="113721" name="Rectangle 81"/>
                <p:cNvSpPr>
                  <a:spLocks noChangeArrowheads="1"/>
                </p:cNvSpPr>
                <p:nvPr/>
              </p:nvSpPr>
              <p:spPr bwMode="auto">
                <a:xfrm>
                  <a:off x="759" y="1958"/>
                  <a:ext cx="5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2 2 2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22" name="Rectangle 82"/>
                <p:cNvSpPr>
                  <a:spLocks noChangeArrowheads="1"/>
                </p:cNvSpPr>
                <p:nvPr/>
              </p:nvSpPr>
              <p:spPr bwMode="auto">
                <a:xfrm>
                  <a:off x="716" y="1958"/>
                  <a:ext cx="59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7" name="Group 83"/>
              <p:cNvGrpSpPr/>
              <p:nvPr/>
            </p:nvGrpSpPr>
            <p:grpSpPr bwMode="auto">
              <a:xfrm>
                <a:off x="1314" y="1958"/>
                <a:ext cx="666" cy="422"/>
                <a:chOff x="1314" y="1958"/>
                <a:chExt cx="666" cy="422"/>
              </a:xfrm>
            </p:grpSpPr>
            <p:sp>
              <p:nvSpPr>
                <p:cNvPr id="113719" name="Rectangle 84"/>
                <p:cNvSpPr>
                  <a:spLocks noChangeArrowheads="1"/>
                </p:cNvSpPr>
                <p:nvPr/>
              </p:nvSpPr>
              <p:spPr bwMode="auto">
                <a:xfrm>
                  <a:off x="1357" y="1958"/>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2 1 1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20" name="Rectangle 85"/>
                <p:cNvSpPr>
                  <a:spLocks noChangeArrowheads="1"/>
                </p:cNvSpPr>
                <p:nvPr/>
              </p:nvSpPr>
              <p:spPr bwMode="auto">
                <a:xfrm>
                  <a:off x="1314" y="1958"/>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8" name="Group 86"/>
              <p:cNvGrpSpPr/>
              <p:nvPr/>
            </p:nvGrpSpPr>
            <p:grpSpPr bwMode="auto">
              <a:xfrm>
                <a:off x="1980" y="1958"/>
                <a:ext cx="632" cy="422"/>
                <a:chOff x="1980" y="1958"/>
                <a:chExt cx="632" cy="422"/>
              </a:xfrm>
            </p:grpSpPr>
            <p:sp>
              <p:nvSpPr>
                <p:cNvPr id="113717" name="Rectangle 87"/>
                <p:cNvSpPr>
                  <a:spLocks noChangeArrowheads="1"/>
                </p:cNvSpPr>
                <p:nvPr/>
              </p:nvSpPr>
              <p:spPr bwMode="auto">
                <a:xfrm>
                  <a:off x="2023" y="1958"/>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0 1 1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18" name="Rectangle 88"/>
                <p:cNvSpPr>
                  <a:spLocks noChangeArrowheads="1"/>
                </p:cNvSpPr>
                <p:nvPr/>
              </p:nvSpPr>
              <p:spPr bwMode="auto">
                <a:xfrm>
                  <a:off x="1980" y="1958"/>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699" name="Group 89"/>
              <p:cNvGrpSpPr/>
              <p:nvPr/>
            </p:nvGrpSpPr>
            <p:grpSpPr bwMode="auto">
              <a:xfrm>
                <a:off x="2612" y="1958"/>
                <a:ext cx="632" cy="422"/>
                <a:chOff x="2612" y="1958"/>
                <a:chExt cx="632" cy="422"/>
              </a:xfrm>
            </p:grpSpPr>
            <p:sp>
              <p:nvSpPr>
                <p:cNvPr id="113715" name="Rectangle 90"/>
                <p:cNvSpPr>
                  <a:spLocks noChangeArrowheads="1"/>
                </p:cNvSpPr>
                <p:nvPr/>
              </p:nvSpPr>
              <p:spPr bwMode="auto">
                <a:xfrm>
                  <a:off x="2655" y="1958"/>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latin typeface="Courier New" panose="02070309020205020404" pitchFamily="49" charset="0"/>
                      <a:ea typeface="楷体_GB2312" pitchFamily="49" charset="-122"/>
                    </a:rPr>
                    <a:t>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16" name="Rectangle 91"/>
                <p:cNvSpPr>
                  <a:spLocks noChangeArrowheads="1"/>
                </p:cNvSpPr>
                <p:nvPr/>
              </p:nvSpPr>
              <p:spPr bwMode="auto">
                <a:xfrm>
                  <a:off x="2612" y="1958"/>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700" name="Group 92"/>
              <p:cNvGrpSpPr/>
              <p:nvPr/>
            </p:nvGrpSpPr>
            <p:grpSpPr bwMode="auto">
              <a:xfrm>
                <a:off x="0" y="2380"/>
                <a:ext cx="716" cy="422"/>
                <a:chOff x="0" y="2380"/>
                <a:chExt cx="716" cy="422"/>
              </a:xfrm>
            </p:grpSpPr>
            <p:sp>
              <p:nvSpPr>
                <p:cNvPr id="113713" name="Rectangle 93"/>
                <p:cNvSpPr>
                  <a:spLocks noChangeArrowheads="1"/>
                </p:cNvSpPr>
                <p:nvPr/>
              </p:nvSpPr>
              <p:spPr bwMode="auto">
                <a:xfrm>
                  <a:off x="43" y="2380"/>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P4</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14" name="Rectangle 94"/>
                <p:cNvSpPr>
                  <a:spLocks noChangeArrowheads="1"/>
                </p:cNvSpPr>
                <p:nvPr/>
              </p:nvSpPr>
              <p:spPr bwMode="auto">
                <a:xfrm>
                  <a:off x="0" y="2380"/>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701" name="Group 95"/>
              <p:cNvGrpSpPr/>
              <p:nvPr/>
            </p:nvGrpSpPr>
            <p:grpSpPr bwMode="auto">
              <a:xfrm>
                <a:off x="716" y="2380"/>
                <a:ext cx="598" cy="422"/>
                <a:chOff x="716" y="2380"/>
                <a:chExt cx="598" cy="422"/>
              </a:xfrm>
            </p:grpSpPr>
            <p:sp>
              <p:nvSpPr>
                <p:cNvPr id="113711" name="Rectangle 96"/>
                <p:cNvSpPr>
                  <a:spLocks noChangeArrowheads="1"/>
                </p:cNvSpPr>
                <p:nvPr/>
              </p:nvSpPr>
              <p:spPr bwMode="auto">
                <a:xfrm>
                  <a:off x="759" y="2380"/>
                  <a:ext cx="5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4 3 3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12" name="Rectangle 97"/>
                <p:cNvSpPr>
                  <a:spLocks noChangeArrowheads="1"/>
                </p:cNvSpPr>
                <p:nvPr/>
              </p:nvSpPr>
              <p:spPr bwMode="auto">
                <a:xfrm>
                  <a:off x="716" y="2380"/>
                  <a:ext cx="59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702" name="Group 98"/>
              <p:cNvGrpSpPr/>
              <p:nvPr/>
            </p:nvGrpSpPr>
            <p:grpSpPr bwMode="auto">
              <a:xfrm>
                <a:off x="1314" y="2380"/>
                <a:ext cx="666" cy="422"/>
                <a:chOff x="1314" y="2380"/>
                <a:chExt cx="666" cy="422"/>
              </a:xfrm>
            </p:grpSpPr>
            <p:sp>
              <p:nvSpPr>
                <p:cNvPr id="113709" name="Rectangle 99"/>
                <p:cNvSpPr>
                  <a:spLocks noChangeArrowheads="1"/>
                </p:cNvSpPr>
                <p:nvPr/>
              </p:nvSpPr>
              <p:spPr bwMode="auto">
                <a:xfrm>
                  <a:off x="1357" y="2380"/>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10" name="Rectangle 100"/>
                <p:cNvSpPr>
                  <a:spLocks noChangeArrowheads="1"/>
                </p:cNvSpPr>
                <p:nvPr/>
              </p:nvSpPr>
              <p:spPr bwMode="auto">
                <a:xfrm>
                  <a:off x="1314" y="2380"/>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703" name="Group 101"/>
              <p:cNvGrpSpPr/>
              <p:nvPr/>
            </p:nvGrpSpPr>
            <p:grpSpPr bwMode="auto">
              <a:xfrm>
                <a:off x="1980" y="2380"/>
                <a:ext cx="632" cy="422"/>
                <a:chOff x="1980" y="2380"/>
                <a:chExt cx="632" cy="422"/>
              </a:xfrm>
            </p:grpSpPr>
            <p:sp>
              <p:nvSpPr>
                <p:cNvPr id="113707" name="Rectangle 102"/>
                <p:cNvSpPr>
                  <a:spLocks noChangeArrowheads="1"/>
                </p:cNvSpPr>
                <p:nvPr/>
              </p:nvSpPr>
              <p:spPr bwMode="auto">
                <a:xfrm>
                  <a:off x="2023" y="2380"/>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4 3 1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08" name="Rectangle 103"/>
                <p:cNvSpPr>
                  <a:spLocks noChangeArrowheads="1"/>
                </p:cNvSpPr>
                <p:nvPr/>
              </p:nvSpPr>
              <p:spPr bwMode="auto">
                <a:xfrm>
                  <a:off x="1980" y="2380"/>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3704" name="Group 104"/>
              <p:cNvGrpSpPr/>
              <p:nvPr/>
            </p:nvGrpSpPr>
            <p:grpSpPr bwMode="auto">
              <a:xfrm>
                <a:off x="2612" y="2380"/>
                <a:ext cx="632" cy="422"/>
                <a:chOff x="2612" y="2380"/>
                <a:chExt cx="632" cy="422"/>
              </a:xfrm>
            </p:grpSpPr>
            <p:sp>
              <p:nvSpPr>
                <p:cNvPr id="113705" name="Rectangle 105"/>
                <p:cNvSpPr>
                  <a:spLocks noChangeArrowheads="1"/>
                </p:cNvSpPr>
                <p:nvPr/>
              </p:nvSpPr>
              <p:spPr bwMode="auto">
                <a:xfrm>
                  <a:off x="2655" y="2380"/>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latin typeface="Courier New" panose="02070309020205020404" pitchFamily="49" charset="0"/>
                      <a:ea typeface="楷体_GB2312" pitchFamily="49" charset="-122"/>
                    </a:rPr>
                    <a:t>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3706" name="Rectangle 106"/>
                <p:cNvSpPr>
                  <a:spLocks noChangeArrowheads="1"/>
                </p:cNvSpPr>
                <p:nvPr/>
              </p:nvSpPr>
              <p:spPr bwMode="auto">
                <a:xfrm>
                  <a:off x="2612" y="2380"/>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sp>
          <p:nvSpPr>
            <p:cNvPr id="113670" name="Rectangle 107"/>
            <p:cNvSpPr>
              <a:spLocks noChangeArrowheads="1"/>
            </p:cNvSpPr>
            <p:nvPr/>
          </p:nvSpPr>
          <p:spPr bwMode="auto">
            <a:xfrm>
              <a:off x="-3" y="-3"/>
              <a:ext cx="3250" cy="2808"/>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a:xfrm>
            <a:off x="571501" y="0"/>
            <a:ext cx="8120357" cy="668780"/>
          </a:xfrm>
        </p:spPr>
        <p:txBody>
          <a:bodyPr/>
          <a:lstStyle/>
          <a:p>
            <a:pPr eaLnBrk="1" hangingPunct="1">
              <a:defRPr/>
            </a:pPr>
            <a:r>
              <a:rPr lang="zh-CN" altLang="en-US" sz="3600" dirty="0"/>
              <a:t>（</a:t>
            </a:r>
            <a:r>
              <a:rPr lang="en-US" altLang="zh-CN" sz="3600" dirty="0"/>
              <a:t>1</a:t>
            </a:r>
            <a:r>
              <a:rPr lang="zh-CN" altLang="en-US" sz="3600" dirty="0"/>
              <a:t>）</a:t>
            </a:r>
            <a:r>
              <a:rPr lang="en-US" altLang="zh-CN" sz="3600" dirty="0"/>
              <a:t>T0</a:t>
            </a:r>
            <a:r>
              <a:rPr lang="zh-CN" altLang="en-US" sz="3600" dirty="0"/>
              <a:t>时刻的安全性</a:t>
            </a:r>
            <a:br>
              <a:rPr lang="zh-CN" altLang="en-US" dirty="0"/>
            </a:br>
            <a:r>
              <a:rPr lang="zh-CN" altLang="en-US" sz="2400" dirty="0"/>
              <a:t>利用安全性算法对</a:t>
            </a:r>
            <a:r>
              <a:rPr lang="en-US" altLang="zh-CN" sz="2400" dirty="0"/>
              <a:t>T0</a:t>
            </a:r>
            <a:r>
              <a:rPr lang="zh-CN" altLang="en-US" sz="2400" dirty="0"/>
              <a:t>时刻的资源分配情况进行分析 </a:t>
            </a:r>
            <a:endParaRPr lang="zh-CN" altLang="en-US" sz="2400" dirty="0"/>
          </a:p>
        </p:txBody>
      </p:sp>
      <p:grpSp>
        <p:nvGrpSpPr>
          <p:cNvPr id="114691" name="Group 3"/>
          <p:cNvGrpSpPr/>
          <p:nvPr/>
        </p:nvGrpSpPr>
        <p:grpSpPr bwMode="auto">
          <a:xfrm>
            <a:off x="1479176" y="1440630"/>
            <a:ext cx="8934226" cy="4508349"/>
            <a:chOff x="-3" y="-3"/>
            <a:chExt cx="3797" cy="2502"/>
          </a:xfrm>
        </p:grpSpPr>
        <p:grpSp>
          <p:nvGrpSpPr>
            <p:cNvPr id="114692" name="Group 4"/>
            <p:cNvGrpSpPr/>
            <p:nvPr/>
          </p:nvGrpSpPr>
          <p:grpSpPr bwMode="auto">
            <a:xfrm>
              <a:off x="0" y="0"/>
              <a:ext cx="3791" cy="2496"/>
              <a:chOff x="0" y="0"/>
              <a:chExt cx="3791" cy="2496"/>
            </a:xfrm>
          </p:grpSpPr>
          <p:grpSp>
            <p:nvGrpSpPr>
              <p:cNvPr id="114694" name="Group 5"/>
              <p:cNvGrpSpPr/>
              <p:nvPr/>
            </p:nvGrpSpPr>
            <p:grpSpPr bwMode="auto">
              <a:xfrm>
                <a:off x="0" y="0"/>
                <a:ext cx="674" cy="576"/>
                <a:chOff x="0" y="0"/>
                <a:chExt cx="674" cy="576"/>
              </a:xfrm>
            </p:grpSpPr>
            <p:sp>
              <p:nvSpPr>
                <p:cNvPr id="114800" name="Rectangle 6"/>
                <p:cNvSpPr>
                  <a:spLocks noChangeArrowheads="1"/>
                </p:cNvSpPr>
                <p:nvPr/>
              </p:nvSpPr>
              <p:spPr bwMode="auto">
                <a:xfrm>
                  <a:off x="43" y="0"/>
                  <a:ext cx="58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1800" b="1">
                      <a:ea typeface="楷体_GB2312" pitchFamily="49" charset="-122"/>
                    </a:rPr>
                    <a:t>资源情况</a:t>
                  </a:r>
                  <a:endParaRPr lang="zh-CN" altLang="en-US" sz="1800" b="1">
                    <a:ea typeface="楷体_GB2312" pitchFamily="49" charset="-122"/>
                  </a:endParaRPr>
                </a:p>
                <a:p>
                  <a:pPr algn="just">
                    <a:spcBef>
                      <a:spcPct val="0"/>
                    </a:spcBef>
                    <a:buClrTx/>
                    <a:buFont typeface="Wingdings" panose="05000000000000000000" pitchFamily="2" charset="2"/>
                    <a:buNone/>
                  </a:pPr>
                  <a:r>
                    <a:rPr lang="zh-CN" altLang="en-US" sz="1800" b="1">
                      <a:ea typeface="楷体_GB2312" pitchFamily="49" charset="-122"/>
                    </a:rPr>
                    <a:t>进程</a:t>
                  </a:r>
                  <a:endParaRPr lang="zh-CN" altLang="en-US" sz="1800" b="1">
                    <a:ea typeface="楷体_GB2312" pitchFamily="49" charset="-122"/>
                  </a:endParaRPr>
                </a:p>
                <a:p>
                  <a:pPr algn="just">
                    <a:spcBef>
                      <a:spcPct val="0"/>
                    </a:spcBef>
                    <a:buClrTx/>
                    <a:buFontTx/>
                    <a:buNone/>
                  </a:pPr>
                  <a:endParaRPr lang="zh-CN" altLang="en-US" sz="1400" b="1">
                    <a:ea typeface="楷体_GB2312" pitchFamily="49" charset="-122"/>
                  </a:endParaRPr>
                </a:p>
              </p:txBody>
            </p:sp>
            <p:sp>
              <p:nvSpPr>
                <p:cNvPr id="114801" name="Rectangle 7"/>
                <p:cNvSpPr>
                  <a:spLocks noChangeArrowheads="1"/>
                </p:cNvSpPr>
                <p:nvPr/>
              </p:nvSpPr>
              <p:spPr bwMode="auto">
                <a:xfrm>
                  <a:off x="0" y="0"/>
                  <a:ext cx="674"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695" name="Group 8"/>
              <p:cNvGrpSpPr/>
              <p:nvPr/>
            </p:nvGrpSpPr>
            <p:grpSpPr bwMode="auto">
              <a:xfrm>
                <a:off x="674" y="0"/>
                <a:ext cx="506" cy="576"/>
                <a:chOff x="674" y="0"/>
                <a:chExt cx="506" cy="576"/>
              </a:xfrm>
            </p:grpSpPr>
            <p:sp>
              <p:nvSpPr>
                <p:cNvPr id="114798" name="Rectangle 9"/>
                <p:cNvSpPr>
                  <a:spLocks noChangeArrowheads="1"/>
                </p:cNvSpPr>
                <p:nvPr/>
              </p:nvSpPr>
              <p:spPr bwMode="auto">
                <a:xfrm>
                  <a:off x="717" y="0"/>
                  <a:ext cx="42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Work</a:t>
                  </a:r>
                  <a:endParaRPr lang="en-US" altLang="zh-CN" sz="2000" b="1">
                    <a:ea typeface="楷体_GB2312" pitchFamily="49" charset="-122"/>
                  </a:endParaRPr>
                </a:p>
                <a:p>
                  <a:pPr algn="just">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99" name="Rectangle 10"/>
                <p:cNvSpPr>
                  <a:spLocks noChangeArrowheads="1"/>
                </p:cNvSpPr>
                <p:nvPr/>
              </p:nvSpPr>
              <p:spPr bwMode="auto">
                <a:xfrm>
                  <a:off x="674" y="0"/>
                  <a:ext cx="506"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696" name="Group 11"/>
              <p:cNvGrpSpPr/>
              <p:nvPr/>
            </p:nvGrpSpPr>
            <p:grpSpPr bwMode="auto">
              <a:xfrm>
                <a:off x="1180" y="0"/>
                <a:ext cx="590" cy="576"/>
                <a:chOff x="1180" y="0"/>
                <a:chExt cx="590" cy="576"/>
              </a:xfrm>
            </p:grpSpPr>
            <p:sp>
              <p:nvSpPr>
                <p:cNvPr id="114796" name="Rectangle 12"/>
                <p:cNvSpPr>
                  <a:spLocks noChangeArrowheads="1"/>
                </p:cNvSpPr>
                <p:nvPr/>
              </p:nvSpPr>
              <p:spPr bwMode="auto">
                <a:xfrm>
                  <a:off x="1223" y="0"/>
                  <a:ext cx="50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Need</a:t>
                  </a:r>
                  <a:endParaRPr lang="en-US" altLang="zh-CN" sz="2000" b="1">
                    <a:ea typeface="楷体_GB2312" pitchFamily="49" charset="-122"/>
                  </a:endParaRPr>
                </a:p>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97" name="Rectangle 13"/>
                <p:cNvSpPr>
                  <a:spLocks noChangeArrowheads="1"/>
                </p:cNvSpPr>
                <p:nvPr/>
              </p:nvSpPr>
              <p:spPr bwMode="auto">
                <a:xfrm>
                  <a:off x="1180" y="0"/>
                  <a:ext cx="590"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697" name="Group 14"/>
              <p:cNvGrpSpPr/>
              <p:nvPr/>
            </p:nvGrpSpPr>
            <p:grpSpPr bwMode="auto">
              <a:xfrm>
                <a:off x="1770" y="0"/>
                <a:ext cx="660" cy="576"/>
                <a:chOff x="1770" y="0"/>
                <a:chExt cx="660" cy="576"/>
              </a:xfrm>
            </p:grpSpPr>
            <p:sp>
              <p:nvSpPr>
                <p:cNvPr id="114794" name="Rectangle 15"/>
                <p:cNvSpPr>
                  <a:spLocks noChangeArrowheads="1"/>
                </p:cNvSpPr>
                <p:nvPr/>
              </p:nvSpPr>
              <p:spPr bwMode="auto">
                <a:xfrm>
                  <a:off x="1813" y="0"/>
                  <a:ext cx="57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b="1">
                      <a:ea typeface="楷体_GB2312" pitchFamily="49" charset="-122"/>
                    </a:rPr>
                    <a:t>Allocation</a:t>
                  </a:r>
                  <a:endParaRPr lang="en-US" altLang="zh-CN" sz="1600" b="1">
                    <a:ea typeface="楷体_GB2312" pitchFamily="49" charset="-122"/>
                  </a:endParaRPr>
                </a:p>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p:txBody>
            </p:sp>
            <p:sp>
              <p:nvSpPr>
                <p:cNvPr id="114795" name="Rectangle 16"/>
                <p:cNvSpPr>
                  <a:spLocks noChangeArrowheads="1"/>
                </p:cNvSpPr>
                <p:nvPr/>
              </p:nvSpPr>
              <p:spPr bwMode="auto">
                <a:xfrm>
                  <a:off x="1770" y="0"/>
                  <a:ext cx="660"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698" name="Group 17"/>
              <p:cNvGrpSpPr/>
              <p:nvPr/>
            </p:nvGrpSpPr>
            <p:grpSpPr bwMode="auto">
              <a:xfrm>
                <a:off x="2430" y="0"/>
                <a:ext cx="802" cy="576"/>
                <a:chOff x="2430" y="0"/>
                <a:chExt cx="802" cy="576"/>
              </a:xfrm>
            </p:grpSpPr>
            <p:sp>
              <p:nvSpPr>
                <p:cNvPr id="114792" name="Rectangle 18"/>
                <p:cNvSpPr>
                  <a:spLocks noChangeArrowheads="1"/>
                </p:cNvSpPr>
                <p:nvPr/>
              </p:nvSpPr>
              <p:spPr bwMode="auto">
                <a:xfrm>
                  <a:off x="2473" y="0"/>
                  <a:ext cx="71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Work+</a:t>
                  </a:r>
                  <a:endParaRPr lang="en-US" altLang="zh-CN" sz="2000" b="1">
                    <a:ea typeface="楷体_GB2312" pitchFamily="49" charset="-122"/>
                  </a:endParaRPr>
                </a:p>
                <a:p>
                  <a:pPr algn="just" eaLnBrk="1" hangingPunct="1">
                    <a:spcBef>
                      <a:spcPct val="0"/>
                    </a:spcBef>
                    <a:buClrTx/>
                    <a:buFontTx/>
                    <a:buNone/>
                  </a:pPr>
                  <a:r>
                    <a:rPr lang="en-US" altLang="zh-CN" sz="2000" b="1">
                      <a:ea typeface="楷体_GB2312" pitchFamily="49" charset="-122"/>
                    </a:rPr>
                    <a:t>Allocation</a:t>
                  </a:r>
                  <a:endParaRPr lang="en-US" altLang="zh-CN" sz="2000" b="1">
                    <a:ea typeface="楷体_GB2312" pitchFamily="49" charset="-122"/>
                  </a:endParaRPr>
                </a:p>
                <a:p>
                  <a:pPr algn="just">
                    <a:spcBef>
                      <a:spcPct val="0"/>
                    </a:spcBef>
                    <a:buClrTx/>
                    <a:buFontTx/>
                    <a:buNone/>
                  </a:pPr>
                  <a:r>
                    <a:rPr lang="en-US" altLang="zh-CN" sz="2000" b="1">
                      <a:ea typeface="楷体_GB2312" pitchFamily="49" charset="-122"/>
                    </a:rPr>
                    <a:t>A   B    C</a:t>
                  </a:r>
                  <a:endParaRPr lang="en-US" altLang="zh-CN" sz="2000" b="1">
                    <a:ea typeface="楷体_GB2312" pitchFamily="49" charset="-122"/>
                  </a:endParaRPr>
                </a:p>
              </p:txBody>
            </p:sp>
            <p:sp>
              <p:nvSpPr>
                <p:cNvPr id="114793" name="Rectangle 19"/>
                <p:cNvSpPr>
                  <a:spLocks noChangeArrowheads="1"/>
                </p:cNvSpPr>
                <p:nvPr/>
              </p:nvSpPr>
              <p:spPr bwMode="auto">
                <a:xfrm>
                  <a:off x="2430" y="0"/>
                  <a:ext cx="802"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699" name="Group 20"/>
              <p:cNvGrpSpPr/>
              <p:nvPr/>
            </p:nvGrpSpPr>
            <p:grpSpPr bwMode="auto">
              <a:xfrm>
                <a:off x="3232" y="0"/>
                <a:ext cx="559" cy="576"/>
                <a:chOff x="3232" y="0"/>
                <a:chExt cx="559" cy="576"/>
              </a:xfrm>
            </p:grpSpPr>
            <p:sp>
              <p:nvSpPr>
                <p:cNvPr id="114790" name="Rectangle 21"/>
                <p:cNvSpPr>
                  <a:spLocks noChangeArrowheads="1"/>
                </p:cNvSpPr>
                <p:nvPr/>
              </p:nvSpPr>
              <p:spPr bwMode="auto">
                <a:xfrm>
                  <a:off x="3275" y="0"/>
                  <a:ext cx="473"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Finish</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91" name="Rectangle 22"/>
                <p:cNvSpPr>
                  <a:spLocks noChangeArrowheads="1"/>
                </p:cNvSpPr>
                <p:nvPr/>
              </p:nvSpPr>
              <p:spPr bwMode="auto">
                <a:xfrm>
                  <a:off x="3232" y="0"/>
                  <a:ext cx="559"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0" name="Group 23"/>
              <p:cNvGrpSpPr/>
              <p:nvPr/>
            </p:nvGrpSpPr>
            <p:grpSpPr bwMode="auto">
              <a:xfrm>
                <a:off x="0" y="576"/>
                <a:ext cx="674" cy="384"/>
                <a:chOff x="0" y="576"/>
                <a:chExt cx="674" cy="384"/>
              </a:xfrm>
            </p:grpSpPr>
            <p:sp>
              <p:nvSpPr>
                <p:cNvPr id="114788" name="Rectangle 24"/>
                <p:cNvSpPr>
                  <a:spLocks noChangeArrowheads="1"/>
                </p:cNvSpPr>
                <p:nvPr/>
              </p:nvSpPr>
              <p:spPr bwMode="auto">
                <a:xfrm>
                  <a:off x="43" y="576"/>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89" name="Rectangle 25"/>
                <p:cNvSpPr>
                  <a:spLocks noChangeArrowheads="1"/>
                </p:cNvSpPr>
                <p:nvPr/>
              </p:nvSpPr>
              <p:spPr bwMode="auto">
                <a:xfrm>
                  <a:off x="0" y="576"/>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1" name="Group 26"/>
              <p:cNvGrpSpPr/>
              <p:nvPr/>
            </p:nvGrpSpPr>
            <p:grpSpPr bwMode="auto">
              <a:xfrm>
                <a:off x="674" y="576"/>
                <a:ext cx="506" cy="384"/>
                <a:chOff x="674" y="576"/>
                <a:chExt cx="506" cy="384"/>
              </a:xfrm>
            </p:grpSpPr>
            <p:sp>
              <p:nvSpPr>
                <p:cNvPr id="114786" name="Rectangle 27"/>
                <p:cNvSpPr>
                  <a:spLocks noChangeArrowheads="1"/>
                </p:cNvSpPr>
                <p:nvPr/>
              </p:nvSpPr>
              <p:spPr bwMode="auto">
                <a:xfrm>
                  <a:off x="717" y="576"/>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3  3 2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87" name="Rectangle 28"/>
                <p:cNvSpPr>
                  <a:spLocks noChangeArrowheads="1"/>
                </p:cNvSpPr>
                <p:nvPr/>
              </p:nvSpPr>
              <p:spPr bwMode="auto">
                <a:xfrm>
                  <a:off x="674" y="576"/>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2" name="Group 29"/>
              <p:cNvGrpSpPr/>
              <p:nvPr/>
            </p:nvGrpSpPr>
            <p:grpSpPr bwMode="auto">
              <a:xfrm>
                <a:off x="1180" y="576"/>
                <a:ext cx="590" cy="384"/>
                <a:chOff x="1180" y="576"/>
                <a:chExt cx="590" cy="384"/>
              </a:xfrm>
            </p:grpSpPr>
            <p:sp>
              <p:nvSpPr>
                <p:cNvPr id="114784" name="Rectangle 30"/>
                <p:cNvSpPr>
                  <a:spLocks noChangeArrowheads="1"/>
                </p:cNvSpPr>
                <p:nvPr/>
              </p:nvSpPr>
              <p:spPr bwMode="auto">
                <a:xfrm>
                  <a:off x="1223" y="576"/>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1 2 2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85" name="Rectangle 31"/>
                <p:cNvSpPr>
                  <a:spLocks noChangeArrowheads="1"/>
                </p:cNvSpPr>
                <p:nvPr/>
              </p:nvSpPr>
              <p:spPr bwMode="auto">
                <a:xfrm>
                  <a:off x="1180" y="576"/>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3" name="Group 32"/>
              <p:cNvGrpSpPr/>
              <p:nvPr/>
            </p:nvGrpSpPr>
            <p:grpSpPr bwMode="auto">
              <a:xfrm>
                <a:off x="1770" y="576"/>
                <a:ext cx="660" cy="384"/>
                <a:chOff x="1770" y="576"/>
                <a:chExt cx="660" cy="384"/>
              </a:xfrm>
            </p:grpSpPr>
            <p:sp>
              <p:nvSpPr>
                <p:cNvPr id="114782" name="Rectangle 33"/>
                <p:cNvSpPr>
                  <a:spLocks noChangeArrowheads="1"/>
                </p:cNvSpPr>
                <p:nvPr/>
              </p:nvSpPr>
              <p:spPr bwMode="auto">
                <a:xfrm>
                  <a:off x="1813" y="576"/>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2 0 0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83" name="Rectangle 34"/>
                <p:cNvSpPr>
                  <a:spLocks noChangeArrowheads="1"/>
                </p:cNvSpPr>
                <p:nvPr/>
              </p:nvSpPr>
              <p:spPr bwMode="auto">
                <a:xfrm>
                  <a:off x="1770" y="576"/>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4" name="Group 35"/>
              <p:cNvGrpSpPr/>
              <p:nvPr/>
            </p:nvGrpSpPr>
            <p:grpSpPr bwMode="auto">
              <a:xfrm>
                <a:off x="2430" y="576"/>
                <a:ext cx="802" cy="384"/>
                <a:chOff x="2430" y="576"/>
                <a:chExt cx="802" cy="384"/>
              </a:xfrm>
            </p:grpSpPr>
            <p:sp>
              <p:nvSpPr>
                <p:cNvPr id="114780" name="Rectangle 36"/>
                <p:cNvSpPr>
                  <a:spLocks noChangeArrowheads="1"/>
                </p:cNvSpPr>
                <p:nvPr/>
              </p:nvSpPr>
              <p:spPr bwMode="auto">
                <a:xfrm>
                  <a:off x="2473" y="576"/>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5 3 2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81" name="Rectangle 37"/>
                <p:cNvSpPr>
                  <a:spLocks noChangeArrowheads="1"/>
                </p:cNvSpPr>
                <p:nvPr/>
              </p:nvSpPr>
              <p:spPr bwMode="auto">
                <a:xfrm>
                  <a:off x="2430" y="576"/>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5" name="Group 38"/>
              <p:cNvGrpSpPr/>
              <p:nvPr/>
            </p:nvGrpSpPr>
            <p:grpSpPr bwMode="auto">
              <a:xfrm>
                <a:off x="3232" y="576"/>
                <a:ext cx="559" cy="384"/>
                <a:chOff x="3232" y="576"/>
                <a:chExt cx="559" cy="384"/>
              </a:xfrm>
            </p:grpSpPr>
            <p:sp>
              <p:nvSpPr>
                <p:cNvPr id="114778" name="Rectangle 39"/>
                <p:cNvSpPr>
                  <a:spLocks noChangeArrowheads="1"/>
                </p:cNvSpPr>
                <p:nvPr/>
              </p:nvSpPr>
              <p:spPr bwMode="auto">
                <a:xfrm>
                  <a:off x="3275" y="576"/>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TRUE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79" name="Rectangle 40"/>
                <p:cNvSpPr>
                  <a:spLocks noChangeArrowheads="1"/>
                </p:cNvSpPr>
                <p:nvPr/>
              </p:nvSpPr>
              <p:spPr bwMode="auto">
                <a:xfrm>
                  <a:off x="3232" y="576"/>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6" name="Group 41"/>
              <p:cNvGrpSpPr/>
              <p:nvPr/>
            </p:nvGrpSpPr>
            <p:grpSpPr bwMode="auto">
              <a:xfrm>
                <a:off x="0" y="960"/>
                <a:ext cx="674" cy="384"/>
                <a:chOff x="0" y="960"/>
                <a:chExt cx="674" cy="384"/>
              </a:xfrm>
            </p:grpSpPr>
            <p:sp>
              <p:nvSpPr>
                <p:cNvPr id="114776" name="Rectangle 42"/>
                <p:cNvSpPr>
                  <a:spLocks noChangeArrowheads="1"/>
                </p:cNvSpPr>
                <p:nvPr/>
              </p:nvSpPr>
              <p:spPr bwMode="auto">
                <a:xfrm>
                  <a:off x="43" y="960"/>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77" name="Rectangle 43"/>
                <p:cNvSpPr>
                  <a:spLocks noChangeArrowheads="1"/>
                </p:cNvSpPr>
                <p:nvPr/>
              </p:nvSpPr>
              <p:spPr bwMode="auto">
                <a:xfrm>
                  <a:off x="0" y="960"/>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7" name="Group 44"/>
              <p:cNvGrpSpPr/>
              <p:nvPr/>
            </p:nvGrpSpPr>
            <p:grpSpPr bwMode="auto">
              <a:xfrm>
                <a:off x="674" y="960"/>
                <a:ext cx="506" cy="384"/>
                <a:chOff x="674" y="960"/>
                <a:chExt cx="506" cy="384"/>
              </a:xfrm>
            </p:grpSpPr>
            <p:sp>
              <p:nvSpPr>
                <p:cNvPr id="114774" name="Rectangle 45"/>
                <p:cNvSpPr>
                  <a:spLocks noChangeArrowheads="1"/>
                </p:cNvSpPr>
                <p:nvPr/>
              </p:nvSpPr>
              <p:spPr bwMode="auto">
                <a:xfrm>
                  <a:off x="717" y="960"/>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5  3 2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75" name="Rectangle 46"/>
                <p:cNvSpPr>
                  <a:spLocks noChangeArrowheads="1"/>
                </p:cNvSpPr>
                <p:nvPr/>
              </p:nvSpPr>
              <p:spPr bwMode="auto">
                <a:xfrm>
                  <a:off x="674" y="960"/>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8" name="Group 47"/>
              <p:cNvGrpSpPr/>
              <p:nvPr/>
            </p:nvGrpSpPr>
            <p:grpSpPr bwMode="auto">
              <a:xfrm>
                <a:off x="1180" y="960"/>
                <a:ext cx="590" cy="384"/>
                <a:chOff x="1180" y="960"/>
                <a:chExt cx="590" cy="384"/>
              </a:xfrm>
            </p:grpSpPr>
            <p:sp>
              <p:nvSpPr>
                <p:cNvPr id="114772" name="Rectangle 48"/>
                <p:cNvSpPr>
                  <a:spLocks noChangeArrowheads="1"/>
                </p:cNvSpPr>
                <p:nvPr/>
              </p:nvSpPr>
              <p:spPr bwMode="auto">
                <a:xfrm>
                  <a:off x="1223" y="96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0 1 1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73" name="Rectangle 49"/>
                <p:cNvSpPr>
                  <a:spLocks noChangeArrowheads="1"/>
                </p:cNvSpPr>
                <p:nvPr/>
              </p:nvSpPr>
              <p:spPr bwMode="auto">
                <a:xfrm>
                  <a:off x="1180" y="960"/>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09" name="Group 50"/>
              <p:cNvGrpSpPr/>
              <p:nvPr/>
            </p:nvGrpSpPr>
            <p:grpSpPr bwMode="auto">
              <a:xfrm>
                <a:off x="1770" y="960"/>
                <a:ext cx="660" cy="384"/>
                <a:chOff x="1770" y="960"/>
                <a:chExt cx="660" cy="384"/>
              </a:xfrm>
            </p:grpSpPr>
            <p:sp>
              <p:nvSpPr>
                <p:cNvPr id="114770" name="Rectangle 51"/>
                <p:cNvSpPr>
                  <a:spLocks noChangeArrowheads="1"/>
                </p:cNvSpPr>
                <p:nvPr/>
              </p:nvSpPr>
              <p:spPr bwMode="auto">
                <a:xfrm>
                  <a:off x="1813" y="960"/>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2 1 1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71" name="Rectangle 52"/>
                <p:cNvSpPr>
                  <a:spLocks noChangeArrowheads="1"/>
                </p:cNvSpPr>
                <p:nvPr/>
              </p:nvSpPr>
              <p:spPr bwMode="auto">
                <a:xfrm>
                  <a:off x="1770" y="960"/>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0" name="Group 53"/>
              <p:cNvGrpSpPr/>
              <p:nvPr/>
            </p:nvGrpSpPr>
            <p:grpSpPr bwMode="auto">
              <a:xfrm>
                <a:off x="2430" y="960"/>
                <a:ext cx="802" cy="384"/>
                <a:chOff x="2430" y="960"/>
                <a:chExt cx="802" cy="384"/>
              </a:xfrm>
            </p:grpSpPr>
            <p:sp>
              <p:nvSpPr>
                <p:cNvPr id="114768" name="Rectangle 54"/>
                <p:cNvSpPr>
                  <a:spLocks noChangeArrowheads="1"/>
                </p:cNvSpPr>
                <p:nvPr/>
              </p:nvSpPr>
              <p:spPr bwMode="auto">
                <a:xfrm>
                  <a:off x="2473" y="960"/>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7 4 3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69" name="Rectangle 55"/>
                <p:cNvSpPr>
                  <a:spLocks noChangeArrowheads="1"/>
                </p:cNvSpPr>
                <p:nvPr/>
              </p:nvSpPr>
              <p:spPr bwMode="auto">
                <a:xfrm>
                  <a:off x="2430" y="960"/>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1" name="Group 56"/>
              <p:cNvGrpSpPr/>
              <p:nvPr/>
            </p:nvGrpSpPr>
            <p:grpSpPr bwMode="auto">
              <a:xfrm>
                <a:off x="3232" y="960"/>
                <a:ext cx="559" cy="384"/>
                <a:chOff x="3232" y="960"/>
                <a:chExt cx="559" cy="384"/>
              </a:xfrm>
            </p:grpSpPr>
            <p:sp>
              <p:nvSpPr>
                <p:cNvPr id="114766" name="Rectangle 57"/>
                <p:cNvSpPr>
                  <a:spLocks noChangeArrowheads="1"/>
                </p:cNvSpPr>
                <p:nvPr/>
              </p:nvSpPr>
              <p:spPr bwMode="auto">
                <a:xfrm>
                  <a:off x="3275" y="960"/>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TRUE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67" name="Rectangle 58"/>
                <p:cNvSpPr>
                  <a:spLocks noChangeArrowheads="1"/>
                </p:cNvSpPr>
                <p:nvPr/>
              </p:nvSpPr>
              <p:spPr bwMode="auto">
                <a:xfrm>
                  <a:off x="3232" y="960"/>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2" name="Group 59"/>
              <p:cNvGrpSpPr/>
              <p:nvPr/>
            </p:nvGrpSpPr>
            <p:grpSpPr bwMode="auto">
              <a:xfrm>
                <a:off x="0" y="1344"/>
                <a:ext cx="674" cy="384"/>
                <a:chOff x="0" y="1344"/>
                <a:chExt cx="674" cy="384"/>
              </a:xfrm>
            </p:grpSpPr>
            <p:sp>
              <p:nvSpPr>
                <p:cNvPr id="114764" name="Rectangle 60"/>
                <p:cNvSpPr>
                  <a:spLocks noChangeArrowheads="1"/>
                </p:cNvSpPr>
                <p:nvPr/>
              </p:nvSpPr>
              <p:spPr bwMode="auto">
                <a:xfrm>
                  <a:off x="43" y="1344"/>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P4</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65" name="Rectangle 61"/>
                <p:cNvSpPr>
                  <a:spLocks noChangeArrowheads="1"/>
                </p:cNvSpPr>
                <p:nvPr/>
              </p:nvSpPr>
              <p:spPr bwMode="auto">
                <a:xfrm>
                  <a:off x="0" y="1344"/>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3" name="Group 62"/>
              <p:cNvGrpSpPr/>
              <p:nvPr/>
            </p:nvGrpSpPr>
            <p:grpSpPr bwMode="auto">
              <a:xfrm>
                <a:off x="674" y="1344"/>
                <a:ext cx="506" cy="384"/>
                <a:chOff x="674" y="1344"/>
                <a:chExt cx="506" cy="384"/>
              </a:xfrm>
            </p:grpSpPr>
            <p:sp>
              <p:nvSpPr>
                <p:cNvPr id="114762" name="Rectangle 63"/>
                <p:cNvSpPr>
                  <a:spLocks noChangeArrowheads="1"/>
                </p:cNvSpPr>
                <p:nvPr/>
              </p:nvSpPr>
              <p:spPr bwMode="auto">
                <a:xfrm>
                  <a:off x="717" y="1344"/>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63" name="Rectangle 64"/>
                <p:cNvSpPr>
                  <a:spLocks noChangeArrowheads="1"/>
                </p:cNvSpPr>
                <p:nvPr/>
              </p:nvSpPr>
              <p:spPr bwMode="auto">
                <a:xfrm>
                  <a:off x="674" y="1344"/>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4" name="Group 65"/>
              <p:cNvGrpSpPr/>
              <p:nvPr/>
            </p:nvGrpSpPr>
            <p:grpSpPr bwMode="auto">
              <a:xfrm>
                <a:off x="1180" y="1344"/>
                <a:ext cx="590" cy="384"/>
                <a:chOff x="1180" y="1344"/>
                <a:chExt cx="590" cy="384"/>
              </a:xfrm>
            </p:grpSpPr>
            <p:sp>
              <p:nvSpPr>
                <p:cNvPr id="114760" name="Rectangle 66"/>
                <p:cNvSpPr>
                  <a:spLocks noChangeArrowheads="1"/>
                </p:cNvSpPr>
                <p:nvPr/>
              </p:nvSpPr>
              <p:spPr bwMode="auto">
                <a:xfrm>
                  <a:off x="1223" y="1344"/>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4 3 1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61" name="Rectangle 67"/>
                <p:cNvSpPr>
                  <a:spLocks noChangeArrowheads="1"/>
                </p:cNvSpPr>
                <p:nvPr/>
              </p:nvSpPr>
              <p:spPr bwMode="auto">
                <a:xfrm>
                  <a:off x="1180" y="1344"/>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5" name="Group 68"/>
              <p:cNvGrpSpPr/>
              <p:nvPr/>
            </p:nvGrpSpPr>
            <p:grpSpPr bwMode="auto">
              <a:xfrm>
                <a:off x="1770" y="1344"/>
                <a:ext cx="660" cy="384"/>
                <a:chOff x="1770" y="1344"/>
                <a:chExt cx="660" cy="384"/>
              </a:xfrm>
            </p:grpSpPr>
            <p:sp>
              <p:nvSpPr>
                <p:cNvPr id="114758" name="Rectangle 69"/>
                <p:cNvSpPr>
                  <a:spLocks noChangeArrowheads="1"/>
                </p:cNvSpPr>
                <p:nvPr/>
              </p:nvSpPr>
              <p:spPr bwMode="auto">
                <a:xfrm>
                  <a:off x="1813" y="1344"/>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59" name="Rectangle 70"/>
                <p:cNvSpPr>
                  <a:spLocks noChangeArrowheads="1"/>
                </p:cNvSpPr>
                <p:nvPr/>
              </p:nvSpPr>
              <p:spPr bwMode="auto">
                <a:xfrm>
                  <a:off x="1770" y="1344"/>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6" name="Group 71"/>
              <p:cNvGrpSpPr/>
              <p:nvPr/>
            </p:nvGrpSpPr>
            <p:grpSpPr bwMode="auto">
              <a:xfrm>
                <a:off x="2430" y="1344"/>
                <a:ext cx="802" cy="384"/>
                <a:chOff x="2430" y="1344"/>
                <a:chExt cx="802" cy="384"/>
              </a:xfrm>
            </p:grpSpPr>
            <p:sp>
              <p:nvSpPr>
                <p:cNvPr id="114756" name="Rectangle 72"/>
                <p:cNvSpPr>
                  <a:spLocks noChangeArrowheads="1"/>
                </p:cNvSpPr>
                <p:nvPr/>
              </p:nvSpPr>
              <p:spPr bwMode="auto">
                <a:xfrm>
                  <a:off x="2473" y="1344"/>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7 4 5</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57" name="Rectangle 73"/>
                <p:cNvSpPr>
                  <a:spLocks noChangeArrowheads="1"/>
                </p:cNvSpPr>
                <p:nvPr/>
              </p:nvSpPr>
              <p:spPr bwMode="auto">
                <a:xfrm>
                  <a:off x="2430" y="1344"/>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7" name="Group 74"/>
              <p:cNvGrpSpPr/>
              <p:nvPr/>
            </p:nvGrpSpPr>
            <p:grpSpPr bwMode="auto">
              <a:xfrm>
                <a:off x="3232" y="1344"/>
                <a:ext cx="559" cy="384"/>
                <a:chOff x="3232" y="1344"/>
                <a:chExt cx="559" cy="384"/>
              </a:xfrm>
            </p:grpSpPr>
            <p:sp>
              <p:nvSpPr>
                <p:cNvPr id="114754" name="Rectangle 75"/>
                <p:cNvSpPr>
                  <a:spLocks noChangeArrowheads="1"/>
                </p:cNvSpPr>
                <p:nvPr/>
              </p:nvSpPr>
              <p:spPr bwMode="auto">
                <a:xfrm>
                  <a:off x="3275" y="1344"/>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TRUE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55" name="Rectangle 76"/>
                <p:cNvSpPr>
                  <a:spLocks noChangeArrowheads="1"/>
                </p:cNvSpPr>
                <p:nvPr/>
              </p:nvSpPr>
              <p:spPr bwMode="auto">
                <a:xfrm>
                  <a:off x="3232" y="1344"/>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8" name="Group 77"/>
              <p:cNvGrpSpPr/>
              <p:nvPr/>
            </p:nvGrpSpPr>
            <p:grpSpPr bwMode="auto">
              <a:xfrm>
                <a:off x="0" y="1728"/>
                <a:ext cx="674" cy="384"/>
                <a:chOff x="0" y="1728"/>
                <a:chExt cx="674" cy="384"/>
              </a:xfrm>
            </p:grpSpPr>
            <p:sp>
              <p:nvSpPr>
                <p:cNvPr id="114752" name="Rectangle 78"/>
                <p:cNvSpPr>
                  <a:spLocks noChangeArrowheads="1"/>
                </p:cNvSpPr>
                <p:nvPr/>
              </p:nvSpPr>
              <p:spPr bwMode="auto">
                <a:xfrm>
                  <a:off x="43" y="1728"/>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53" name="Rectangle 79"/>
                <p:cNvSpPr>
                  <a:spLocks noChangeArrowheads="1"/>
                </p:cNvSpPr>
                <p:nvPr/>
              </p:nvSpPr>
              <p:spPr bwMode="auto">
                <a:xfrm>
                  <a:off x="0" y="1728"/>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19" name="Group 80"/>
              <p:cNvGrpSpPr/>
              <p:nvPr/>
            </p:nvGrpSpPr>
            <p:grpSpPr bwMode="auto">
              <a:xfrm>
                <a:off x="674" y="1728"/>
                <a:ext cx="506" cy="384"/>
                <a:chOff x="674" y="1728"/>
                <a:chExt cx="506" cy="384"/>
              </a:xfrm>
            </p:grpSpPr>
            <p:sp>
              <p:nvSpPr>
                <p:cNvPr id="114750" name="Rectangle 81"/>
                <p:cNvSpPr>
                  <a:spLocks noChangeArrowheads="1"/>
                </p:cNvSpPr>
                <p:nvPr/>
              </p:nvSpPr>
              <p:spPr bwMode="auto">
                <a:xfrm>
                  <a:off x="717" y="1728"/>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7  4 5</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51" name="Rectangle 82"/>
                <p:cNvSpPr>
                  <a:spLocks noChangeArrowheads="1"/>
                </p:cNvSpPr>
                <p:nvPr/>
              </p:nvSpPr>
              <p:spPr bwMode="auto">
                <a:xfrm>
                  <a:off x="674" y="1728"/>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0" name="Group 83"/>
              <p:cNvGrpSpPr/>
              <p:nvPr/>
            </p:nvGrpSpPr>
            <p:grpSpPr bwMode="auto">
              <a:xfrm>
                <a:off x="1180" y="1728"/>
                <a:ext cx="590" cy="384"/>
                <a:chOff x="1180" y="1728"/>
                <a:chExt cx="590" cy="384"/>
              </a:xfrm>
            </p:grpSpPr>
            <p:sp>
              <p:nvSpPr>
                <p:cNvPr id="114748" name="Rectangle 84"/>
                <p:cNvSpPr>
                  <a:spLocks noChangeArrowheads="1"/>
                </p:cNvSpPr>
                <p:nvPr/>
              </p:nvSpPr>
              <p:spPr bwMode="auto">
                <a:xfrm>
                  <a:off x="1223" y="1728"/>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6 0 0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49" name="Rectangle 85"/>
                <p:cNvSpPr>
                  <a:spLocks noChangeArrowheads="1"/>
                </p:cNvSpPr>
                <p:nvPr/>
              </p:nvSpPr>
              <p:spPr bwMode="auto">
                <a:xfrm>
                  <a:off x="1180" y="1728"/>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1" name="Group 86"/>
              <p:cNvGrpSpPr/>
              <p:nvPr/>
            </p:nvGrpSpPr>
            <p:grpSpPr bwMode="auto">
              <a:xfrm>
                <a:off x="1770" y="1728"/>
                <a:ext cx="660" cy="384"/>
                <a:chOff x="1770" y="1728"/>
                <a:chExt cx="660" cy="384"/>
              </a:xfrm>
            </p:grpSpPr>
            <p:sp>
              <p:nvSpPr>
                <p:cNvPr id="114746" name="Rectangle 87"/>
                <p:cNvSpPr>
                  <a:spLocks noChangeArrowheads="1"/>
                </p:cNvSpPr>
                <p:nvPr/>
              </p:nvSpPr>
              <p:spPr bwMode="auto">
                <a:xfrm>
                  <a:off x="1813" y="1728"/>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47" name="Rectangle 88"/>
                <p:cNvSpPr>
                  <a:spLocks noChangeArrowheads="1"/>
                </p:cNvSpPr>
                <p:nvPr/>
              </p:nvSpPr>
              <p:spPr bwMode="auto">
                <a:xfrm>
                  <a:off x="1770" y="1728"/>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2" name="Group 89"/>
              <p:cNvGrpSpPr/>
              <p:nvPr/>
            </p:nvGrpSpPr>
            <p:grpSpPr bwMode="auto">
              <a:xfrm>
                <a:off x="2430" y="1728"/>
                <a:ext cx="802" cy="384"/>
                <a:chOff x="2430" y="1728"/>
                <a:chExt cx="802" cy="384"/>
              </a:xfrm>
            </p:grpSpPr>
            <p:sp>
              <p:nvSpPr>
                <p:cNvPr id="114744" name="Rectangle 90"/>
                <p:cNvSpPr>
                  <a:spLocks noChangeArrowheads="1"/>
                </p:cNvSpPr>
                <p:nvPr/>
              </p:nvSpPr>
              <p:spPr bwMode="auto">
                <a:xfrm>
                  <a:off x="2473" y="1728"/>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10  4   7</a:t>
                  </a:r>
                  <a:endParaRPr lang="en-US" altLang="zh-CN" sz="2000" b="1">
                    <a:ea typeface="楷体_GB2312" pitchFamily="49" charset="-122"/>
                  </a:endParaRPr>
                </a:p>
              </p:txBody>
            </p:sp>
            <p:sp>
              <p:nvSpPr>
                <p:cNvPr id="114745" name="Rectangle 91"/>
                <p:cNvSpPr>
                  <a:spLocks noChangeArrowheads="1"/>
                </p:cNvSpPr>
                <p:nvPr/>
              </p:nvSpPr>
              <p:spPr bwMode="auto">
                <a:xfrm>
                  <a:off x="2430" y="1728"/>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3" name="Group 92"/>
              <p:cNvGrpSpPr/>
              <p:nvPr/>
            </p:nvGrpSpPr>
            <p:grpSpPr bwMode="auto">
              <a:xfrm>
                <a:off x="3232" y="1728"/>
                <a:ext cx="559" cy="384"/>
                <a:chOff x="3232" y="1728"/>
                <a:chExt cx="559" cy="384"/>
              </a:xfrm>
            </p:grpSpPr>
            <p:sp>
              <p:nvSpPr>
                <p:cNvPr id="114742" name="Rectangle 93"/>
                <p:cNvSpPr>
                  <a:spLocks noChangeArrowheads="1"/>
                </p:cNvSpPr>
                <p:nvPr/>
              </p:nvSpPr>
              <p:spPr bwMode="auto">
                <a:xfrm>
                  <a:off x="3275" y="1728"/>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TRUE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43" name="Rectangle 94"/>
                <p:cNvSpPr>
                  <a:spLocks noChangeArrowheads="1"/>
                </p:cNvSpPr>
                <p:nvPr/>
              </p:nvSpPr>
              <p:spPr bwMode="auto">
                <a:xfrm>
                  <a:off x="3232" y="1728"/>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4" name="Group 95"/>
              <p:cNvGrpSpPr/>
              <p:nvPr/>
            </p:nvGrpSpPr>
            <p:grpSpPr bwMode="auto">
              <a:xfrm>
                <a:off x="0" y="2112"/>
                <a:ext cx="674" cy="384"/>
                <a:chOff x="0" y="2112"/>
                <a:chExt cx="674" cy="384"/>
              </a:xfrm>
            </p:grpSpPr>
            <p:sp>
              <p:nvSpPr>
                <p:cNvPr id="114740" name="Rectangle 96"/>
                <p:cNvSpPr>
                  <a:spLocks noChangeArrowheads="1"/>
                </p:cNvSpPr>
                <p:nvPr/>
              </p:nvSpPr>
              <p:spPr bwMode="auto">
                <a:xfrm>
                  <a:off x="43" y="2112"/>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41" name="Rectangle 97"/>
                <p:cNvSpPr>
                  <a:spLocks noChangeArrowheads="1"/>
                </p:cNvSpPr>
                <p:nvPr/>
              </p:nvSpPr>
              <p:spPr bwMode="auto">
                <a:xfrm>
                  <a:off x="0" y="2112"/>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5" name="Group 98"/>
              <p:cNvGrpSpPr/>
              <p:nvPr/>
            </p:nvGrpSpPr>
            <p:grpSpPr bwMode="auto">
              <a:xfrm>
                <a:off x="674" y="2112"/>
                <a:ext cx="506" cy="384"/>
                <a:chOff x="674" y="2112"/>
                <a:chExt cx="506" cy="384"/>
              </a:xfrm>
            </p:grpSpPr>
            <p:sp>
              <p:nvSpPr>
                <p:cNvPr id="114738" name="Rectangle 99"/>
                <p:cNvSpPr>
                  <a:spLocks noChangeArrowheads="1"/>
                </p:cNvSpPr>
                <p:nvPr/>
              </p:nvSpPr>
              <p:spPr bwMode="auto">
                <a:xfrm>
                  <a:off x="717" y="2112"/>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10 4 7</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39" name="Rectangle 100"/>
                <p:cNvSpPr>
                  <a:spLocks noChangeArrowheads="1"/>
                </p:cNvSpPr>
                <p:nvPr/>
              </p:nvSpPr>
              <p:spPr bwMode="auto">
                <a:xfrm>
                  <a:off x="674" y="2112"/>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6" name="Group 101"/>
              <p:cNvGrpSpPr/>
              <p:nvPr/>
            </p:nvGrpSpPr>
            <p:grpSpPr bwMode="auto">
              <a:xfrm>
                <a:off x="1180" y="2112"/>
                <a:ext cx="590" cy="384"/>
                <a:chOff x="1180" y="2112"/>
                <a:chExt cx="590" cy="384"/>
              </a:xfrm>
            </p:grpSpPr>
            <p:sp>
              <p:nvSpPr>
                <p:cNvPr id="114736" name="Rectangle 102"/>
                <p:cNvSpPr>
                  <a:spLocks noChangeArrowheads="1"/>
                </p:cNvSpPr>
                <p:nvPr/>
              </p:nvSpPr>
              <p:spPr bwMode="auto">
                <a:xfrm>
                  <a:off x="1223" y="2112"/>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37" name="Rectangle 103"/>
                <p:cNvSpPr>
                  <a:spLocks noChangeArrowheads="1"/>
                </p:cNvSpPr>
                <p:nvPr/>
              </p:nvSpPr>
              <p:spPr bwMode="auto">
                <a:xfrm>
                  <a:off x="1180" y="2112"/>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7" name="Group 104"/>
              <p:cNvGrpSpPr/>
              <p:nvPr/>
            </p:nvGrpSpPr>
            <p:grpSpPr bwMode="auto">
              <a:xfrm>
                <a:off x="1770" y="2112"/>
                <a:ext cx="660" cy="384"/>
                <a:chOff x="1770" y="2112"/>
                <a:chExt cx="660" cy="384"/>
              </a:xfrm>
            </p:grpSpPr>
            <p:sp>
              <p:nvSpPr>
                <p:cNvPr id="114734" name="Rectangle 105"/>
                <p:cNvSpPr>
                  <a:spLocks noChangeArrowheads="1"/>
                </p:cNvSpPr>
                <p:nvPr/>
              </p:nvSpPr>
              <p:spPr bwMode="auto">
                <a:xfrm>
                  <a:off x="1813" y="2112"/>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0 1 0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35" name="Rectangle 106"/>
                <p:cNvSpPr>
                  <a:spLocks noChangeArrowheads="1"/>
                </p:cNvSpPr>
                <p:nvPr/>
              </p:nvSpPr>
              <p:spPr bwMode="auto">
                <a:xfrm>
                  <a:off x="1770" y="2112"/>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8" name="Group 107"/>
              <p:cNvGrpSpPr/>
              <p:nvPr/>
            </p:nvGrpSpPr>
            <p:grpSpPr bwMode="auto">
              <a:xfrm>
                <a:off x="2430" y="2112"/>
                <a:ext cx="802" cy="384"/>
                <a:chOff x="2430" y="2112"/>
                <a:chExt cx="802" cy="384"/>
              </a:xfrm>
            </p:grpSpPr>
            <p:sp>
              <p:nvSpPr>
                <p:cNvPr id="114732" name="Rectangle 108"/>
                <p:cNvSpPr>
                  <a:spLocks noChangeArrowheads="1"/>
                </p:cNvSpPr>
                <p:nvPr/>
              </p:nvSpPr>
              <p:spPr bwMode="auto">
                <a:xfrm>
                  <a:off x="2473" y="2112"/>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10  5   7</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33" name="Rectangle 109"/>
                <p:cNvSpPr>
                  <a:spLocks noChangeArrowheads="1"/>
                </p:cNvSpPr>
                <p:nvPr/>
              </p:nvSpPr>
              <p:spPr bwMode="auto">
                <a:xfrm>
                  <a:off x="2430" y="2112"/>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4729" name="Group 110"/>
              <p:cNvGrpSpPr/>
              <p:nvPr/>
            </p:nvGrpSpPr>
            <p:grpSpPr bwMode="auto">
              <a:xfrm>
                <a:off x="3232" y="2112"/>
                <a:ext cx="559" cy="384"/>
                <a:chOff x="3232" y="2112"/>
                <a:chExt cx="559" cy="384"/>
              </a:xfrm>
            </p:grpSpPr>
            <p:sp>
              <p:nvSpPr>
                <p:cNvPr id="114730" name="Rectangle 111"/>
                <p:cNvSpPr>
                  <a:spLocks noChangeArrowheads="1"/>
                </p:cNvSpPr>
                <p:nvPr/>
              </p:nvSpPr>
              <p:spPr bwMode="auto">
                <a:xfrm>
                  <a:off x="3275" y="2112"/>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TRUE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4731" name="Rectangle 112"/>
                <p:cNvSpPr>
                  <a:spLocks noChangeArrowheads="1"/>
                </p:cNvSpPr>
                <p:nvPr/>
              </p:nvSpPr>
              <p:spPr bwMode="auto">
                <a:xfrm>
                  <a:off x="3232" y="2112"/>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sp>
          <p:nvSpPr>
            <p:cNvPr id="114693" name="Rectangle 113"/>
            <p:cNvSpPr>
              <a:spLocks noChangeArrowheads="1"/>
            </p:cNvSpPr>
            <p:nvPr/>
          </p:nvSpPr>
          <p:spPr bwMode="auto">
            <a:xfrm>
              <a:off x="-3" y="-3"/>
              <a:ext cx="3797" cy="2502"/>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判断请求是否可以满足</a:t>
            </a:r>
            <a:endParaRPr lang="zh-CN" altLang="en-US" dirty="0"/>
          </a:p>
        </p:txBody>
      </p:sp>
      <p:sp>
        <p:nvSpPr>
          <p:cNvPr id="110594" name="Rectangle 2"/>
          <p:cNvSpPr>
            <a:spLocks noGrp="1" noChangeArrowheads="1"/>
          </p:cNvSpPr>
          <p:nvPr>
            <p:ph idx="4294967295"/>
          </p:nvPr>
        </p:nvSpPr>
        <p:spPr>
          <a:xfrm>
            <a:off x="1011218" y="1016934"/>
            <a:ext cx="10413403" cy="4867499"/>
          </a:xfrm>
        </p:spPr>
        <p:txBody>
          <a:bodyPr/>
          <a:lstStyle/>
          <a:p>
            <a:pPr marL="0" indent="0" algn="just">
              <a:buNone/>
              <a:defRPr/>
            </a:pPr>
            <a:r>
              <a:rPr lang="zh-CN" altLang="en-US" sz="2800" b="1" dirty="0">
                <a:latin typeface="+mj-lt"/>
                <a:ea typeface="楷体_GB2312" pitchFamily="49" charset="-122"/>
              </a:rPr>
              <a:t>（</a:t>
            </a:r>
            <a:r>
              <a:rPr lang="en-US" altLang="zh-CN" sz="2800" b="1" dirty="0">
                <a:latin typeface="+mj-lt"/>
                <a:ea typeface="楷体_GB2312" pitchFamily="49" charset="-122"/>
              </a:rPr>
              <a:t>2</a:t>
            </a:r>
            <a:r>
              <a:rPr lang="zh-CN" altLang="en-US" sz="2800" b="1" dirty="0">
                <a:latin typeface="+mj-lt"/>
                <a:ea typeface="楷体_GB2312" pitchFamily="49" charset="-122"/>
              </a:rPr>
              <a:t>）</a:t>
            </a:r>
            <a:r>
              <a:rPr lang="en-US" altLang="zh-CN" sz="2800" b="1" dirty="0">
                <a:latin typeface="+mj-lt"/>
                <a:ea typeface="楷体_GB2312" pitchFamily="49" charset="-122"/>
              </a:rPr>
              <a:t>P1</a:t>
            </a:r>
            <a:r>
              <a:rPr lang="zh-CN" altLang="en-US" sz="2800" b="1" dirty="0">
                <a:latin typeface="+mj-lt"/>
                <a:ea typeface="楷体_GB2312" pitchFamily="49" charset="-122"/>
              </a:rPr>
              <a:t>请求资源：</a:t>
            </a:r>
            <a:r>
              <a:rPr lang="en-US" altLang="zh-CN" sz="2800" b="1" dirty="0">
                <a:latin typeface="+mj-lt"/>
                <a:ea typeface="楷体_GB2312" pitchFamily="49" charset="-122"/>
              </a:rPr>
              <a:t>P1</a:t>
            </a:r>
            <a:r>
              <a:rPr lang="zh-CN" altLang="en-US" sz="2800" b="1" dirty="0">
                <a:latin typeface="+mj-lt"/>
                <a:ea typeface="楷体_GB2312" pitchFamily="49" charset="-122"/>
              </a:rPr>
              <a:t>发出请求向量</a:t>
            </a:r>
            <a:r>
              <a:rPr lang="en-US" altLang="zh-CN" sz="2800" b="1" dirty="0">
                <a:latin typeface="+mj-lt"/>
                <a:ea typeface="楷体_GB2312" pitchFamily="49" charset="-122"/>
              </a:rPr>
              <a:t>Request</a:t>
            </a:r>
            <a:r>
              <a:rPr lang="en-US" altLang="zh-CN" sz="2800" b="1" baseline="-25000" dirty="0">
                <a:latin typeface="+mj-lt"/>
                <a:ea typeface="楷体_GB2312" pitchFamily="49" charset="-122"/>
              </a:rPr>
              <a:t>1</a:t>
            </a:r>
            <a:r>
              <a:rPr lang="en-US" altLang="zh-CN" sz="2800" b="1" dirty="0">
                <a:latin typeface="+mj-lt"/>
                <a:ea typeface="楷体_GB2312" pitchFamily="49" charset="-122"/>
              </a:rPr>
              <a:t>(1,0,2),</a:t>
            </a:r>
            <a:r>
              <a:rPr lang="zh-CN" altLang="en-US" sz="2800" b="1" dirty="0">
                <a:latin typeface="+mj-lt"/>
                <a:ea typeface="楷体_GB2312" pitchFamily="49" charset="-122"/>
              </a:rPr>
              <a:t>系统按银行家算法进行检查</a:t>
            </a:r>
            <a:endParaRPr lang="zh-CN" altLang="en-US" sz="2800" b="1" dirty="0">
              <a:latin typeface="+mj-lt"/>
              <a:ea typeface="楷体_GB2312" pitchFamily="49" charset="-122"/>
            </a:endParaRPr>
          </a:p>
          <a:p>
            <a:pPr marL="0" indent="0" algn="just">
              <a:buNone/>
              <a:defRPr/>
            </a:pPr>
            <a:r>
              <a:rPr lang="zh-CN" altLang="en-US" sz="2800" b="1" dirty="0">
                <a:latin typeface="+mj-lt"/>
                <a:ea typeface="楷体_GB2312" pitchFamily="49" charset="-122"/>
              </a:rPr>
              <a:t>①</a:t>
            </a:r>
            <a:r>
              <a:rPr lang="en-US" altLang="zh-CN" sz="2800" b="1" dirty="0">
                <a:latin typeface="+mj-lt"/>
                <a:ea typeface="楷体_GB2312" pitchFamily="49" charset="-122"/>
              </a:rPr>
              <a:t>Request</a:t>
            </a:r>
            <a:r>
              <a:rPr lang="en-US" altLang="zh-CN" sz="2800" b="1" baseline="-25000"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0</a:t>
            </a:r>
            <a:r>
              <a:rPr lang="zh-CN" altLang="en-US" sz="2800" b="1" dirty="0">
                <a:latin typeface="+mj-lt"/>
                <a:ea typeface="楷体_GB2312" pitchFamily="49" charset="-122"/>
              </a:rPr>
              <a:t>，</a:t>
            </a:r>
            <a:r>
              <a:rPr lang="en-US" altLang="zh-CN" sz="2800" b="1" dirty="0">
                <a:latin typeface="+mj-lt"/>
                <a:ea typeface="楷体_GB2312" pitchFamily="49" charset="-122"/>
              </a:rPr>
              <a:t>2</a:t>
            </a:r>
            <a:r>
              <a:rPr lang="zh-CN" altLang="en-US" sz="2800" b="1" dirty="0">
                <a:latin typeface="+mj-lt"/>
                <a:ea typeface="楷体_GB2312" pitchFamily="49" charset="-122"/>
              </a:rPr>
              <a:t>）≤</a:t>
            </a:r>
            <a:r>
              <a:rPr lang="en-US" altLang="zh-CN" sz="2800" b="1" dirty="0">
                <a:latin typeface="+mj-lt"/>
                <a:ea typeface="楷体_GB2312" pitchFamily="49" charset="-122"/>
              </a:rPr>
              <a:t>Need</a:t>
            </a:r>
            <a:r>
              <a:rPr lang="en-US" altLang="zh-CN" sz="2800" b="1" baseline="-25000"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2</a:t>
            </a:r>
            <a:r>
              <a:rPr lang="zh-CN" altLang="en-US" sz="2800" b="1" dirty="0">
                <a:latin typeface="+mj-lt"/>
                <a:ea typeface="楷体_GB2312" pitchFamily="49" charset="-122"/>
              </a:rPr>
              <a:t>，</a:t>
            </a:r>
            <a:r>
              <a:rPr lang="en-US" altLang="zh-CN" sz="2800" b="1" dirty="0">
                <a:latin typeface="+mj-lt"/>
                <a:ea typeface="楷体_GB2312" pitchFamily="49" charset="-122"/>
              </a:rPr>
              <a:t>2</a:t>
            </a:r>
            <a:r>
              <a:rPr lang="zh-CN" altLang="en-US" sz="2800" b="1" dirty="0">
                <a:latin typeface="+mj-lt"/>
                <a:ea typeface="楷体_GB2312" pitchFamily="49" charset="-122"/>
              </a:rPr>
              <a:t>）</a:t>
            </a:r>
            <a:endParaRPr lang="zh-CN" altLang="en-US" sz="2800" b="1" dirty="0">
              <a:latin typeface="+mj-lt"/>
              <a:ea typeface="楷体_GB2312" pitchFamily="49" charset="-122"/>
            </a:endParaRPr>
          </a:p>
          <a:p>
            <a:pPr marL="0" indent="0" algn="just">
              <a:buNone/>
              <a:defRPr/>
            </a:pPr>
            <a:r>
              <a:rPr lang="zh-CN" altLang="en-US" sz="2800" b="1" dirty="0">
                <a:latin typeface="+mj-lt"/>
                <a:ea typeface="楷体_GB2312" pitchFamily="49" charset="-122"/>
              </a:rPr>
              <a:t>②</a:t>
            </a:r>
            <a:r>
              <a:rPr lang="en-US" altLang="zh-CN" sz="2800" b="1" dirty="0">
                <a:latin typeface="+mj-lt"/>
                <a:ea typeface="楷体_GB2312" pitchFamily="49" charset="-122"/>
              </a:rPr>
              <a:t>Request</a:t>
            </a:r>
            <a:r>
              <a:rPr lang="en-US" altLang="zh-CN" sz="2800" b="1" baseline="-25000"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0</a:t>
            </a:r>
            <a:r>
              <a:rPr lang="zh-CN" altLang="en-US" sz="2800" b="1" dirty="0">
                <a:latin typeface="+mj-lt"/>
                <a:ea typeface="楷体_GB2312" pitchFamily="49" charset="-122"/>
              </a:rPr>
              <a:t>，</a:t>
            </a:r>
            <a:r>
              <a:rPr lang="en-US" altLang="zh-CN" sz="2800" b="1" dirty="0">
                <a:latin typeface="+mj-lt"/>
                <a:ea typeface="楷体_GB2312" pitchFamily="49" charset="-122"/>
              </a:rPr>
              <a:t>2</a:t>
            </a:r>
            <a:r>
              <a:rPr lang="zh-CN" altLang="en-US" sz="2800" b="1" dirty="0">
                <a:latin typeface="+mj-lt"/>
                <a:ea typeface="楷体_GB2312" pitchFamily="49" charset="-122"/>
              </a:rPr>
              <a:t>）≤</a:t>
            </a:r>
            <a:r>
              <a:rPr lang="en-US" altLang="zh-CN" sz="2800" b="1" dirty="0">
                <a:latin typeface="+mj-lt"/>
                <a:ea typeface="楷体_GB2312" pitchFamily="49" charset="-122"/>
              </a:rPr>
              <a:t>Available</a:t>
            </a:r>
            <a:r>
              <a:rPr lang="en-US" altLang="zh-CN" sz="2800" b="1" baseline="-25000" dirty="0">
                <a:latin typeface="+mj-lt"/>
                <a:ea typeface="楷体_GB2312" pitchFamily="49" charset="-122"/>
              </a:rPr>
              <a:t>1</a:t>
            </a:r>
            <a:r>
              <a:rPr lang="zh-CN" altLang="en-US" sz="2800" b="1" dirty="0">
                <a:latin typeface="+mj-lt"/>
                <a:ea typeface="楷体_GB2312" pitchFamily="49" charset="-122"/>
              </a:rPr>
              <a:t>（</a:t>
            </a:r>
            <a:r>
              <a:rPr lang="en-US" altLang="zh-CN" sz="2800" b="1" dirty="0">
                <a:latin typeface="+mj-lt"/>
                <a:ea typeface="楷体_GB2312" pitchFamily="49" charset="-122"/>
              </a:rPr>
              <a:t>3,3,2)</a:t>
            </a:r>
            <a:endParaRPr lang="en-US" altLang="zh-CN" sz="2800" b="1" dirty="0">
              <a:latin typeface="+mj-lt"/>
              <a:ea typeface="楷体_GB2312" pitchFamily="49" charset="-122"/>
            </a:endParaRPr>
          </a:p>
          <a:p>
            <a:pPr marL="0" indent="0" algn="just">
              <a:buNone/>
              <a:defRPr/>
            </a:pPr>
            <a:r>
              <a:rPr lang="en-US" altLang="zh-CN" sz="2800" b="1" dirty="0">
                <a:latin typeface="+mj-lt"/>
                <a:ea typeface="楷体_GB2312" pitchFamily="49" charset="-122"/>
              </a:rPr>
              <a:t>③</a:t>
            </a:r>
            <a:r>
              <a:rPr lang="zh-CN" altLang="en-US" sz="2800" b="1" dirty="0">
                <a:latin typeface="+mj-lt"/>
                <a:ea typeface="楷体_GB2312" pitchFamily="49" charset="-122"/>
              </a:rPr>
              <a:t>系统先假定可为</a:t>
            </a:r>
            <a:r>
              <a:rPr lang="en-US" altLang="zh-CN" sz="2800" b="1" dirty="0">
                <a:latin typeface="+mj-lt"/>
                <a:ea typeface="楷体_GB2312" pitchFamily="49" charset="-122"/>
              </a:rPr>
              <a:t>P1</a:t>
            </a:r>
            <a:r>
              <a:rPr lang="zh-CN" altLang="en-US" sz="2800" b="1" dirty="0">
                <a:latin typeface="+mj-lt"/>
                <a:ea typeface="楷体_GB2312" pitchFamily="49" charset="-122"/>
              </a:rPr>
              <a:t>分配资源，并修改</a:t>
            </a:r>
            <a:r>
              <a:rPr lang="en-US" altLang="zh-CN" sz="2800" b="1" dirty="0">
                <a:latin typeface="+mj-lt"/>
                <a:ea typeface="楷体_GB2312" pitchFamily="49" charset="-122"/>
              </a:rPr>
              <a:t>Available</a:t>
            </a:r>
            <a:r>
              <a:rPr lang="zh-CN" altLang="en-US" sz="2800" b="1" dirty="0">
                <a:latin typeface="+mj-lt"/>
                <a:ea typeface="楷体_GB2312" pitchFamily="49" charset="-122"/>
              </a:rPr>
              <a:t>，</a:t>
            </a:r>
            <a:r>
              <a:rPr lang="en-US" altLang="zh-CN" sz="2800" b="1" dirty="0">
                <a:latin typeface="+mj-lt"/>
                <a:ea typeface="楷体_GB2312" pitchFamily="49" charset="-122"/>
              </a:rPr>
              <a:t>Allocation</a:t>
            </a:r>
            <a:r>
              <a:rPr lang="en-US" altLang="zh-CN" sz="2800" b="1" baseline="-25000" dirty="0">
                <a:latin typeface="+mj-lt"/>
                <a:ea typeface="楷体_GB2312" pitchFamily="49" charset="-122"/>
              </a:rPr>
              <a:t>1</a:t>
            </a:r>
            <a:r>
              <a:rPr lang="zh-CN" altLang="en-US" sz="2800" b="1" dirty="0">
                <a:latin typeface="+mj-lt"/>
                <a:ea typeface="楷体_GB2312" pitchFamily="49" charset="-122"/>
              </a:rPr>
              <a:t>和</a:t>
            </a:r>
            <a:r>
              <a:rPr lang="en-US" altLang="zh-CN" sz="2800" b="1" dirty="0">
                <a:latin typeface="+mj-lt"/>
                <a:ea typeface="楷体_GB2312" pitchFamily="49" charset="-122"/>
              </a:rPr>
              <a:t>Need</a:t>
            </a:r>
            <a:r>
              <a:rPr lang="en-US" altLang="zh-CN" sz="2800" b="1" baseline="-25000" dirty="0">
                <a:latin typeface="+mj-lt"/>
                <a:ea typeface="楷体_GB2312" pitchFamily="49" charset="-122"/>
              </a:rPr>
              <a:t>1</a:t>
            </a:r>
            <a:r>
              <a:rPr lang="zh-CN" altLang="en-US" sz="2800" b="1" dirty="0">
                <a:latin typeface="+mj-lt"/>
                <a:ea typeface="楷体_GB2312" pitchFamily="49" charset="-122"/>
              </a:rPr>
              <a:t>向量，由此形成的资源变化情况如下图所示。</a:t>
            </a:r>
            <a:endParaRPr lang="zh-CN" altLang="en-US" sz="2800" b="1" dirty="0">
              <a:latin typeface="+mj-lt"/>
              <a:ea typeface="楷体_GB2312" pitchFamily="49" charset="-122"/>
            </a:endParaRPr>
          </a:p>
          <a:p>
            <a:pPr marL="0" indent="0" algn="just">
              <a:buNone/>
              <a:defRPr/>
            </a:pPr>
            <a:r>
              <a:rPr lang="zh-CN" altLang="en-US" sz="2800" b="1" dirty="0">
                <a:latin typeface="+mj-lt"/>
                <a:ea typeface="楷体_GB2312" pitchFamily="49" charset="-122"/>
              </a:rPr>
              <a:t>④再利用安全性算法检查此时系统是否安全。</a:t>
            </a:r>
            <a:endParaRPr lang="zh-CN" altLang="en-US" sz="2800" b="1" dirty="0">
              <a:latin typeface="+mj-lt"/>
              <a:ea typeface="楷体_GB2312" pitchFamily="49"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738" name="Group 2"/>
          <p:cNvGrpSpPr/>
          <p:nvPr/>
        </p:nvGrpSpPr>
        <p:grpSpPr bwMode="auto">
          <a:xfrm>
            <a:off x="2362200" y="1123950"/>
            <a:ext cx="7467600" cy="4610100"/>
            <a:chOff x="-3" y="-3"/>
            <a:chExt cx="3250" cy="2904"/>
          </a:xfrm>
        </p:grpSpPr>
        <p:grpSp>
          <p:nvGrpSpPr>
            <p:cNvPr id="116742" name="Group 3"/>
            <p:cNvGrpSpPr/>
            <p:nvPr/>
          </p:nvGrpSpPr>
          <p:grpSpPr bwMode="auto">
            <a:xfrm>
              <a:off x="0" y="0"/>
              <a:ext cx="3244" cy="2898"/>
              <a:chOff x="0" y="0"/>
              <a:chExt cx="3244" cy="2898"/>
            </a:xfrm>
          </p:grpSpPr>
          <p:grpSp>
            <p:nvGrpSpPr>
              <p:cNvPr id="116744" name="Group 4"/>
              <p:cNvGrpSpPr/>
              <p:nvPr/>
            </p:nvGrpSpPr>
            <p:grpSpPr bwMode="auto">
              <a:xfrm>
                <a:off x="0" y="0"/>
                <a:ext cx="716" cy="768"/>
                <a:chOff x="0" y="0"/>
                <a:chExt cx="716" cy="768"/>
              </a:xfrm>
            </p:grpSpPr>
            <p:sp>
              <p:nvSpPr>
                <p:cNvPr id="116844" name="Rectangle 5"/>
                <p:cNvSpPr>
                  <a:spLocks noChangeArrowheads="1"/>
                </p:cNvSpPr>
                <p:nvPr/>
              </p:nvSpPr>
              <p:spPr bwMode="auto">
                <a:xfrm>
                  <a:off x="43" y="0"/>
                  <a:ext cx="630"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000" b="1">
                      <a:ea typeface="楷体_GB2312" pitchFamily="49" charset="-122"/>
                    </a:rPr>
                    <a:t>资源情况</a:t>
                  </a:r>
                  <a:endParaRPr lang="zh-CN" altLang="en-US" sz="2000" b="1">
                    <a:ea typeface="楷体_GB2312" pitchFamily="49" charset="-122"/>
                  </a:endParaRPr>
                </a:p>
                <a:p>
                  <a:pPr algn="ctr">
                    <a:spcBef>
                      <a:spcPct val="0"/>
                    </a:spcBef>
                    <a:buClrTx/>
                    <a:buFontTx/>
                    <a:buNone/>
                  </a:pPr>
                  <a:endParaRPr lang="zh-CN" altLang="en-US" sz="2000" b="1">
                    <a:ea typeface="楷体_GB2312" pitchFamily="49" charset="-122"/>
                  </a:endParaRPr>
                </a:p>
                <a:p>
                  <a:pPr algn="ctr">
                    <a:spcBef>
                      <a:spcPct val="0"/>
                    </a:spcBef>
                    <a:buClrTx/>
                    <a:buFontTx/>
                    <a:buNone/>
                  </a:pPr>
                  <a:r>
                    <a:rPr lang="zh-CN" altLang="en-US" sz="2000" b="1">
                      <a:ea typeface="楷体_GB2312" pitchFamily="49" charset="-122"/>
                    </a:rPr>
                    <a:t>进程</a:t>
                  </a:r>
                  <a:endParaRPr lang="zh-CN" altLang="en-US" sz="2000" b="1">
                    <a:ea typeface="楷体_GB2312" pitchFamily="49" charset="-122"/>
                  </a:endParaRPr>
                </a:p>
              </p:txBody>
            </p:sp>
            <p:sp>
              <p:nvSpPr>
                <p:cNvPr id="116845" name="Rectangle 6"/>
                <p:cNvSpPr>
                  <a:spLocks noChangeArrowheads="1"/>
                </p:cNvSpPr>
                <p:nvPr/>
              </p:nvSpPr>
              <p:spPr bwMode="auto">
                <a:xfrm>
                  <a:off x="0" y="0"/>
                  <a:ext cx="716" cy="76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45" name="Group 7"/>
              <p:cNvGrpSpPr/>
              <p:nvPr/>
            </p:nvGrpSpPr>
            <p:grpSpPr bwMode="auto">
              <a:xfrm>
                <a:off x="716" y="0"/>
                <a:ext cx="598" cy="384"/>
                <a:chOff x="716" y="0"/>
                <a:chExt cx="598" cy="384"/>
              </a:xfrm>
            </p:grpSpPr>
            <p:sp>
              <p:nvSpPr>
                <p:cNvPr id="116842" name="Rectangle 8"/>
                <p:cNvSpPr>
                  <a:spLocks noChangeArrowheads="1"/>
                </p:cNvSpPr>
                <p:nvPr/>
              </p:nvSpPr>
              <p:spPr bwMode="auto">
                <a:xfrm>
                  <a:off x="759" y="0"/>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Max</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43" name="Rectangle 9"/>
                <p:cNvSpPr>
                  <a:spLocks noChangeArrowheads="1"/>
                </p:cNvSpPr>
                <p:nvPr/>
              </p:nvSpPr>
              <p:spPr bwMode="auto">
                <a:xfrm>
                  <a:off x="716" y="0"/>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46" name="Group 10"/>
              <p:cNvGrpSpPr/>
              <p:nvPr/>
            </p:nvGrpSpPr>
            <p:grpSpPr bwMode="auto">
              <a:xfrm>
                <a:off x="1314" y="0"/>
                <a:ext cx="666" cy="384"/>
                <a:chOff x="1314" y="0"/>
                <a:chExt cx="666" cy="384"/>
              </a:xfrm>
            </p:grpSpPr>
            <p:sp>
              <p:nvSpPr>
                <p:cNvPr id="116840" name="Rectangle 11"/>
                <p:cNvSpPr>
                  <a:spLocks noChangeArrowheads="1"/>
                </p:cNvSpPr>
                <p:nvPr/>
              </p:nvSpPr>
              <p:spPr bwMode="auto">
                <a:xfrm>
                  <a:off x="1357" y="0"/>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Allocation</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41" name="Rectangle 12"/>
                <p:cNvSpPr>
                  <a:spLocks noChangeArrowheads="1"/>
                </p:cNvSpPr>
                <p:nvPr/>
              </p:nvSpPr>
              <p:spPr bwMode="auto">
                <a:xfrm>
                  <a:off x="1314" y="0"/>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47" name="Group 13"/>
              <p:cNvGrpSpPr/>
              <p:nvPr/>
            </p:nvGrpSpPr>
            <p:grpSpPr bwMode="auto">
              <a:xfrm>
                <a:off x="1980" y="0"/>
                <a:ext cx="632" cy="384"/>
                <a:chOff x="1980" y="0"/>
                <a:chExt cx="632" cy="384"/>
              </a:xfrm>
            </p:grpSpPr>
            <p:sp>
              <p:nvSpPr>
                <p:cNvPr id="116838" name="Rectangle 14"/>
                <p:cNvSpPr>
                  <a:spLocks noChangeArrowheads="1"/>
                </p:cNvSpPr>
                <p:nvPr/>
              </p:nvSpPr>
              <p:spPr bwMode="auto">
                <a:xfrm>
                  <a:off x="2023" y="0"/>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Need</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39" name="Rectangle 15"/>
                <p:cNvSpPr>
                  <a:spLocks noChangeArrowheads="1"/>
                </p:cNvSpPr>
                <p:nvPr/>
              </p:nvSpPr>
              <p:spPr bwMode="auto">
                <a:xfrm>
                  <a:off x="1980" y="0"/>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48" name="Group 16"/>
              <p:cNvGrpSpPr/>
              <p:nvPr/>
            </p:nvGrpSpPr>
            <p:grpSpPr bwMode="auto">
              <a:xfrm>
                <a:off x="2612" y="0"/>
                <a:ext cx="632" cy="384"/>
                <a:chOff x="2612" y="0"/>
                <a:chExt cx="632" cy="384"/>
              </a:xfrm>
            </p:grpSpPr>
            <p:sp>
              <p:nvSpPr>
                <p:cNvPr id="116836" name="Rectangle 17"/>
                <p:cNvSpPr>
                  <a:spLocks noChangeArrowheads="1"/>
                </p:cNvSpPr>
                <p:nvPr/>
              </p:nvSpPr>
              <p:spPr bwMode="auto">
                <a:xfrm>
                  <a:off x="2655" y="0"/>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Available</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37" name="Rectangle 18"/>
                <p:cNvSpPr>
                  <a:spLocks noChangeArrowheads="1"/>
                </p:cNvSpPr>
                <p:nvPr/>
              </p:nvSpPr>
              <p:spPr bwMode="auto">
                <a:xfrm>
                  <a:off x="2612" y="0"/>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49" name="Group 19"/>
              <p:cNvGrpSpPr/>
              <p:nvPr/>
            </p:nvGrpSpPr>
            <p:grpSpPr bwMode="auto">
              <a:xfrm>
                <a:off x="716" y="384"/>
                <a:ext cx="598" cy="384"/>
                <a:chOff x="716" y="384"/>
                <a:chExt cx="598" cy="384"/>
              </a:xfrm>
            </p:grpSpPr>
            <p:sp>
              <p:nvSpPr>
                <p:cNvPr id="116834" name="Rectangle 20"/>
                <p:cNvSpPr>
                  <a:spLocks noChangeArrowheads="1"/>
                </p:cNvSpPr>
                <p:nvPr/>
              </p:nvSpPr>
              <p:spPr bwMode="auto">
                <a:xfrm>
                  <a:off x="759" y="384"/>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p:txBody>
            </p:sp>
            <p:sp>
              <p:nvSpPr>
                <p:cNvPr id="116835" name="Rectangle 21"/>
                <p:cNvSpPr>
                  <a:spLocks noChangeArrowheads="1"/>
                </p:cNvSpPr>
                <p:nvPr/>
              </p:nvSpPr>
              <p:spPr bwMode="auto">
                <a:xfrm>
                  <a:off x="716" y="384"/>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0" name="Group 22"/>
              <p:cNvGrpSpPr/>
              <p:nvPr/>
            </p:nvGrpSpPr>
            <p:grpSpPr bwMode="auto">
              <a:xfrm>
                <a:off x="1314" y="384"/>
                <a:ext cx="666" cy="384"/>
                <a:chOff x="1314" y="384"/>
                <a:chExt cx="666" cy="384"/>
              </a:xfrm>
            </p:grpSpPr>
            <p:sp>
              <p:nvSpPr>
                <p:cNvPr id="116832" name="Rectangle 23"/>
                <p:cNvSpPr>
                  <a:spLocks noChangeArrowheads="1"/>
                </p:cNvSpPr>
                <p:nvPr/>
              </p:nvSpPr>
              <p:spPr bwMode="auto">
                <a:xfrm>
                  <a:off x="1357" y="384"/>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33" name="Rectangle 24"/>
                <p:cNvSpPr>
                  <a:spLocks noChangeArrowheads="1"/>
                </p:cNvSpPr>
                <p:nvPr/>
              </p:nvSpPr>
              <p:spPr bwMode="auto">
                <a:xfrm>
                  <a:off x="1314" y="384"/>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1" name="Group 25"/>
              <p:cNvGrpSpPr/>
              <p:nvPr/>
            </p:nvGrpSpPr>
            <p:grpSpPr bwMode="auto">
              <a:xfrm>
                <a:off x="1980" y="384"/>
                <a:ext cx="632" cy="384"/>
                <a:chOff x="1980" y="384"/>
                <a:chExt cx="632" cy="384"/>
              </a:xfrm>
            </p:grpSpPr>
            <p:sp>
              <p:nvSpPr>
                <p:cNvPr id="116830" name="Rectangle 26"/>
                <p:cNvSpPr>
                  <a:spLocks noChangeArrowheads="1"/>
                </p:cNvSpPr>
                <p:nvPr/>
              </p:nvSpPr>
              <p:spPr bwMode="auto">
                <a:xfrm>
                  <a:off x="2023" y="384"/>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31" name="Rectangle 27"/>
                <p:cNvSpPr>
                  <a:spLocks noChangeArrowheads="1"/>
                </p:cNvSpPr>
                <p:nvPr/>
              </p:nvSpPr>
              <p:spPr bwMode="auto">
                <a:xfrm>
                  <a:off x="1980" y="384"/>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2" name="Group 28"/>
              <p:cNvGrpSpPr/>
              <p:nvPr/>
            </p:nvGrpSpPr>
            <p:grpSpPr bwMode="auto">
              <a:xfrm>
                <a:off x="2612" y="384"/>
                <a:ext cx="632" cy="384"/>
                <a:chOff x="2612" y="384"/>
                <a:chExt cx="632" cy="384"/>
              </a:xfrm>
            </p:grpSpPr>
            <p:sp>
              <p:nvSpPr>
                <p:cNvPr id="116828" name="Rectangle 29"/>
                <p:cNvSpPr>
                  <a:spLocks noChangeArrowheads="1"/>
                </p:cNvSpPr>
                <p:nvPr/>
              </p:nvSpPr>
              <p:spPr bwMode="auto">
                <a:xfrm>
                  <a:off x="2655" y="384"/>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A B C</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29" name="Rectangle 30"/>
                <p:cNvSpPr>
                  <a:spLocks noChangeArrowheads="1"/>
                </p:cNvSpPr>
                <p:nvPr/>
              </p:nvSpPr>
              <p:spPr bwMode="auto">
                <a:xfrm>
                  <a:off x="2612" y="384"/>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3" name="Group 31"/>
              <p:cNvGrpSpPr/>
              <p:nvPr/>
            </p:nvGrpSpPr>
            <p:grpSpPr bwMode="auto">
              <a:xfrm>
                <a:off x="0" y="768"/>
                <a:ext cx="716" cy="384"/>
                <a:chOff x="0" y="768"/>
                <a:chExt cx="716" cy="384"/>
              </a:xfrm>
            </p:grpSpPr>
            <p:sp>
              <p:nvSpPr>
                <p:cNvPr id="116826" name="Rectangle 32"/>
                <p:cNvSpPr>
                  <a:spLocks noChangeArrowheads="1"/>
                </p:cNvSpPr>
                <p:nvPr/>
              </p:nvSpPr>
              <p:spPr bwMode="auto">
                <a:xfrm>
                  <a:off x="43" y="768"/>
                  <a:ext cx="63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27" name="Rectangle 33"/>
                <p:cNvSpPr>
                  <a:spLocks noChangeArrowheads="1"/>
                </p:cNvSpPr>
                <p:nvPr/>
              </p:nvSpPr>
              <p:spPr bwMode="auto">
                <a:xfrm>
                  <a:off x="0" y="768"/>
                  <a:ext cx="71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4" name="Group 34"/>
              <p:cNvGrpSpPr/>
              <p:nvPr/>
            </p:nvGrpSpPr>
            <p:grpSpPr bwMode="auto">
              <a:xfrm>
                <a:off x="716" y="768"/>
                <a:ext cx="598" cy="384"/>
                <a:chOff x="716" y="768"/>
                <a:chExt cx="598" cy="384"/>
              </a:xfrm>
            </p:grpSpPr>
            <p:sp>
              <p:nvSpPr>
                <p:cNvPr id="116824" name="Rectangle 35"/>
                <p:cNvSpPr>
                  <a:spLocks noChangeArrowheads="1"/>
                </p:cNvSpPr>
                <p:nvPr/>
              </p:nvSpPr>
              <p:spPr bwMode="auto">
                <a:xfrm>
                  <a:off x="759" y="768"/>
                  <a:ext cx="512"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7 5 3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25" name="Rectangle 36"/>
                <p:cNvSpPr>
                  <a:spLocks noChangeArrowheads="1"/>
                </p:cNvSpPr>
                <p:nvPr/>
              </p:nvSpPr>
              <p:spPr bwMode="auto">
                <a:xfrm>
                  <a:off x="716" y="768"/>
                  <a:ext cx="598"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5" name="Group 37"/>
              <p:cNvGrpSpPr/>
              <p:nvPr/>
            </p:nvGrpSpPr>
            <p:grpSpPr bwMode="auto">
              <a:xfrm>
                <a:off x="1314" y="768"/>
                <a:ext cx="666" cy="384"/>
                <a:chOff x="1314" y="768"/>
                <a:chExt cx="666" cy="384"/>
              </a:xfrm>
            </p:grpSpPr>
            <p:sp>
              <p:nvSpPr>
                <p:cNvPr id="116822" name="Rectangle 38"/>
                <p:cNvSpPr>
                  <a:spLocks noChangeArrowheads="1"/>
                </p:cNvSpPr>
                <p:nvPr/>
              </p:nvSpPr>
              <p:spPr bwMode="auto">
                <a:xfrm>
                  <a:off x="1357" y="768"/>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0 1 0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23" name="Rectangle 39"/>
                <p:cNvSpPr>
                  <a:spLocks noChangeArrowheads="1"/>
                </p:cNvSpPr>
                <p:nvPr/>
              </p:nvSpPr>
              <p:spPr bwMode="auto">
                <a:xfrm>
                  <a:off x="1314" y="768"/>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6" name="Group 40"/>
              <p:cNvGrpSpPr/>
              <p:nvPr/>
            </p:nvGrpSpPr>
            <p:grpSpPr bwMode="auto">
              <a:xfrm>
                <a:off x="1980" y="768"/>
                <a:ext cx="632" cy="384"/>
                <a:chOff x="1980" y="768"/>
                <a:chExt cx="632" cy="384"/>
              </a:xfrm>
            </p:grpSpPr>
            <p:sp>
              <p:nvSpPr>
                <p:cNvPr id="116820" name="Rectangle 41"/>
                <p:cNvSpPr>
                  <a:spLocks noChangeArrowheads="1"/>
                </p:cNvSpPr>
                <p:nvPr/>
              </p:nvSpPr>
              <p:spPr bwMode="auto">
                <a:xfrm>
                  <a:off x="2023" y="768"/>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7 4 3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21" name="Rectangle 42"/>
                <p:cNvSpPr>
                  <a:spLocks noChangeArrowheads="1"/>
                </p:cNvSpPr>
                <p:nvPr/>
              </p:nvSpPr>
              <p:spPr bwMode="auto">
                <a:xfrm>
                  <a:off x="1980" y="768"/>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7" name="Group 43"/>
              <p:cNvGrpSpPr/>
              <p:nvPr/>
            </p:nvGrpSpPr>
            <p:grpSpPr bwMode="auto">
              <a:xfrm>
                <a:off x="2612" y="768"/>
                <a:ext cx="632" cy="384"/>
                <a:chOff x="2612" y="768"/>
                <a:chExt cx="632" cy="384"/>
              </a:xfrm>
            </p:grpSpPr>
            <p:sp>
              <p:nvSpPr>
                <p:cNvPr id="116818" name="Rectangle 44"/>
                <p:cNvSpPr>
                  <a:spLocks noChangeArrowheads="1"/>
                </p:cNvSpPr>
                <p:nvPr/>
              </p:nvSpPr>
              <p:spPr bwMode="auto">
                <a:xfrm>
                  <a:off x="2655" y="768"/>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2 3 0</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19" name="Rectangle 45"/>
                <p:cNvSpPr>
                  <a:spLocks noChangeArrowheads="1"/>
                </p:cNvSpPr>
                <p:nvPr/>
              </p:nvSpPr>
              <p:spPr bwMode="auto">
                <a:xfrm>
                  <a:off x="2612" y="768"/>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8" name="Group 46"/>
              <p:cNvGrpSpPr/>
              <p:nvPr/>
            </p:nvGrpSpPr>
            <p:grpSpPr bwMode="auto">
              <a:xfrm>
                <a:off x="0" y="1152"/>
                <a:ext cx="716" cy="480"/>
                <a:chOff x="0" y="1152"/>
                <a:chExt cx="716" cy="480"/>
              </a:xfrm>
            </p:grpSpPr>
            <p:sp>
              <p:nvSpPr>
                <p:cNvPr id="116816" name="Rectangle 47"/>
                <p:cNvSpPr>
                  <a:spLocks noChangeArrowheads="1"/>
                </p:cNvSpPr>
                <p:nvPr/>
              </p:nvSpPr>
              <p:spPr bwMode="auto">
                <a:xfrm>
                  <a:off x="43" y="1152"/>
                  <a:ext cx="63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17" name="Rectangle 48"/>
                <p:cNvSpPr>
                  <a:spLocks noChangeArrowheads="1"/>
                </p:cNvSpPr>
                <p:nvPr/>
              </p:nvSpPr>
              <p:spPr bwMode="auto">
                <a:xfrm>
                  <a:off x="0" y="1152"/>
                  <a:ext cx="716" cy="48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59" name="Group 49"/>
              <p:cNvGrpSpPr/>
              <p:nvPr/>
            </p:nvGrpSpPr>
            <p:grpSpPr bwMode="auto">
              <a:xfrm>
                <a:off x="716" y="1152"/>
                <a:ext cx="598" cy="480"/>
                <a:chOff x="716" y="1152"/>
                <a:chExt cx="598" cy="480"/>
              </a:xfrm>
            </p:grpSpPr>
            <p:sp>
              <p:nvSpPr>
                <p:cNvPr id="116814" name="Rectangle 50"/>
                <p:cNvSpPr>
                  <a:spLocks noChangeArrowheads="1"/>
                </p:cNvSpPr>
                <p:nvPr/>
              </p:nvSpPr>
              <p:spPr bwMode="auto">
                <a:xfrm>
                  <a:off x="759" y="1152"/>
                  <a:ext cx="51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3 2 2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15" name="Rectangle 51"/>
                <p:cNvSpPr>
                  <a:spLocks noChangeArrowheads="1"/>
                </p:cNvSpPr>
                <p:nvPr/>
              </p:nvSpPr>
              <p:spPr bwMode="auto">
                <a:xfrm>
                  <a:off x="716" y="1152"/>
                  <a:ext cx="598" cy="48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0" name="Group 52"/>
              <p:cNvGrpSpPr/>
              <p:nvPr/>
            </p:nvGrpSpPr>
            <p:grpSpPr bwMode="auto">
              <a:xfrm>
                <a:off x="1314" y="1152"/>
                <a:ext cx="666" cy="480"/>
                <a:chOff x="1314" y="1152"/>
                <a:chExt cx="666" cy="480"/>
              </a:xfrm>
            </p:grpSpPr>
            <p:sp>
              <p:nvSpPr>
                <p:cNvPr id="116812" name="Rectangle 53"/>
                <p:cNvSpPr>
                  <a:spLocks noChangeArrowheads="1"/>
                </p:cNvSpPr>
                <p:nvPr/>
              </p:nvSpPr>
              <p:spPr bwMode="auto">
                <a:xfrm>
                  <a:off x="1357" y="1152"/>
                  <a:ext cx="58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13" name="Rectangle 54"/>
                <p:cNvSpPr>
                  <a:spLocks noChangeArrowheads="1"/>
                </p:cNvSpPr>
                <p:nvPr/>
              </p:nvSpPr>
              <p:spPr bwMode="auto">
                <a:xfrm>
                  <a:off x="1314" y="1152"/>
                  <a:ext cx="666" cy="48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1" name="Group 55"/>
              <p:cNvGrpSpPr/>
              <p:nvPr/>
            </p:nvGrpSpPr>
            <p:grpSpPr bwMode="auto">
              <a:xfrm>
                <a:off x="1980" y="1152"/>
                <a:ext cx="632" cy="480"/>
                <a:chOff x="1980" y="1152"/>
                <a:chExt cx="632" cy="480"/>
              </a:xfrm>
            </p:grpSpPr>
            <p:sp>
              <p:nvSpPr>
                <p:cNvPr id="116810" name="Rectangle 56"/>
                <p:cNvSpPr>
                  <a:spLocks noChangeArrowheads="1"/>
                </p:cNvSpPr>
                <p:nvPr/>
              </p:nvSpPr>
              <p:spPr bwMode="auto">
                <a:xfrm>
                  <a:off x="2023" y="1152"/>
                  <a:ext cx="54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0 2 0</a:t>
                  </a:r>
                  <a:endParaRPr lang="en-US" altLang="zh-CN" sz="2000" b="1">
                    <a:ea typeface="楷体_GB2312" pitchFamily="49" charset="-122"/>
                  </a:endParaRPr>
                </a:p>
              </p:txBody>
            </p:sp>
            <p:sp>
              <p:nvSpPr>
                <p:cNvPr id="116811" name="Rectangle 57"/>
                <p:cNvSpPr>
                  <a:spLocks noChangeArrowheads="1"/>
                </p:cNvSpPr>
                <p:nvPr/>
              </p:nvSpPr>
              <p:spPr bwMode="auto">
                <a:xfrm>
                  <a:off x="1980" y="1152"/>
                  <a:ext cx="632" cy="48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2" name="Group 58"/>
              <p:cNvGrpSpPr/>
              <p:nvPr/>
            </p:nvGrpSpPr>
            <p:grpSpPr bwMode="auto">
              <a:xfrm>
                <a:off x="2612" y="1152"/>
                <a:ext cx="632" cy="480"/>
                <a:chOff x="2612" y="1152"/>
                <a:chExt cx="632" cy="480"/>
              </a:xfrm>
            </p:grpSpPr>
            <p:sp>
              <p:nvSpPr>
                <p:cNvPr id="116808" name="Rectangle 59"/>
                <p:cNvSpPr>
                  <a:spLocks noChangeArrowheads="1"/>
                </p:cNvSpPr>
                <p:nvPr/>
              </p:nvSpPr>
              <p:spPr bwMode="auto">
                <a:xfrm>
                  <a:off x="2655" y="1152"/>
                  <a:ext cx="546"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09" name="Rectangle 60"/>
                <p:cNvSpPr>
                  <a:spLocks noChangeArrowheads="1"/>
                </p:cNvSpPr>
                <p:nvPr/>
              </p:nvSpPr>
              <p:spPr bwMode="auto">
                <a:xfrm>
                  <a:off x="2612" y="1152"/>
                  <a:ext cx="632" cy="480"/>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3" name="Group 61"/>
              <p:cNvGrpSpPr/>
              <p:nvPr/>
            </p:nvGrpSpPr>
            <p:grpSpPr bwMode="auto">
              <a:xfrm>
                <a:off x="0" y="1632"/>
                <a:ext cx="716" cy="422"/>
                <a:chOff x="0" y="1632"/>
                <a:chExt cx="716" cy="422"/>
              </a:xfrm>
            </p:grpSpPr>
            <p:sp>
              <p:nvSpPr>
                <p:cNvPr id="116806" name="Rectangle 62"/>
                <p:cNvSpPr>
                  <a:spLocks noChangeArrowheads="1"/>
                </p:cNvSpPr>
                <p:nvPr/>
              </p:nvSpPr>
              <p:spPr bwMode="auto">
                <a:xfrm>
                  <a:off x="43" y="1632"/>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07" name="Rectangle 63"/>
                <p:cNvSpPr>
                  <a:spLocks noChangeArrowheads="1"/>
                </p:cNvSpPr>
                <p:nvPr/>
              </p:nvSpPr>
              <p:spPr bwMode="auto">
                <a:xfrm>
                  <a:off x="0" y="1632"/>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4" name="Group 64"/>
              <p:cNvGrpSpPr/>
              <p:nvPr/>
            </p:nvGrpSpPr>
            <p:grpSpPr bwMode="auto">
              <a:xfrm>
                <a:off x="716" y="1632"/>
                <a:ext cx="598" cy="422"/>
                <a:chOff x="716" y="1632"/>
                <a:chExt cx="598" cy="422"/>
              </a:xfrm>
            </p:grpSpPr>
            <p:sp>
              <p:nvSpPr>
                <p:cNvPr id="116804" name="Rectangle 65"/>
                <p:cNvSpPr>
                  <a:spLocks noChangeArrowheads="1"/>
                </p:cNvSpPr>
                <p:nvPr/>
              </p:nvSpPr>
              <p:spPr bwMode="auto">
                <a:xfrm>
                  <a:off x="759" y="1632"/>
                  <a:ext cx="5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9 0 2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05" name="Rectangle 66"/>
                <p:cNvSpPr>
                  <a:spLocks noChangeArrowheads="1"/>
                </p:cNvSpPr>
                <p:nvPr/>
              </p:nvSpPr>
              <p:spPr bwMode="auto">
                <a:xfrm>
                  <a:off x="716" y="1632"/>
                  <a:ext cx="59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5" name="Group 67"/>
              <p:cNvGrpSpPr/>
              <p:nvPr/>
            </p:nvGrpSpPr>
            <p:grpSpPr bwMode="auto">
              <a:xfrm>
                <a:off x="1314" y="1632"/>
                <a:ext cx="666" cy="422"/>
                <a:chOff x="1314" y="1632"/>
                <a:chExt cx="666" cy="422"/>
              </a:xfrm>
            </p:grpSpPr>
            <p:sp>
              <p:nvSpPr>
                <p:cNvPr id="116802" name="Rectangle 68"/>
                <p:cNvSpPr>
                  <a:spLocks noChangeArrowheads="1"/>
                </p:cNvSpPr>
                <p:nvPr/>
              </p:nvSpPr>
              <p:spPr bwMode="auto">
                <a:xfrm>
                  <a:off x="1357" y="1632"/>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3 0 2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803" name="Rectangle 69"/>
                <p:cNvSpPr>
                  <a:spLocks noChangeArrowheads="1"/>
                </p:cNvSpPr>
                <p:nvPr/>
              </p:nvSpPr>
              <p:spPr bwMode="auto">
                <a:xfrm>
                  <a:off x="1314" y="1632"/>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6" name="Group 70"/>
              <p:cNvGrpSpPr/>
              <p:nvPr/>
            </p:nvGrpSpPr>
            <p:grpSpPr bwMode="auto">
              <a:xfrm>
                <a:off x="1980" y="1632"/>
                <a:ext cx="632" cy="422"/>
                <a:chOff x="1980" y="1632"/>
                <a:chExt cx="632" cy="422"/>
              </a:xfrm>
            </p:grpSpPr>
            <p:sp>
              <p:nvSpPr>
                <p:cNvPr id="116800" name="Rectangle 71"/>
                <p:cNvSpPr>
                  <a:spLocks noChangeArrowheads="1"/>
                </p:cNvSpPr>
                <p:nvPr/>
              </p:nvSpPr>
              <p:spPr bwMode="auto">
                <a:xfrm>
                  <a:off x="2023" y="1632"/>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en-US" altLang="zh-CN" sz="2000" b="1">
                      <a:ea typeface="楷体_GB2312" pitchFamily="49" charset="-122"/>
                    </a:rPr>
                    <a:t>6 0 0</a:t>
                  </a:r>
                  <a:endParaRPr lang="en-US" altLang="zh-CN" sz="2000" b="1">
                    <a:ea typeface="楷体_GB2312" pitchFamily="49" charset="-122"/>
                  </a:endParaRPr>
                </a:p>
              </p:txBody>
            </p:sp>
            <p:sp>
              <p:nvSpPr>
                <p:cNvPr id="116801" name="Rectangle 72"/>
                <p:cNvSpPr>
                  <a:spLocks noChangeArrowheads="1"/>
                </p:cNvSpPr>
                <p:nvPr/>
              </p:nvSpPr>
              <p:spPr bwMode="auto">
                <a:xfrm>
                  <a:off x="1980" y="1632"/>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7" name="Group 73"/>
              <p:cNvGrpSpPr/>
              <p:nvPr/>
            </p:nvGrpSpPr>
            <p:grpSpPr bwMode="auto">
              <a:xfrm>
                <a:off x="2612" y="1632"/>
                <a:ext cx="632" cy="422"/>
                <a:chOff x="2612" y="1632"/>
                <a:chExt cx="632" cy="422"/>
              </a:xfrm>
            </p:grpSpPr>
            <p:sp>
              <p:nvSpPr>
                <p:cNvPr id="116798" name="Rectangle 74"/>
                <p:cNvSpPr>
                  <a:spLocks noChangeArrowheads="1"/>
                </p:cNvSpPr>
                <p:nvPr/>
              </p:nvSpPr>
              <p:spPr bwMode="auto">
                <a:xfrm>
                  <a:off x="2655" y="1632"/>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latin typeface="Courier New" panose="02070309020205020404" pitchFamily="49" charset="0"/>
                      <a:ea typeface="楷体_GB2312" pitchFamily="49" charset="-122"/>
                    </a:rPr>
                    <a:t>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99" name="Rectangle 75"/>
                <p:cNvSpPr>
                  <a:spLocks noChangeArrowheads="1"/>
                </p:cNvSpPr>
                <p:nvPr/>
              </p:nvSpPr>
              <p:spPr bwMode="auto">
                <a:xfrm>
                  <a:off x="2612" y="1632"/>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8" name="Group 76"/>
              <p:cNvGrpSpPr/>
              <p:nvPr/>
            </p:nvGrpSpPr>
            <p:grpSpPr bwMode="auto">
              <a:xfrm>
                <a:off x="0" y="2054"/>
                <a:ext cx="716" cy="422"/>
                <a:chOff x="0" y="2054"/>
                <a:chExt cx="716" cy="422"/>
              </a:xfrm>
            </p:grpSpPr>
            <p:sp>
              <p:nvSpPr>
                <p:cNvPr id="116796" name="Rectangle 77"/>
                <p:cNvSpPr>
                  <a:spLocks noChangeArrowheads="1"/>
                </p:cNvSpPr>
                <p:nvPr/>
              </p:nvSpPr>
              <p:spPr bwMode="auto">
                <a:xfrm>
                  <a:off x="43" y="2054"/>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97" name="Rectangle 78"/>
                <p:cNvSpPr>
                  <a:spLocks noChangeArrowheads="1"/>
                </p:cNvSpPr>
                <p:nvPr/>
              </p:nvSpPr>
              <p:spPr bwMode="auto">
                <a:xfrm>
                  <a:off x="0" y="2054"/>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69" name="Group 79"/>
              <p:cNvGrpSpPr/>
              <p:nvPr/>
            </p:nvGrpSpPr>
            <p:grpSpPr bwMode="auto">
              <a:xfrm>
                <a:off x="716" y="2054"/>
                <a:ext cx="598" cy="422"/>
                <a:chOff x="716" y="2054"/>
                <a:chExt cx="598" cy="422"/>
              </a:xfrm>
            </p:grpSpPr>
            <p:sp>
              <p:nvSpPr>
                <p:cNvPr id="116794" name="Rectangle 80"/>
                <p:cNvSpPr>
                  <a:spLocks noChangeArrowheads="1"/>
                </p:cNvSpPr>
                <p:nvPr/>
              </p:nvSpPr>
              <p:spPr bwMode="auto">
                <a:xfrm>
                  <a:off x="759" y="2054"/>
                  <a:ext cx="5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2 2 2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95" name="Rectangle 81"/>
                <p:cNvSpPr>
                  <a:spLocks noChangeArrowheads="1"/>
                </p:cNvSpPr>
                <p:nvPr/>
              </p:nvSpPr>
              <p:spPr bwMode="auto">
                <a:xfrm>
                  <a:off x="716" y="2054"/>
                  <a:ext cx="59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0" name="Group 82"/>
              <p:cNvGrpSpPr/>
              <p:nvPr/>
            </p:nvGrpSpPr>
            <p:grpSpPr bwMode="auto">
              <a:xfrm>
                <a:off x="1314" y="2054"/>
                <a:ext cx="666" cy="422"/>
                <a:chOff x="1314" y="2054"/>
                <a:chExt cx="666" cy="422"/>
              </a:xfrm>
            </p:grpSpPr>
            <p:sp>
              <p:nvSpPr>
                <p:cNvPr id="116792" name="Rectangle 83"/>
                <p:cNvSpPr>
                  <a:spLocks noChangeArrowheads="1"/>
                </p:cNvSpPr>
                <p:nvPr/>
              </p:nvSpPr>
              <p:spPr bwMode="auto">
                <a:xfrm>
                  <a:off x="1357" y="2054"/>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2 1 1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93" name="Rectangle 84"/>
                <p:cNvSpPr>
                  <a:spLocks noChangeArrowheads="1"/>
                </p:cNvSpPr>
                <p:nvPr/>
              </p:nvSpPr>
              <p:spPr bwMode="auto">
                <a:xfrm>
                  <a:off x="1314" y="2054"/>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1" name="Group 85"/>
              <p:cNvGrpSpPr/>
              <p:nvPr/>
            </p:nvGrpSpPr>
            <p:grpSpPr bwMode="auto">
              <a:xfrm>
                <a:off x="1980" y="2054"/>
                <a:ext cx="632" cy="422"/>
                <a:chOff x="1980" y="2054"/>
                <a:chExt cx="632" cy="422"/>
              </a:xfrm>
            </p:grpSpPr>
            <p:sp>
              <p:nvSpPr>
                <p:cNvPr id="116790" name="Rectangle 86"/>
                <p:cNvSpPr>
                  <a:spLocks noChangeArrowheads="1"/>
                </p:cNvSpPr>
                <p:nvPr/>
              </p:nvSpPr>
              <p:spPr bwMode="auto">
                <a:xfrm>
                  <a:off x="2023" y="2054"/>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0 1 1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91" name="Rectangle 87"/>
                <p:cNvSpPr>
                  <a:spLocks noChangeArrowheads="1"/>
                </p:cNvSpPr>
                <p:nvPr/>
              </p:nvSpPr>
              <p:spPr bwMode="auto">
                <a:xfrm>
                  <a:off x="1980" y="2054"/>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2" name="Group 88"/>
              <p:cNvGrpSpPr/>
              <p:nvPr/>
            </p:nvGrpSpPr>
            <p:grpSpPr bwMode="auto">
              <a:xfrm>
                <a:off x="2612" y="2054"/>
                <a:ext cx="632" cy="422"/>
                <a:chOff x="2612" y="2054"/>
                <a:chExt cx="632" cy="422"/>
              </a:xfrm>
            </p:grpSpPr>
            <p:sp>
              <p:nvSpPr>
                <p:cNvPr id="116788" name="Rectangle 89"/>
                <p:cNvSpPr>
                  <a:spLocks noChangeArrowheads="1"/>
                </p:cNvSpPr>
                <p:nvPr/>
              </p:nvSpPr>
              <p:spPr bwMode="auto">
                <a:xfrm>
                  <a:off x="2655" y="2054"/>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latin typeface="Courier New" panose="02070309020205020404" pitchFamily="49" charset="0"/>
                      <a:ea typeface="楷体_GB2312" pitchFamily="49" charset="-122"/>
                    </a:rPr>
                    <a:t>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89" name="Rectangle 90"/>
                <p:cNvSpPr>
                  <a:spLocks noChangeArrowheads="1"/>
                </p:cNvSpPr>
                <p:nvPr/>
              </p:nvSpPr>
              <p:spPr bwMode="auto">
                <a:xfrm>
                  <a:off x="2612" y="2054"/>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3" name="Group 91"/>
              <p:cNvGrpSpPr/>
              <p:nvPr/>
            </p:nvGrpSpPr>
            <p:grpSpPr bwMode="auto">
              <a:xfrm>
                <a:off x="0" y="2476"/>
                <a:ext cx="716" cy="422"/>
                <a:chOff x="0" y="2476"/>
                <a:chExt cx="716" cy="422"/>
              </a:xfrm>
            </p:grpSpPr>
            <p:sp>
              <p:nvSpPr>
                <p:cNvPr id="116786" name="Rectangle 92"/>
                <p:cNvSpPr>
                  <a:spLocks noChangeArrowheads="1"/>
                </p:cNvSpPr>
                <p:nvPr/>
              </p:nvSpPr>
              <p:spPr bwMode="auto">
                <a:xfrm>
                  <a:off x="43" y="2476"/>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P4</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87" name="Rectangle 93"/>
                <p:cNvSpPr>
                  <a:spLocks noChangeArrowheads="1"/>
                </p:cNvSpPr>
                <p:nvPr/>
              </p:nvSpPr>
              <p:spPr bwMode="auto">
                <a:xfrm>
                  <a:off x="0" y="2476"/>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4" name="Group 94"/>
              <p:cNvGrpSpPr/>
              <p:nvPr/>
            </p:nvGrpSpPr>
            <p:grpSpPr bwMode="auto">
              <a:xfrm>
                <a:off x="716" y="2476"/>
                <a:ext cx="598" cy="422"/>
                <a:chOff x="716" y="2476"/>
                <a:chExt cx="598" cy="422"/>
              </a:xfrm>
            </p:grpSpPr>
            <p:sp>
              <p:nvSpPr>
                <p:cNvPr id="116784" name="Rectangle 95"/>
                <p:cNvSpPr>
                  <a:spLocks noChangeArrowheads="1"/>
                </p:cNvSpPr>
                <p:nvPr/>
              </p:nvSpPr>
              <p:spPr bwMode="auto">
                <a:xfrm>
                  <a:off x="759" y="2476"/>
                  <a:ext cx="512"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4 3 3</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85" name="Rectangle 96"/>
                <p:cNvSpPr>
                  <a:spLocks noChangeArrowheads="1"/>
                </p:cNvSpPr>
                <p:nvPr/>
              </p:nvSpPr>
              <p:spPr bwMode="auto">
                <a:xfrm>
                  <a:off x="716" y="2476"/>
                  <a:ext cx="598"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5" name="Group 97"/>
              <p:cNvGrpSpPr/>
              <p:nvPr/>
            </p:nvGrpSpPr>
            <p:grpSpPr bwMode="auto">
              <a:xfrm>
                <a:off x="1314" y="2476"/>
                <a:ext cx="666" cy="422"/>
                <a:chOff x="1314" y="2476"/>
                <a:chExt cx="666" cy="422"/>
              </a:xfrm>
            </p:grpSpPr>
            <p:sp>
              <p:nvSpPr>
                <p:cNvPr id="116782" name="Rectangle 98"/>
                <p:cNvSpPr>
                  <a:spLocks noChangeArrowheads="1"/>
                </p:cNvSpPr>
                <p:nvPr/>
              </p:nvSpPr>
              <p:spPr bwMode="auto">
                <a:xfrm>
                  <a:off x="1357" y="2476"/>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0 0 2</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83" name="Rectangle 99"/>
                <p:cNvSpPr>
                  <a:spLocks noChangeArrowheads="1"/>
                </p:cNvSpPr>
                <p:nvPr/>
              </p:nvSpPr>
              <p:spPr bwMode="auto">
                <a:xfrm>
                  <a:off x="1314" y="2476"/>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6" name="Group 100"/>
              <p:cNvGrpSpPr/>
              <p:nvPr/>
            </p:nvGrpSpPr>
            <p:grpSpPr bwMode="auto">
              <a:xfrm>
                <a:off x="1980" y="2476"/>
                <a:ext cx="632" cy="422"/>
                <a:chOff x="1980" y="2476"/>
                <a:chExt cx="632" cy="422"/>
              </a:xfrm>
            </p:grpSpPr>
            <p:sp>
              <p:nvSpPr>
                <p:cNvPr id="116780" name="Rectangle 101"/>
                <p:cNvSpPr>
                  <a:spLocks noChangeArrowheads="1"/>
                </p:cNvSpPr>
                <p:nvPr/>
              </p:nvSpPr>
              <p:spPr bwMode="auto">
                <a:xfrm>
                  <a:off x="2023" y="2476"/>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ea typeface="楷体_GB2312" pitchFamily="49" charset="-122"/>
                    </a:rPr>
                    <a:t>4 3 1</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81" name="Rectangle 102"/>
                <p:cNvSpPr>
                  <a:spLocks noChangeArrowheads="1"/>
                </p:cNvSpPr>
                <p:nvPr/>
              </p:nvSpPr>
              <p:spPr bwMode="auto">
                <a:xfrm>
                  <a:off x="1980" y="2476"/>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6777" name="Group 103"/>
              <p:cNvGrpSpPr/>
              <p:nvPr/>
            </p:nvGrpSpPr>
            <p:grpSpPr bwMode="auto">
              <a:xfrm>
                <a:off x="2612" y="2476"/>
                <a:ext cx="632" cy="422"/>
                <a:chOff x="2612" y="2476"/>
                <a:chExt cx="632" cy="422"/>
              </a:xfrm>
            </p:grpSpPr>
            <p:sp>
              <p:nvSpPr>
                <p:cNvPr id="116778" name="Rectangle 104"/>
                <p:cNvSpPr>
                  <a:spLocks noChangeArrowheads="1"/>
                </p:cNvSpPr>
                <p:nvPr/>
              </p:nvSpPr>
              <p:spPr bwMode="auto">
                <a:xfrm>
                  <a:off x="2655" y="2476"/>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000" b="1">
                      <a:latin typeface="Courier New" panose="02070309020205020404" pitchFamily="49" charset="0"/>
                      <a:ea typeface="楷体_GB2312" pitchFamily="49" charset="-122"/>
                    </a:rPr>
                    <a:t> </a:t>
                  </a:r>
                  <a:endParaRPr lang="en-US" altLang="zh-CN" sz="2000" b="1">
                    <a:ea typeface="楷体_GB2312" pitchFamily="49" charset="-122"/>
                  </a:endParaRPr>
                </a:p>
                <a:p>
                  <a:pPr algn="just">
                    <a:spcBef>
                      <a:spcPct val="0"/>
                    </a:spcBef>
                    <a:buClrTx/>
                    <a:buFontTx/>
                    <a:buNone/>
                  </a:pPr>
                  <a:endParaRPr lang="en-US" altLang="zh-CN" sz="2000" b="1">
                    <a:ea typeface="楷体_GB2312" pitchFamily="49" charset="-122"/>
                  </a:endParaRPr>
                </a:p>
              </p:txBody>
            </p:sp>
            <p:sp>
              <p:nvSpPr>
                <p:cNvPr id="116779" name="Rectangle 105"/>
                <p:cNvSpPr>
                  <a:spLocks noChangeArrowheads="1"/>
                </p:cNvSpPr>
                <p:nvPr/>
              </p:nvSpPr>
              <p:spPr bwMode="auto">
                <a:xfrm>
                  <a:off x="2612" y="2476"/>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sp>
          <p:nvSpPr>
            <p:cNvPr id="116743" name="Rectangle 106"/>
            <p:cNvSpPr>
              <a:spLocks noChangeArrowheads="1"/>
            </p:cNvSpPr>
            <p:nvPr/>
          </p:nvSpPr>
          <p:spPr bwMode="auto">
            <a:xfrm>
              <a:off x="-3" y="-3"/>
              <a:ext cx="3250" cy="2904"/>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cxnSp>
        <p:nvCxnSpPr>
          <p:cNvPr id="3" name="直接连接符 2"/>
          <p:cNvCxnSpPr/>
          <p:nvPr/>
        </p:nvCxnSpPr>
        <p:spPr>
          <a:xfrm>
            <a:off x="8469314" y="2819400"/>
            <a:ext cx="827087"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5486400" y="3581400"/>
            <a:ext cx="82708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7016750" y="3541713"/>
            <a:ext cx="827088"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2674939" y="617538"/>
            <a:ext cx="7793037" cy="609600"/>
          </a:xfrm>
        </p:spPr>
        <p:txBody>
          <a:bodyPr/>
          <a:lstStyle/>
          <a:p>
            <a:pPr eaLnBrk="1" hangingPunct="1">
              <a:defRPr/>
            </a:pPr>
            <a:r>
              <a:rPr lang="zh-CN" altLang="en-US" dirty="0"/>
              <a:t>图</a:t>
            </a:r>
            <a:r>
              <a:rPr lang="en-US" altLang="zh-CN" dirty="0"/>
              <a:t>3</a:t>
            </a:r>
            <a:r>
              <a:rPr lang="zh-CN" altLang="en-US" dirty="0"/>
              <a:t>一</a:t>
            </a:r>
            <a:r>
              <a:rPr lang="en-US" altLang="zh-CN" dirty="0"/>
              <a:t>18  </a:t>
            </a:r>
            <a:r>
              <a:rPr lang="en-US" altLang="zh-CN" dirty="0" err="1"/>
              <a:t>P1</a:t>
            </a:r>
            <a:r>
              <a:rPr lang="en-US" altLang="zh-CN" dirty="0"/>
              <a:t> </a:t>
            </a:r>
            <a:r>
              <a:rPr lang="zh-CN" altLang="en-US" dirty="0"/>
              <a:t>申请资源时的安全性检查 </a:t>
            </a:r>
            <a:endParaRPr lang="zh-CN" altLang="en-US" dirty="0"/>
          </a:p>
        </p:txBody>
      </p:sp>
      <p:grpSp>
        <p:nvGrpSpPr>
          <p:cNvPr id="117763" name="Group 3"/>
          <p:cNvGrpSpPr/>
          <p:nvPr/>
        </p:nvGrpSpPr>
        <p:grpSpPr bwMode="auto">
          <a:xfrm>
            <a:off x="1054249" y="1443038"/>
            <a:ext cx="10090673" cy="4576762"/>
            <a:chOff x="-3" y="-3"/>
            <a:chExt cx="3797" cy="2502"/>
          </a:xfrm>
        </p:grpSpPr>
        <p:grpSp>
          <p:nvGrpSpPr>
            <p:cNvPr id="117764" name="Group 4"/>
            <p:cNvGrpSpPr/>
            <p:nvPr/>
          </p:nvGrpSpPr>
          <p:grpSpPr bwMode="auto">
            <a:xfrm>
              <a:off x="-3" y="0"/>
              <a:ext cx="3794" cy="2496"/>
              <a:chOff x="-3" y="0"/>
              <a:chExt cx="3794" cy="2496"/>
            </a:xfrm>
          </p:grpSpPr>
          <p:grpSp>
            <p:nvGrpSpPr>
              <p:cNvPr id="117766" name="Group 5"/>
              <p:cNvGrpSpPr/>
              <p:nvPr/>
            </p:nvGrpSpPr>
            <p:grpSpPr bwMode="auto">
              <a:xfrm>
                <a:off x="-3" y="0"/>
                <a:ext cx="682" cy="576"/>
                <a:chOff x="-3" y="0"/>
                <a:chExt cx="682" cy="576"/>
              </a:xfrm>
            </p:grpSpPr>
            <p:sp>
              <p:nvSpPr>
                <p:cNvPr id="117872" name="Rectangle 6"/>
                <p:cNvSpPr>
                  <a:spLocks noChangeArrowheads="1"/>
                </p:cNvSpPr>
                <p:nvPr/>
              </p:nvSpPr>
              <p:spPr bwMode="auto">
                <a:xfrm>
                  <a:off x="-3" y="0"/>
                  <a:ext cx="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a:ea typeface="楷体_GB2312" pitchFamily="49" charset="-122"/>
                    </a:rPr>
                    <a:t>资源情况</a:t>
                  </a:r>
                  <a:endParaRPr lang="zh-CN" altLang="en-US" sz="2400">
                    <a:ea typeface="楷体_GB2312" pitchFamily="49" charset="-122"/>
                  </a:endParaRPr>
                </a:p>
                <a:p>
                  <a:pPr algn="just">
                    <a:spcBef>
                      <a:spcPct val="0"/>
                    </a:spcBef>
                    <a:buClrTx/>
                    <a:buFontTx/>
                    <a:buNone/>
                  </a:pPr>
                  <a:r>
                    <a:rPr lang="zh-CN" altLang="en-US" sz="2400">
                      <a:ea typeface="楷体_GB2312" pitchFamily="49" charset="-122"/>
                    </a:rPr>
                    <a:t>进程</a:t>
                  </a:r>
                  <a:endParaRPr lang="zh-CN" altLang="en-US"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73" name="Rectangle 7"/>
                <p:cNvSpPr>
                  <a:spLocks noChangeArrowheads="1"/>
                </p:cNvSpPr>
                <p:nvPr/>
              </p:nvSpPr>
              <p:spPr bwMode="auto">
                <a:xfrm>
                  <a:off x="0" y="0"/>
                  <a:ext cx="674"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67" name="Group 8"/>
              <p:cNvGrpSpPr/>
              <p:nvPr/>
            </p:nvGrpSpPr>
            <p:grpSpPr bwMode="auto">
              <a:xfrm>
                <a:off x="674" y="0"/>
                <a:ext cx="524" cy="576"/>
                <a:chOff x="674" y="0"/>
                <a:chExt cx="524" cy="576"/>
              </a:xfrm>
            </p:grpSpPr>
            <p:sp>
              <p:nvSpPr>
                <p:cNvPr id="117870" name="Rectangle 9"/>
                <p:cNvSpPr>
                  <a:spLocks noChangeArrowheads="1"/>
                </p:cNvSpPr>
                <p:nvPr/>
              </p:nvSpPr>
              <p:spPr bwMode="auto">
                <a:xfrm>
                  <a:off x="717" y="0"/>
                  <a:ext cx="48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Work</a:t>
                  </a:r>
                  <a:endParaRPr lang="en-US" altLang="zh-CN" sz="2400">
                    <a:ea typeface="楷体_GB2312" pitchFamily="49" charset="-122"/>
                  </a:endParaRPr>
                </a:p>
                <a:p>
                  <a:pPr algn="just">
                    <a:spcBef>
                      <a:spcPct val="0"/>
                    </a:spcBef>
                    <a:buClrTx/>
                    <a:buFontTx/>
                    <a:buNone/>
                  </a:pPr>
                  <a:r>
                    <a:rPr lang="en-US" altLang="zh-CN" sz="2400">
                      <a:ea typeface="楷体_GB2312" pitchFamily="49" charset="-122"/>
                    </a:rPr>
                    <a:t>A B C</a:t>
                  </a:r>
                  <a:endParaRPr lang="en-US" altLang="zh-CN" sz="2400">
                    <a:ea typeface="楷体_GB2312" pitchFamily="49" charset="-122"/>
                  </a:endParaRPr>
                </a:p>
              </p:txBody>
            </p:sp>
            <p:sp>
              <p:nvSpPr>
                <p:cNvPr id="117871" name="Rectangle 10"/>
                <p:cNvSpPr>
                  <a:spLocks noChangeArrowheads="1"/>
                </p:cNvSpPr>
                <p:nvPr/>
              </p:nvSpPr>
              <p:spPr bwMode="auto">
                <a:xfrm>
                  <a:off x="674" y="0"/>
                  <a:ext cx="506"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68" name="Group 11"/>
              <p:cNvGrpSpPr/>
              <p:nvPr/>
            </p:nvGrpSpPr>
            <p:grpSpPr bwMode="auto">
              <a:xfrm>
                <a:off x="1180" y="0"/>
                <a:ext cx="590" cy="576"/>
                <a:chOff x="1180" y="0"/>
                <a:chExt cx="590" cy="576"/>
              </a:xfrm>
            </p:grpSpPr>
            <p:sp>
              <p:nvSpPr>
                <p:cNvPr id="117868" name="Rectangle 12"/>
                <p:cNvSpPr>
                  <a:spLocks noChangeArrowheads="1"/>
                </p:cNvSpPr>
                <p:nvPr/>
              </p:nvSpPr>
              <p:spPr bwMode="auto">
                <a:xfrm>
                  <a:off x="1198" y="0"/>
                  <a:ext cx="55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Need</a:t>
                  </a:r>
                  <a:endParaRPr lang="en-US" altLang="zh-CN" sz="2400">
                    <a:ea typeface="楷体_GB2312" pitchFamily="49" charset="-122"/>
                  </a:endParaRPr>
                </a:p>
                <a:p>
                  <a:pPr algn="just">
                    <a:spcBef>
                      <a:spcPct val="0"/>
                    </a:spcBef>
                    <a:buClrTx/>
                    <a:buFontTx/>
                    <a:buNone/>
                  </a:pPr>
                  <a:r>
                    <a:rPr lang="en-US" altLang="zh-CN" sz="2400">
                      <a:ea typeface="楷体_GB2312" pitchFamily="49" charset="-122"/>
                    </a:rPr>
                    <a:t>A B C</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69" name="Rectangle 13"/>
                <p:cNvSpPr>
                  <a:spLocks noChangeArrowheads="1"/>
                </p:cNvSpPr>
                <p:nvPr/>
              </p:nvSpPr>
              <p:spPr bwMode="auto">
                <a:xfrm>
                  <a:off x="1180" y="0"/>
                  <a:ext cx="590"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69" name="Group 14"/>
              <p:cNvGrpSpPr/>
              <p:nvPr/>
            </p:nvGrpSpPr>
            <p:grpSpPr bwMode="auto">
              <a:xfrm>
                <a:off x="1770" y="0"/>
                <a:ext cx="660" cy="576"/>
                <a:chOff x="1770" y="0"/>
                <a:chExt cx="660" cy="576"/>
              </a:xfrm>
            </p:grpSpPr>
            <p:sp>
              <p:nvSpPr>
                <p:cNvPr id="117866" name="Rectangle 15"/>
                <p:cNvSpPr>
                  <a:spLocks noChangeArrowheads="1"/>
                </p:cNvSpPr>
                <p:nvPr/>
              </p:nvSpPr>
              <p:spPr bwMode="auto">
                <a:xfrm>
                  <a:off x="1813" y="0"/>
                  <a:ext cx="57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dirty="0">
                      <a:ea typeface="楷体_GB2312" pitchFamily="49" charset="-122"/>
                    </a:rPr>
                    <a:t>Allocation</a:t>
                  </a:r>
                  <a:endParaRPr lang="en-US" altLang="zh-CN" sz="1600" dirty="0">
                    <a:ea typeface="楷体_GB2312" pitchFamily="49" charset="-122"/>
                  </a:endParaRPr>
                </a:p>
                <a:p>
                  <a:pPr algn="just">
                    <a:spcBef>
                      <a:spcPct val="0"/>
                    </a:spcBef>
                    <a:buClrTx/>
                    <a:buFontTx/>
                    <a:buNone/>
                  </a:pPr>
                  <a:r>
                    <a:rPr lang="en-US" altLang="zh-CN" sz="2400" dirty="0">
                      <a:ea typeface="楷体_GB2312" pitchFamily="49" charset="-122"/>
                    </a:rPr>
                    <a:t>A B C</a:t>
                  </a:r>
                  <a:endParaRPr lang="en-US" altLang="zh-CN" sz="2400" dirty="0">
                    <a:ea typeface="楷体_GB2312" pitchFamily="49" charset="-122"/>
                  </a:endParaRPr>
                </a:p>
              </p:txBody>
            </p:sp>
            <p:sp>
              <p:nvSpPr>
                <p:cNvPr id="117867" name="Rectangle 16"/>
                <p:cNvSpPr>
                  <a:spLocks noChangeArrowheads="1"/>
                </p:cNvSpPr>
                <p:nvPr/>
              </p:nvSpPr>
              <p:spPr bwMode="auto">
                <a:xfrm>
                  <a:off x="1770" y="0"/>
                  <a:ext cx="660"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0" name="Group 17"/>
              <p:cNvGrpSpPr/>
              <p:nvPr/>
            </p:nvGrpSpPr>
            <p:grpSpPr bwMode="auto">
              <a:xfrm>
                <a:off x="2430" y="0"/>
                <a:ext cx="802" cy="576"/>
                <a:chOff x="2430" y="0"/>
                <a:chExt cx="802" cy="576"/>
              </a:xfrm>
            </p:grpSpPr>
            <p:sp>
              <p:nvSpPr>
                <p:cNvPr id="117864" name="Rectangle 18"/>
                <p:cNvSpPr>
                  <a:spLocks noChangeArrowheads="1"/>
                </p:cNvSpPr>
                <p:nvPr/>
              </p:nvSpPr>
              <p:spPr bwMode="auto">
                <a:xfrm>
                  <a:off x="2431" y="0"/>
                  <a:ext cx="758"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Work+</a:t>
                  </a:r>
                  <a:endParaRPr lang="en-US" altLang="zh-CN" sz="2400">
                    <a:ea typeface="楷体_GB2312" pitchFamily="49" charset="-122"/>
                  </a:endParaRPr>
                </a:p>
                <a:p>
                  <a:pPr algn="just" eaLnBrk="1" hangingPunct="1">
                    <a:spcBef>
                      <a:spcPct val="0"/>
                    </a:spcBef>
                    <a:buClrTx/>
                    <a:buFontTx/>
                    <a:buNone/>
                  </a:pPr>
                  <a:r>
                    <a:rPr lang="en-US" altLang="zh-CN" sz="2400">
                      <a:ea typeface="楷体_GB2312" pitchFamily="49" charset="-122"/>
                    </a:rPr>
                    <a:t>Allocation</a:t>
                  </a:r>
                  <a:endParaRPr lang="en-US" altLang="zh-CN" sz="2400">
                    <a:ea typeface="楷体_GB2312" pitchFamily="49" charset="-122"/>
                  </a:endParaRPr>
                </a:p>
                <a:p>
                  <a:pPr algn="just">
                    <a:spcBef>
                      <a:spcPct val="0"/>
                    </a:spcBef>
                    <a:buClrTx/>
                    <a:buFontTx/>
                    <a:buNone/>
                  </a:pPr>
                  <a:r>
                    <a:rPr lang="en-US" altLang="zh-CN" sz="2400">
                      <a:ea typeface="楷体_GB2312" pitchFamily="49" charset="-122"/>
                    </a:rPr>
                    <a:t>A   B    C</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65" name="Rectangle 19"/>
                <p:cNvSpPr>
                  <a:spLocks noChangeArrowheads="1"/>
                </p:cNvSpPr>
                <p:nvPr/>
              </p:nvSpPr>
              <p:spPr bwMode="auto">
                <a:xfrm>
                  <a:off x="2430" y="0"/>
                  <a:ext cx="802"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1" name="Group 20"/>
              <p:cNvGrpSpPr/>
              <p:nvPr/>
            </p:nvGrpSpPr>
            <p:grpSpPr bwMode="auto">
              <a:xfrm>
                <a:off x="3232" y="0"/>
                <a:ext cx="559" cy="576"/>
                <a:chOff x="3232" y="0"/>
                <a:chExt cx="559" cy="576"/>
              </a:xfrm>
            </p:grpSpPr>
            <p:sp>
              <p:nvSpPr>
                <p:cNvPr id="117862" name="Rectangle 21"/>
                <p:cNvSpPr>
                  <a:spLocks noChangeArrowheads="1"/>
                </p:cNvSpPr>
                <p:nvPr/>
              </p:nvSpPr>
              <p:spPr bwMode="auto">
                <a:xfrm>
                  <a:off x="3275" y="0"/>
                  <a:ext cx="473"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Finish</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63" name="Rectangle 22"/>
                <p:cNvSpPr>
                  <a:spLocks noChangeArrowheads="1"/>
                </p:cNvSpPr>
                <p:nvPr/>
              </p:nvSpPr>
              <p:spPr bwMode="auto">
                <a:xfrm>
                  <a:off x="3232" y="0"/>
                  <a:ext cx="559" cy="57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2" name="Group 23"/>
              <p:cNvGrpSpPr/>
              <p:nvPr/>
            </p:nvGrpSpPr>
            <p:grpSpPr bwMode="auto">
              <a:xfrm>
                <a:off x="0" y="576"/>
                <a:ext cx="674" cy="384"/>
                <a:chOff x="0" y="576"/>
                <a:chExt cx="674" cy="384"/>
              </a:xfrm>
            </p:grpSpPr>
            <p:sp>
              <p:nvSpPr>
                <p:cNvPr id="117860" name="Rectangle 24"/>
                <p:cNvSpPr>
                  <a:spLocks noChangeArrowheads="1"/>
                </p:cNvSpPr>
                <p:nvPr/>
              </p:nvSpPr>
              <p:spPr bwMode="auto">
                <a:xfrm>
                  <a:off x="43" y="576"/>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61" name="Rectangle 25"/>
                <p:cNvSpPr>
                  <a:spLocks noChangeArrowheads="1"/>
                </p:cNvSpPr>
                <p:nvPr/>
              </p:nvSpPr>
              <p:spPr bwMode="auto">
                <a:xfrm>
                  <a:off x="0" y="576"/>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3" name="Group 26"/>
              <p:cNvGrpSpPr/>
              <p:nvPr/>
            </p:nvGrpSpPr>
            <p:grpSpPr bwMode="auto">
              <a:xfrm>
                <a:off x="674" y="576"/>
                <a:ext cx="506" cy="384"/>
                <a:chOff x="674" y="576"/>
                <a:chExt cx="506" cy="384"/>
              </a:xfrm>
            </p:grpSpPr>
            <p:sp>
              <p:nvSpPr>
                <p:cNvPr id="117858" name="Rectangle 27"/>
                <p:cNvSpPr>
                  <a:spLocks noChangeArrowheads="1"/>
                </p:cNvSpPr>
                <p:nvPr/>
              </p:nvSpPr>
              <p:spPr bwMode="auto">
                <a:xfrm>
                  <a:off x="717" y="576"/>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2  3 0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59" name="Rectangle 28"/>
                <p:cNvSpPr>
                  <a:spLocks noChangeArrowheads="1"/>
                </p:cNvSpPr>
                <p:nvPr/>
              </p:nvSpPr>
              <p:spPr bwMode="auto">
                <a:xfrm>
                  <a:off x="674" y="576"/>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4" name="Group 29"/>
              <p:cNvGrpSpPr/>
              <p:nvPr/>
            </p:nvGrpSpPr>
            <p:grpSpPr bwMode="auto">
              <a:xfrm>
                <a:off x="1180" y="576"/>
                <a:ext cx="590" cy="384"/>
                <a:chOff x="1180" y="576"/>
                <a:chExt cx="590" cy="384"/>
              </a:xfrm>
            </p:grpSpPr>
            <p:sp>
              <p:nvSpPr>
                <p:cNvPr id="117856" name="Rectangle 30"/>
                <p:cNvSpPr>
                  <a:spLocks noChangeArrowheads="1"/>
                </p:cNvSpPr>
                <p:nvPr/>
              </p:nvSpPr>
              <p:spPr bwMode="auto">
                <a:xfrm>
                  <a:off x="1223" y="576"/>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0 2 0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57" name="Rectangle 31"/>
                <p:cNvSpPr>
                  <a:spLocks noChangeArrowheads="1"/>
                </p:cNvSpPr>
                <p:nvPr/>
              </p:nvSpPr>
              <p:spPr bwMode="auto">
                <a:xfrm>
                  <a:off x="1180" y="576"/>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5" name="Group 32"/>
              <p:cNvGrpSpPr/>
              <p:nvPr/>
            </p:nvGrpSpPr>
            <p:grpSpPr bwMode="auto">
              <a:xfrm>
                <a:off x="1770" y="576"/>
                <a:ext cx="660" cy="384"/>
                <a:chOff x="1770" y="576"/>
                <a:chExt cx="660" cy="384"/>
              </a:xfrm>
            </p:grpSpPr>
            <p:sp>
              <p:nvSpPr>
                <p:cNvPr id="117854" name="Rectangle 33"/>
                <p:cNvSpPr>
                  <a:spLocks noChangeArrowheads="1"/>
                </p:cNvSpPr>
                <p:nvPr/>
              </p:nvSpPr>
              <p:spPr bwMode="auto">
                <a:xfrm>
                  <a:off x="1813" y="576"/>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3 0 2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55" name="Rectangle 34"/>
                <p:cNvSpPr>
                  <a:spLocks noChangeArrowheads="1"/>
                </p:cNvSpPr>
                <p:nvPr/>
              </p:nvSpPr>
              <p:spPr bwMode="auto">
                <a:xfrm>
                  <a:off x="1770" y="576"/>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6" name="Group 35"/>
              <p:cNvGrpSpPr/>
              <p:nvPr/>
            </p:nvGrpSpPr>
            <p:grpSpPr bwMode="auto">
              <a:xfrm>
                <a:off x="2430" y="576"/>
                <a:ext cx="802" cy="384"/>
                <a:chOff x="2430" y="576"/>
                <a:chExt cx="802" cy="384"/>
              </a:xfrm>
            </p:grpSpPr>
            <p:sp>
              <p:nvSpPr>
                <p:cNvPr id="117852" name="Rectangle 36"/>
                <p:cNvSpPr>
                  <a:spLocks noChangeArrowheads="1"/>
                </p:cNvSpPr>
                <p:nvPr/>
              </p:nvSpPr>
              <p:spPr bwMode="auto">
                <a:xfrm>
                  <a:off x="2473" y="576"/>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dirty="0">
                      <a:ea typeface="楷体_GB2312" pitchFamily="49" charset="-122"/>
                    </a:rPr>
                    <a:t>5 3 2 </a:t>
                  </a:r>
                  <a:endParaRPr lang="en-US" altLang="zh-CN" sz="2400" dirty="0">
                    <a:ea typeface="楷体_GB2312" pitchFamily="49" charset="-122"/>
                  </a:endParaRPr>
                </a:p>
                <a:p>
                  <a:pPr algn="just">
                    <a:spcBef>
                      <a:spcPct val="0"/>
                    </a:spcBef>
                    <a:buClrTx/>
                    <a:buFontTx/>
                    <a:buNone/>
                  </a:pPr>
                  <a:endParaRPr lang="en-US" altLang="zh-CN" sz="2400" dirty="0">
                    <a:ea typeface="楷体_GB2312" pitchFamily="49" charset="-122"/>
                  </a:endParaRPr>
                </a:p>
              </p:txBody>
            </p:sp>
            <p:sp>
              <p:nvSpPr>
                <p:cNvPr id="117853" name="Rectangle 37"/>
                <p:cNvSpPr>
                  <a:spLocks noChangeArrowheads="1"/>
                </p:cNvSpPr>
                <p:nvPr/>
              </p:nvSpPr>
              <p:spPr bwMode="auto">
                <a:xfrm>
                  <a:off x="2430" y="576"/>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7" name="Group 38"/>
              <p:cNvGrpSpPr/>
              <p:nvPr/>
            </p:nvGrpSpPr>
            <p:grpSpPr bwMode="auto">
              <a:xfrm>
                <a:off x="3232" y="576"/>
                <a:ext cx="559" cy="384"/>
                <a:chOff x="3232" y="576"/>
                <a:chExt cx="559" cy="384"/>
              </a:xfrm>
            </p:grpSpPr>
            <p:sp>
              <p:nvSpPr>
                <p:cNvPr id="117850" name="Rectangle 39"/>
                <p:cNvSpPr>
                  <a:spLocks noChangeArrowheads="1"/>
                </p:cNvSpPr>
                <p:nvPr/>
              </p:nvSpPr>
              <p:spPr bwMode="auto">
                <a:xfrm>
                  <a:off x="3275" y="576"/>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TRUE</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51" name="Rectangle 40"/>
                <p:cNvSpPr>
                  <a:spLocks noChangeArrowheads="1"/>
                </p:cNvSpPr>
                <p:nvPr/>
              </p:nvSpPr>
              <p:spPr bwMode="auto">
                <a:xfrm>
                  <a:off x="3232" y="576"/>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8" name="Group 41"/>
              <p:cNvGrpSpPr/>
              <p:nvPr/>
            </p:nvGrpSpPr>
            <p:grpSpPr bwMode="auto">
              <a:xfrm>
                <a:off x="0" y="960"/>
                <a:ext cx="674" cy="384"/>
                <a:chOff x="0" y="960"/>
                <a:chExt cx="674" cy="384"/>
              </a:xfrm>
            </p:grpSpPr>
            <p:sp>
              <p:nvSpPr>
                <p:cNvPr id="117848" name="Rectangle 42"/>
                <p:cNvSpPr>
                  <a:spLocks noChangeArrowheads="1"/>
                </p:cNvSpPr>
                <p:nvPr/>
              </p:nvSpPr>
              <p:spPr bwMode="auto">
                <a:xfrm>
                  <a:off x="43" y="960"/>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P3</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49" name="Rectangle 43"/>
                <p:cNvSpPr>
                  <a:spLocks noChangeArrowheads="1"/>
                </p:cNvSpPr>
                <p:nvPr/>
              </p:nvSpPr>
              <p:spPr bwMode="auto">
                <a:xfrm>
                  <a:off x="0" y="960"/>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79" name="Group 44"/>
              <p:cNvGrpSpPr/>
              <p:nvPr/>
            </p:nvGrpSpPr>
            <p:grpSpPr bwMode="auto">
              <a:xfrm>
                <a:off x="674" y="960"/>
                <a:ext cx="506" cy="384"/>
                <a:chOff x="674" y="960"/>
                <a:chExt cx="506" cy="384"/>
              </a:xfrm>
            </p:grpSpPr>
            <p:sp>
              <p:nvSpPr>
                <p:cNvPr id="117846" name="Rectangle 45"/>
                <p:cNvSpPr>
                  <a:spLocks noChangeArrowheads="1"/>
                </p:cNvSpPr>
                <p:nvPr/>
              </p:nvSpPr>
              <p:spPr bwMode="auto">
                <a:xfrm>
                  <a:off x="717" y="960"/>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5  3 2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47" name="Rectangle 46"/>
                <p:cNvSpPr>
                  <a:spLocks noChangeArrowheads="1"/>
                </p:cNvSpPr>
                <p:nvPr/>
              </p:nvSpPr>
              <p:spPr bwMode="auto">
                <a:xfrm>
                  <a:off x="674" y="960"/>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0" name="Group 47"/>
              <p:cNvGrpSpPr/>
              <p:nvPr/>
            </p:nvGrpSpPr>
            <p:grpSpPr bwMode="auto">
              <a:xfrm>
                <a:off x="1180" y="960"/>
                <a:ext cx="590" cy="384"/>
                <a:chOff x="1180" y="960"/>
                <a:chExt cx="590" cy="384"/>
              </a:xfrm>
            </p:grpSpPr>
            <p:sp>
              <p:nvSpPr>
                <p:cNvPr id="117844" name="Rectangle 48"/>
                <p:cNvSpPr>
                  <a:spLocks noChangeArrowheads="1"/>
                </p:cNvSpPr>
                <p:nvPr/>
              </p:nvSpPr>
              <p:spPr bwMode="auto">
                <a:xfrm>
                  <a:off x="1223" y="960"/>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0 1 1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45" name="Rectangle 49"/>
                <p:cNvSpPr>
                  <a:spLocks noChangeArrowheads="1"/>
                </p:cNvSpPr>
                <p:nvPr/>
              </p:nvSpPr>
              <p:spPr bwMode="auto">
                <a:xfrm>
                  <a:off x="1180" y="960"/>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1" name="Group 50"/>
              <p:cNvGrpSpPr/>
              <p:nvPr/>
            </p:nvGrpSpPr>
            <p:grpSpPr bwMode="auto">
              <a:xfrm>
                <a:off x="1770" y="960"/>
                <a:ext cx="660" cy="384"/>
                <a:chOff x="1770" y="960"/>
                <a:chExt cx="660" cy="384"/>
              </a:xfrm>
            </p:grpSpPr>
            <p:sp>
              <p:nvSpPr>
                <p:cNvPr id="117842" name="Rectangle 51"/>
                <p:cNvSpPr>
                  <a:spLocks noChangeArrowheads="1"/>
                </p:cNvSpPr>
                <p:nvPr/>
              </p:nvSpPr>
              <p:spPr bwMode="auto">
                <a:xfrm>
                  <a:off x="1813" y="960"/>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2 1 1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43" name="Rectangle 52"/>
                <p:cNvSpPr>
                  <a:spLocks noChangeArrowheads="1"/>
                </p:cNvSpPr>
                <p:nvPr/>
              </p:nvSpPr>
              <p:spPr bwMode="auto">
                <a:xfrm>
                  <a:off x="1770" y="960"/>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2" name="Group 53"/>
              <p:cNvGrpSpPr/>
              <p:nvPr/>
            </p:nvGrpSpPr>
            <p:grpSpPr bwMode="auto">
              <a:xfrm>
                <a:off x="2430" y="960"/>
                <a:ext cx="802" cy="384"/>
                <a:chOff x="2430" y="960"/>
                <a:chExt cx="802" cy="384"/>
              </a:xfrm>
            </p:grpSpPr>
            <p:sp>
              <p:nvSpPr>
                <p:cNvPr id="117840" name="Rectangle 54"/>
                <p:cNvSpPr>
                  <a:spLocks noChangeArrowheads="1"/>
                </p:cNvSpPr>
                <p:nvPr/>
              </p:nvSpPr>
              <p:spPr bwMode="auto">
                <a:xfrm>
                  <a:off x="2473" y="960"/>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7 4 3 </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41" name="Rectangle 55"/>
                <p:cNvSpPr>
                  <a:spLocks noChangeArrowheads="1"/>
                </p:cNvSpPr>
                <p:nvPr/>
              </p:nvSpPr>
              <p:spPr bwMode="auto">
                <a:xfrm>
                  <a:off x="2430" y="960"/>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3" name="Group 56"/>
              <p:cNvGrpSpPr/>
              <p:nvPr/>
            </p:nvGrpSpPr>
            <p:grpSpPr bwMode="auto">
              <a:xfrm>
                <a:off x="3232" y="960"/>
                <a:ext cx="559" cy="384"/>
                <a:chOff x="3232" y="960"/>
                <a:chExt cx="559" cy="384"/>
              </a:xfrm>
            </p:grpSpPr>
            <p:sp>
              <p:nvSpPr>
                <p:cNvPr id="117838" name="Rectangle 57"/>
                <p:cNvSpPr>
                  <a:spLocks noChangeArrowheads="1"/>
                </p:cNvSpPr>
                <p:nvPr/>
              </p:nvSpPr>
              <p:spPr bwMode="auto">
                <a:xfrm>
                  <a:off x="3275" y="960"/>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TRUE</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39" name="Rectangle 58"/>
                <p:cNvSpPr>
                  <a:spLocks noChangeArrowheads="1"/>
                </p:cNvSpPr>
                <p:nvPr/>
              </p:nvSpPr>
              <p:spPr bwMode="auto">
                <a:xfrm>
                  <a:off x="3232" y="960"/>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4" name="Group 59"/>
              <p:cNvGrpSpPr/>
              <p:nvPr/>
            </p:nvGrpSpPr>
            <p:grpSpPr bwMode="auto">
              <a:xfrm>
                <a:off x="0" y="1344"/>
                <a:ext cx="674" cy="384"/>
                <a:chOff x="0" y="1344"/>
                <a:chExt cx="674" cy="384"/>
              </a:xfrm>
            </p:grpSpPr>
            <p:sp>
              <p:nvSpPr>
                <p:cNvPr id="117836" name="Rectangle 60"/>
                <p:cNvSpPr>
                  <a:spLocks noChangeArrowheads="1"/>
                </p:cNvSpPr>
                <p:nvPr/>
              </p:nvSpPr>
              <p:spPr bwMode="auto">
                <a:xfrm>
                  <a:off x="43" y="1344"/>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P4</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37" name="Rectangle 61"/>
                <p:cNvSpPr>
                  <a:spLocks noChangeArrowheads="1"/>
                </p:cNvSpPr>
                <p:nvPr/>
              </p:nvSpPr>
              <p:spPr bwMode="auto">
                <a:xfrm>
                  <a:off x="0" y="1344"/>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5" name="Group 62"/>
              <p:cNvGrpSpPr/>
              <p:nvPr/>
            </p:nvGrpSpPr>
            <p:grpSpPr bwMode="auto">
              <a:xfrm>
                <a:off x="674" y="1344"/>
                <a:ext cx="506" cy="384"/>
                <a:chOff x="674" y="1344"/>
                <a:chExt cx="506" cy="384"/>
              </a:xfrm>
            </p:grpSpPr>
            <p:sp>
              <p:nvSpPr>
                <p:cNvPr id="117834" name="Rectangle 63"/>
                <p:cNvSpPr>
                  <a:spLocks noChangeArrowheads="1"/>
                </p:cNvSpPr>
                <p:nvPr/>
              </p:nvSpPr>
              <p:spPr bwMode="auto">
                <a:xfrm>
                  <a:off x="717" y="1344"/>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7  4 3</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35" name="Rectangle 64"/>
                <p:cNvSpPr>
                  <a:spLocks noChangeArrowheads="1"/>
                </p:cNvSpPr>
                <p:nvPr/>
              </p:nvSpPr>
              <p:spPr bwMode="auto">
                <a:xfrm>
                  <a:off x="674" y="1344"/>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6" name="Group 65"/>
              <p:cNvGrpSpPr/>
              <p:nvPr/>
            </p:nvGrpSpPr>
            <p:grpSpPr bwMode="auto">
              <a:xfrm>
                <a:off x="1180" y="1344"/>
                <a:ext cx="590" cy="384"/>
                <a:chOff x="1180" y="1344"/>
                <a:chExt cx="590" cy="384"/>
              </a:xfrm>
            </p:grpSpPr>
            <p:sp>
              <p:nvSpPr>
                <p:cNvPr id="117832" name="Rectangle 66"/>
                <p:cNvSpPr>
                  <a:spLocks noChangeArrowheads="1"/>
                </p:cNvSpPr>
                <p:nvPr/>
              </p:nvSpPr>
              <p:spPr bwMode="auto">
                <a:xfrm>
                  <a:off x="1223" y="1344"/>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4 3 1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33" name="Rectangle 67"/>
                <p:cNvSpPr>
                  <a:spLocks noChangeArrowheads="1"/>
                </p:cNvSpPr>
                <p:nvPr/>
              </p:nvSpPr>
              <p:spPr bwMode="auto">
                <a:xfrm>
                  <a:off x="1180" y="1344"/>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7" name="Group 68"/>
              <p:cNvGrpSpPr/>
              <p:nvPr/>
            </p:nvGrpSpPr>
            <p:grpSpPr bwMode="auto">
              <a:xfrm>
                <a:off x="1770" y="1344"/>
                <a:ext cx="660" cy="384"/>
                <a:chOff x="1770" y="1344"/>
                <a:chExt cx="660" cy="384"/>
              </a:xfrm>
            </p:grpSpPr>
            <p:sp>
              <p:nvSpPr>
                <p:cNvPr id="117830" name="Rectangle 69"/>
                <p:cNvSpPr>
                  <a:spLocks noChangeArrowheads="1"/>
                </p:cNvSpPr>
                <p:nvPr/>
              </p:nvSpPr>
              <p:spPr bwMode="auto">
                <a:xfrm>
                  <a:off x="1813" y="1344"/>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0 0 2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31" name="Rectangle 70"/>
                <p:cNvSpPr>
                  <a:spLocks noChangeArrowheads="1"/>
                </p:cNvSpPr>
                <p:nvPr/>
              </p:nvSpPr>
              <p:spPr bwMode="auto">
                <a:xfrm>
                  <a:off x="1770" y="1344"/>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8" name="Group 71"/>
              <p:cNvGrpSpPr/>
              <p:nvPr/>
            </p:nvGrpSpPr>
            <p:grpSpPr bwMode="auto">
              <a:xfrm>
                <a:off x="2430" y="1344"/>
                <a:ext cx="802" cy="384"/>
                <a:chOff x="2430" y="1344"/>
                <a:chExt cx="802" cy="384"/>
              </a:xfrm>
            </p:grpSpPr>
            <p:sp>
              <p:nvSpPr>
                <p:cNvPr id="117828" name="Rectangle 72"/>
                <p:cNvSpPr>
                  <a:spLocks noChangeArrowheads="1"/>
                </p:cNvSpPr>
                <p:nvPr/>
              </p:nvSpPr>
              <p:spPr bwMode="auto">
                <a:xfrm>
                  <a:off x="2473" y="1344"/>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7 4 5</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29" name="Rectangle 73"/>
                <p:cNvSpPr>
                  <a:spLocks noChangeArrowheads="1"/>
                </p:cNvSpPr>
                <p:nvPr/>
              </p:nvSpPr>
              <p:spPr bwMode="auto">
                <a:xfrm>
                  <a:off x="2430" y="1344"/>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89" name="Group 74"/>
              <p:cNvGrpSpPr/>
              <p:nvPr/>
            </p:nvGrpSpPr>
            <p:grpSpPr bwMode="auto">
              <a:xfrm>
                <a:off x="3232" y="1344"/>
                <a:ext cx="559" cy="384"/>
                <a:chOff x="3232" y="1344"/>
                <a:chExt cx="559" cy="384"/>
              </a:xfrm>
            </p:grpSpPr>
            <p:sp>
              <p:nvSpPr>
                <p:cNvPr id="117826" name="Rectangle 75"/>
                <p:cNvSpPr>
                  <a:spLocks noChangeArrowheads="1"/>
                </p:cNvSpPr>
                <p:nvPr/>
              </p:nvSpPr>
              <p:spPr bwMode="auto">
                <a:xfrm>
                  <a:off x="3275" y="1344"/>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TRUE</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27" name="Rectangle 76"/>
                <p:cNvSpPr>
                  <a:spLocks noChangeArrowheads="1"/>
                </p:cNvSpPr>
                <p:nvPr/>
              </p:nvSpPr>
              <p:spPr bwMode="auto">
                <a:xfrm>
                  <a:off x="3232" y="1344"/>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0" name="Group 77"/>
              <p:cNvGrpSpPr/>
              <p:nvPr/>
            </p:nvGrpSpPr>
            <p:grpSpPr bwMode="auto">
              <a:xfrm>
                <a:off x="0" y="1728"/>
                <a:ext cx="674" cy="384"/>
                <a:chOff x="0" y="1728"/>
                <a:chExt cx="674" cy="384"/>
              </a:xfrm>
            </p:grpSpPr>
            <p:sp>
              <p:nvSpPr>
                <p:cNvPr id="117824" name="Rectangle 78"/>
                <p:cNvSpPr>
                  <a:spLocks noChangeArrowheads="1"/>
                </p:cNvSpPr>
                <p:nvPr/>
              </p:nvSpPr>
              <p:spPr bwMode="auto">
                <a:xfrm>
                  <a:off x="43" y="1728"/>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25" name="Rectangle 79"/>
                <p:cNvSpPr>
                  <a:spLocks noChangeArrowheads="1"/>
                </p:cNvSpPr>
                <p:nvPr/>
              </p:nvSpPr>
              <p:spPr bwMode="auto">
                <a:xfrm>
                  <a:off x="0" y="1728"/>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1" name="Group 80"/>
              <p:cNvGrpSpPr/>
              <p:nvPr/>
            </p:nvGrpSpPr>
            <p:grpSpPr bwMode="auto">
              <a:xfrm>
                <a:off x="674" y="1728"/>
                <a:ext cx="506" cy="384"/>
                <a:chOff x="674" y="1728"/>
                <a:chExt cx="506" cy="384"/>
              </a:xfrm>
            </p:grpSpPr>
            <p:sp>
              <p:nvSpPr>
                <p:cNvPr id="117822" name="Rectangle 81"/>
                <p:cNvSpPr>
                  <a:spLocks noChangeArrowheads="1"/>
                </p:cNvSpPr>
                <p:nvPr/>
              </p:nvSpPr>
              <p:spPr bwMode="auto">
                <a:xfrm>
                  <a:off x="717" y="1728"/>
                  <a:ext cx="4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7  4 5</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23" name="Rectangle 82"/>
                <p:cNvSpPr>
                  <a:spLocks noChangeArrowheads="1"/>
                </p:cNvSpPr>
                <p:nvPr/>
              </p:nvSpPr>
              <p:spPr bwMode="auto">
                <a:xfrm>
                  <a:off x="674" y="1728"/>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2" name="Group 83"/>
              <p:cNvGrpSpPr/>
              <p:nvPr/>
            </p:nvGrpSpPr>
            <p:grpSpPr bwMode="auto">
              <a:xfrm>
                <a:off x="1180" y="1728"/>
                <a:ext cx="590" cy="384"/>
                <a:chOff x="1180" y="1728"/>
                <a:chExt cx="590" cy="384"/>
              </a:xfrm>
            </p:grpSpPr>
            <p:sp>
              <p:nvSpPr>
                <p:cNvPr id="117820" name="Rectangle 84"/>
                <p:cNvSpPr>
                  <a:spLocks noChangeArrowheads="1"/>
                </p:cNvSpPr>
                <p:nvPr/>
              </p:nvSpPr>
              <p:spPr bwMode="auto">
                <a:xfrm>
                  <a:off x="1223" y="1728"/>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7 4 3</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21" name="Rectangle 85"/>
                <p:cNvSpPr>
                  <a:spLocks noChangeArrowheads="1"/>
                </p:cNvSpPr>
                <p:nvPr/>
              </p:nvSpPr>
              <p:spPr bwMode="auto">
                <a:xfrm>
                  <a:off x="1180" y="1728"/>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3" name="Group 86"/>
              <p:cNvGrpSpPr/>
              <p:nvPr/>
            </p:nvGrpSpPr>
            <p:grpSpPr bwMode="auto">
              <a:xfrm>
                <a:off x="1770" y="1728"/>
                <a:ext cx="660" cy="384"/>
                <a:chOff x="1770" y="1728"/>
                <a:chExt cx="660" cy="384"/>
              </a:xfrm>
            </p:grpSpPr>
            <p:sp>
              <p:nvSpPr>
                <p:cNvPr id="117818" name="Rectangle 87"/>
                <p:cNvSpPr>
                  <a:spLocks noChangeArrowheads="1"/>
                </p:cNvSpPr>
                <p:nvPr/>
              </p:nvSpPr>
              <p:spPr bwMode="auto">
                <a:xfrm>
                  <a:off x="1813" y="1728"/>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0 1 0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19" name="Rectangle 88"/>
                <p:cNvSpPr>
                  <a:spLocks noChangeArrowheads="1"/>
                </p:cNvSpPr>
                <p:nvPr/>
              </p:nvSpPr>
              <p:spPr bwMode="auto">
                <a:xfrm>
                  <a:off x="1770" y="1728"/>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4" name="Group 89"/>
              <p:cNvGrpSpPr/>
              <p:nvPr/>
            </p:nvGrpSpPr>
            <p:grpSpPr bwMode="auto">
              <a:xfrm>
                <a:off x="2430" y="1728"/>
                <a:ext cx="802" cy="384"/>
                <a:chOff x="2430" y="1728"/>
                <a:chExt cx="802" cy="384"/>
              </a:xfrm>
            </p:grpSpPr>
            <p:sp>
              <p:nvSpPr>
                <p:cNvPr id="117816" name="Rectangle 90"/>
                <p:cNvSpPr>
                  <a:spLocks noChangeArrowheads="1"/>
                </p:cNvSpPr>
                <p:nvPr/>
              </p:nvSpPr>
              <p:spPr bwMode="auto">
                <a:xfrm>
                  <a:off x="2473" y="1728"/>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7 5 5</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17" name="Rectangle 91"/>
                <p:cNvSpPr>
                  <a:spLocks noChangeArrowheads="1"/>
                </p:cNvSpPr>
                <p:nvPr/>
              </p:nvSpPr>
              <p:spPr bwMode="auto">
                <a:xfrm>
                  <a:off x="2430" y="1728"/>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5" name="Group 92"/>
              <p:cNvGrpSpPr/>
              <p:nvPr/>
            </p:nvGrpSpPr>
            <p:grpSpPr bwMode="auto">
              <a:xfrm>
                <a:off x="3232" y="1728"/>
                <a:ext cx="559" cy="384"/>
                <a:chOff x="3232" y="1728"/>
                <a:chExt cx="559" cy="384"/>
              </a:xfrm>
            </p:grpSpPr>
            <p:sp>
              <p:nvSpPr>
                <p:cNvPr id="117814" name="Rectangle 93"/>
                <p:cNvSpPr>
                  <a:spLocks noChangeArrowheads="1"/>
                </p:cNvSpPr>
                <p:nvPr/>
              </p:nvSpPr>
              <p:spPr bwMode="auto">
                <a:xfrm>
                  <a:off x="3275" y="1728"/>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TRUE</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15" name="Rectangle 94"/>
                <p:cNvSpPr>
                  <a:spLocks noChangeArrowheads="1"/>
                </p:cNvSpPr>
                <p:nvPr/>
              </p:nvSpPr>
              <p:spPr bwMode="auto">
                <a:xfrm>
                  <a:off x="3232" y="1728"/>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6" name="Group 95"/>
              <p:cNvGrpSpPr/>
              <p:nvPr/>
            </p:nvGrpSpPr>
            <p:grpSpPr bwMode="auto">
              <a:xfrm>
                <a:off x="0" y="2112"/>
                <a:ext cx="674" cy="384"/>
                <a:chOff x="0" y="2112"/>
                <a:chExt cx="674" cy="384"/>
              </a:xfrm>
            </p:grpSpPr>
            <p:sp>
              <p:nvSpPr>
                <p:cNvPr id="117812" name="Rectangle 96"/>
                <p:cNvSpPr>
                  <a:spLocks noChangeArrowheads="1"/>
                </p:cNvSpPr>
                <p:nvPr/>
              </p:nvSpPr>
              <p:spPr bwMode="auto">
                <a:xfrm>
                  <a:off x="43" y="2112"/>
                  <a:ext cx="5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13" name="Rectangle 97"/>
                <p:cNvSpPr>
                  <a:spLocks noChangeArrowheads="1"/>
                </p:cNvSpPr>
                <p:nvPr/>
              </p:nvSpPr>
              <p:spPr bwMode="auto">
                <a:xfrm>
                  <a:off x="0" y="2112"/>
                  <a:ext cx="674"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7" name="Group 98"/>
              <p:cNvGrpSpPr/>
              <p:nvPr/>
            </p:nvGrpSpPr>
            <p:grpSpPr bwMode="auto">
              <a:xfrm>
                <a:off x="674" y="2112"/>
                <a:ext cx="506" cy="384"/>
                <a:chOff x="674" y="2112"/>
                <a:chExt cx="506" cy="384"/>
              </a:xfrm>
            </p:grpSpPr>
            <p:sp>
              <p:nvSpPr>
                <p:cNvPr id="117810" name="Rectangle 99"/>
                <p:cNvSpPr>
                  <a:spLocks noChangeArrowheads="1"/>
                </p:cNvSpPr>
                <p:nvPr/>
              </p:nvSpPr>
              <p:spPr bwMode="auto">
                <a:xfrm>
                  <a:off x="679" y="2112"/>
                  <a:ext cx="44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10 5 5</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11" name="Rectangle 100"/>
                <p:cNvSpPr>
                  <a:spLocks noChangeArrowheads="1"/>
                </p:cNvSpPr>
                <p:nvPr/>
              </p:nvSpPr>
              <p:spPr bwMode="auto">
                <a:xfrm>
                  <a:off x="674" y="2112"/>
                  <a:ext cx="50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8" name="Group 101"/>
              <p:cNvGrpSpPr/>
              <p:nvPr/>
            </p:nvGrpSpPr>
            <p:grpSpPr bwMode="auto">
              <a:xfrm>
                <a:off x="1180" y="2112"/>
                <a:ext cx="590" cy="384"/>
                <a:chOff x="1180" y="2112"/>
                <a:chExt cx="590" cy="384"/>
              </a:xfrm>
            </p:grpSpPr>
            <p:sp>
              <p:nvSpPr>
                <p:cNvPr id="117808" name="Rectangle 102"/>
                <p:cNvSpPr>
                  <a:spLocks noChangeArrowheads="1"/>
                </p:cNvSpPr>
                <p:nvPr/>
              </p:nvSpPr>
              <p:spPr bwMode="auto">
                <a:xfrm>
                  <a:off x="1223" y="2112"/>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6 0 0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09" name="Rectangle 103"/>
                <p:cNvSpPr>
                  <a:spLocks noChangeArrowheads="1"/>
                </p:cNvSpPr>
                <p:nvPr/>
              </p:nvSpPr>
              <p:spPr bwMode="auto">
                <a:xfrm>
                  <a:off x="1180" y="2112"/>
                  <a:ext cx="59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799" name="Group 104"/>
              <p:cNvGrpSpPr/>
              <p:nvPr/>
            </p:nvGrpSpPr>
            <p:grpSpPr bwMode="auto">
              <a:xfrm>
                <a:off x="1770" y="2112"/>
                <a:ext cx="660" cy="384"/>
                <a:chOff x="1770" y="2112"/>
                <a:chExt cx="660" cy="384"/>
              </a:xfrm>
            </p:grpSpPr>
            <p:sp>
              <p:nvSpPr>
                <p:cNvPr id="117806" name="Rectangle 105"/>
                <p:cNvSpPr>
                  <a:spLocks noChangeArrowheads="1"/>
                </p:cNvSpPr>
                <p:nvPr/>
              </p:nvSpPr>
              <p:spPr bwMode="auto">
                <a:xfrm>
                  <a:off x="1813" y="2112"/>
                  <a:ext cx="57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3 0 2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07" name="Rectangle 106"/>
                <p:cNvSpPr>
                  <a:spLocks noChangeArrowheads="1"/>
                </p:cNvSpPr>
                <p:nvPr/>
              </p:nvSpPr>
              <p:spPr bwMode="auto">
                <a:xfrm>
                  <a:off x="1770" y="2112"/>
                  <a:ext cx="660"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800" name="Group 107"/>
              <p:cNvGrpSpPr/>
              <p:nvPr/>
            </p:nvGrpSpPr>
            <p:grpSpPr bwMode="auto">
              <a:xfrm>
                <a:off x="2430" y="2112"/>
                <a:ext cx="802" cy="384"/>
                <a:chOff x="2430" y="2112"/>
                <a:chExt cx="802" cy="384"/>
              </a:xfrm>
            </p:grpSpPr>
            <p:sp>
              <p:nvSpPr>
                <p:cNvPr id="117804" name="Rectangle 108"/>
                <p:cNvSpPr>
                  <a:spLocks noChangeArrowheads="1"/>
                </p:cNvSpPr>
                <p:nvPr/>
              </p:nvSpPr>
              <p:spPr bwMode="auto">
                <a:xfrm>
                  <a:off x="2473" y="2112"/>
                  <a:ext cx="7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10 5 7</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05" name="Rectangle 109"/>
                <p:cNvSpPr>
                  <a:spLocks noChangeArrowheads="1"/>
                </p:cNvSpPr>
                <p:nvPr/>
              </p:nvSpPr>
              <p:spPr bwMode="auto">
                <a:xfrm>
                  <a:off x="2430" y="2112"/>
                  <a:ext cx="80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7801" name="Group 110"/>
              <p:cNvGrpSpPr/>
              <p:nvPr/>
            </p:nvGrpSpPr>
            <p:grpSpPr bwMode="auto">
              <a:xfrm>
                <a:off x="3232" y="2112"/>
                <a:ext cx="559" cy="384"/>
                <a:chOff x="3232" y="2112"/>
                <a:chExt cx="559" cy="384"/>
              </a:xfrm>
            </p:grpSpPr>
            <p:sp>
              <p:nvSpPr>
                <p:cNvPr id="117802" name="Rectangle 111"/>
                <p:cNvSpPr>
                  <a:spLocks noChangeArrowheads="1"/>
                </p:cNvSpPr>
                <p:nvPr/>
              </p:nvSpPr>
              <p:spPr bwMode="auto">
                <a:xfrm>
                  <a:off x="3275" y="2112"/>
                  <a:ext cx="4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TRUE</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7803" name="Rectangle 112"/>
                <p:cNvSpPr>
                  <a:spLocks noChangeArrowheads="1"/>
                </p:cNvSpPr>
                <p:nvPr/>
              </p:nvSpPr>
              <p:spPr bwMode="auto">
                <a:xfrm>
                  <a:off x="3232" y="2112"/>
                  <a:ext cx="559"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sp>
          <p:nvSpPr>
            <p:cNvPr id="117765" name="Rectangle 113"/>
            <p:cNvSpPr>
              <a:spLocks noChangeArrowheads="1"/>
            </p:cNvSpPr>
            <p:nvPr/>
          </p:nvSpPr>
          <p:spPr bwMode="auto">
            <a:xfrm>
              <a:off x="-3" y="-3"/>
              <a:ext cx="3797" cy="2502"/>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dirty="0">
                <a:latin typeface="Tahoma" panose="020B0604030504040204" pitchFamily="34" charset="0"/>
                <a:ea typeface="楷体_GB2312" pitchFamily="49" charset="-122"/>
              </a:endParaRPr>
            </a:p>
          </p:txBody>
        </p:sp>
      </p:gr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其他的请求情况</a:t>
            </a:r>
            <a:endParaRPr lang="zh-CN" altLang="en-US" dirty="0"/>
          </a:p>
        </p:txBody>
      </p:sp>
      <p:sp>
        <p:nvSpPr>
          <p:cNvPr id="118786" name="Rectangle 2"/>
          <p:cNvSpPr>
            <a:spLocks noGrp="1" noChangeArrowheads="1"/>
          </p:cNvSpPr>
          <p:nvPr>
            <p:ph idx="4294967295"/>
          </p:nvPr>
        </p:nvSpPr>
        <p:spPr>
          <a:xfrm>
            <a:off x="571501" y="1088316"/>
            <a:ext cx="10736131" cy="4914452"/>
          </a:xfrm>
        </p:spPr>
        <p:txBody>
          <a:bodyPr/>
          <a:lstStyle/>
          <a:p>
            <a:pPr marL="662305" indent="-662305" algn="just">
              <a:buNone/>
            </a:pPr>
            <a:r>
              <a:rPr lang="zh-CN" altLang="en-US" sz="2400" b="1" dirty="0"/>
              <a:t>（</a:t>
            </a:r>
            <a:r>
              <a:rPr lang="en-US" altLang="zh-CN" sz="2400" b="1" dirty="0"/>
              <a:t>3</a:t>
            </a:r>
            <a:r>
              <a:rPr lang="zh-CN" altLang="en-US" sz="2400" b="1" dirty="0"/>
              <a:t>）</a:t>
            </a:r>
            <a:r>
              <a:rPr lang="en-US" altLang="zh-CN" sz="2400" b="1" dirty="0"/>
              <a:t>P4</a:t>
            </a:r>
            <a:r>
              <a:rPr lang="zh-CN" altLang="en-US" sz="2400" b="1" dirty="0"/>
              <a:t>请求资源：</a:t>
            </a:r>
            <a:r>
              <a:rPr lang="en-US" altLang="zh-CN" sz="2400" b="1" dirty="0"/>
              <a:t>P4</a:t>
            </a:r>
            <a:r>
              <a:rPr lang="zh-CN" altLang="en-US" sz="2400" b="1" dirty="0"/>
              <a:t>发出请求向量</a:t>
            </a:r>
            <a:r>
              <a:rPr lang="en-US" altLang="zh-CN" sz="2400" b="1" dirty="0"/>
              <a:t>Request</a:t>
            </a:r>
            <a:r>
              <a:rPr lang="en-US" altLang="zh-CN" sz="2400" b="1" baseline="-25000" dirty="0"/>
              <a:t>4</a:t>
            </a:r>
            <a:r>
              <a:rPr lang="zh-CN" altLang="en-US" sz="2400" b="1" dirty="0"/>
              <a:t>（</a:t>
            </a:r>
            <a:r>
              <a:rPr lang="en-US" altLang="zh-CN" sz="2400" b="1" dirty="0"/>
              <a:t>3,3,0</a:t>
            </a:r>
            <a:r>
              <a:rPr lang="zh-CN" altLang="en-US" sz="2400" b="1" dirty="0"/>
              <a:t>），系统按银行家算法进行检查：</a:t>
            </a:r>
            <a:endParaRPr lang="zh-CN" altLang="en-US" sz="2400" b="1" dirty="0"/>
          </a:p>
          <a:p>
            <a:pPr marL="662305" indent="-662305" algn="just">
              <a:buNone/>
            </a:pPr>
            <a:r>
              <a:rPr lang="zh-CN" altLang="en-US" sz="2400" b="1" dirty="0"/>
              <a:t>    ①</a:t>
            </a:r>
            <a:r>
              <a:rPr lang="en-US" altLang="zh-CN" sz="2400" b="1" dirty="0"/>
              <a:t>Request</a:t>
            </a:r>
            <a:r>
              <a:rPr lang="en-US" altLang="zh-CN" sz="2400" b="1" baseline="-25000" dirty="0"/>
              <a:t>4</a:t>
            </a:r>
            <a:r>
              <a:rPr lang="zh-CN" altLang="en-US" sz="2400" b="1" dirty="0"/>
              <a:t>（</a:t>
            </a:r>
            <a:r>
              <a:rPr lang="en-US" altLang="zh-CN" sz="2400" b="1" dirty="0"/>
              <a:t>3</a:t>
            </a:r>
            <a:r>
              <a:rPr lang="zh-CN" altLang="en-US" sz="2400" b="1" dirty="0"/>
              <a:t>，</a:t>
            </a:r>
            <a:r>
              <a:rPr lang="en-US" altLang="zh-CN" sz="2400" b="1" dirty="0"/>
              <a:t>3</a:t>
            </a:r>
            <a:r>
              <a:rPr lang="zh-CN" altLang="en-US" sz="2400" b="1" dirty="0"/>
              <a:t>，</a:t>
            </a:r>
            <a:r>
              <a:rPr lang="en-US" altLang="zh-CN" sz="2400" b="1" dirty="0"/>
              <a:t>0</a:t>
            </a:r>
            <a:r>
              <a:rPr lang="zh-CN" altLang="en-US" sz="2400" b="1" dirty="0"/>
              <a:t>）≤</a:t>
            </a:r>
            <a:r>
              <a:rPr lang="en-US" altLang="zh-CN" sz="2400" b="1" dirty="0"/>
              <a:t>Need</a:t>
            </a:r>
            <a:r>
              <a:rPr lang="en-US" altLang="zh-CN" sz="2400" b="1" baseline="-25000" dirty="0"/>
              <a:t>4</a:t>
            </a:r>
            <a:r>
              <a:rPr lang="zh-CN" altLang="en-US" sz="2400" b="1" dirty="0"/>
              <a:t>（</a:t>
            </a:r>
            <a:r>
              <a:rPr lang="en-US" altLang="zh-CN" sz="2400" b="1" dirty="0"/>
              <a:t>4</a:t>
            </a:r>
            <a:r>
              <a:rPr lang="zh-CN" altLang="en-US" sz="2400" b="1" dirty="0"/>
              <a:t>，</a:t>
            </a:r>
            <a:r>
              <a:rPr lang="en-US" altLang="zh-CN" sz="2400" b="1" dirty="0"/>
              <a:t>3</a:t>
            </a:r>
            <a:r>
              <a:rPr lang="zh-CN" altLang="en-US" sz="2400" b="1" dirty="0"/>
              <a:t>，</a:t>
            </a:r>
            <a:r>
              <a:rPr lang="en-US" altLang="zh-CN" sz="2400" b="1" dirty="0"/>
              <a:t>1</a:t>
            </a:r>
            <a:r>
              <a:rPr lang="zh-CN" altLang="en-US" sz="2400" b="1" dirty="0"/>
              <a:t>）；</a:t>
            </a:r>
            <a:endParaRPr lang="zh-CN" altLang="en-US" sz="2400" b="1" dirty="0"/>
          </a:p>
          <a:p>
            <a:pPr marL="662305" indent="-662305" algn="just">
              <a:buNone/>
            </a:pPr>
            <a:r>
              <a:rPr lang="zh-CN" altLang="en-US" sz="2400" b="1" dirty="0"/>
              <a:t>    ②</a:t>
            </a:r>
            <a:r>
              <a:rPr lang="en-US" altLang="zh-CN" sz="2400" b="1" dirty="0"/>
              <a:t>Request</a:t>
            </a:r>
            <a:r>
              <a:rPr lang="en-US" altLang="zh-CN" sz="2400" b="1" baseline="-25000" dirty="0"/>
              <a:t>4</a:t>
            </a:r>
            <a:r>
              <a:rPr lang="en-US" altLang="zh-CN" sz="2400" b="1" dirty="0"/>
              <a:t>(3</a:t>
            </a:r>
            <a:r>
              <a:rPr lang="zh-CN" altLang="en-US" sz="2400" b="1" dirty="0"/>
              <a:t>，</a:t>
            </a:r>
            <a:r>
              <a:rPr lang="en-US" altLang="zh-CN" sz="2400" b="1" dirty="0"/>
              <a:t>3</a:t>
            </a:r>
            <a:r>
              <a:rPr lang="zh-CN" altLang="en-US" sz="2400" b="1" dirty="0"/>
              <a:t>， </a:t>
            </a:r>
            <a:r>
              <a:rPr lang="en-US" altLang="zh-CN" sz="2400" b="1" dirty="0"/>
              <a:t>0)≮Available</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0</a:t>
            </a:r>
            <a:r>
              <a:rPr lang="zh-CN" altLang="en-US" sz="2400" b="1" dirty="0"/>
              <a:t>），让</a:t>
            </a:r>
            <a:r>
              <a:rPr lang="en-US" altLang="zh-CN" sz="2400" b="1" dirty="0"/>
              <a:t>P4</a:t>
            </a:r>
            <a:r>
              <a:rPr lang="zh-CN" altLang="en-US" sz="2400" b="1" dirty="0"/>
              <a:t>等待。</a:t>
            </a:r>
            <a:endParaRPr lang="zh-CN" altLang="en-US" sz="2400" b="1" dirty="0"/>
          </a:p>
          <a:p>
            <a:pPr marL="662305" indent="-662305" algn="just">
              <a:buNone/>
            </a:pPr>
            <a:r>
              <a:rPr lang="en-US" altLang="zh-CN" sz="2400" b="1" dirty="0"/>
              <a:t>(4)P0</a:t>
            </a:r>
            <a:r>
              <a:rPr lang="zh-CN" altLang="en-US" sz="2400" b="1" dirty="0"/>
              <a:t>请求资源：</a:t>
            </a:r>
            <a:r>
              <a:rPr lang="en-US" altLang="zh-CN" sz="2400" b="1" dirty="0"/>
              <a:t>P0</a:t>
            </a:r>
            <a:r>
              <a:rPr lang="zh-CN" altLang="en-US" sz="2400" b="1" dirty="0"/>
              <a:t>发出请求向量</a:t>
            </a:r>
            <a:r>
              <a:rPr lang="en-US" altLang="zh-CN" sz="2400" b="1" dirty="0"/>
              <a:t>Requst</a:t>
            </a:r>
            <a:r>
              <a:rPr lang="en-US" altLang="zh-CN" sz="2400" b="1" baseline="-25000" dirty="0"/>
              <a:t>0</a:t>
            </a:r>
            <a:r>
              <a:rPr lang="en-US" altLang="zh-CN" sz="2400" b="1" dirty="0"/>
              <a:t>(0,2,0</a:t>
            </a:r>
            <a:r>
              <a:rPr lang="zh-CN" altLang="en-US" sz="2400" b="1" dirty="0"/>
              <a:t>），系统按银行家算法进行检查：</a:t>
            </a:r>
            <a:endParaRPr lang="zh-CN" altLang="en-US" sz="2400" b="1" dirty="0"/>
          </a:p>
          <a:p>
            <a:pPr marL="662305" indent="-662305" algn="just">
              <a:buNone/>
            </a:pPr>
            <a:r>
              <a:rPr lang="zh-CN" altLang="en-US" sz="2400" b="1" dirty="0"/>
              <a:t>    ①</a:t>
            </a:r>
            <a:r>
              <a:rPr lang="en-US" altLang="zh-CN" sz="2400" b="1" dirty="0"/>
              <a:t>Request</a:t>
            </a:r>
            <a:r>
              <a:rPr lang="en-US" altLang="zh-CN" sz="2400" b="1" baseline="-25000" dirty="0"/>
              <a:t>0</a:t>
            </a:r>
            <a:r>
              <a:rPr lang="zh-CN" altLang="en-US" sz="2400" b="1" dirty="0"/>
              <a:t>（</a:t>
            </a:r>
            <a:r>
              <a:rPr lang="en-US" altLang="zh-CN" sz="2400" b="1" dirty="0"/>
              <a:t>0, 2,0</a:t>
            </a:r>
            <a:r>
              <a:rPr lang="zh-CN" altLang="en-US" sz="2400" b="1" dirty="0"/>
              <a:t>）≤</a:t>
            </a:r>
            <a:r>
              <a:rPr lang="en-US" altLang="zh-CN" sz="2400" b="1" dirty="0"/>
              <a:t>Need</a:t>
            </a:r>
            <a:r>
              <a:rPr lang="en-US" altLang="zh-CN" sz="2400" b="1" baseline="-25000" dirty="0"/>
              <a:t>0</a:t>
            </a:r>
            <a:r>
              <a:rPr lang="zh-CN" altLang="en-US" sz="2400" b="1" dirty="0"/>
              <a:t>（</a:t>
            </a:r>
            <a:r>
              <a:rPr lang="en-US" altLang="zh-CN" sz="2400" b="1" dirty="0"/>
              <a:t>7</a:t>
            </a:r>
            <a:r>
              <a:rPr lang="zh-CN" altLang="en-US" sz="2400" b="1" dirty="0"/>
              <a:t>，</a:t>
            </a:r>
            <a:r>
              <a:rPr lang="en-US" altLang="zh-CN" sz="2400" b="1" dirty="0"/>
              <a:t>4</a:t>
            </a:r>
            <a:r>
              <a:rPr lang="zh-CN" altLang="en-US" sz="2400" b="1" dirty="0"/>
              <a:t>，</a:t>
            </a:r>
            <a:r>
              <a:rPr lang="en-US" altLang="zh-CN" sz="2400" b="1" dirty="0"/>
              <a:t>3</a:t>
            </a:r>
            <a:r>
              <a:rPr lang="zh-CN" altLang="en-US" sz="2400" b="1" dirty="0"/>
              <a:t>）；</a:t>
            </a:r>
            <a:endParaRPr lang="zh-CN" altLang="en-US" sz="2400" b="1" dirty="0"/>
          </a:p>
          <a:p>
            <a:pPr marL="662305" indent="-662305" algn="just">
              <a:buNone/>
            </a:pPr>
            <a:r>
              <a:rPr lang="zh-CN" altLang="en-US" sz="2400" b="1" dirty="0"/>
              <a:t>    ②</a:t>
            </a:r>
            <a:r>
              <a:rPr lang="en-US" altLang="zh-CN" sz="2400" b="1" dirty="0"/>
              <a:t>Request</a:t>
            </a:r>
            <a:r>
              <a:rPr lang="en-US" altLang="zh-CN" sz="2400" b="1" baseline="-25000" dirty="0"/>
              <a:t>0</a:t>
            </a:r>
            <a:r>
              <a:rPr lang="zh-CN" altLang="en-US" sz="2400" b="1" dirty="0"/>
              <a:t>（</a:t>
            </a:r>
            <a:r>
              <a:rPr lang="en-US" altLang="zh-CN" sz="2400" b="1" dirty="0"/>
              <a:t>0,2,0</a:t>
            </a:r>
            <a:r>
              <a:rPr lang="zh-CN" altLang="en-US" sz="2400" b="1" dirty="0"/>
              <a:t>）≤</a:t>
            </a:r>
            <a:r>
              <a:rPr lang="en-US" altLang="zh-CN" sz="2400" b="1" dirty="0"/>
              <a:t>Available</a:t>
            </a:r>
            <a:r>
              <a:rPr lang="zh-CN" altLang="en-US" sz="2400" b="1" dirty="0"/>
              <a:t>（</a:t>
            </a:r>
            <a:r>
              <a:rPr lang="en-US" altLang="zh-CN" sz="2400" b="1" dirty="0"/>
              <a:t>2</a:t>
            </a:r>
            <a:r>
              <a:rPr lang="zh-CN" altLang="en-US" sz="2400" b="1" dirty="0"/>
              <a:t>，</a:t>
            </a:r>
            <a:r>
              <a:rPr lang="en-US" altLang="zh-CN" sz="2400" b="1" dirty="0"/>
              <a:t>3</a:t>
            </a:r>
            <a:r>
              <a:rPr lang="zh-CN" altLang="en-US" sz="2400" b="1" dirty="0"/>
              <a:t>，</a:t>
            </a:r>
            <a:r>
              <a:rPr lang="en-US" altLang="zh-CN" sz="2400" b="1" dirty="0"/>
              <a:t>0</a:t>
            </a:r>
            <a:r>
              <a:rPr lang="zh-CN" altLang="en-US" sz="2400" b="1" dirty="0"/>
              <a:t>）；</a:t>
            </a:r>
            <a:endParaRPr lang="zh-CN" altLang="en-US" sz="2400" b="1" dirty="0"/>
          </a:p>
          <a:p>
            <a:pPr marL="662305" indent="-662305">
              <a:buNone/>
            </a:pPr>
            <a:r>
              <a:rPr lang="zh-CN" altLang="en-US" sz="2400" b="1" dirty="0"/>
              <a:t>    ③系统暂时先假定可为</a:t>
            </a:r>
            <a:r>
              <a:rPr lang="en-US" altLang="zh-CN" sz="2400" b="1" dirty="0"/>
              <a:t>P0</a:t>
            </a:r>
            <a:r>
              <a:rPr lang="zh-CN" altLang="en-US" sz="2400" b="1" dirty="0"/>
              <a:t>分配资源，并修改有关数据，如图</a:t>
            </a:r>
            <a:r>
              <a:rPr lang="en-US" altLang="zh-CN" sz="2400" b="1" dirty="0"/>
              <a:t>3</a:t>
            </a:r>
            <a:r>
              <a:rPr lang="zh-CN" altLang="en-US" sz="2400" b="1" dirty="0"/>
              <a:t>一</a:t>
            </a:r>
            <a:r>
              <a:rPr lang="en-US" altLang="zh-CN" sz="2400" b="1" dirty="0"/>
              <a:t>19</a:t>
            </a:r>
            <a:r>
              <a:rPr lang="zh-CN" altLang="en-US" sz="2400" b="1" dirty="0"/>
              <a:t>所示。 </a:t>
            </a:r>
            <a:endParaRPr lang="zh-CN" altLang="en-US" sz="2400" b="1"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a:xfrm>
            <a:off x="1549101" y="5143500"/>
            <a:ext cx="8563087" cy="1143000"/>
          </a:xfrm>
        </p:spPr>
        <p:txBody>
          <a:bodyPr/>
          <a:lstStyle/>
          <a:p>
            <a:pPr algn="l" eaLnBrk="1" hangingPunct="1">
              <a:defRPr/>
            </a:pPr>
            <a:r>
              <a:rPr lang="en-US" altLang="zh-CN" sz="2400" dirty="0"/>
              <a:t>(5)</a:t>
            </a:r>
            <a:r>
              <a:rPr lang="zh-CN" altLang="en-US" sz="2400" dirty="0"/>
              <a:t>进行安全性检查：可用资源</a:t>
            </a:r>
            <a:r>
              <a:rPr lang="en-US" altLang="zh-CN" sz="2400" dirty="0"/>
              <a:t>Available</a:t>
            </a:r>
            <a:r>
              <a:rPr lang="zh-CN" altLang="en-US" sz="2400" dirty="0"/>
              <a:t>（</a:t>
            </a:r>
            <a:r>
              <a:rPr lang="en-US" altLang="zh-CN" sz="2400" dirty="0"/>
              <a:t>2</a:t>
            </a:r>
            <a:r>
              <a:rPr lang="zh-CN" altLang="en-US" sz="2400" dirty="0"/>
              <a:t>，</a:t>
            </a:r>
            <a:r>
              <a:rPr lang="en-US" altLang="zh-CN" sz="2400" dirty="0"/>
              <a:t>1</a:t>
            </a:r>
            <a:r>
              <a:rPr lang="zh-CN" altLang="en-US" sz="2400" dirty="0"/>
              <a:t>，</a:t>
            </a:r>
            <a:r>
              <a:rPr lang="en-US" altLang="zh-CN" sz="2400" dirty="0"/>
              <a:t>0</a:t>
            </a:r>
            <a:r>
              <a:rPr lang="zh-CN" altLang="en-US" sz="2400" dirty="0"/>
              <a:t>）已不能满足任何进程的需要，故系统进入不安全状态，此时系统不分配资源。 </a:t>
            </a:r>
            <a:endParaRPr lang="zh-CN" altLang="en-US" sz="2400" dirty="0"/>
          </a:p>
        </p:txBody>
      </p:sp>
      <p:grpSp>
        <p:nvGrpSpPr>
          <p:cNvPr id="119811" name="Group 3"/>
          <p:cNvGrpSpPr/>
          <p:nvPr/>
        </p:nvGrpSpPr>
        <p:grpSpPr bwMode="auto">
          <a:xfrm>
            <a:off x="1635162" y="1152377"/>
            <a:ext cx="8137488" cy="3657600"/>
            <a:chOff x="-3" y="-3"/>
            <a:chExt cx="2652" cy="2846"/>
          </a:xfrm>
        </p:grpSpPr>
        <p:grpSp>
          <p:nvGrpSpPr>
            <p:cNvPr id="119813" name="Group 4"/>
            <p:cNvGrpSpPr/>
            <p:nvPr/>
          </p:nvGrpSpPr>
          <p:grpSpPr bwMode="auto">
            <a:xfrm>
              <a:off x="0" y="0"/>
              <a:ext cx="2646" cy="2840"/>
              <a:chOff x="0" y="0"/>
              <a:chExt cx="2646" cy="2840"/>
            </a:xfrm>
          </p:grpSpPr>
          <p:grpSp>
            <p:nvGrpSpPr>
              <p:cNvPr id="119815" name="Group 5"/>
              <p:cNvGrpSpPr/>
              <p:nvPr/>
            </p:nvGrpSpPr>
            <p:grpSpPr bwMode="auto">
              <a:xfrm>
                <a:off x="0" y="0"/>
                <a:ext cx="716" cy="768"/>
                <a:chOff x="0" y="0"/>
                <a:chExt cx="716" cy="768"/>
              </a:xfrm>
            </p:grpSpPr>
            <p:sp>
              <p:nvSpPr>
                <p:cNvPr id="119894" name="Rectangle 6"/>
                <p:cNvSpPr>
                  <a:spLocks noChangeArrowheads="1"/>
                </p:cNvSpPr>
                <p:nvPr/>
              </p:nvSpPr>
              <p:spPr bwMode="auto">
                <a:xfrm>
                  <a:off x="43" y="0"/>
                  <a:ext cx="630"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a:ea typeface="楷体_GB2312" pitchFamily="49" charset="-122"/>
                    </a:rPr>
                    <a:t>资源情况</a:t>
                  </a:r>
                  <a:endParaRPr lang="zh-CN" altLang="en-US" sz="2400">
                    <a:ea typeface="楷体_GB2312" pitchFamily="49" charset="-122"/>
                  </a:endParaRPr>
                </a:p>
                <a:p>
                  <a:pPr algn="ctr">
                    <a:spcBef>
                      <a:spcPct val="0"/>
                    </a:spcBef>
                    <a:buClrTx/>
                    <a:buFontTx/>
                    <a:buNone/>
                  </a:pPr>
                  <a:r>
                    <a:rPr lang="zh-CN" altLang="en-US" sz="2400">
                      <a:ea typeface="楷体_GB2312" pitchFamily="49" charset="-122"/>
                    </a:rPr>
                    <a:t>进程</a:t>
                  </a:r>
                  <a:endParaRPr lang="zh-CN" altLang="en-US" sz="2400">
                    <a:ea typeface="楷体_GB2312" pitchFamily="49" charset="-122"/>
                  </a:endParaRPr>
                </a:p>
                <a:p>
                  <a:pPr algn="ctr">
                    <a:spcBef>
                      <a:spcPct val="0"/>
                    </a:spcBef>
                    <a:buClrTx/>
                    <a:buFontTx/>
                    <a:buNone/>
                  </a:pPr>
                  <a:endParaRPr lang="en-US" altLang="zh-CN" sz="2400">
                    <a:ea typeface="楷体_GB2312" pitchFamily="49" charset="-122"/>
                  </a:endParaRPr>
                </a:p>
              </p:txBody>
            </p:sp>
            <p:sp>
              <p:nvSpPr>
                <p:cNvPr id="119895" name="Rectangle 7"/>
                <p:cNvSpPr>
                  <a:spLocks noChangeArrowheads="1"/>
                </p:cNvSpPr>
                <p:nvPr/>
              </p:nvSpPr>
              <p:spPr bwMode="auto">
                <a:xfrm>
                  <a:off x="0" y="0"/>
                  <a:ext cx="716" cy="76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16" name="Group 8"/>
              <p:cNvGrpSpPr/>
              <p:nvPr/>
            </p:nvGrpSpPr>
            <p:grpSpPr bwMode="auto">
              <a:xfrm>
                <a:off x="716" y="0"/>
                <a:ext cx="666" cy="384"/>
                <a:chOff x="716" y="0"/>
                <a:chExt cx="666" cy="384"/>
              </a:xfrm>
            </p:grpSpPr>
            <p:sp>
              <p:nvSpPr>
                <p:cNvPr id="119892" name="Rectangle 9"/>
                <p:cNvSpPr>
                  <a:spLocks noChangeArrowheads="1"/>
                </p:cNvSpPr>
                <p:nvPr/>
              </p:nvSpPr>
              <p:spPr bwMode="auto">
                <a:xfrm>
                  <a:off x="759" y="0"/>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Allocation</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93" name="Rectangle 10"/>
                <p:cNvSpPr>
                  <a:spLocks noChangeArrowheads="1"/>
                </p:cNvSpPr>
                <p:nvPr/>
              </p:nvSpPr>
              <p:spPr bwMode="auto">
                <a:xfrm>
                  <a:off x="716" y="0"/>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17" name="Group 11"/>
              <p:cNvGrpSpPr/>
              <p:nvPr/>
            </p:nvGrpSpPr>
            <p:grpSpPr bwMode="auto">
              <a:xfrm>
                <a:off x="1382" y="0"/>
                <a:ext cx="632" cy="384"/>
                <a:chOff x="1382" y="0"/>
                <a:chExt cx="632" cy="384"/>
              </a:xfrm>
            </p:grpSpPr>
            <p:sp>
              <p:nvSpPr>
                <p:cNvPr id="119890" name="Rectangle 12"/>
                <p:cNvSpPr>
                  <a:spLocks noChangeArrowheads="1"/>
                </p:cNvSpPr>
                <p:nvPr/>
              </p:nvSpPr>
              <p:spPr bwMode="auto">
                <a:xfrm>
                  <a:off x="1425" y="0"/>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Need</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91" name="Rectangle 13"/>
                <p:cNvSpPr>
                  <a:spLocks noChangeArrowheads="1"/>
                </p:cNvSpPr>
                <p:nvPr/>
              </p:nvSpPr>
              <p:spPr bwMode="auto">
                <a:xfrm>
                  <a:off x="1382" y="0"/>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18" name="Group 14"/>
              <p:cNvGrpSpPr/>
              <p:nvPr/>
            </p:nvGrpSpPr>
            <p:grpSpPr bwMode="auto">
              <a:xfrm>
                <a:off x="2014" y="0"/>
                <a:ext cx="632" cy="384"/>
                <a:chOff x="2014" y="0"/>
                <a:chExt cx="632" cy="384"/>
              </a:xfrm>
            </p:grpSpPr>
            <p:sp>
              <p:nvSpPr>
                <p:cNvPr id="119888" name="Rectangle 15"/>
                <p:cNvSpPr>
                  <a:spLocks noChangeArrowheads="1"/>
                </p:cNvSpPr>
                <p:nvPr/>
              </p:nvSpPr>
              <p:spPr bwMode="auto">
                <a:xfrm>
                  <a:off x="2057" y="0"/>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Available</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89" name="Rectangle 16"/>
                <p:cNvSpPr>
                  <a:spLocks noChangeArrowheads="1"/>
                </p:cNvSpPr>
                <p:nvPr/>
              </p:nvSpPr>
              <p:spPr bwMode="auto">
                <a:xfrm>
                  <a:off x="2014" y="0"/>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19" name="Group 17"/>
              <p:cNvGrpSpPr/>
              <p:nvPr/>
            </p:nvGrpSpPr>
            <p:grpSpPr bwMode="auto">
              <a:xfrm>
                <a:off x="716" y="384"/>
                <a:ext cx="666" cy="384"/>
                <a:chOff x="716" y="384"/>
                <a:chExt cx="666" cy="384"/>
              </a:xfrm>
            </p:grpSpPr>
            <p:sp>
              <p:nvSpPr>
                <p:cNvPr id="119886" name="Rectangle 18"/>
                <p:cNvSpPr>
                  <a:spLocks noChangeArrowheads="1"/>
                </p:cNvSpPr>
                <p:nvPr/>
              </p:nvSpPr>
              <p:spPr bwMode="auto">
                <a:xfrm>
                  <a:off x="759" y="384"/>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A B C</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87" name="Rectangle 19"/>
                <p:cNvSpPr>
                  <a:spLocks noChangeArrowheads="1"/>
                </p:cNvSpPr>
                <p:nvPr/>
              </p:nvSpPr>
              <p:spPr bwMode="auto">
                <a:xfrm>
                  <a:off x="716" y="384"/>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0" name="Group 20"/>
              <p:cNvGrpSpPr/>
              <p:nvPr/>
            </p:nvGrpSpPr>
            <p:grpSpPr bwMode="auto">
              <a:xfrm>
                <a:off x="1382" y="384"/>
                <a:ext cx="632" cy="384"/>
                <a:chOff x="1382" y="384"/>
                <a:chExt cx="632" cy="384"/>
              </a:xfrm>
            </p:grpSpPr>
            <p:sp>
              <p:nvSpPr>
                <p:cNvPr id="119884" name="Rectangle 21"/>
                <p:cNvSpPr>
                  <a:spLocks noChangeArrowheads="1"/>
                </p:cNvSpPr>
                <p:nvPr/>
              </p:nvSpPr>
              <p:spPr bwMode="auto">
                <a:xfrm>
                  <a:off x="1425" y="384"/>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A B C</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85" name="Rectangle 22"/>
                <p:cNvSpPr>
                  <a:spLocks noChangeArrowheads="1"/>
                </p:cNvSpPr>
                <p:nvPr/>
              </p:nvSpPr>
              <p:spPr bwMode="auto">
                <a:xfrm>
                  <a:off x="1382" y="384"/>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1" name="Group 23"/>
              <p:cNvGrpSpPr/>
              <p:nvPr/>
            </p:nvGrpSpPr>
            <p:grpSpPr bwMode="auto">
              <a:xfrm>
                <a:off x="2014" y="384"/>
                <a:ext cx="632" cy="384"/>
                <a:chOff x="2014" y="384"/>
                <a:chExt cx="632" cy="384"/>
              </a:xfrm>
            </p:grpSpPr>
            <p:sp>
              <p:nvSpPr>
                <p:cNvPr id="119882" name="Rectangle 24"/>
                <p:cNvSpPr>
                  <a:spLocks noChangeArrowheads="1"/>
                </p:cNvSpPr>
                <p:nvPr/>
              </p:nvSpPr>
              <p:spPr bwMode="auto">
                <a:xfrm>
                  <a:off x="2057" y="384"/>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A B C</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83" name="Rectangle 25"/>
                <p:cNvSpPr>
                  <a:spLocks noChangeArrowheads="1"/>
                </p:cNvSpPr>
                <p:nvPr/>
              </p:nvSpPr>
              <p:spPr bwMode="auto">
                <a:xfrm>
                  <a:off x="2014" y="384"/>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2" name="Group 26"/>
              <p:cNvGrpSpPr/>
              <p:nvPr/>
            </p:nvGrpSpPr>
            <p:grpSpPr bwMode="auto">
              <a:xfrm>
                <a:off x="0" y="768"/>
                <a:ext cx="716" cy="384"/>
                <a:chOff x="0" y="768"/>
                <a:chExt cx="716" cy="384"/>
              </a:xfrm>
            </p:grpSpPr>
            <p:sp>
              <p:nvSpPr>
                <p:cNvPr id="119880" name="Rectangle 27"/>
                <p:cNvSpPr>
                  <a:spLocks noChangeArrowheads="1"/>
                </p:cNvSpPr>
                <p:nvPr/>
              </p:nvSpPr>
              <p:spPr bwMode="auto">
                <a:xfrm>
                  <a:off x="43" y="768"/>
                  <a:ext cx="63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81" name="Rectangle 28"/>
                <p:cNvSpPr>
                  <a:spLocks noChangeArrowheads="1"/>
                </p:cNvSpPr>
                <p:nvPr/>
              </p:nvSpPr>
              <p:spPr bwMode="auto">
                <a:xfrm>
                  <a:off x="0" y="768"/>
                  <a:ext cx="71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3" name="Group 29"/>
              <p:cNvGrpSpPr/>
              <p:nvPr/>
            </p:nvGrpSpPr>
            <p:grpSpPr bwMode="auto">
              <a:xfrm>
                <a:off x="716" y="768"/>
                <a:ext cx="666" cy="384"/>
                <a:chOff x="716" y="768"/>
                <a:chExt cx="666" cy="384"/>
              </a:xfrm>
            </p:grpSpPr>
            <p:sp>
              <p:nvSpPr>
                <p:cNvPr id="119878" name="Rectangle 30"/>
                <p:cNvSpPr>
                  <a:spLocks noChangeArrowheads="1"/>
                </p:cNvSpPr>
                <p:nvPr/>
              </p:nvSpPr>
              <p:spPr bwMode="auto">
                <a:xfrm>
                  <a:off x="759" y="768"/>
                  <a:ext cx="5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0 3 0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79" name="Rectangle 31"/>
                <p:cNvSpPr>
                  <a:spLocks noChangeArrowheads="1"/>
                </p:cNvSpPr>
                <p:nvPr/>
              </p:nvSpPr>
              <p:spPr bwMode="auto">
                <a:xfrm>
                  <a:off x="716" y="768"/>
                  <a:ext cx="666"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4" name="Group 32"/>
              <p:cNvGrpSpPr/>
              <p:nvPr/>
            </p:nvGrpSpPr>
            <p:grpSpPr bwMode="auto">
              <a:xfrm>
                <a:off x="1382" y="768"/>
                <a:ext cx="632" cy="384"/>
                <a:chOff x="1382" y="768"/>
                <a:chExt cx="632" cy="384"/>
              </a:xfrm>
            </p:grpSpPr>
            <p:sp>
              <p:nvSpPr>
                <p:cNvPr id="119876" name="Rectangle 33"/>
                <p:cNvSpPr>
                  <a:spLocks noChangeArrowheads="1"/>
                </p:cNvSpPr>
                <p:nvPr/>
              </p:nvSpPr>
              <p:spPr bwMode="auto">
                <a:xfrm>
                  <a:off x="1425" y="768"/>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7 2 3</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77" name="Rectangle 34"/>
                <p:cNvSpPr>
                  <a:spLocks noChangeArrowheads="1"/>
                </p:cNvSpPr>
                <p:nvPr/>
              </p:nvSpPr>
              <p:spPr bwMode="auto">
                <a:xfrm>
                  <a:off x="1382" y="768"/>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5" name="Group 35"/>
              <p:cNvGrpSpPr/>
              <p:nvPr/>
            </p:nvGrpSpPr>
            <p:grpSpPr bwMode="auto">
              <a:xfrm>
                <a:off x="2014" y="768"/>
                <a:ext cx="632" cy="384"/>
                <a:chOff x="2014" y="768"/>
                <a:chExt cx="632" cy="384"/>
              </a:xfrm>
            </p:grpSpPr>
            <p:sp>
              <p:nvSpPr>
                <p:cNvPr id="119874" name="Rectangle 36"/>
                <p:cNvSpPr>
                  <a:spLocks noChangeArrowheads="1"/>
                </p:cNvSpPr>
                <p:nvPr/>
              </p:nvSpPr>
              <p:spPr bwMode="auto">
                <a:xfrm>
                  <a:off x="2057" y="768"/>
                  <a:ext cx="5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2 1 0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75" name="Rectangle 37"/>
                <p:cNvSpPr>
                  <a:spLocks noChangeArrowheads="1"/>
                </p:cNvSpPr>
                <p:nvPr/>
              </p:nvSpPr>
              <p:spPr bwMode="auto">
                <a:xfrm>
                  <a:off x="2014" y="768"/>
                  <a:ext cx="632" cy="384"/>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6" name="Group 38"/>
              <p:cNvGrpSpPr/>
              <p:nvPr/>
            </p:nvGrpSpPr>
            <p:grpSpPr bwMode="auto">
              <a:xfrm>
                <a:off x="0" y="1152"/>
                <a:ext cx="716" cy="422"/>
                <a:chOff x="0" y="1152"/>
                <a:chExt cx="716" cy="422"/>
              </a:xfrm>
            </p:grpSpPr>
            <p:sp>
              <p:nvSpPr>
                <p:cNvPr id="119872" name="Rectangle 39"/>
                <p:cNvSpPr>
                  <a:spLocks noChangeArrowheads="1"/>
                </p:cNvSpPr>
                <p:nvPr/>
              </p:nvSpPr>
              <p:spPr bwMode="auto">
                <a:xfrm>
                  <a:off x="43" y="1152"/>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73" name="Rectangle 40"/>
                <p:cNvSpPr>
                  <a:spLocks noChangeArrowheads="1"/>
                </p:cNvSpPr>
                <p:nvPr/>
              </p:nvSpPr>
              <p:spPr bwMode="auto">
                <a:xfrm>
                  <a:off x="0" y="1152"/>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7" name="Group 41"/>
              <p:cNvGrpSpPr/>
              <p:nvPr/>
            </p:nvGrpSpPr>
            <p:grpSpPr bwMode="auto">
              <a:xfrm>
                <a:off x="716" y="1152"/>
                <a:ext cx="666" cy="422"/>
                <a:chOff x="716" y="1152"/>
                <a:chExt cx="666" cy="422"/>
              </a:xfrm>
            </p:grpSpPr>
            <p:sp>
              <p:nvSpPr>
                <p:cNvPr id="119870" name="Rectangle 42"/>
                <p:cNvSpPr>
                  <a:spLocks noChangeArrowheads="1"/>
                </p:cNvSpPr>
                <p:nvPr/>
              </p:nvSpPr>
              <p:spPr bwMode="auto">
                <a:xfrm>
                  <a:off x="759" y="1152"/>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3 0 2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71" name="Rectangle 43"/>
                <p:cNvSpPr>
                  <a:spLocks noChangeArrowheads="1"/>
                </p:cNvSpPr>
                <p:nvPr/>
              </p:nvSpPr>
              <p:spPr bwMode="auto">
                <a:xfrm>
                  <a:off x="716" y="1152"/>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8" name="Group 44"/>
              <p:cNvGrpSpPr/>
              <p:nvPr/>
            </p:nvGrpSpPr>
            <p:grpSpPr bwMode="auto">
              <a:xfrm>
                <a:off x="1382" y="1152"/>
                <a:ext cx="632" cy="422"/>
                <a:chOff x="1382" y="1152"/>
                <a:chExt cx="632" cy="422"/>
              </a:xfrm>
            </p:grpSpPr>
            <p:sp>
              <p:nvSpPr>
                <p:cNvPr id="119868" name="Rectangle 45"/>
                <p:cNvSpPr>
                  <a:spLocks noChangeArrowheads="1"/>
                </p:cNvSpPr>
                <p:nvPr/>
              </p:nvSpPr>
              <p:spPr bwMode="auto">
                <a:xfrm>
                  <a:off x="1425" y="1152"/>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0 2 0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69" name="Rectangle 46"/>
                <p:cNvSpPr>
                  <a:spLocks noChangeArrowheads="1"/>
                </p:cNvSpPr>
                <p:nvPr/>
              </p:nvSpPr>
              <p:spPr bwMode="auto">
                <a:xfrm>
                  <a:off x="1382" y="1152"/>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29" name="Group 47"/>
              <p:cNvGrpSpPr/>
              <p:nvPr/>
            </p:nvGrpSpPr>
            <p:grpSpPr bwMode="auto">
              <a:xfrm>
                <a:off x="2014" y="1152"/>
                <a:ext cx="632" cy="422"/>
                <a:chOff x="2014" y="1152"/>
                <a:chExt cx="632" cy="422"/>
              </a:xfrm>
            </p:grpSpPr>
            <p:sp>
              <p:nvSpPr>
                <p:cNvPr id="119866" name="Rectangle 48"/>
                <p:cNvSpPr>
                  <a:spLocks noChangeArrowheads="1"/>
                </p:cNvSpPr>
                <p:nvPr/>
              </p:nvSpPr>
              <p:spPr bwMode="auto">
                <a:xfrm>
                  <a:off x="2057" y="1152"/>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latin typeface="Courier New" panose="02070309020205020404" pitchFamily="49" charset="0"/>
                      <a:ea typeface="楷体_GB2312" pitchFamily="49" charset="-122"/>
                    </a:rPr>
                    <a:t> </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67" name="Rectangle 49"/>
                <p:cNvSpPr>
                  <a:spLocks noChangeArrowheads="1"/>
                </p:cNvSpPr>
                <p:nvPr/>
              </p:nvSpPr>
              <p:spPr bwMode="auto">
                <a:xfrm>
                  <a:off x="2014" y="1152"/>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0" name="Group 50"/>
              <p:cNvGrpSpPr/>
              <p:nvPr/>
            </p:nvGrpSpPr>
            <p:grpSpPr bwMode="auto">
              <a:xfrm>
                <a:off x="0" y="1574"/>
                <a:ext cx="716" cy="422"/>
                <a:chOff x="0" y="1574"/>
                <a:chExt cx="716" cy="422"/>
              </a:xfrm>
            </p:grpSpPr>
            <p:sp>
              <p:nvSpPr>
                <p:cNvPr id="119864" name="Rectangle 51"/>
                <p:cNvSpPr>
                  <a:spLocks noChangeArrowheads="1"/>
                </p:cNvSpPr>
                <p:nvPr/>
              </p:nvSpPr>
              <p:spPr bwMode="auto">
                <a:xfrm>
                  <a:off x="43" y="1574"/>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65" name="Rectangle 52"/>
                <p:cNvSpPr>
                  <a:spLocks noChangeArrowheads="1"/>
                </p:cNvSpPr>
                <p:nvPr/>
              </p:nvSpPr>
              <p:spPr bwMode="auto">
                <a:xfrm>
                  <a:off x="0" y="1574"/>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1" name="Group 53"/>
              <p:cNvGrpSpPr/>
              <p:nvPr/>
            </p:nvGrpSpPr>
            <p:grpSpPr bwMode="auto">
              <a:xfrm>
                <a:off x="716" y="1574"/>
                <a:ext cx="666" cy="422"/>
                <a:chOff x="716" y="1574"/>
                <a:chExt cx="666" cy="422"/>
              </a:xfrm>
            </p:grpSpPr>
            <p:sp>
              <p:nvSpPr>
                <p:cNvPr id="119862" name="Rectangle 54"/>
                <p:cNvSpPr>
                  <a:spLocks noChangeArrowheads="1"/>
                </p:cNvSpPr>
                <p:nvPr/>
              </p:nvSpPr>
              <p:spPr bwMode="auto">
                <a:xfrm>
                  <a:off x="759" y="1574"/>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3 0 2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63" name="Rectangle 55"/>
                <p:cNvSpPr>
                  <a:spLocks noChangeArrowheads="1"/>
                </p:cNvSpPr>
                <p:nvPr/>
              </p:nvSpPr>
              <p:spPr bwMode="auto">
                <a:xfrm>
                  <a:off x="716" y="1574"/>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2" name="Group 56"/>
              <p:cNvGrpSpPr/>
              <p:nvPr/>
            </p:nvGrpSpPr>
            <p:grpSpPr bwMode="auto">
              <a:xfrm>
                <a:off x="1382" y="1574"/>
                <a:ext cx="632" cy="422"/>
                <a:chOff x="1382" y="1574"/>
                <a:chExt cx="632" cy="422"/>
              </a:xfrm>
            </p:grpSpPr>
            <p:sp>
              <p:nvSpPr>
                <p:cNvPr id="119860" name="Rectangle 57"/>
                <p:cNvSpPr>
                  <a:spLocks noChangeArrowheads="1"/>
                </p:cNvSpPr>
                <p:nvPr/>
              </p:nvSpPr>
              <p:spPr bwMode="auto">
                <a:xfrm>
                  <a:off x="1425" y="1574"/>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6 0 0</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61" name="Rectangle 58"/>
                <p:cNvSpPr>
                  <a:spLocks noChangeArrowheads="1"/>
                </p:cNvSpPr>
                <p:nvPr/>
              </p:nvSpPr>
              <p:spPr bwMode="auto">
                <a:xfrm>
                  <a:off x="1382" y="1574"/>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3" name="Group 59"/>
              <p:cNvGrpSpPr/>
              <p:nvPr/>
            </p:nvGrpSpPr>
            <p:grpSpPr bwMode="auto">
              <a:xfrm>
                <a:off x="2014" y="1574"/>
                <a:ext cx="632" cy="422"/>
                <a:chOff x="2014" y="1574"/>
                <a:chExt cx="632" cy="422"/>
              </a:xfrm>
            </p:grpSpPr>
            <p:sp>
              <p:nvSpPr>
                <p:cNvPr id="119858" name="Rectangle 60"/>
                <p:cNvSpPr>
                  <a:spLocks noChangeArrowheads="1"/>
                </p:cNvSpPr>
                <p:nvPr/>
              </p:nvSpPr>
              <p:spPr bwMode="auto">
                <a:xfrm>
                  <a:off x="2057" y="1574"/>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latin typeface="Courier New" panose="02070309020205020404" pitchFamily="49" charset="0"/>
                      <a:ea typeface="楷体_GB2312" pitchFamily="49" charset="-122"/>
                    </a:rPr>
                    <a:t> </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59" name="Rectangle 61"/>
                <p:cNvSpPr>
                  <a:spLocks noChangeArrowheads="1"/>
                </p:cNvSpPr>
                <p:nvPr/>
              </p:nvSpPr>
              <p:spPr bwMode="auto">
                <a:xfrm>
                  <a:off x="2014" y="1574"/>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4" name="Group 62"/>
              <p:cNvGrpSpPr/>
              <p:nvPr/>
            </p:nvGrpSpPr>
            <p:grpSpPr bwMode="auto">
              <a:xfrm>
                <a:off x="0" y="1996"/>
                <a:ext cx="716" cy="422"/>
                <a:chOff x="0" y="1996"/>
                <a:chExt cx="716" cy="422"/>
              </a:xfrm>
            </p:grpSpPr>
            <p:sp>
              <p:nvSpPr>
                <p:cNvPr id="119856" name="Rectangle 63"/>
                <p:cNvSpPr>
                  <a:spLocks noChangeArrowheads="1"/>
                </p:cNvSpPr>
                <p:nvPr/>
              </p:nvSpPr>
              <p:spPr bwMode="auto">
                <a:xfrm>
                  <a:off x="43" y="1996"/>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P3</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57" name="Rectangle 64"/>
                <p:cNvSpPr>
                  <a:spLocks noChangeArrowheads="1"/>
                </p:cNvSpPr>
                <p:nvPr/>
              </p:nvSpPr>
              <p:spPr bwMode="auto">
                <a:xfrm>
                  <a:off x="0" y="1996"/>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5" name="Group 65"/>
              <p:cNvGrpSpPr/>
              <p:nvPr/>
            </p:nvGrpSpPr>
            <p:grpSpPr bwMode="auto">
              <a:xfrm>
                <a:off x="716" y="1996"/>
                <a:ext cx="666" cy="422"/>
                <a:chOff x="716" y="1996"/>
                <a:chExt cx="666" cy="422"/>
              </a:xfrm>
            </p:grpSpPr>
            <p:sp>
              <p:nvSpPr>
                <p:cNvPr id="119854" name="Rectangle 66"/>
                <p:cNvSpPr>
                  <a:spLocks noChangeArrowheads="1"/>
                </p:cNvSpPr>
                <p:nvPr/>
              </p:nvSpPr>
              <p:spPr bwMode="auto">
                <a:xfrm>
                  <a:off x="759" y="1996"/>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2 1 1 </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55" name="Rectangle 67"/>
                <p:cNvSpPr>
                  <a:spLocks noChangeArrowheads="1"/>
                </p:cNvSpPr>
                <p:nvPr/>
              </p:nvSpPr>
              <p:spPr bwMode="auto">
                <a:xfrm>
                  <a:off x="716" y="1996"/>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6" name="Group 68"/>
              <p:cNvGrpSpPr/>
              <p:nvPr/>
            </p:nvGrpSpPr>
            <p:grpSpPr bwMode="auto">
              <a:xfrm>
                <a:off x="1382" y="1996"/>
                <a:ext cx="632" cy="422"/>
                <a:chOff x="1382" y="1996"/>
                <a:chExt cx="632" cy="422"/>
              </a:xfrm>
            </p:grpSpPr>
            <p:sp>
              <p:nvSpPr>
                <p:cNvPr id="119852" name="Rectangle 69"/>
                <p:cNvSpPr>
                  <a:spLocks noChangeArrowheads="1"/>
                </p:cNvSpPr>
                <p:nvPr/>
              </p:nvSpPr>
              <p:spPr bwMode="auto">
                <a:xfrm>
                  <a:off x="1425" y="1996"/>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0 1 1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53" name="Rectangle 70"/>
                <p:cNvSpPr>
                  <a:spLocks noChangeArrowheads="1"/>
                </p:cNvSpPr>
                <p:nvPr/>
              </p:nvSpPr>
              <p:spPr bwMode="auto">
                <a:xfrm>
                  <a:off x="1382" y="1996"/>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7" name="Group 71"/>
              <p:cNvGrpSpPr/>
              <p:nvPr/>
            </p:nvGrpSpPr>
            <p:grpSpPr bwMode="auto">
              <a:xfrm>
                <a:off x="2014" y="1996"/>
                <a:ext cx="632" cy="422"/>
                <a:chOff x="2014" y="1996"/>
                <a:chExt cx="632" cy="422"/>
              </a:xfrm>
            </p:grpSpPr>
            <p:sp>
              <p:nvSpPr>
                <p:cNvPr id="119850" name="Rectangle 72"/>
                <p:cNvSpPr>
                  <a:spLocks noChangeArrowheads="1"/>
                </p:cNvSpPr>
                <p:nvPr/>
              </p:nvSpPr>
              <p:spPr bwMode="auto">
                <a:xfrm>
                  <a:off x="2057" y="1996"/>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latin typeface="Courier New" panose="02070309020205020404" pitchFamily="49" charset="0"/>
                      <a:ea typeface="楷体_GB2312" pitchFamily="49" charset="-122"/>
                    </a:rPr>
                    <a:t> </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51" name="Rectangle 73"/>
                <p:cNvSpPr>
                  <a:spLocks noChangeArrowheads="1"/>
                </p:cNvSpPr>
                <p:nvPr/>
              </p:nvSpPr>
              <p:spPr bwMode="auto">
                <a:xfrm>
                  <a:off x="2014" y="1996"/>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8" name="Group 74"/>
              <p:cNvGrpSpPr/>
              <p:nvPr/>
            </p:nvGrpSpPr>
            <p:grpSpPr bwMode="auto">
              <a:xfrm>
                <a:off x="0" y="2418"/>
                <a:ext cx="716" cy="422"/>
                <a:chOff x="0" y="2418"/>
                <a:chExt cx="716" cy="422"/>
              </a:xfrm>
            </p:grpSpPr>
            <p:sp>
              <p:nvSpPr>
                <p:cNvPr id="119848" name="Rectangle 75"/>
                <p:cNvSpPr>
                  <a:spLocks noChangeArrowheads="1"/>
                </p:cNvSpPr>
                <p:nvPr/>
              </p:nvSpPr>
              <p:spPr bwMode="auto">
                <a:xfrm>
                  <a:off x="43" y="2418"/>
                  <a:ext cx="63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P4</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49" name="Rectangle 76"/>
                <p:cNvSpPr>
                  <a:spLocks noChangeArrowheads="1"/>
                </p:cNvSpPr>
                <p:nvPr/>
              </p:nvSpPr>
              <p:spPr bwMode="auto">
                <a:xfrm>
                  <a:off x="0" y="2418"/>
                  <a:ext cx="71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39" name="Group 77"/>
              <p:cNvGrpSpPr/>
              <p:nvPr/>
            </p:nvGrpSpPr>
            <p:grpSpPr bwMode="auto">
              <a:xfrm>
                <a:off x="716" y="2418"/>
                <a:ext cx="666" cy="422"/>
                <a:chOff x="716" y="2418"/>
                <a:chExt cx="666" cy="422"/>
              </a:xfrm>
            </p:grpSpPr>
            <p:sp>
              <p:nvSpPr>
                <p:cNvPr id="119846" name="Rectangle 78"/>
                <p:cNvSpPr>
                  <a:spLocks noChangeArrowheads="1"/>
                </p:cNvSpPr>
                <p:nvPr/>
              </p:nvSpPr>
              <p:spPr bwMode="auto">
                <a:xfrm>
                  <a:off x="759" y="2418"/>
                  <a:ext cx="580"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0 0 2</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47" name="Rectangle 79"/>
                <p:cNvSpPr>
                  <a:spLocks noChangeArrowheads="1"/>
                </p:cNvSpPr>
                <p:nvPr/>
              </p:nvSpPr>
              <p:spPr bwMode="auto">
                <a:xfrm>
                  <a:off x="716" y="2418"/>
                  <a:ext cx="666"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40" name="Group 80"/>
              <p:cNvGrpSpPr/>
              <p:nvPr/>
            </p:nvGrpSpPr>
            <p:grpSpPr bwMode="auto">
              <a:xfrm>
                <a:off x="1382" y="2418"/>
                <a:ext cx="632" cy="422"/>
                <a:chOff x="1382" y="2418"/>
                <a:chExt cx="632" cy="422"/>
              </a:xfrm>
            </p:grpSpPr>
            <p:sp>
              <p:nvSpPr>
                <p:cNvPr id="119844" name="Rectangle 81"/>
                <p:cNvSpPr>
                  <a:spLocks noChangeArrowheads="1"/>
                </p:cNvSpPr>
                <p:nvPr/>
              </p:nvSpPr>
              <p:spPr bwMode="auto">
                <a:xfrm>
                  <a:off x="1425" y="2418"/>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ea typeface="楷体_GB2312" pitchFamily="49" charset="-122"/>
                    </a:rPr>
                    <a:t>4 3 1</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45" name="Rectangle 82"/>
                <p:cNvSpPr>
                  <a:spLocks noChangeArrowheads="1"/>
                </p:cNvSpPr>
                <p:nvPr/>
              </p:nvSpPr>
              <p:spPr bwMode="auto">
                <a:xfrm>
                  <a:off x="1382" y="2418"/>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nvGrpSpPr>
              <p:cNvPr id="119841" name="Group 83"/>
              <p:cNvGrpSpPr/>
              <p:nvPr/>
            </p:nvGrpSpPr>
            <p:grpSpPr bwMode="auto">
              <a:xfrm>
                <a:off x="2014" y="2418"/>
                <a:ext cx="632" cy="422"/>
                <a:chOff x="2014" y="2418"/>
                <a:chExt cx="632" cy="422"/>
              </a:xfrm>
            </p:grpSpPr>
            <p:sp>
              <p:nvSpPr>
                <p:cNvPr id="119842" name="Rectangle 84"/>
                <p:cNvSpPr>
                  <a:spLocks noChangeArrowheads="1"/>
                </p:cNvSpPr>
                <p:nvPr/>
              </p:nvSpPr>
              <p:spPr bwMode="auto">
                <a:xfrm>
                  <a:off x="2057" y="2418"/>
                  <a:ext cx="546"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a:latin typeface="Courier New" panose="02070309020205020404" pitchFamily="49" charset="0"/>
                      <a:ea typeface="楷体_GB2312" pitchFamily="49" charset="-122"/>
                    </a:rPr>
                    <a:t> </a:t>
                  </a:r>
                  <a:endParaRPr lang="en-US" altLang="zh-CN" sz="2400">
                    <a:ea typeface="楷体_GB2312" pitchFamily="49" charset="-122"/>
                  </a:endParaRPr>
                </a:p>
                <a:p>
                  <a:pPr algn="just">
                    <a:spcBef>
                      <a:spcPct val="0"/>
                    </a:spcBef>
                    <a:buClrTx/>
                    <a:buFontTx/>
                    <a:buNone/>
                  </a:pPr>
                  <a:endParaRPr lang="en-US" altLang="zh-CN" sz="2400">
                    <a:ea typeface="楷体_GB2312" pitchFamily="49" charset="-122"/>
                  </a:endParaRPr>
                </a:p>
              </p:txBody>
            </p:sp>
            <p:sp>
              <p:nvSpPr>
                <p:cNvPr id="119843" name="Rectangle 85"/>
                <p:cNvSpPr>
                  <a:spLocks noChangeArrowheads="1"/>
                </p:cNvSpPr>
                <p:nvPr/>
              </p:nvSpPr>
              <p:spPr bwMode="auto">
                <a:xfrm>
                  <a:off x="2014" y="2418"/>
                  <a:ext cx="632" cy="42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grpSp>
        <p:sp>
          <p:nvSpPr>
            <p:cNvPr id="119814" name="Rectangle 86"/>
            <p:cNvSpPr>
              <a:spLocks noChangeArrowheads="1"/>
            </p:cNvSpPr>
            <p:nvPr/>
          </p:nvSpPr>
          <p:spPr bwMode="auto">
            <a:xfrm>
              <a:off x="-3" y="-3"/>
              <a:ext cx="2652" cy="2846"/>
            </a:xfrm>
            <a:prstGeom prst="rect">
              <a:avLst/>
            </a:prstGeom>
            <a:noFill/>
            <a:ln w="11112">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a:latin typeface="Tahoma" panose="020B0604030504040204" pitchFamily="34" charset="0"/>
                <a:ea typeface="楷体_GB2312" pitchFamily="49" charset="-122"/>
              </a:endParaRPr>
            </a:p>
          </p:txBody>
        </p:sp>
      </p:grpSp>
      <p:sp>
        <p:nvSpPr>
          <p:cNvPr id="119812" name="Rectangle 87"/>
          <p:cNvSpPr>
            <a:spLocks noChangeArrowheads="1"/>
          </p:cNvSpPr>
          <p:nvPr/>
        </p:nvSpPr>
        <p:spPr bwMode="auto">
          <a:xfrm>
            <a:off x="2881313" y="357189"/>
            <a:ext cx="6248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a:ea typeface="楷体_GB2312" pitchFamily="49" charset="-122"/>
              </a:rPr>
              <a:t>图</a:t>
            </a:r>
            <a:r>
              <a:rPr lang="en-US" altLang="zh-CN" sz="2400">
                <a:ea typeface="楷体_GB2312" pitchFamily="49" charset="-122"/>
              </a:rPr>
              <a:t>3</a:t>
            </a:r>
            <a:r>
              <a:rPr lang="zh-CN" altLang="en-US" sz="2400">
                <a:ea typeface="楷体_GB2312" pitchFamily="49" charset="-122"/>
              </a:rPr>
              <a:t>一</a:t>
            </a:r>
            <a:r>
              <a:rPr lang="en-US" altLang="zh-CN" sz="2400">
                <a:ea typeface="楷体_GB2312" pitchFamily="49" charset="-122"/>
              </a:rPr>
              <a:t>19</a:t>
            </a:r>
            <a:r>
              <a:rPr lang="zh-CN" altLang="en-US" sz="2400">
                <a:ea typeface="楷体_GB2312" pitchFamily="49" charset="-122"/>
              </a:rPr>
              <a:t>为</a:t>
            </a:r>
            <a:r>
              <a:rPr lang="en-US" altLang="zh-CN" sz="2400">
                <a:ea typeface="楷体_GB2312" pitchFamily="49" charset="-122"/>
              </a:rPr>
              <a:t>P0</a:t>
            </a:r>
            <a:r>
              <a:rPr lang="zh-CN" altLang="en-US" sz="2400">
                <a:ea typeface="楷体_GB2312" pitchFamily="49" charset="-122"/>
              </a:rPr>
              <a:t>分配资源后的有关资源数据 </a:t>
            </a:r>
            <a:endParaRPr lang="zh-CN" altLang="en-US" sz="2400">
              <a:ea typeface="楷体_GB2312" pitchFamily="49" charset="-12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Rot="1" noChangeArrowheads="1"/>
          </p:cNvSpPr>
          <p:nvPr>
            <p:ph type="title"/>
          </p:nvPr>
        </p:nvSpPr>
        <p:spPr/>
        <p:txBody>
          <a:bodyPr/>
          <a:lstStyle/>
          <a:p>
            <a:pPr>
              <a:defRPr/>
            </a:pPr>
            <a:r>
              <a:rPr lang="zh-CN" altLang="en-US" i="1" dirty="0">
                <a:latin typeface="仿宋_GB2312" pitchFamily="49" charset="-122"/>
                <a:ea typeface="仿宋_GB2312" pitchFamily="49" charset="-122"/>
              </a:rPr>
              <a:t>举例</a:t>
            </a:r>
            <a:r>
              <a:rPr lang="en-US" altLang="zh-CN" i="1" dirty="0">
                <a:latin typeface="仿宋_GB2312" pitchFamily="49" charset="-122"/>
                <a:ea typeface="仿宋_GB2312" pitchFamily="49" charset="-122"/>
              </a:rPr>
              <a:t>2</a:t>
            </a:r>
            <a:r>
              <a:rPr lang="zh-CN" altLang="en-US" i="1" dirty="0">
                <a:latin typeface="仿宋_GB2312" pitchFamily="49" charset="-122"/>
                <a:ea typeface="仿宋_GB2312" pitchFamily="49" charset="-122"/>
              </a:rPr>
              <a:t>  </a:t>
            </a:r>
            <a:endParaRPr lang="zh-CN" altLang="en-US" i="1" dirty="0">
              <a:latin typeface="仿宋_GB2312" pitchFamily="49" charset="-122"/>
              <a:ea typeface="仿宋_GB2312" pitchFamily="49" charset="-122"/>
            </a:endParaRPr>
          </a:p>
        </p:txBody>
      </p:sp>
      <p:sp>
        <p:nvSpPr>
          <p:cNvPr id="455683" name="Rectangle 3"/>
          <p:cNvSpPr>
            <a:spLocks noGrp="1" noRot="1" noChangeArrowheads="1"/>
          </p:cNvSpPr>
          <p:nvPr>
            <p:ph idx="1"/>
          </p:nvPr>
        </p:nvSpPr>
        <p:spPr>
          <a:xfrm>
            <a:off x="1086522" y="1357313"/>
            <a:ext cx="10187492" cy="4114800"/>
          </a:xfrm>
        </p:spPr>
        <p:txBody>
          <a:bodyPr/>
          <a:lstStyle/>
          <a:p>
            <a:pPr>
              <a:lnSpc>
                <a:spcPct val="150000"/>
              </a:lnSpc>
              <a:buFont typeface="Wingdings" panose="05000000000000000000" pitchFamily="2" charset="2"/>
              <a:buNone/>
              <a:defRPr/>
            </a:pPr>
            <a:r>
              <a:rPr lang="en-US" altLang="zh-CN" dirty="0" err="1">
                <a:effectLst>
                  <a:outerShdw blurRad="38100" dist="38100" dir="2700000" algn="tl">
                    <a:srgbClr val="000000"/>
                  </a:outerShdw>
                </a:effectLst>
                <a:ea typeface="仿宋_GB2312" pitchFamily="49" charset="-122"/>
              </a:rPr>
              <a:t>T</a:t>
            </a:r>
            <a:r>
              <a:rPr lang="en-US" altLang="zh-CN" baseline="-30000" dirty="0" err="1">
                <a:effectLst>
                  <a:outerShdw blurRad="38100" dist="38100" dir="2700000" algn="tl">
                    <a:srgbClr val="000000"/>
                  </a:outerShdw>
                </a:effectLst>
                <a:ea typeface="仿宋_GB2312" pitchFamily="49" charset="-122"/>
              </a:rPr>
              <a:t>0</a:t>
            </a:r>
            <a:r>
              <a:rPr lang="zh-CN" altLang="en-US" dirty="0">
                <a:effectLst>
                  <a:outerShdw blurRad="38100" dist="38100" dir="2700000" algn="tl">
                    <a:srgbClr val="000000"/>
                  </a:outerShdw>
                </a:effectLst>
                <a:ea typeface="仿宋_GB2312" pitchFamily="49" charset="-122"/>
              </a:rPr>
              <a:t>时刻的资源分配情况 </a:t>
            </a:r>
            <a:endParaRPr lang="zh-CN" altLang="en-US" dirty="0">
              <a:effectLst>
                <a:outerShdw blurRad="38100" dist="38100" dir="2700000" algn="tl">
                  <a:srgbClr val="000000"/>
                </a:outerShdw>
              </a:effectLst>
              <a:ea typeface="仿宋_GB2312" pitchFamily="49" charset="-122"/>
            </a:endParaRPr>
          </a:p>
          <a:p>
            <a:pPr>
              <a:lnSpc>
                <a:spcPct val="150000"/>
              </a:lnSpc>
              <a:defRPr/>
            </a:pPr>
            <a:r>
              <a:rPr lang="zh-CN" altLang="en-US" dirty="0">
                <a:effectLst>
                  <a:outerShdw blurRad="38100" dist="38100" dir="2700000" algn="tl">
                    <a:srgbClr val="000000"/>
                  </a:outerShdw>
                </a:effectLst>
                <a:ea typeface="仿宋_GB2312" pitchFamily="49" charset="-122"/>
              </a:rPr>
              <a:t>假定系统中有四个进程</a:t>
            </a:r>
            <a:r>
              <a:rPr lang="en-US" altLang="zh-CN" dirty="0" err="1">
                <a:effectLst>
                  <a:outerShdw blurRad="38100" dist="38100" dir="2700000" algn="tl">
                    <a:srgbClr val="000000"/>
                  </a:outerShdw>
                </a:effectLst>
                <a:ea typeface="仿宋_GB2312" pitchFamily="49" charset="-122"/>
              </a:rPr>
              <a:t>P1,P2,P3,P4</a:t>
            </a:r>
            <a:r>
              <a:rPr lang="zh-CN" altLang="en-US" dirty="0">
                <a:effectLst>
                  <a:outerShdw blurRad="38100" dist="38100" dir="2700000" algn="tl">
                    <a:srgbClr val="000000"/>
                  </a:outerShdw>
                </a:effectLst>
                <a:ea typeface="仿宋_GB2312" pitchFamily="49" charset="-122"/>
              </a:rPr>
              <a:t>和三种类型的资源</a:t>
            </a:r>
            <a:r>
              <a:rPr lang="en-US" altLang="zh-CN" dirty="0" err="1">
                <a:effectLst>
                  <a:outerShdw blurRad="38100" dist="38100" dir="2700000" algn="tl">
                    <a:srgbClr val="000000"/>
                  </a:outerShdw>
                </a:effectLst>
                <a:ea typeface="仿宋_GB2312" pitchFamily="49" charset="-122"/>
              </a:rPr>
              <a:t>R1,R2,R3</a:t>
            </a:r>
            <a:r>
              <a:rPr lang="zh-CN" altLang="en-US" dirty="0">
                <a:effectLst>
                  <a:outerShdw blurRad="38100" dist="38100" dir="2700000" algn="tl">
                    <a:srgbClr val="000000"/>
                  </a:outerShdw>
                </a:effectLst>
                <a:ea typeface="仿宋_GB2312" pitchFamily="49" charset="-122"/>
              </a:rPr>
              <a:t>，每一种资源的数量分别为</a:t>
            </a:r>
            <a:r>
              <a:rPr lang="en-US" altLang="zh-CN" dirty="0">
                <a:effectLst>
                  <a:outerShdw blurRad="38100" dist="38100" dir="2700000" algn="tl">
                    <a:srgbClr val="000000"/>
                  </a:outerShdw>
                </a:effectLst>
                <a:ea typeface="仿宋_GB2312" pitchFamily="49" charset="-122"/>
              </a:rPr>
              <a:t>9</a:t>
            </a:r>
            <a:r>
              <a:rPr lang="zh-CN" altLang="en-US" dirty="0">
                <a:effectLst>
                  <a:outerShdw blurRad="38100" dist="38100" dir="2700000" algn="tl">
                    <a:srgbClr val="000000"/>
                  </a:outerShdw>
                </a:effectLst>
                <a:ea typeface="仿宋_GB2312" pitchFamily="49" charset="-122"/>
              </a:rPr>
              <a:t>、</a:t>
            </a:r>
            <a:r>
              <a:rPr lang="en-US" altLang="zh-CN" dirty="0">
                <a:effectLst>
                  <a:outerShdw blurRad="38100" dist="38100" dir="2700000" algn="tl">
                    <a:srgbClr val="000000"/>
                  </a:outerShdw>
                </a:effectLst>
                <a:ea typeface="仿宋_GB2312" pitchFamily="49" charset="-122"/>
              </a:rPr>
              <a:t>3</a:t>
            </a:r>
            <a:r>
              <a:rPr lang="zh-CN" altLang="en-US" dirty="0">
                <a:effectLst>
                  <a:outerShdw blurRad="38100" dist="38100" dir="2700000" algn="tl">
                    <a:srgbClr val="000000"/>
                  </a:outerShdw>
                </a:effectLst>
                <a:ea typeface="仿宋_GB2312" pitchFamily="49" charset="-122"/>
              </a:rPr>
              <a:t>、</a:t>
            </a:r>
            <a:r>
              <a:rPr lang="en-US" altLang="zh-CN" dirty="0">
                <a:effectLst>
                  <a:outerShdw blurRad="38100" dist="38100" dir="2700000" algn="tl">
                    <a:srgbClr val="000000"/>
                  </a:outerShdw>
                </a:effectLst>
                <a:ea typeface="仿宋_GB2312" pitchFamily="49" charset="-122"/>
              </a:rPr>
              <a:t>6</a:t>
            </a:r>
            <a:r>
              <a:rPr lang="zh-CN" altLang="en-US" dirty="0">
                <a:effectLst>
                  <a:outerShdw blurRad="38100" dist="38100" dir="2700000" algn="tl">
                    <a:srgbClr val="000000"/>
                  </a:outerShdw>
                </a:effectLst>
                <a:ea typeface="仿宋_GB2312" pitchFamily="49" charset="-122"/>
              </a:rPr>
              <a:t>，</a:t>
            </a:r>
            <a:r>
              <a:rPr lang="en-US" altLang="zh-CN" dirty="0" err="1">
                <a:effectLst>
                  <a:outerShdw blurRad="38100" dist="38100" dir="2700000" algn="tl">
                    <a:srgbClr val="000000"/>
                  </a:outerShdw>
                </a:effectLst>
                <a:ea typeface="仿宋_GB2312" pitchFamily="49" charset="-122"/>
              </a:rPr>
              <a:t>T</a:t>
            </a:r>
            <a:r>
              <a:rPr lang="en-US" altLang="zh-CN" baseline="-30000" dirty="0" err="1">
                <a:effectLst>
                  <a:outerShdw blurRad="38100" dist="38100" dir="2700000" algn="tl">
                    <a:srgbClr val="000000"/>
                  </a:outerShdw>
                </a:effectLst>
                <a:ea typeface="仿宋_GB2312" pitchFamily="49" charset="-122"/>
              </a:rPr>
              <a:t>0</a:t>
            </a:r>
            <a:r>
              <a:rPr lang="zh-CN" altLang="en-US" dirty="0">
                <a:effectLst>
                  <a:outerShdw blurRad="38100" dist="38100" dir="2700000" algn="tl">
                    <a:srgbClr val="000000"/>
                  </a:outerShdw>
                </a:effectLst>
                <a:ea typeface="仿宋_GB2312" pitchFamily="49" charset="-122"/>
              </a:rPr>
              <a:t>时刻的资源分配情况如表所示： </a:t>
            </a:r>
            <a:endParaRPr lang="zh-CN" altLang="en-US" dirty="0">
              <a:effectLst>
                <a:outerShdw blurRad="38100" dist="38100" dir="2700000" algn="tl">
                  <a:srgbClr val="000000"/>
                </a:outerShdw>
              </a:effectLst>
              <a:ea typeface="仿宋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894" name="Rectangle 190"/>
          <p:cNvSpPr>
            <a:spLocks noChangeArrowheads="1"/>
          </p:cNvSpPr>
          <p:nvPr/>
        </p:nvSpPr>
        <p:spPr bwMode="auto">
          <a:xfrm>
            <a:off x="1600200" y="533400"/>
            <a:ext cx="8991600" cy="5867400"/>
          </a:xfrm>
          <a:prstGeom prst="rect">
            <a:avLst/>
          </a:prstGeom>
          <a:noFill/>
          <a:ln>
            <a:noFill/>
          </a:ln>
          <a:effectLst>
            <a:prstShdw prst="shdw18" dist="17961" dir="13500000">
              <a:schemeClr val="tx1">
                <a:gamma/>
                <a:shade val="60000"/>
                <a:invGamma/>
              </a:schemeClr>
            </a:prstShdw>
          </a:effectLst>
        </p:spPr>
        <p:txBody>
          <a:bodyPr wrap="none" anchor="ctr"/>
          <a:lstStyle/>
          <a:p>
            <a:pPr algn="ctr" eaLnBrk="1" hangingPunct="1">
              <a:defRPr/>
            </a:pPr>
            <a:endParaRPr lang="zh-CN" altLang="en-US"/>
          </a:p>
        </p:txBody>
      </p:sp>
      <p:sp>
        <p:nvSpPr>
          <p:cNvPr id="122883" name="Text Box 191"/>
          <p:cNvSpPr txBox="1">
            <a:spLocks noChangeArrowheads="1"/>
          </p:cNvSpPr>
          <p:nvPr/>
        </p:nvSpPr>
        <p:spPr bwMode="auto">
          <a:xfrm>
            <a:off x="1752600" y="1828800"/>
            <a:ext cx="5715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133350">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1600">
                <a:solidFill>
                  <a:srgbClr val="003300"/>
                </a:solidFill>
                <a:ea typeface="楷体_GB2312" pitchFamily="49" charset="-122"/>
              </a:rPr>
              <a:t>进</a:t>
            </a:r>
            <a:endParaRPr lang="zh-CN" altLang="en-US" sz="1600">
              <a:solidFill>
                <a:srgbClr val="003300"/>
              </a:solidFill>
              <a:ea typeface="楷体_GB2312" pitchFamily="49" charset="-122"/>
            </a:endParaRPr>
          </a:p>
          <a:p>
            <a:pPr algn="just">
              <a:spcBef>
                <a:spcPct val="0"/>
              </a:spcBef>
              <a:buClrTx/>
              <a:buFontTx/>
              <a:buNone/>
            </a:pPr>
            <a:r>
              <a:rPr lang="zh-CN" altLang="en-US" sz="1600">
                <a:solidFill>
                  <a:srgbClr val="003300"/>
                </a:solidFill>
                <a:ea typeface="楷体_GB2312" pitchFamily="49" charset="-122"/>
              </a:rPr>
              <a:t>程</a:t>
            </a:r>
            <a:endParaRPr lang="zh-CN" altLang="en-US" sz="1600">
              <a:solidFill>
                <a:srgbClr val="003300"/>
              </a:solidFill>
              <a:ea typeface="楷体_GB2312" pitchFamily="49" charset="-122"/>
            </a:endParaRPr>
          </a:p>
          <a:p>
            <a:pPr algn="just">
              <a:spcBef>
                <a:spcPct val="0"/>
              </a:spcBef>
              <a:buClrTx/>
              <a:buFontTx/>
              <a:buNone/>
            </a:pPr>
            <a:endParaRPr lang="zh-CN" altLang="en-US" sz="1600">
              <a:solidFill>
                <a:srgbClr val="003300"/>
              </a:solidFill>
              <a:ea typeface="楷体_GB2312" pitchFamily="49" charset="-122"/>
            </a:endParaRPr>
          </a:p>
        </p:txBody>
      </p:sp>
      <p:sp>
        <p:nvSpPr>
          <p:cNvPr id="122884" name="Text Box 192"/>
          <p:cNvSpPr txBox="1">
            <a:spLocks noChangeArrowheads="1"/>
          </p:cNvSpPr>
          <p:nvPr/>
        </p:nvSpPr>
        <p:spPr bwMode="auto">
          <a:xfrm>
            <a:off x="1905000" y="1371600"/>
            <a:ext cx="5715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indent="266700">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1600">
                <a:solidFill>
                  <a:srgbClr val="003300"/>
                </a:solidFill>
                <a:ea typeface="楷体_GB2312" pitchFamily="49" charset="-122"/>
              </a:rPr>
              <a:t>资</a:t>
            </a:r>
            <a:endParaRPr lang="zh-CN" altLang="en-US" sz="1600">
              <a:solidFill>
                <a:srgbClr val="003300"/>
              </a:solidFill>
              <a:ea typeface="楷体_GB2312" pitchFamily="49" charset="-122"/>
            </a:endParaRPr>
          </a:p>
          <a:p>
            <a:pPr algn="just">
              <a:spcBef>
                <a:spcPct val="0"/>
              </a:spcBef>
              <a:buClrTx/>
              <a:buFontTx/>
              <a:buNone/>
            </a:pPr>
            <a:r>
              <a:rPr lang="zh-CN" altLang="en-US" sz="1600">
                <a:solidFill>
                  <a:srgbClr val="003300"/>
                </a:solidFill>
                <a:ea typeface="楷体_GB2312" pitchFamily="49" charset="-122"/>
              </a:rPr>
              <a:t>源</a:t>
            </a:r>
            <a:endParaRPr lang="zh-CN" altLang="en-US" sz="1600">
              <a:solidFill>
                <a:srgbClr val="003300"/>
              </a:solidFill>
              <a:ea typeface="楷体_GB2312" pitchFamily="49" charset="-122"/>
            </a:endParaRPr>
          </a:p>
          <a:p>
            <a:pPr algn="ctr">
              <a:spcBef>
                <a:spcPct val="0"/>
              </a:spcBef>
              <a:buClrTx/>
              <a:buFontTx/>
              <a:buNone/>
            </a:pPr>
            <a:endParaRPr lang="zh-CN" altLang="en-US" sz="1600">
              <a:solidFill>
                <a:srgbClr val="003300"/>
              </a:solidFill>
              <a:ea typeface="楷体_GB2312" pitchFamily="49" charset="-122"/>
            </a:endParaRPr>
          </a:p>
        </p:txBody>
      </p:sp>
      <p:sp>
        <p:nvSpPr>
          <p:cNvPr id="122885" name="Line 193"/>
          <p:cNvSpPr>
            <a:spLocks noChangeShapeType="1"/>
          </p:cNvSpPr>
          <p:nvPr/>
        </p:nvSpPr>
        <p:spPr bwMode="auto">
          <a:xfrm flipH="1" flipV="1">
            <a:off x="1905000" y="1371600"/>
            <a:ext cx="685800" cy="10668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22886" name="Group 194"/>
          <p:cNvGrpSpPr/>
          <p:nvPr/>
        </p:nvGrpSpPr>
        <p:grpSpPr bwMode="auto">
          <a:xfrm>
            <a:off x="1828800" y="1338263"/>
            <a:ext cx="8534400" cy="4183062"/>
            <a:chOff x="-3" y="-3"/>
            <a:chExt cx="4534" cy="2635"/>
          </a:xfrm>
        </p:grpSpPr>
        <p:grpSp>
          <p:nvGrpSpPr>
            <p:cNvPr id="122887" name="Group 195"/>
            <p:cNvGrpSpPr/>
            <p:nvPr/>
          </p:nvGrpSpPr>
          <p:grpSpPr bwMode="auto">
            <a:xfrm>
              <a:off x="0" y="0"/>
              <a:ext cx="4528" cy="2629"/>
              <a:chOff x="0" y="0"/>
              <a:chExt cx="4528" cy="2629"/>
            </a:xfrm>
          </p:grpSpPr>
          <p:grpSp>
            <p:nvGrpSpPr>
              <p:cNvPr id="122889" name="Group 196"/>
              <p:cNvGrpSpPr/>
              <p:nvPr/>
            </p:nvGrpSpPr>
            <p:grpSpPr bwMode="auto">
              <a:xfrm>
                <a:off x="0" y="0"/>
                <a:ext cx="411" cy="692"/>
                <a:chOff x="0" y="0"/>
                <a:chExt cx="411" cy="692"/>
              </a:xfrm>
            </p:grpSpPr>
            <p:grpSp>
              <p:nvGrpSpPr>
                <p:cNvPr id="123067" name="Group 197"/>
                <p:cNvGrpSpPr/>
                <p:nvPr/>
              </p:nvGrpSpPr>
              <p:grpSpPr bwMode="auto">
                <a:xfrm>
                  <a:off x="43" y="0"/>
                  <a:ext cx="325" cy="692"/>
                  <a:chOff x="0" y="0"/>
                  <a:chExt cx="325" cy="692"/>
                </a:xfrm>
              </p:grpSpPr>
              <p:sp>
                <p:nvSpPr>
                  <p:cNvPr id="123069" name="Rectangle 198"/>
                  <p:cNvSpPr>
                    <a:spLocks noChangeArrowheads="1"/>
                  </p:cNvSpPr>
                  <p:nvPr/>
                </p:nvSpPr>
                <p:spPr bwMode="auto">
                  <a:xfrm>
                    <a:off x="0" y="0"/>
                    <a:ext cx="3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sp>
                <p:nvSpPr>
                  <p:cNvPr id="123070" name="Rectangle 199"/>
                  <p:cNvSpPr>
                    <a:spLocks noChangeArrowheads="1"/>
                  </p:cNvSpPr>
                  <p:nvPr/>
                </p:nvSpPr>
                <p:spPr bwMode="auto">
                  <a:xfrm>
                    <a:off x="0" y="404"/>
                    <a:ext cx="3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solidFill>
                        <a:srgbClr val="003300"/>
                      </a:solidFill>
                      <a:ea typeface="楷体_GB2312" pitchFamily="49" charset="-122"/>
                    </a:endParaRPr>
                  </a:p>
                </p:txBody>
              </p:sp>
            </p:grpSp>
            <p:sp>
              <p:nvSpPr>
                <p:cNvPr id="123068" name="Rectangle 200"/>
                <p:cNvSpPr>
                  <a:spLocks noChangeArrowheads="1"/>
                </p:cNvSpPr>
                <p:nvPr/>
              </p:nvSpPr>
              <p:spPr bwMode="auto">
                <a:xfrm>
                  <a:off x="0" y="0"/>
                  <a:ext cx="411" cy="69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0" name="Group 201"/>
              <p:cNvGrpSpPr/>
              <p:nvPr/>
            </p:nvGrpSpPr>
            <p:grpSpPr bwMode="auto">
              <a:xfrm>
                <a:off x="411" y="0"/>
                <a:ext cx="1087" cy="499"/>
                <a:chOff x="411" y="0"/>
                <a:chExt cx="1087" cy="499"/>
              </a:xfrm>
            </p:grpSpPr>
            <p:sp>
              <p:nvSpPr>
                <p:cNvPr id="123065" name="Rectangle 202"/>
                <p:cNvSpPr>
                  <a:spLocks noChangeArrowheads="1"/>
                </p:cNvSpPr>
                <p:nvPr/>
              </p:nvSpPr>
              <p:spPr bwMode="auto">
                <a:xfrm>
                  <a:off x="454" y="0"/>
                  <a:ext cx="1001"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Max</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3066" name="Rectangle 203"/>
                <p:cNvSpPr>
                  <a:spLocks noChangeArrowheads="1"/>
                </p:cNvSpPr>
                <p:nvPr/>
              </p:nvSpPr>
              <p:spPr bwMode="auto">
                <a:xfrm>
                  <a:off x="411" y="0"/>
                  <a:ext cx="1087" cy="499"/>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1" name="Group 204"/>
              <p:cNvGrpSpPr/>
              <p:nvPr/>
            </p:nvGrpSpPr>
            <p:grpSpPr bwMode="auto">
              <a:xfrm>
                <a:off x="1498" y="0"/>
                <a:ext cx="1227" cy="499"/>
                <a:chOff x="1498" y="0"/>
                <a:chExt cx="1227" cy="499"/>
              </a:xfrm>
            </p:grpSpPr>
            <p:sp>
              <p:nvSpPr>
                <p:cNvPr id="123063" name="Rectangle 205"/>
                <p:cNvSpPr>
                  <a:spLocks noChangeArrowheads="1"/>
                </p:cNvSpPr>
                <p:nvPr/>
              </p:nvSpPr>
              <p:spPr bwMode="auto">
                <a:xfrm>
                  <a:off x="1541" y="0"/>
                  <a:ext cx="1141"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Allocation</a:t>
                  </a:r>
                  <a:endParaRPr lang="en-US" altLang="zh-CN" sz="2400" b="1">
                    <a:solidFill>
                      <a:srgbClr val="003300"/>
                    </a:solidFill>
                    <a:ea typeface="楷体_GB2312" pitchFamily="49" charset="-122"/>
                  </a:endParaRPr>
                </a:p>
                <a:p>
                  <a:pPr algn="ctr">
                    <a:spcBef>
                      <a:spcPct val="0"/>
                    </a:spcBef>
                    <a:buClrTx/>
                    <a:buFontTx/>
                    <a:buNone/>
                  </a:pPr>
                  <a:r>
                    <a:rPr lang="en-US" altLang="zh-CN" sz="1000" b="1">
                      <a:solidFill>
                        <a:srgbClr val="003300"/>
                      </a:solidFill>
                      <a:ea typeface="楷体_GB2312" pitchFamily="49" charset="-122"/>
                    </a:rPr>
                    <a:t> </a:t>
                  </a:r>
                  <a:endParaRPr lang="en-US" altLang="zh-CN" sz="10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3064" name="Rectangle 206"/>
                <p:cNvSpPr>
                  <a:spLocks noChangeArrowheads="1"/>
                </p:cNvSpPr>
                <p:nvPr/>
              </p:nvSpPr>
              <p:spPr bwMode="auto">
                <a:xfrm>
                  <a:off x="1498" y="0"/>
                  <a:ext cx="1227" cy="499"/>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2" name="Group 207"/>
              <p:cNvGrpSpPr/>
              <p:nvPr/>
            </p:nvGrpSpPr>
            <p:grpSpPr bwMode="auto">
              <a:xfrm>
                <a:off x="2725" y="0"/>
                <a:ext cx="924" cy="499"/>
                <a:chOff x="2725" y="0"/>
                <a:chExt cx="924" cy="499"/>
              </a:xfrm>
            </p:grpSpPr>
            <p:sp>
              <p:nvSpPr>
                <p:cNvPr id="123061" name="Rectangle 208"/>
                <p:cNvSpPr>
                  <a:spLocks noChangeArrowheads="1"/>
                </p:cNvSpPr>
                <p:nvPr/>
              </p:nvSpPr>
              <p:spPr bwMode="auto">
                <a:xfrm>
                  <a:off x="2768" y="0"/>
                  <a:ext cx="838"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Need</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3062" name="Rectangle 209"/>
                <p:cNvSpPr>
                  <a:spLocks noChangeArrowheads="1"/>
                </p:cNvSpPr>
                <p:nvPr/>
              </p:nvSpPr>
              <p:spPr bwMode="auto">
                <a:xfrm>
                  <a:off x="2725" y="0"/>
                  <a:ext cx="924" cy="499"/>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3" name="Group 210"/>
              <p:cNvGrpSpPr/>
              <p:nvPr/>
            </p:nvGrpSpPr>
            <p:grpSpPr bwMode="auto">
              <a:xfrm>
                <a:off x="3649" y="0"/>
                <a:ext cx="879" cy="499"/>
                <a:chOff x="3649" y="0"/>
                <a:chExt cx="879" cy="499"/>
              </a:xfrm>
            </p:grpSpPr>
            <p:sp>
              <p:nvSpPr>
                <p:cNvPr id="123059" name="Rectangle 211"/>
                <p:cNvSpPr>
                  <a:spLocks noChangeArrowheads="1"/>
                </p:cNvSpPr>
                <p:nvPr/>
              </p:nvSpPr>
              <p:spPr bwMode="auto">
                <a:xfrm>
                  <a:off x="3692" y="0"/>
                  <a:ext cx="79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Available</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3060" name="Rectangle 212"/>
                <p:cNvSpPr>
                  <a:spLocks noChangeArrowheads="1"/>
                </p:cNvSpPr>
                <p:nvPr/>
              </p:nvSpPr>
              <p:spPr bwMode="auto">
                <a:xfrm>
                  <a:off x="3649" y="0"/>
                  <a:ext cx="879" cy="499"/>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4" name="Group 213"/>
              <p:cNvGrpSpPr/>
              <p:nvPr/>
            </p:nvGrpSpPr>
            <p:grpSpPr bwMode="auto">
              <a:xfrm>
                <a:off x="411" y="499"/>
                <a:ext cx="368" cy="518"/>
                <a:chOff x="411" y="499"/>
                <a:chExt cx="368" cy="518"/>
              </a:xfrm>
            </p:grpSpPr>
            <p:sp>
              <p:nvSpPr>
                <p:cNvPr id="123057" name="Rectangle 214"/>
                <p:cNvSpPr>
                  <a:spLocks noChangeArrowheads="1"/>
                </p:cNvSpPr>
                <p:nvPr/>
              </p:nvSpPr>
              <p:spPr bwMode="auto">
                <a:xfrm>
                  <a:off x="454" y="499"/>
                  <a:ext cx="28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b="1">
                      <a:solidFill>
                        <a:srgbClr val="003300"/>
                      </a:solidFill>
                      <a:ea typeface="楷体_GB2312" pitchFamily="49" charset="-122"/>
                    </a:rPr>
                    <a:t>R1</a:t>
                  </a:r>
                  <a:endParaRPr lang="en-US" altLang="zh-CN" sz="1600" b="1">
                    <a:solidFill>
                      <a:srgbClr val="003300"/>
                    </a:solidFill>
                    <a:ea typeface="楷体_GB2312" pitchFamily="49" charset="-122"/>
                  </a:endParaRPr>
                </a:p>
                <a:p>
                  <a:pPr algn="just">
                    <a:spcBef>
                      <a:spcPct val="0"/>
                    </a:spcBef>
                    <a:buClrTx/>
                    <a:buFontTx/>
                    <a:buNone/>
                  </a:pPr>
                  <a:endParaRPr lang="zh-CN" altLang="en-US" sz="1600" b="1">
                    <a:solidFill>
                      <a:srgbClr val="003300"/>
                    </a:solidFill>
                    <a:ea typeface="楷体_GB2312" pitchFamily="49" charset="-122"/>
                  </a:endParaRPr>
                </a:p>
              </p:txBody>
            </p:sp>
            <p:sp>
              <p:nvSpPr>
                <p:cNvPr id="123058" name="Rectangle 215"/>
                <p:cNvSpPr>
                  <a:spLocks noChangeArrowheads="1"/>
                </p:cNvSpPr>
                <p:nvPr/>
              </p:nvSpPr>
              <p:spPr bwMode="auto">
                <a:xfrm>
                  <a:off x="411" y="499"/>
                  <a:ext cx="36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5" name="Group 216"/>
              <p:cNvGrpSpPr/>
              <p:nvPr/>
            </p:nvGrpSpPr>
            <p:grpSpPr bwMode="auto">
              <a:xfrm>
                <a:off x="779" y="499"/>
                <a:ext cx="368" cy="518"/>
                <a:chOff x="779" y="499"/>
                <a:chExt cx="368" cy="518"/>
              </a:xfrm>
            </p:grpSpPr>
            <p:sp>
              <p:nvSpPr>
                <p:cNvPr id="123055" name="Rectangle 217"/>
                <p:cNvSpPr>
                  <a:spLocks noChangeArrowheads="1"/>
                </p:cNvSpPr>
                <p:nvPr/>
              </p:nvSpPr>
              <p:spPr bwMode="auto">
                <a:xfrm>
                  <a:off x="822" y="499"/>
                  <a:ext cx="28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b="1">
                      <a:solidFill>
                        <a:srgbClr val="003300"/>
                      </a:solidFill>
                      <a:ea typeface="楷体_GB2312" pitchFamily="49" charset="-122"/>
                    </a:rPr>
                    <a:t>R2</a:t>
                  </a:r>
                  <a:endParaRPr lang="en-US" altLang="zh-CN" sz="1600" b="1">
                    <a:solidFill>
                      <a:srgbClr val="003300"/>
                    </a:solidFill>
                    <a:ea typeface="楷体_GB2312" pitchFamily="49" charset="-122"/>
                  </a:endParaRPr>
                </a:p>
                <a:p>
                  <a:pPr algn="just">
                    <a:spcBef>
                      <a:spcPct val="0"/>
                    </a:spcBef>
                    <a:buClrTx/>
                    <a:buFontTx/>
                    <a:buNone/>
                  </a:pPr>
                  <a:endParaRPr lang="zh-CN" altLang="en-US" sz="1600" b="1">
                    <a:solidFill>
                      <a:srgbClr val="003300"/>
                    </a:solidFill>
                    <a:ea typeface="楷体_GB2312" pitchFamily="49" charset="-122"/>
                  </a:endParaRPr>
                </a:p>
              </p:txBody>
            </p:sp>
            <p:sp>
              <p:nvSpPr>
                <p:cNvPr id="123056" name="Rectangle 218"/>
                <p:cNvSpPr>
                  <a:spLocks noChangeArrowheads="1"/>
                </p:cNvSpPr>
                <p:nvPr/>
              </p:nvSpPr>
              <p:spPr bwMode="auto">
                <a:xfrm>
                  <a:off x="779" y="499"/>
                  <a:ext cx="36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6" name="Group 219"/>
              <p:cNvGrpSpPr/>
              <p:nvPr/>
            </p:nvGrpSpPr>
            <p:grpSpPr bwMode="auto">
              <a:xfrm>
                <a:off x="1147" y="499"/>
                <a:ext cx="351" cy="518"/>
                <a:chOff x="1147" y="499"/>
                <a:chExt cx="351" cy="518"/>
              </a:xfrm>
            </p:grpSpPr>
            <p:sp>
              <p:nvSpPr>
                <p:cNvPr id="123053" name="Rectangle 220"/>
                <p:cNvSpPr>
                  <a:spLocks noChangeArrowheads="1"/>
                </p:cNvSpPr>
                <p:nvPr/>
              </p:nvSpPr>
              <p:spPr bwMode="auto">
                <a:xfrm>
                  <a:off x="1190" y="499"/>
                  <a:ext cx="26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400" b="1">
                      <a:solidFill>
                        <a:srgbClr val="003300"/>
                      </a:solidFill>
                      <a:ea typeface="楷体_GB2312" pitchFamily="49" charset="-122"/>
                    </a:rPr>
                    <a:t>R3</a:t>
                  </a:r>
                  <a:endParaRPr lang="en-US" altLang="zh-CN" sz="1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54" name="Rectangle 221"/>
                <p:cNvSpPr>
                  <a:spLocks noChangeArrowheads="1"/>
                </p:cNvSpPr>
                <p:nvPr/>
              </p:nvSpPr>
              <p:spPr bwMode="auto">
                <a:xfrm>
                  <a:off x="1147" y="499"/>
                  <a:ext cx="351"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7" name="Group 222"/>
              <p:cNvGrpSpPr/>
              <p:nvPr/>
            </p:nvGrpSpPr>
            <p:grpSpPr bwMode="auto">
              <a:xfrm>
                <a:off x="1498" y="499"/>
                <a:ext cx="389" cy="518"/>
                <a:chOff x="1498" y="499"/>
                <a:chExt cx="389" cy="518"/>
              </a:xfrm>
            </p:grpSpPr>
            <p:sp>
              <p:nvSpPr>
                <p:cNvPr id="123051" name="Rectangle 223"/>
                <p:cNvSpPr>
                  <a:spLocks noChangeArrowheads="1"/>
                </p:cNvSpPr>
                <p:nvPr/>
              </p:nvSpPr>
              <p:spPr bwMode="auto">
                <a:xfrm>
                  <a:off x="1541" y="499"/>
                  <a:ext cx="30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b="1">
                      <a:solidFill>
                        <a:srgbClr val="003300"/>
                      </a:solidFill>
                      <a:ea typeface="楷体_GB2312" pitchFamily="49" charset="-122"/>
                    </a:rPr>
                    <a:t>R1</a:t>
                  </a:r>
                  <a:endParaRPr lang="en-US" altLang="zh-CN" sz="1600" b="1">
                    <a:solidFill>
                      <a:srgbClr val="003300"/>
                    </a:solidFill>
                    <a:ea typeface="楷体_GB2312" pitchFamily="49" charset="-122"/>
                  </a:endParaRPr>
                </a:p>
                <a:p>
                  <a:pPr algn="just">
                    <a:spcBef>
                      <a:spcPct val="0"/>
                    </a:spcBef>
                    <a:buClrTx/>
                    <a:buFontTx/>
                    <a:buNone/>
                  </a:pPr>
                  <a:endParaRPr lang="zh-CN" altLang="en-US" sz="1600" b="1">
                    <a:solidFill>
                      <a:srgbClr val="003300"/>
                    </a:solidFill>
                    <a:ea typeface="楷体_GB2312" pitchFamily="49" charset="-122"/>
                  </a:endParaRPr>
                </a:p>
              </p:txBody>
            </p:sp>
            <p:sp>
              <p:nvSpPr>
                <p:cNvPr id="123052" name="Rectangle 224"/>
                <p:cNvSpPr>
                  <a:spLocks noChangeArrowheads="1"/>
                </p:cNvSpPr>
                <p:nvPr/>
              </p:nvSpPr>
              <p:spPr bwMode="auto">
                <a:xfrm>
                  <a:off x="1498" y="499"/>
                  <a:ext cx="389"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8" name="Group 225"/>
              <p:cNvGrpSpPr/>
              <p:nvPr/>
            </p:nvGrpSpPr>
            <p:grpSpPr bwMode="auto">
              <a:xfrm>
                <a:off x="1887" y="499"/>
                <a:ext cx="438" cy="518"/>
                <a:chOff x="1887" y="499"/>
                <a:chExt cx="438" cy="518"/>
              </a:xfrm>
            </p:grpSpPr>
            <p:sp>
              <p:nvSpPr>
                <p:cNvPr id="123049" name="Rectangle 226"/>
                <p:cNvSpPr>
                  <a:spLocks noChangeArrowheads="1"/>
                </p:cNvSpPr>
                <p:nvPr/>
              </p:nvSpPr>
              <p:spPr bwMode="auto">
                <a:xfrm>
                  <a:off x="1930" y="499"/>
                  <a:ext cx="35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b="1">
                      <a:solidFill>
                        <a:srgbClr val="003300"/>
                      </a:solidFill>
                      <a:ea typeface="楷体_GB2312" pitchFamily="49" charset="-122"/>
                    </a:rPr>
                    <a:t>R2</a:t>
                  </a:r>
                  <a:endParaRPr lang="en-US" altLang="zh-CN" sz="16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50" name="Rectangle 227"/>
                <p:cNvSpPr>
                  <a:spLocks noChangeArrowheads="1"/>
                </p:cNvSpPr>
                <p:nvPr/>
              </p:nvSpPr>
              <p:spPr bwMode="auto">
                <a:xfrm>
                  <a:off x="1887" y="499"/>
                  <a:ext cx="438"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899" name="Group 228"/>
              <p:cNvGrpSpPr/>
              <p:nvPr/>
            </p:nvGrpSpPr>
            <p:grpSpPr bwMode="auto">
              <a:xfrm>
                <a:off x="2325" y="499"/>
                <a:ext cx="400" cy="518"/>
                <a:chOff x="2325" y="499"/>
                <a:chExt cx="400" cy="518"/>
              </a:xfrm>
            </p:grpSpPr>
            <p:sp>
              <p:nvSpPr>
                <p:cNvPr id="123047" name="Rectangle 229"/>
                <p:cNvSpPr>
                  <a:spLocks noChangeArrowheads="1"/>
                </p:cNvSpPr>
                <p:nvPr/>
              </p:nvSpPr>
              <p:spPr bwMode="auto">
                <a:xfrm>
                  <a:off x="2368" y="499"/>
                  <a:ext cx="31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600" b="1">
                      <a:solidFill>
                        <a:srgbClr val="003300"/>
                      </a:solidFill>
                      <a:ea typeface="楷体_GB2312" pitchFamily="49" charset="-122"/>
                    </a:rPr>
                    <a:t>R3</a:t>
                  </a:r>
                  <a:endParaRPr lang="en-US" altLang="zh-CN" sz="16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48" name="Rectangle 230"/>
                <p:cNvSpPr>
                  <a:spLocks noChangeArrowheads="1"/>
                </p:cNvSpPr>
                <p:nvPr/>
              </p:nvSpPr>
              <p:spPr bwMode="auto">
                <a:xfrm>
                  <a:off x="2325" y="499"/>
                  <a:ext cx="400"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0" name="Group 231"/>
              <p:cNvGrpSpPr/>
              <p:nvPr/>
            </p:nvGrpSpPr>
            <p:grpSpPr bwMode="auto">
              <a:xfrm>
                <a:off x="2725" y="499"/>
                <a:ext cx="316" cy="518"/>
                <a:chOff x="2725" y="499"/>
                <a:chExt cx="316" cy="518"/>
              </a:xfrm>
            </p:grpSpPr>
            <p:sp>
              <p:nvSpPr>
                <p:cNvPr id="123045" name="Rectangle 232"/>
                <p:cNvSpPr>
                  <a:spLocks noChangeArrowheads="1"/>
                </p:cNvSpPr>
                <p:nvPr/>
              </p:nvSpPr>
              <p:spPr bwMode="auto">
                <a:xfrm>
                  <a:off x="2768" y="499"/>
                  <a:ext cx="23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400" b="1">
                      <a:solidFill>
                        <a:srgbClr val="003300"/>
                      </a:solidFill>
                      <a:ea typeface="楷体_GB2312" pitchFamily="49" charset="-122"/>
                    </a:rPr>
                    <a:t>R1</a:t>
                  </a:r>
                  <a:endParaRPr lang="en-US" altLang="zh-CN" sz="1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46" name="Rectangle 233"/>
                <p:cNvSpPr>
                  <a:spLocks noChangeArrowheads="1"/>
                </p:cNvSpPr>
                <p:nvPr/>
              </p:nvSpPr>
              <p:spPr bwMode="auto">
                <a:xfrm>
                  <a:off x="2725" y="499"/>
                  <a:ext cx="31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1" name="Group 234"/>
              <p:cNvGrpSpPr/>
              <p:nvPr/>
            </p:nvGrpSpPr>
            <p:grpSpPr bwMode="auto">
              <a:xfrm>
                <a:off x="3041" y="499"/>
                <a:ext cx="292" cy="518"/>
                <a:chOff x="3041" y="499"/>
                <a:chExt cx="292" cy="518"/>
              </a:xfrm>
            </p:grpSpPr>
            <p:sp>
              <p:nvSpPr>
                <p:cNvPr id="123043" name="Rectangle 235"/>
                <p:cNvSpPr>
                  <a:spLocks noChangeArrowheads="1"/>
                </p:cNvSpPr>
                <p:nvPr/>
              </p:nvSpPr>
              <p:spPr bwMode="auto">
                <a:xfrm>
                  <a:off x="3084" y="499"/>
                  <a:ext cx="20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200" b="1">
                      <a:solidFill>
                        <a:srgbClr val="003300"/>
                      </a:solidFill>
                      <a:ea typeface="楷体_GB2312" pitchFamily="49" charset="-122"/>
                    </a:rPr>
                    <a:t>R2</a:t>
                  </a:r>
                  <a:endParaRPr lang="en-US" altLang="zh-CN" sz="12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44" name="Rectangle 236"/>
                <p:cNvSpPr>
                  <a:spLocks noChangeArrowheads="1"/>
                </p:cNvSpPr>
                <p:nvPr/>
              </p:nvSpPr>
              <p:spPr bwMode="auto">
                <a:xfrm>
                  <a:off x="3041" y="499"/>
                  <a:ext cx="292"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2" name="Group 237"/>
              <p:cNvGrpSpPr/>
              <p:nvPr/>
            </p:nvGrpSpPr>
            <p:grpSpPr bwMode="auto">
              <a:xfrm>
                <a:off x="3333" y="499"/>
                <a:ext cx="316" cy="518"/>
                <a:chOff x="3333" y="499"/>
                <a:chExt cx="316" cy="518"/>
              </a:xfrm>
            </p:grpSpPr>
            <p:sp>
              <p:nvSpPr>
                <p:cNvPr id="123041" name="Rectangle 238"/>
                <p:cNvSpPr>
                  <a:spLocks noChangeArrowheads="1"/>
                </p:cNvSpPr>
                <p:nvPr/>
              </p:nvSpPr>
              <p:spPr bwMode="auto">
                <a:xfrm>
                  <a:off x="3376" y="499"/>
                  <a:ext cx="23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200" b="1">
                      <a:solidFill>
                        <a:srgbClr val="003300"/>
                      </a:solidFill>
                      <a:ea typeface="楷体_GB2312" pitchFamily="49" charset="-122"/>
                    </a:rPr>
                    <a:t>R3</a:t>
                  </a:r>
                  <a:endParaRPr lang="en-US" altLang="zh-CN" sz="1200" b="1">
                    <a:solidFill>
                      <a:srgbClr val="003300"/>
                    </a:solidFill>
                    <a:ea typeface="楷体_GB2312" pitchFamily="49" charset="-122"/>
                  </a:endParaRPr>
                </a:p>
                <a:p>
                  <a:pPr algn="just">
                    <a:spcBef>
                      <a:spcPct val="0"/>
                    </a:spcBef>
                    <a:buClrTx/>
                    <a:buFontTx/>
                    <a:buNone/>
                  </a:pPr>
                  <a:endParaRPr lang="zh-CN" altLang="en-US" sz="1200" b="1">
                    <a:solidFill>
                      <a:srgbClr val="003300"/>
                    </a:solidFill>
                    <a:ea typeface="楷体_GB2312" pitchFamily="49" charset="-122"/>
                  </a:endParaRPr>
                </a:p>
              </p:txBody>
            </p:sp>
            <p:sp>
              <p:nvSpPr>
                <p:cNvPr id="123042" name="Rectangle 239"/>
                <p:cNvSpPr>
                  <a:spLocks noChangeArrowheads="1"/>
                </p:cNvSpPr>
                <p:nvPr/>
              </p:nvSpPr>
              <p:spPr bwMode="auto">
                <a:xfrm>
                  <a:off x="3333" y="499"/>
                  <a:ext cx="31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3" name="Group 240"/>
              <p:cNvGrpSpPr/>
              <p:nvPr/>
            </p:nvGrpSpPr>
            <p:grpSpPr bwMode="auto">
              <a:xfrm>
                <a:off x="3649" y="499"/>
                <a:ext cx="293" cy="518"/>
                <a:chOff x="3649" y="499"/>
                <a:chExt cx="293" cy="518"/>
              </a:xfrm>
            </p:grpSpPr>
            <p:sp>
              <p:nvSpPr>
                <p:cNvPr id="123039" name="Rectangle 241"/>
                <p:cNvSpPr>
                  <a:spLocks noChangeArrowheads="1"/>
                </p:cNvSpPr>
                <p:nvPr/>
              </p:nvSpPr>
              <p:spPr bwMode="auto">
                <a:xfrm>
                  <a:off x="3692" y="499"/>
                  <a:ext cx="20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200" b="1">
                      <a:solidFill>
                        <a:srgbClr val="003300"/>
                      </a:solidFill>
                      <a:ea typeface="楷体_GB2312" pitchFamily="49" charset="-122"/>
                    </a:rPr>
                    <a:t>R1</a:t>
                  </a:r>
                  <a:endParaRPr lang="en-US" altLang="zh-CN" sz="10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40" name="Rectangle 242"/>
                <p:cNvSpPr>
                  <a:spLocks noChangeArrowheads="1"/>
                </p:cNvSpPr>
                <p:nvPr/>
              </p:nvSpPr>
              <p:spPr bwMode="auto">
                <a:xfrm>
                  <a:off x="3649" y="499"/>
                  <a:ext cx="293"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4" name="Group 243"/>
              <p:cNvGrpSpPr/>
              <p:nvPr/>
            </p:nvGrpSpPr>
            <p:grpSpPr bwMode="auto">
              <a:xfrm>
                <a:off x="3942" y="499"/>
                <a:ext cx="293" cy="518"/>
                <a:chOff x="3942" y="499"/>
                <a:chExt cx="293" cy="518"/>
              </a:xfrm>
            </p:grpSpPr>
            <p:sp>
              <p:nvSpPr>
                <p:cNvPr id="123037" name="Rectangle 244"/>
                <p:cNvSpPr>
                  <a:spLocks noChangeArrowheads="1"/>
                </p:cNvSpPr>
                <p:nvPr/>
              </p:nvSpPr>
              <p:spPr bwMode="auto">
                <a:xfrm>
                  <a:off x="3985" y="499"/>
                  <a:ext cx="20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200" b="1">
                      <a:solidFill>
                        <a:srgbClr val="003300"/>
                      </a:solidFill>
                      <a:ea typeface="楷体_GB2312" pitchFamily="49" charset="-122"/>
                    </a:rPr>
                    <a:t>R2</a:t>
                  </a:r>
                  <a:endParaRPr lang="en-US" altLang="zh-CN" sz="1200" b="1">
                    <a:solidFill>
                      <a:srgbClr val="003300"/>
                    </a:solidFill>
                    <a:ea typeface="楷体_GB2312" pitchFamily="49" charset="-122"/>
                  </a:endParaRPr>
                </a:p>
                <a:p>
                  <a:pPr algn="just">
                    <a:spcBef>
                      <a:spcPct val="0"/>
                    </a:spcBef>
                    <a:buClrTx/>
                    <a:buFontTx/>
                    <a:buNone/>
                  </a:pPr>
                  <a:endParaRPr lang="zh-CN" altLang="en-US" sz="1200" b="1">
                    <a:solidFill>
                      <a:srgbClr val="003300"/>
                    </a:solidFill>
                    <a:ea typeface="楷体_GB2312" pitchFamily="49" charset="-122"/>
                  </a:endParaRPr>
                </a:p>
              </p:txBody>
            </p:sp>
            <p:sp>
              <p:nvSpPr>
                <p:cNvPr id="123038" name="Rectangle 245"/>
                <p:cNvSpPr>
                  <a:spLocks noChangeArrowheads="1"/>
                </p:cNvSpPr>
                <p:nvPr/>
              </p:nvSpPr>
              <p:spPr bwMode="auto">
                <a:xfrm>
                  <a:off x="3942" y="499"/>
                  <a:ext cx="293"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5" name="Group 246"/>
              <p:cNvGrpSpPr/>
              <p:nvPr/>
            </p:nvGrpSpPr>
            <p:grpSpPr bwMode="auto">
              <a:xfrm>
                <a:off x="4235" y="499"/>
                <a:ext cx="293" cy="518"/>
                <a:chOff x="4235" y="499"/>
                <a:chExt cx="293" cy="518"/>
              </a:xfrm>
            </p:grpSpPr>
            <p:sp>
              <p:nvSpPr>
                <p:cNvPr id="123035" name="Rectangle 247"/>
                <p:cNvSpPr>
                  <a:spLocks noChangeArrowheads="1"/>
                </p:cNvSpPr>
                <p:nvPr/>
              </p:nvSpPr>
              <p:spPr bwMode="auto">
                <a:xfrm>
                  <a:off x="4278" y="499"/>
                  <a:ext cx="207"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1200" b="1">
                      <a:solidFill>
                        <a:srgbClr val="003300"/>
                      </a:solidFill>
                      <a:ea typeface="楷体_GB2312" pitchFamily="49" charset="-122"/>
                    </a:rPr>
                    <a:t>R3</a:t>
                  </a:r>
                  <a:endParaRPr lang="en-US" altLang="zh-CN" sz="10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36" name="Rectangle 248"/>
                <p:cNvSpPr>
                  <a:spLocks noChangeArrowheads="1"/>
                </p:cNvSpPr>
                <p:nvPr/>
              </p:nvSpPr>
              <p:spPr bwMode="auto">
                <a:xfrm>
                  <a:off x="4235" y="499"/>
                  <a:ext cx="293"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6" name="Group 249"/>
              <p:cNvGrpSpPr/>
              <p:nvPr/>
            </p:nvGrpSpPr>
            <p:grpSpPr bwMode="auto">
              <a:xfrm>
                <a:off x="0" y="1017"/>
                <a:ext cx="411" cy="403"/>
                <a:chOff x="0" y="1017"/>
                <a:chExt cx="411" cy="403"/>
              </a:xfrm>
            </p:grpSpPr>
            <p:sp>
              <p:nvSpPr>
                <p:cNvPr id="123033" name="Rectangle 250"/>
                <p:cNvSpPr>
                  <a:spLocks noChangeArrowheads="1"/>
                </p:cNvSpPr>
                <p:nvPr/>
              </p:nvSpPr>
              <p:spPr bwMode="auto">
                <a:xfrm>
                  <a:off x="43" y="1017"/>
                  <a:ext cx="32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P1</a:t>
                  </a:r>
                  <a:endParaRPr lang="en-US" altLang="zh-CN" sz="2400" b="1">
                    <a:solidFill>
                      <a:srgbClr val="003300"/>
                    </a:solidFill>
                    <a:ea typeface="楷体_GB2312" pitchFamily="49" charset="-122"/>
                  </a:endParaRPr>
                </a:p>
                <a:p>
                  <a:pPr algn="just">
                    <a:spcBef>
                      <a:spcPct val="0"/>
                    </a:spcBef>
                    <a:buClrTx/>
                    <a:buFontTx/>
                    <a:buNone/>
                  </a:pPr>
                  <a:endParaRPr lang="zh-CN" altLang="en-US" sz="1600" b="1">
                    <a:solidFill>
                      <a:srgbClr val="003300"/>
                    </a:solidFill>
                    <a:ea typeface="楷体_GB2312" pitchFamily="49" charset="-122"/>
                  </a:endParaRPr>
                </a:p>
              </p:txBody>
            </p:sp>
            <p:sp>
              <p:nvSpPr>
                <p:cNvPr id="123034" name="Rectangle 251"/>
                <p:cNvSpPr>
                  <a:spLocks noChangeArrowheads="1"/>
                </p:cNvSpPr>
                <p:nvPr/>
              </p:nvSpPr>
              <p:spPr bwMode="auto">
                <a:xfrm>
                  <a:off x="0" y="1017"/>
                  <a:ext cx="41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7" name="Group 252"/>
              <p:cNvGrpSpPr/>
              <p:nvPr/>
            </p:nvGrpSpPr>
            <p:grpSpPr bwMode="auto">
              <a:xfrm>
                <a:off x="411" y="1017"/>
                <a:ext cx="368" cy="403"/>
                <a:chOff x="411" y="1017"/>
                <a:chExt cx="368" cy="403"/>
              </a:xfrm>
            </p:grpSpPr>
            <p:sp>
              <p:nvSpPr>
                <p:cNvPr id="123031" name="Rectangle 253"/>
                <p:cNvSpPr>
                  <a:spLocks noChangeArrowheads="1"/>
                </p:cNvSpPr>
                <p:nvPr/>
              </p:nvSpPr>
              <p:spPr bwMode="auto">
                <a:xfrm>
                  <a:off x="454" y="1017"/>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3</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32" name="Rectangle 254"/>
                <p:cNvSpPr>
                  <a:spLocks noChangeArrowheads="1"/>
                </p:cNvSpPr>
                <p:nvPr/>
              </p:nvSpPr>
              <p:spPr bwMode="auto">
                <a:xfrm>
                  <a:off x="411" y="1017"/>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8" name="Group 255"/>
              <p:cNvGrpSpPr/>
              <p:nvPr/>
            </p:nvGrpSpPr>
            <p:grpSpPr bwMode="auto">
              <a:xfrm>
                <a:off x="779" y="1017"/>
                <a:ext cx="368" cy="403"/>
                <a:chOff x="779" y="1017"/>
                <a:chExt cx="368" cy="403"/>
              </a:xfrm>
            </p:grpSpPr>
            <p:sp>
              <p:nvSpPr>
                <p:cNvPr id="123029" name="Rectangle 256"/>
                <p:cNvSpPr>
                  <a:spLocks noChangeArrowheads="1"/>
                </p:cNvSpPr>
                <p:nvPr/>
              </p:nvSpPr>
              <p:spPr bwMode="auto">
                <a:xfrm>
                  <a:off x="822" y="1017"/>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30" name="Rectangle 257"/>
                <p:cNvSpPr>
                  <a:spLocks noChangeArrowheads="1"/>
                </p:cNvSpPr>
                <p:nvPr/>
              </p:nvSpPr>
              <p:spPr bwMode="auto">
                <a:xfrm>
                  <a:off x="779" y="1017"/>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09" name="Group 258"/>
              <p:cNvGrpSpPr/>
              <p:nvPr/>
            </p:nvGrpSpPr>
            <p:grpSpPr bwMode="auto">
              <a:xfrm>
                <a:off x="1147" y="1017"/>
                <a:ext cx="351" cy="403"/>
                <a:chOff x="1147" y="1017"/>
                <a:chExt cx="351" cy="403"/>
              </a:xfrm>
            </p:grpSpPr>
            <p:sp>
              <p:nvSpPr>
                <p:cNvPr id="123027" name="Rectangle 259"/>
                <p:cNvSpPr>
                  <a:spLocks noChangeArrowheads="1"/>
                </p:cNvSpPr>
                <p:nvPr/>
              </p:nvSpPr>
              <p:spPr bwMode="auto">
                <a:xfrm>
                  <a:off x="1190" y="1017"/>
                  <a:ext cx="26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28" name="Rectangle 260"/>
                <p:cNvSpPr>
                  <a:spLocks noChangeArrowheads="1"/>
                </p:cNvSpPr>
                <p:nvPr/>
              </p:nvSpPr>
              <p:spPr bwMode="auto">
                <a:xfrm>
                  <a:off x="1147" y="1017"/>
                  <a:ext cx="35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0" name="Group 261"/>
              <p:cNvGrpSpPr/>
              <p:nvPr/>
            </p:nvGrpSpPr>
            <p:grpSpPr bwMode="auto">
              <a:xfrm>
                <a:off x="1498" y="1017"/>
                <a:ext cx="389" cy="403"/>
                <a:chOff x="1498" y="1017"/>
                <a:chExt cx="389" cy="403"/>
              </a:xfrm>
            </p:grpSpPr>
            <p:sp>
              <p:nvSpPr>
                <p:cNvPr id="123025" name="Rectangle 262"/>
                <p:cNvSpPr>
                  <a:spLocks noChangeArrowheads="1"/>
                </p:cNvSpPr>
                <p:nvPr/>
              </p:nvSpPr>
              <p:spPr bwMode="auto">
                <a:xfrm>
                  <a:off x="1541" y="1017"/>
                  <a:ext cx="3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26" name="Rectangle 263"/>
                <p:cNvSpPr>
                  <a:spLocks noChangeArrowheads="1"/>
                </p:cNvSpPr>
                <p:nvPr/>
              </p:nvSpPr>
              <p:spPr bwMode="auto">
                <a:xfrm>
                  <a:off x="1498" y="1017"/>
                  <a:ext cx="3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1" name="Group 264"/>
              <p:cNvGrpSpPr/>
              <p:nvPr/>
            </p:nvGrpSpPr>
            <p:grpSpPr bwMode="auto">
              <a:xfrm>
                <a:off x="1887" y="1017"/>
                <a:ext cx="438" cy="403"/>
                <a:chOff x="1887" y="1017"/>
                <a:chExt cx="438" cy="403"/>
              </a:xfrm>
            </p:grpSpPr>
            <p:sp>
              <p:nvSpPr>
                <p:cNvPr id="123023" name="Rectangle 265"/>
                <p:cNvSpPr>
                  <a:spLocks noChangeArrowheads="1"/>
                </p:cNvSpPr>
                <p:nvPr/>
              </p:nvSpPr>
              <p:spPr bwMode="auto">
                <a:xfrm>
                  <a:off x="1930" y="1017"/>
                  <a:ext cx="35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24" name="Rectangle 266"/>
                <p:cNvSpPr>
                  <a:spLocks noChangeArrowheads="1"/>
                </p:cNvSpPr>
                <p:nvPr/>
              </p:nvSpPr>
              <p:spPr bwMode="auto">
                <a:xfrm>
                  <a:off x="1887" y="1017"/>
                  <a:ext cx="43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2" name="Group 267"/>
              <p:cNvGrpSpPr/>
              <p:nvPr/>
            </p:nvGrpSpPr>
            <p:grpSpPr bwMode="auto">
              <a:xfrm>
                <a:off x="2325" y="1017"/>
                <a:ext cx="400" cy="403"/>
                <a:chOff x="2325" y="1017"/>
                <a:chExt cx="400" cy="403"/>
              </a:xfrm>
            </p:grpSpPr>
            <p:sp>
              <p:nvSpPr>
                <p:cNvPr id="123021" name="Rectangle 268"/>
                <p:cNvSpPr>
                  <a:spLocks noChangeArrowheads="1"/>
                </p:cNvSpPr>
                <p:nvPr/>
              </p:nvSpPr>
              <p:spPr bwMode="auto">
                <a:xfrm>
                  <a:off x="2368" y="1017"/>
                  <a:ext cx="31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22" name="Rectangle 269"/>
                <p:cNvSpPr>
                  <a:spLocks noChangeArrowheads="1"/>
                </p:cNvSpPr>
                <p:nvPr/>
              </p:nvSpPr>
              <p:spPr bwMode="auto">
                <a:xfrm>
                  <a:off x="2325" y="1017"/>
                  <a:ext cx="40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3" name="Group 270"/>
              <p:cNvGrpSpPr/>
              <p:nvPr/>
            </p:nvGrpSpPr>
            <p:grpSpPr bwMode="auto">
              <a:xfrm>
                <a:off x="2725" y="1017"/>
                <a:ext cx="316" cy="403"/>
                <a:chOff x="2725" y="1017"/>
                <a:chExt cx="316" cy="403"/>
              </a:xfrm>
            </p:grpSpPr>
            <p:sp>
              <p:nvSpPr>
                <p:cNvPr id="123019" name="Rectangle 271"/>
                <p:cNvSpPr>
                  <a:spLocks noChangeArrowheads="1"/>
                </p:cNvSpPr>
                <p:nvPr/>
              </p:nvSpPr>
              <p:spPr bwMode="auto">
                <a:xfrm>
                  <a:off x="2768" y="1017"/>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20" name="Rectangle 272"/>
                <p:cNvSpPr>
                  <a:spLocks noChangeArrowheads="1"/>
                </p:cNvSpPr>
                <p:nvPr/>
              </p:nvSpPr>
              <p:spPr bwMode="auto">
                <a:xfrm>
                  <a:off x="2725" y="1017"/>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4" name="Group 273"/>
              <p:cNvGrpSpPr/>
              <p:nvPr/>
            </p:nvGrpSpPr>
            <p:grpSpPr bwMode="auto">
              <a:xfrm>
                <a:off x="3041" y="1017"/>
                <a:ext cx="292" cy="403"/>
                <a:chOff x="3041" y="1017"/>
                <a:chExt cx="292" cy="403"/>
              </a:xfrm>
            </p:grpSpPr>
            <p:sp>
              <p:nvSpPr>
                <p:cNvPr id="123017" name="Rectangle 274"/>
                <p:cNvSpPr>
                  <a:spLocks noChangeArrowheads="1"/>
                </p:cNvSpPr>
                <p:nvPr/>
              </p:nvSpPr>
              <p:spPr bwMode="auto">
                <a:xfrm>
                  <a:off x="3084" y="1017"/>
                  <a:ext cx="20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18" name="Rectangle 275"/>
                <p:cNvSpPr>
                  <a:spLocks noChangeArrowheads="1"/>
                </p:cNvSpPr>
                <p:nvPr/>
              </p:nvSpPr>
              <p:spPr bwMode="auto">
                <a:xfrm>
                  <a:off x="3041" y="1017"/>
                  <a:ext cx="29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5" name="Group 276"/>
              <p:cNvGrpSpPr/>
              <p:nvPr/>
            </p:nvGrpSpPr>
            <p:grpSpPr bwMode="auto">
              <a:xfrm>
                <a:off x="3333" y="1017"/>
                <a:ext cx="316" cy="403"/>
                <a:chOff x="3333" y="1017"/>
                <a:chExt cx="316" cy="403"/>
              </a:xfrm>
            </p:grpSpPr>
            <p:sp>
              <p:nvSpPr>
                <p:cNvPr id="123015" name="Rectangle 277"/>
                <p:cNvSpPr>
                  <a:spLocks noChangeArrowheads="1"/>
                </p:cNvSpPr>
                <p:nvPr/>
              </p:nvSpPr>
              <p:spPr bwMode="auto">
                <a:xfrm>
                  <a:off x="3376" y="1017"/>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16" name="Rectangle 278"/>
                <p:cNvSpPr>
                  <a:spLocks noChangeArrowheads="1"/>
                </p:cNvSpPr>
                <p:nvPr/>
              </p:nvSpPr>
              <p:spPr bwMode="auto">
                <a:xfrm>
                  <a:off x="3333" y="1017"/>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6" name="Group 279"/>
              <p:cNvGrpSpPr/>
              <p:nvPr/>
            </p:nvGrpSpPr>
            <p:grpSpPr bwMode="auto">
              <a:xfrm>
                <a:off x="3649" y="1017"/>
                <a:ext cx="293" cy="1612"/>
                <a:chOff x="3649" y="1017"/>
                <a:chExt cx="293" cy="1612"/>
              </a:xfrm>
            </p:grpSpPr>
            <p:sp>
              <p:nvSpPr>
                <p:cNvPr id="123013" name="Rectangle 280"/>
                <p:cNvSpPr>
                  <a:spLocks noChangeArrowheads="1"/>
                </p:cNvSpPr>
                <p:nvPr/>
              </p:nvSpPr>
              <p:spPr bwMode="auto">
                <a:xfrm>
                  <a:off x="3692" y="1017"/>
                  <a:ext cx="207" cy="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14" name="Rectangle 281"/>
                <p:cNvSpPr>
                  <a:spLocks noChangeArrowheads="1"/>
                </p:cNvSpPr>
                <p:nvPr/>
              </p:nvSpPr>
              <p:spPr bwMode="auto">
                <a:xfrm>
                  <a:off x="3649" y="1017"/>
                  <a:ext cx="293" cy="161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7" name="Group 282"/>
              <p:cNvGrpSpPr/>
              <p:nvPr/>
            </p:nvGrpSpPr>
            <p:grpSpPr bwMode="auto">
              <a:xfrm>
                <a:off x="3942" y="1017"/>
                <a:ext cx="293" cy="1612"/>
                <a:chOff x="3942" y="1017"/>
                <a:chExt cx="293" cy="1612"/>
              </a:xfrm>
            </p:grpSpPr>
            <p:sp>
              <p:nvSpPr>
                <p:cNvPr id="123011" name="Rectangle 283"/>
                <p:cNvSpPr>
                  <a:spLocks noChangeArrowheads="1"/>
                </p:cNvSpPr>
                <p:nvPr/>
              </p:nvSpPr>
              <p:spPr bwMode="auto">
                <a:xfrm>
                  <a:off x="3985" y="1017"/>
                  <a:ext cx="207" cy="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12" name="Rectangle 284"/>
                <p:cNvSpPr>
                  <a:spLocks noChangeArrowheads="1"/>
                </p:cNvSpPr>
                <p:nvPr/>
              </p:nvSpPr>
              <p:spPr bwMode="auto">
                <a:xfrm>
                  <a:off x="3942" y="1017"/>
                  <a:ext cx="293" cy="161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8" name="Group 285"/>
              <p:cNvGrpSpPr/>
              <p:nvPr/>
            </p:nvGrpSpPr>
            <p:grpSpPr bwMode="auto">
              <a:xfrm>
                <a:off x="4235" y="1017"/>
                <a:ext cx="293" cy="1612"/>
                <a:chOff x="4235" y="1017"/>
                <a:chExt cx="293" cy="1612"/>
              </a:xfrm>
            </p:grpSpPr>
            <p:sp>
              <p:nvSpPr>
                <p:cNvPr id="123009" name="Rectangle 286"/>
                <p:cNvSpPr>
                  <a:spLocks noChangeArrowheads="1"/>
                </p:cNvSpPr>
                <p:nvPr/>
              </p:nvSpPr>
              <p:spPr bwMode="auto">
                <a:xfrm>
                  <a:off x="4278" y="1017"/>
                  <a:ext cx="207" cy="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10" name="Rectangle 287"/>
                <p:cNvSpPr>
                  <a:spLocks noChangeArrowheads="1"/>
                </p:cNvSpPr>
                <p:nvPr/>
              </p:nvSpPr>
              <p:spPr bwMode="auto">
                <a:xfrm>
                  <a:off x="4235" y="1017"/>
                  <a:ext cx="293" cy="161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19" name="Group 288"/>
              <p:cNvGrpSpPr/>
              <p:nvPr/>
            </p:nvGrpSpPr>
            <p:grpSpPr bwMode="auto">
              <a:xfrm>
                <a:off x="0" y="1420"/>
                <a:ext cx="411" cy="403"/>
                <a:chOff x="0" y="1420"/>
                <a:chExt cx="411" cy="403"/>
              </a:xfrm>
            </p:grpSpPr>
            <p:sp>
              <p:nvSpPr>
                <p:cNvPr id="123007" name="Rectangle 289"/>
                <p:cNvSpPr>
                  <a:spLocks noChangeArrowheads="1"/>
                </p:cNvSpPr>
                <p:nvPr/>
              </p:nvSpPr>
              <p:spPr bwMode="auto">
                <a:xfrm>
                  <a:off x="43" y="1420"/>
                  <a:ext cx="32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P2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08" name="Rectangle 290"/>
                <p:cNvSpPr>
                  <a:spLocks noChangeArrowheads="1"/>
                </p:cNvSpPr>
                <p:nvPr/>
              </p:nvSpPr>
              <p:spPr bwMode="auto">
                <a:xfrm>
                  <a:off x="0" y="1420"/>
                  <a:ext cx="41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0" name="Group 291"/>
              <p:cNvGrpSpPr/>
              <p:nvPr/>
            </p:nvGrpSpPr>
            <p:grpSpPr bwMode="auto">
              <a:xfrm>
                <a:off x="411" y="1420"/>
                <a:ext cx="368" cy="403"/>
                <a:chOff x="411" y="1420"/>
                <a:chExt cx="368" cy="403"/>
              </a:xfrm>
            </p:grpSpPr>
            <p:sp>
              <p:nvSpPr>
                <p:cNvPr id="123005" name="Rectangle 292"/>
                <p:cNvSpPr>
                  <a:spLocks noChangeArrowheads="1"/>
                </p:cNvSpPr>
                <p:nvPr/>
              </p:nvSpPr>
              <p:spPr bwMode="auto">
                <a:xfrm>
                  <a:off x="454" y="1420"/>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6</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06" name="Rectangle 293"/>
                <p:cNvSpPr>
                  <a:spLocks noChangeArrowheads="1"/>
                </p:cNvSpPr>
                <p:nvPr/>
              </p:nvSpPr>
              <p:spPr bwMode="auto">
                <a:xfrm>
                  <a:off x="411" y="1420"/>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1" name="Group 294"/>
              <p:cNvGrpSpPr/>
              <p:nvPr/>
            </p:nvGrpSpPr>
            <p:grpSpPr bwMode="auto">
              <a:xfrm>
                <a:off x="779" y="1420"/>
                <a:ext cx="368" cy="403"/>
                <a:chOff x="779" y="1420"/>
                <a:chExt cx="368" cy="403"/>
              </a:xfrm>
            </p:grpSpPr>
            <p:sp>
              <p:nvSpPr>
                <p:cNvPr id="123003" name="Rectangle 295"/>
                <p:cNvSpPr>
                  <a:spLocks noChangeArrowheads="1"/>
                </p:cNvSpPr>
                <p:nvPr/>
              </p:nvSpPr>
              <p:spPr bwMode="auto">
                <a:xfrm>
                  <a:off x="822" y="1420"/>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04" name="Rectangle 296"/>
                <p:cNvSpPr>
                  <a:spLocks noChangeArrowheads="1"/>
                </p:cNvSpPr>
                <p:nvPr/>
              </p:nvSpPr>
              <p:spPr bwMode="auto">
                <a:xfrm>
                  <a:off x="779" y="1420"/>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2" name="Group 297"/>
              <p:cNvGrpSpPr/>
              <p:nvPr/>
            </p:nvGrpSpPr>
            <p:grpSpPr bwMode="auto">
              <a:xfrm>
                <a:off x="1147" y="1420"/>
                <a:ext cx="351" cy="403"/>
                <a:chOff x="1147" y="1420"/>
                <a:chExt cx="351" cy="403"/>
              </a:xfrm>
            </p:grpSpPr>
            <p:sp>
              <p:nvSpPr>
                <p:cNvPr id="123001" name="Rectangle 298"/>
                <p:cNvSpPr>
                  <a:spLocks noChangeArrowheads="1"/>
                </p:cNvSpPr>
                <p:nvPr/>
              </p:nvSpPr>
              <p:spPr bwMode="auto">
                <a:xfrm>
                  <a:off x="1190" y="1420"/>
                  <a:ext cx="26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3</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02" name="Rectangle 299"/>
                <p:cNvSpPr>
                  <a:spLocks noChangeArrowheads="1"/>
                </p:cNvSpPr>
                <p:nvPr/>
              </p:nvSpPr>
              <p:spPr bwMode="auto">
                <a:xfrm>
                  <a:off x="1147" y="1420"/>
                  <a:ext cx="35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3" name="Group 300"/>
              <p:cNvGrpSpPr/>
              <p:nvPr/>
            </p:nvGrpSpPr>
            <p:grpSpPr bwMode="auto">
              <a:xfrm>
                <a:off x="1498" y="1420"/>
                <a:ext cx="389" cy="403"/>
                <a:chOff x="1498" y="1420"/>
                <a:chExt cx="389" cy="403"/>
              </a:xfrm>
            </p:grpSpPr>
            <p:sp>
              <p:nvSpPr>
                <p:cNvPr id="122999" name="Rectangle 301"/>
                <p:cNvSpPr>
                  <a:spLocks noChangeArrowheads="1"/>
                </p:cNvSpPr>
                <p:nvPr/>
              </p:nvSpPr>
              <p:spPr bwMode="auto">
                <a:xfrm>
                  <a:off x="1541" y="1420"/>
                  <a:ext cx="3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6</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3000" name="Rectangle 302"/>
                <p:cNvSpPr>
                  <a:spLocks noChangeArrowheads="1"/>
                </p:cNvSpPr>
                <p:nvPr/>
              </p:nvSpPr>
              <p:spPr bwMode="auto">
                <a:xfrm>
                  <a:off x="1498" y="1420"/>
                  <a:ext cx="3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4" name="Group 303"/>
              <p:cNvGrpSpPr/>
              <p:nvPr/>
            </p:nvGrpSpPr>
            <p:grpSpPr bwMode="auto">
              <a:xfrm>
                <a:off x="1887" y="1420"/>
                <a:ext cx="438" cy="403"/>
                <a:chOff x="1887" y="1420"/>
                <a:chExt cx="438" cy="403"/>
              </a:xfrm>
            </p:grpSpPr>
            <p:sp>
              <p:nvSpPr>
                <p:cNvPr id="122997" name="Rectangle 304"/>
                <p:cNvSpPr>
                  <a:spLocks noChangeArrowheads="1"/>
                </p:cNvSpPr>
                <p:nvPr/>
              </p:nvSpPr>
              <p:spPr bwMode="auto">
                <a:xfrm>
                  <a:off x="1930" y="1420"/>
                  <a:ext cx="35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98" name="Rectangle 305"/>
                <p:cNvSpPr>
                  <a:spLocks noChangeArrowheads="1"/>
                </p:cNvSpPr>
                <p:nvPr/>
              </p:nvSpPr>
              <p:spPr bwMode="auto">
                <a:xfrm>
                  <a:off x="1887" y="1420"/>
                  <a:ext cx="43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5" name="Group 306"/>
              <p:cNvGrpSpPr/>
              <p:nvPr/>
            </p:nvGrpSpPr>
            <p:grpSpPr bwMode="auto">
              <a:xfrm>
                <a:off x="2325" y="1420"/>
                <a:ext cx="400" cy="403"/>
                <a:chOff x="2325" y="1420"/>
                <a:chExt cx="400" cy="403"/>
              </a:xfrm>
            </p:grpSpPr>
            <p:sp>
              <p:nvSpPr>
                <p:cNvPr id="122995" name="Rectangle 307"/>
                <p:cNvSpPr>
                  <a:spLocks noChangeArrowheads="1"/>
                </p:cNvSpPr>
                <p:nvPr/>
              </p:nvSpPr>
              <p:spPr bwMode="auto">
                <a:xfrm>
                  <a:off x="2368" y="1420"/>
                  <a:ext cx="31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96" name="Rectangle 308"/>
                <p:cNvSpPr>
                  <a:spLocks noChangeArrowheads="1"/>
                </p:cNvSpPr>
                <p:nvPr/>
              </p:nvSpPr>
              <p:spPr bwMode="auto">
                <a:xfrm>
                  <a:off x="2325" y="1420"/>
                  <a:ext cx="40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6" name="Group 309"/>
              <p:cNvGrpSpPr/>
              <p:nvPr/>
            </p:nvGrpSpPr>
            <p:grpSpPr bwMode="auto">
              <a:xfrm>
                <a:off x="2725" y="1420"/>
                <a:ext cx="316" cy="403"/>
                <a:chOff x="2725" y="1420"/>
                <a:chExt cx="316" cy="403"/>
              </a:xfrm>
            </p:grpSpPr>
            <p:sp>
              <p:nvSpPr>
                <p:cNvPr id="122993" name="Rectangle 310"/>
                <p:cNvSpPr>
                  <a:spLocks noChangeArrowheads="1"/>
                </p:cNvSpPr>
                <p:nvPr/>
              </p:nvSpPr>
              <p:spPr bwMode="auto">
                <a:xfrm>
                  <a:off x="2768" y="1420"/>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94" name="Rectangle 311"/>
                <p:cNvSpPr>
                  <a:spLocks noChangeArrowheads="1"/>
                </p:cNvSpPr>
                <p:nvPr/>
              </p:nvSpPr>
              <p:spPr bwMode="auto">
                <a:xfrm>
                  <a:off x="2725" y="1420"/>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7" name="Group 312"/>
              <p:cNvGrpSpPr/>
              <p:nvPr/>
            </p:nvGrpSpPr>
            <p:grpSpPr bwMode="auto">
              <a:xfrm>
                <a:off x="3041" y="1420"/>
                <a:ext cx="292" cy="403"/>
                <a:chOff x="3041" y="1420"/>
                <a:chExt cx="292" cy="403"/>
              </a:xfrm>
            </p:grpSpPr>
            <p:sp>
              <p:nvSpPr>
                <p:cNvPr id="122991" name="Rectangle 313"/>
                <p:cNvSpPr>
                  <a:spLocks noChangeArrowheads="1"/>
                </p:cNvSpPr>
                <p:nvPr/>
              </p:nvSpPr>
              <p:spPr bwMode="auto">
                <a:xfrm>
                  <a:off x="3084" y="1420"/>
                  <a:ext cx="20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92" name="Rectangle 314"/>
                <p:cNvSpPr>
                  <a:spLocks noChangeArrowheads="1"/>
                </p:cNvSpPr>
                <p:nvPr/>
              </p:nvSpPr>
              <p:spPr bwMode="auto">
                <a:xfrm>
                  <a:off x="3041" y="1420"/>
                  <a:ext cx="29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8" name="Group 315"/>
              <p:cNvGrpSpPr/>
              <p:nvPr/>
            </p:nvGrpSpPr>
            <p:grpSpPr bwMode="auto">
              <a:xfrm>
                <a:off x="3333" y="1420"/>
                <a:ext cx="316" cy="403"/>
                <a:chOff x="3333" y="1420"/>
                <a:chExt cx="316" cy="403"/>
              </a:xfrm>
            </p:grpSpPr>
            <p:sp>
              <p:nvSpPr>
                <p:cNvPr id="122989" name="Rectangle 316"/>
                <p:cNvSpPr>
                  <a:spLocks noChangeArrowheads="1"/>
                </p:cNvSpPr>
                <p:nvPr/>
              </p:nvSpPr>
              <p:spPr bwMode="auto">
                <a:xfrm>
                  <a:off x="3376" y="1420"/>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90" name="Rectangle 317"/>
                <p:cNvSpPr>
                  <a:spLocks noChangeArrowheads="1"/>
                </p:cNvSpPr>
                <p:nvPr/>
              </p:nvSpPr>
              <p:spPr bwMode="auto">
                <a:xfrm>
                  <a:off x="3333" y="1420"/>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29" name="Group 318"/>
              <p:cNvGrpSpPr/>
              <p:nvPr/>
            </p:nvGrpSpPr>
            <p:grpSpPr bwMode="auto">
              <a:xfrm>
                <a:off x="0" y="1823"/>
                <a:ext cx="411" cy="403"/>
                <a:chOff x="0" y="1823"/>
                <a:chExt cx="411" cy="403"/>
              </a:xfrm>
            </p:grpSpPr>
            <p:sp>
              <p:nvSpPr>
                <p:cNvPr id="122987" name="Rectangle 319"/>
                <p:cNvSpPr>
                  <a:spLocks noChangeArrowheads="1"/>
                </p:cNvSpPr>
                <p:nvPr/>
              </p:nvSpPr>
              <p:spPr bwMode="auto">
                <a:xfrm>
                  <a:off x="43" y="1823"/>
                  <a:ext cx="32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P3</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88" name="Rectangle 320"/>
                <p:cNvSpPr>
                  <a:spLocks noChangeArrowheads="1"/>
                </p:cNvSpPr>
                <p:nvPr/>
              </p:nvSpPr>
              <p:spPr bwMode="auto">
                <a:xfrm>
                  <a:off x="0" y="1823"/>
                  <a:ext cx="41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0" name="Group 321"/>
              <p:cNvGrpSpPr/>
              <p:nvPr/>
            </p:nvGrpSpPr>
            <p:grpSpPr bwMode="auto">
              <a:xfrm>
                <a:off x="411" y="1823"/>
                <a:ext cx="368" cy="403"/>
                <a:chOff x="411" y="1823"/>
                <a:chExt cx="368" cy="403"/>
              </a:xfrm>
            </p:grpSpPr>
            <p:sp>
              <p:nvSpPr>
                <p:cNvPr id="122985" name="Rectangle 322"/>
                <p:cNvSpPr>
                  <a:spLocks noChangeArrowheads="1"/>
                </p:cNvSpPr>
                <p:nvPr/>
              </p:nvSpPr>
              <p:spPr bwMode="auto">
                <a:xfrm>
                  <a:off x="454" y="1823"/>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3</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86" name="Rectangle 323"/>
                <p:cNvSpPr>
                  <a:spLocks noChangeArrowheads="1"/>
                </p:cNvSpPr>
                <p:nvPr/>
              </p:nvSpPr>
              <p:spPr bwMode="auto">
                <a:xfrm>
                  <a:off x="411" y="1823"/>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1" name="Group 324"/>
              <p:cNvGrpSpPr/>
              <p:nvPr/>
            </p:nvGrpSpPr>
            <p:grpSpPr bwMode="auto">
              <a:xfrm>
                <a:off x="779" y="1823"/>
                <a:ext cx="368" cy="403"/>
                <a:chOff x="779" y="1823"/>
                <a:chExt cx="368" cy="403"/>
              </a:xfrm>
            </p:grpSpPr>
            <p:sp>
              <p:nvSpPr>
                <p:cNvPr id="122983" name="Rectangle 325"/>
                <p:cNvSpPr>
                  <a:spLocks noChangeArrowheads="1"/>
                </p:cNvSpPr>
                <p:nvPr/>
              </p:nvSpPr>
              <p:spPr bwMode="auto">
                <a:xfrm>
                  <a:off x="822" y="1823"/>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84" name="Rectangle 326"/>
                <p:cNvSpPr>
                  <a:spLocks noChangeArrowheads="1"/>
                </p:cNvSpPr>
                <p:nvPr/>
              </p:nvSpPr>
              <p:spPr bwMode="auto">
                <a:xfrm>
                  <a:off x="779" y="1823"/>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2" name="Group 327"/>
              <p:cNvGrpSpPr/>
              <p:nvPr/>
            </p:nvGrpSpPr>
            <p:grpSpPr bwMode="auto">
              <a:xfrm>
                <a:off x="1147" y="1823"/>
                <a:ext cx="351" cy="403"/>
                <a:chOff x="1147" y="1823"/>
                <a:chExt cx="351" cy="403"/>
              </a:xfrm>
            </p:grpSpPr>
            <p:sp>
              <p:nvSpPr>
                <p:cNvPr id="122981" name="Rectangle 328"/>
                <p:cNvSpPr>
                  <a:spLocks noChangeArrowheads="1"/>
                </p:cNvSpPr>
                <p:nvPr/>
              </p:nvSpPr>
              <p:spPr bwMode="auto">
                <a:xfrm>
                  <a:off x="1190" y="1823"/>
                  <a:ext cx="26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4</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82" name="Rectangle 329"/>
                <p:cNvSpPr>
                  <a:spLocks noChangeArrowheads="1"/>
                </p:cNvSpPr>
                <p:nvPr/>
              </p:nvSpPr>
              <p:spPr bwMode="auto">
                <a:xfrm>
                  <a:off x="1147" y="1823"/>
                  <a:ext cx="35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3" name="Group 330"/>
              <p:cNvGrpSpPr/>
              <p:nvPr/>
            </p:nvGrpSpPr>
            <p:grpSpPr bwMode="auto">
              <a:xfrm>
                <a:off x="1498" y="1823"/>
                <a:ext cx="389" cy="403"/>
                <a:chOff x="1498" y="1823"/>
                <a:chExt cx="389" cy="403"/>
              </a:xfrm>
            </p:grpSpPr>
            <p:sp>
              <p:nvSpPr>
                <p:cNvPr id="122979" name="Rectangle 331"/>
                <p:cNvSpPr>
                  <a:spLocks noChangeArrowheads="1"/>
                </p:cNvSpPr>
                <p:nvPr/>
              </p:nvSpPr>
              <p:spPr bwMode="auto">
                <a:xfrm>
                  <a:off x="1541" y="1823"/>
                  <a:ext cx="3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80" name="Rectangle 332"/>
                <p:cNvSpPr>
                  <a:spLocks noChangeArrowheads="1"/>
                </p:cNvSpPr>
                <p:nvPr/>
              </p:nvSpPr>
              <p:spPr bwMode="auto">
                <a:xfrm>
                  <a:off x="1498" y="1823"/>
                  <a:ext cx="3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4" name="Group 333"/>
              <p:cNvGrpSpPr/>
              <p:nvPr/>
            </p:nvGrpSpPr>
            <p:grpSpPr bwMode="auto">
              <a:xfrm>
                <a:off x="1887" y="1823"/>
                <a:ext cx="438" cy="403"/>
                <a:chOff x="1887" y="1823"/>
                <a:chExt cx="438" cy="403"/>
              </a:xfrm>
            </p:grpSpPr>
            <p:sp>
              <p:nvSpPr>
                <p:cNvPr id="122977" name="Rectangle 334"/>
                <p:cNvSpPr>
                  <a:spLocks noChangeArrowheads="1"/>
                </p:cNvSpPr>
                <p:nvPr/>
              </p:nvSpPr>
              <p:spPr bwMode="auto">
                <a:xfrm>
                  <a:off x="1930" y="1823"/>
                  <a:ext cx="35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78" name="Rectangle 335"/>
                <p:cNvSpPr>
                  <a:spLocks noChangeArrowheads="1"/>
                </p:cNvSpPr>
                <p:nvPr/>
              </p:nvSpPr>
              <p:spPr bwMode="auto">
                <a:xfrm>
                  <a:off x="1887" y="1823"/>
                  <a:ext cx="43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5" name="Group 336"/>
              <p:cNvGrpSpPr/>
              <p:nvPr/>
            </p:nvGrpSpPr>
            <p:grpSpPr bwMode="auto">
              <a:xfrm>
                <a:off x="2325" y="1823"/>
                <a:ext cx="400" cy="403"/>
                <a:chOff x="2325" y="1823"/>
                <a:chExt cx="400" cy="403"/>
              </a:xfrm>
            </p:grpSpPr>
            <p:sp>
              <p:nvSpPr>
                <p:cNvPr id="122975" name="Rectangle 337"/>
                <p:cNvSpPr>
                  <a:spLocks noChangeArrowheads="1"/>
                </p:cNvSpPr>
                <p:nvPr/>
              </p:nvSpPr>
              <p:spPr bwMode="auto">
                <a:xfrm>
                  <a:off x="2368" y="1823"/>
                  <a:ext cx="31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76" name="Rectangle 338"/>
                <p:cNvSpPr>
                  <a:spLocks noChangeArrowheads="1"/>
                </p:cNvSpPr>
                <p:nvPr/>
              </p:nvSpPr>
              <p:spPr bwMode="auto">
                <a:xfrm>
                  <a:off x="2325" y="1823"/>
                  <a:ext cx="40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6" name="Group 339"/>
              <p:cNvGrpSpPr/>
              <p:nvPr/>
            </p:nvGrpSpPr>
            <p:grpSpPr bwMode="auto">
              <a:xfrm>
                <a:off x="2725" y="1823"/>
                <a:ext cx="316" cy="403"/>
                <a:chOff x="2725" y="1823"/>
                <a:chExt cx="316" cy="403"/>
              </a:xfrm>
            </p:grpSpPr>
            <p:sp>
              <p:nvSpPr>
                <p:cNvPr id="122973" name="Rectangle 340"/>
                <p:cNvSpPr>
                  <a:spLocks noChangeArrowheads="1"/>
                </p:cNvSpPr>
                <p:nvPr/>
              </p:nvSpPr>
              <p:spPr bwMode="auto">
                <a:xfrm>
                  <a:off x="2768" y="1823"/>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74" name="Rectangle 341"/>
                <p:cNvSpPr>
                  <a:spLocks noChangeArrowheads="1"/>
                </p:cNvSpPr>
                <p:nvPr/>
              </p:nvSpPr>
              <p:spPr bwMode="auto">
                <a:xfrm>
                  <a:off x="2725" y="1823"/>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7" name="Group 342"/>
              <p:cNvGrpSpPr/>
              <p:nvPr/>
            </p:nvGrpSpPr>
            <p:grpSpPr bwMode="auto">
              <a:xfrm>
                <a:off x="3041" y="1823"/>
                <a:ext cx="292" cy="403"/>
                <a:chOff x="3041" y="1823"/>
                <a:chExt cx="292" cy="403"/>
              </a:xfrm>
            </p:grpSpPr>
            <p:sp>
              <p:nvSpPr>
                <p:cNvPr id="122971" name="Rectangle 343"/>
                <p:cNvSpPr>
                  <a:spLocks noChangeArrowheads="1"/>
                </p:cNvSpPr>
                <p:nvPr/>
              </p:nvSpPr>
              <p:spPr bwMode="auto">
                <a:xfrm>
                  <a:off x="3084" y="1823"/>
                  <a:ext cx="20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72" name="Rectangle 344"/>
                <p:cNvSpPr>
                  <a:spLocks noChangeArrowheads="1"/>
                </p:cNvSpPr>
                <p:nvPr/>
              </p:nvSpPr>
              <p:spPr bwMode="auto">
                <a:xfrm>
                  <a:off x="3041" y="1823"/>
                  <a:ext cx="29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8" name="Group 345"/>
              <p:cNvGrpSpPr/>
              <p:nvPr/>
            </p:nvGrpSpPr>
            <p:grpSpPr bwMode="auto">
              <a:xfrm>
                <a:off x="3333" y="1823"/>
                <a:ext cx="316" cy="403"/>
                <a:chOff x="3333" y="1823"/>
                <a:chExt cx="316" cy="403"/>
              </a:xfrm>
            </p:grpSpPr>
            <p:sp>
              <p:nvSpPr>
                <p:cNvPr id="122969" name="Rectangle 346"/>
                <p:cNvSpPr>
                  <a:spLocks noChangeArrowheads="1"/>
                </p:cNvSpPr>
                <p:nvPr/>
              </p:nvSpPr>
              <p:spPr bwMode="auto">
                <a:xfrm>
                  <a:off x="3376" y="1823"/>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3</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70" name="Rectangle 347"/>
                <p:cNvSpPr>
                  <a:spLocks noChangeArrowheads="1"/>
                </p:cNvSpPr>
                <p:nvPr/>
              </p:nvSpPr>
              <p:spPr bwMode="auto">
                <a:xfrm>
                  <a:off x="3333" y="1823"/>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39" name="Group 348"/>
              <p:cNvGrpSpPr/>
              <p:nvPr/>
            </p:nvGrpSpPr>
            <p:grpSpPr bwMode="auto">
              <a:xfrm>
                <a:off x="0" y="2226"/>
                <a:ext cx="411" cy="403"/>
                <a:chOff x="0" y="2226"/>
                <a:chExt cx="411" cy="403"/>
              </a:xfrm>
            </p:grpSpPr>
            <p:sp>
              <p:nvSpPr>
                <p:cNvPr id="122967" name="Rectangle 349"/>
                <p:cNvSpPr>
                  <a:spLocks noChangeArrowheads="1"/>
                </p:cNvSpPr>
                <p:nvPr/>
              </p:nvSpPr>
              <p:spPr bwMode="auto">
                <a:xfrm>
                  <a:off x="43" y="2226"/>
                  <a:ext cx="32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P4</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68" name="Rectangle 350"/>
                <p:cNvSpPr>
                  <a:spLocks noChangeArrowheads="1"/>
                </p:cNvSpPr>
                <p:nvPr/>
              </p:nvSpPr>
              <p:spPr bwMode="auto">
                <a:xfrm>
                  <a:off x="0" y="2226"/>
                  <a:ext cx="41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0" name="Group 351"/>
              <p:cNvGrpSpPr/>
              <p:nvPr/>
            </p:nvGrpSpPr>
            <p:grpSpPr bwMode="auto">
              <a:xfrm>
                <a:off x="411" y="2226"/>
                <a:ext cx="368" cy="403"/>
                <a:chOff x="411" y="2226"/>
                <a:chExt cx="368" cy="403"/>
              </a:xfrm>
            </p:grpSpPr>
            <p:sp>
              <p:nvSpPr>
                <p:cNvPr id="122965" name="Rectangle 352"/>
                <p:cNvSpPr>
                  <a:spLocks noChangeArrowheads="1"/>
                </p:cNvSpPr>
                <p:nvPr/>
              </p:nvSpPr>
              <p:spPr bwMode="auto">
                <a:xfrm>
                  <a:off x="454" y="2226"/>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4</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66" name="Rectangle 353"/>
                <p:cNvSpPr>
                  <a:spLocks noChangeArrowheads="1"/>
                </p:cNvSpPr>
                <p:nvPr/>
              </p:nvSpPr>
              <p:spPr bwMode="auto">
                <a:xfrm>
                  <a:off x="411" y="2226"/>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1" name="Group 354"/>
              <p:cNvGrpSpPr/>
              <p:nvPr/>
            </p:nvGrpSpPr>
            <p:grpSpPr bwMode="auto">
              <a:xfrm>
                <a:off x="779" y="2226"/>
                <a:ext cx="368" cy="403"/>
                <a:chOff x="779" y="2226"/>
                <a:chExt cx="368" cy="403"/>
              </a:xfrm>
            </p:grpSpPr>
            <p:sp>
              <p:nvSpPr>
                <p:cNvPr id="122963" name="Rectangle 355"/>
                <p:cNvSpPr>
                  <a:spLocks noChangeArrowheads="1"/>
                </p:cNvSpPr>
                <p:nvPr/>
              </p:nvSpPr>
              <p:spPr bwMode="auto">
                <a:xfrm>
                  <a:off x="822" y="2226"/>
                  <a:ext cx="28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64" name="Rectangle 356"/>
                <p:cNvSpPr>
                  <a:spLocks noChangeArrowheads="1"/>
                </p:cNvSpPr>
                <p:nvPr/>
              </p:nvSpPr>
              <p:spPr bwMode="auto">
                <a:xfrm>
                  <a:off x="779" y="2226"/>
                  <a:ext cx="36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2" name="Group 357"/>
              <p:cNvGrpSpPr/>
              <p:nvPr/>
            </p:nvGrpSpPr>
            <p:grpSpPr bwMode="auto">
              <a:xfrm>
                <a:off x="1147" y="2226"/>
                <a:ext cx="351" cy="403"/>
                <a:chOff x="1147" y="2226"/>
                <a:chExt cx="351" cy="403"/>
              </a:xfrm>
            </p:grpSpPr>
            <p:sp>
              <p:nvSpPr>
                <p:cNvPr id="122961" name="Rectangle 358"/>
                <p:cNvSpPr>
                  <a:spLocks noChangeArrowheads="1"/>
                </p:cNvSpPr>
                <p:nvPr/>
              </p:nvSpPr>
              <p:spPr bwMode="auto">
                <a:xfrm>
                  <a:off x="1190" y="2226"/>
                  <a:ext cx="26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62" name="Rectangle 359"/>
                <p:cNvSpPr>
                  <a:spLocks noChangeArrowheads="1"/>
                </p:cNvSpPr>
                <p:nvPr/>
              </p:nvSpPr>
              <p:spPr bwMode="auto">
                <a:xfrm>
                  <a:off x="1147" y="2226"/>
                  <a:ext cx="351"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3" name="Group 360"/>
              <p:cNvGrpSpPr/>
              <p:nvPr/>
            </p:nvGrpSpPr>
            <p:grpSpPr bwMode="auto">
              <a:xfrm>
                <a:off x="1498" y="2226"/>
                <a:ext cx="389" cy="403"/>
                <a:chOff x="1498" y="2226"/>
                <a:chExt cx="389" cy="403"/>
              </a:xfrm>
            </p:grpSpPr>
            <p:sp>
              <p:nvSpPr>
                <p:cNvPr id="122959" name="Rectangle 361"/>
                <p:cNvSpPr>
                  <a:spLocks noChangeArrowheads="1"/>
                </p:cNvSpPr>
                <p:nvPr/>
              </p:nvSpPr>
              <p:spPr bwMode="auto">
                <a:xfrm>
                  <a:off x="1541" y="2226"/>
                  <a:ext cx="3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60" name="Rectangle 362"/>
                <p:cNvSpPr>
                  <a:spLocks noChangeArrowheads="1"/>
                </p:cNvSpPr>
                <p:nvPr/>
              </p:nvSpPr>
              <p:spPr bwMode="auto">
                <a:xfrm>
                  <a:off x="1498" y="2226"/>
                  <a:ext cx="3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4" name="Group 363"/>
              <p:cNvGrpSpPr/>
              <p:nvPr/>
            </p:nvGrpSpPr>
            <p:grpSpPr bwMode="auto">
              <a:xfrm>
                <a:off x="1887" y="2226"/>
                <a:ext cx="438" cy="403"/>
                <a:chOff x="1887" y="2226"/>
                <a:chExt cx="438" cy="403"/>
              </a:xfrm>
            </p:grpSpPr>
            <p:sp>
              <p:nvSpPr>
                <p:cNvPr id="122957" name="Rectangle 364"/>
                <p:cNvSpPr>
                  <a:spLocks noChangeArrowheads="1"/>
                </p:cNvSpPr>
                <p:nvPr/>
              </p:nvSpPr>
              <p:spPr bwMode="auto">
                <a:xfrm>
                  <a:off x="1930" y="2226"/>
                  <a:ext cx="35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58" name="Rectangle 365"/>
                <p:cNvSpPr>
                  <a:spLocks noChangeArrowheads="1"/>
                </p:cNvSpPr>
                <p:nvPr/>
              </p:nvSpPr>
              <p:spPr bwMode="auto">
                <a:xfrm>
                  <a:off x="1887" y="2226"/>
                  <a:ext cx="43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5" name="Group 366"/>
              <p:cNvGrpSpPr/>
              <p:nvPr/>
            </p:nvGrpSpPr>
            <p:grpSpPr bwMode="auto">
              <a:xfrm>
                <a:off x="2325" y="2226"/>
                <a:ext cx="400" cy="403"/>
                <a:chOff x="2325" y="2226"/>
                <a:chExt cx="400" cy="403"/>
              </a:xfrm>
            </p:grpSpPr>
            <p:sp>
              <p:nvSpPr>
                <p:cNvPr id="122955" name="Rectangle 367"/>
                <p:cNvSpPr>
                  <a:spLocks noChangeArrowheads="1"/>
                </p:cNvSpPr>
                <p:nvPr/>
              </p:nvSpPr>
              <p:spPr bwMode="auto">
                <a:xfrm>
                  <a:off x="2368" y="2226"/>
                  <a:ext cx="31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56" name="Rectangle 368"/>
                <p:cNvSpPr>
                  <a:spLocks noChangeArrowheads="1"/>
                </p:cNvSpPr>
                <p:nvPr/>
              </p:nvSpPr>
              <p:spPr bwMode="auto">
                <a:xfrm>
                  <a:off x="2325" y="2226"/>
                  <a:ext cx="40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6" name="Group 369"/>
              <p:cNvGrpSpPr/>
              <p:nvPr/>
            </p:nvGrpSpPr>
            <p:grpSpPr bwMode="auto">
              <a:xfrm>
                <a:off x="2725" y="2226"/>
                <a:ext cx="316" cy="403"/>
                <a:chOff x="2725" y="2226"/>
                <a:chExt cx="316" cy="403"/>
              </a:xfrm>
            </p:grpSpPr>
            <p:sp>
              <p:nvSpPr>
                <p:cNvPr id="122953" name="Rectangle 370"/>
                <p:cNvSpPr>
                  <a:spLocks noChangeArrowheads="1"/>
                </p:cNvSpPr>
                <p:nvPr/>
              </p:nvSpPr>
              <p:spPr bwMode="auto">
                <a:xfrm>
                  <a:off x="2768" y="2226"/>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4</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54" name="Rectangle 371"/>
                <p:cNvSpPr>
                  <a:spLocks noChangeArrowheads="1"/>
                </p:cNvSpPr>
                <p:nvPr/>
              </p:nvSpPr>
              <p:spPr bwMode="auto">
                <a:xfrm>
                  <a:off x="2725" y="2226"/>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7" name="Group 372"/>
              <p:cNvGrpSpPr/>
              <p:nvPr/>
            </p:nvGrpSpPr>
            <p:grpSpPr bwMode="auto">
              <a:xfrm>
                <a:off x="3041" y="2226"/>
                <a:ext cx="292" cy="403"/>
                <a:chOff x="3041" y="2226"/>
                <a:chExt cx="292" cy="403"/>
              </a:xfrm>
            </p:grpSpPr>
            <p:sp>
              <p:nvSpPr>
                <p:cNvPr id="122951" name="Rectangle 373"/>
                <p:cNvSpPr>
                  <a:spLocks noChangeArrowheads="1"/>
                </p:cNvSpPr>
                <p:nvPr/>
              </p:nvSpPr>
              <p:spPr bwMode="auto">
                <a:xfrm>
                  <a:off x="3084" y="2226"/>
                  <a:ext cx="20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52" name="Rectangle 374"/>
                <p:cNvSpPr>
                  <a:spLocks noChangeArrowheads="1"/>
                </p:cNvSpPr>
                <p:nvPr/>
              </p:nvSpPr>
              <p:spPr bwMode="auto">
                <a:xfrm>
                  <a:off x="3041" y="2226"/>
                  <a:ext cx="29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2948" name="Group 375"/>
              <p:cNvGrpSpPr/>
              <p:nvPr/>
            </p:nvGrpSpPr>
            <p:grpSpPr bwMode="auto">
              <a:xfrm>
                <a:off x="3333" y="2226"/>
                <a:ext cx="316" cy="403"/>
                <a:chOff x="3333" y="2226"/>
                <a:chExt cx="316" cy="403"/>
              </a:xfrm>
            </p:grpSpPr>
            <p:sp>
              <p:nvSpPr>
                <p:cNvPr id="122949" name="Rectangle 376"/>
                <p:cNvSpPr>
                  <a:spLocks noChangeArrowheads="1"/>
                </p:cNvSpPr>
                <p:nvPr/>
              </p:nvSpPr>
              <p:spPr bwMode="auto">
                <a:xfrm>
                  <a:off x="3376" y="2226"/>
                  <a:ext cx="23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22950" name="Rectangle 377"/>
                <p:cNvSpPr>
                  <a:spLocks noChangeArrowheads="1"/>
                </p:cNvSpPr>
                <p:nvPr/>
              </p:nvSpPr>
              <p:spPr bwMode="auto">
                <a:xfrm>
                  <a:off x="3333" y="2226"/>
                  <a:ext cx="31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sp>
          <p:nvSpPr>
            <p:cNvPr id="122888" name="Rectangle 378"/>
            <p:cNvSpPr>
              <a:spLocks noChangeArrowheads="1"/>
            </p:cNvSpPr>
            <p:nvPr/>
          </p:nvSpPr>
          <p:spPr bwMode="auto">
            <a:xfrm>
              <a:off x="-3" y="-3"/>
              <a:ext cx="4534" cy="2635"/>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979" name="Rectangle 227"/>
          <p:cNvSpPr>
            <a:spLocks noChangeArrowheads="1"/>
          </p:cNvSpPr>
          <p:nvPr/>
        </p:nvSpPr>
        <p:spPr bwMode="auto">
          <a:xfrm>
            <a:off x="1524000" y="228600"/>
            <a:ext cx="8915400" cy="5257800"/>
          </a:xfrm>
          <a:prstGeom prst="rect">
            <a:avLst/>
          </a:prstGeom>
          <a:noFill/>
          <a:ln>
            <a:noFill/>
          </a:ln>
          <a:effectLst>
            <a:prstShdw prst="shdw18" dist="17961" dir="13500000">
              <a:schemeClr val="tx1">
                <a:gamma/>
                <a:shade val="60000"/>
                <a:invGamma/>
              </a:schemeClr>
            </a:prstShdw>
          </a:effectLst>
        </p:spPr>
        <p:txBody>
          <a:bodyPr wrap="none" anchor="ctr"/>
          <a:lstStyle/>
          <a:p>
            <a:pPr algn="ctr" eaLnBrk="1" hangingPunct="1">
              <a:defRPr/>
            </a:pPr>
            <a:endParaRPr lang="zh-CN" altLang="en-US"/>
          </a:p>
        </p:txBody>
      </p:sp>
      <p:grpSp>
        <p:nvGrpSpPr>
          <p:cNvPr id="123907" name="Group 228"/>
          <p:cNvGrpSpPr/>
          <p:nvPr/>
        </p:nvGrpSpPr>
        <p:grpSpPr bwMode="auto">
          <a:xfrm>
            <a:off x="1609725" y="1357313"/>
            <a:ext cx="8915400" cy="4030662"/>
            <a:chOff x="-3" y="-3"/>
            <a:chExt cx="4737" cy="2539"/>
          </a:xfrm>
        </p:grpSpPr>
        <p:grpSp>
          <p:nvGrpSpPr>
            <p:cNvPr id="123909" name="Group 229"/>
            <p:cNvGrpSpPr/>
            <p:nvPr/>
          </p:nvGrpSpPr>
          <p:grpSpPr bwMode="auto">
            <a:xfrm>
              <a:off x="0" y="0"/>
              <a:ext cx="4731" cy="2533"/>
              <a:chOff x="0" y="0"/>
              <a:chExt cx="4731" cy="2533"/>
            </a:xfrm>
          </p:grpSpPr>
          <p:grpSp>
            <p:nvGrpSpPr>
              <p:cNvPr id="123911" name="Group 230"/>
              <p:cNvGrpSpPr/>
              <p:nvPr/>
            </p:nvGrpSpPr>
            <p:grpSpPr bwMode="auto">
              <a:xfrm>
                <a:off x="0" y="0"/>
                <a:ext cx="374" cy="921"/>
                <a:chOff x="0" y="0"/>
                <a:chExt cx="374" cy="921"/>
              </a:xfrm>
            </p:grpSpPr>
            <p:sp>
              <p:nvSpPr>
                <p:cNvPr id="124131" name="Rectangle 231"/>
                <p:cNvSpPr>
                  <a:spLocks noChangeArrowheads="1"/>
                </p:cNvSpPr>
                <p:nvPr/>
              </p:nvSpPr>
              <p:spPr bwMode="auto">
                <a:xfrm>
                  <a:off x="43" y="0"/>
                  <a:ext cx="288" cy="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000" b="1">
                      <a:solidFill>
                        <a:srgbClr val="003300"/>
                      </a:solidFill>
                      <a:ea typeface="楷体_GB2312" pitchFamily="49" charset="-122"/>
                    </a:rPr>
                    <a:t>进程</a:t>
                  </a:r>
                  <a:endParaRPr lang="zh-CN" altLang="en-US"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32" name="Rectangle 232"/>
                <p:cNvSpPr>
                  <a:spLocks noChangeArrowheads="1"/>
                </p:cNvSpPr>
                <p:nvPr/>
              </p:nvSpPr>
              <p:spPr bwMode="auto">
                <a:xfrm>
                  <a:off x="0" y="0"/>
                  <a:ext cx="374" cy="921"/>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2" name="Group 233"/>
              <p:cNvGrpSpPr/>
              <p:nvPr/>
            </p:nvGrpSpPr>
            <p:grpSpPr bwMode="auto">
              <a:xfrm>
                <a:off x="374" y="0"/>
                <a:ext cx="906" cy="403"/>
                <a:chOff x="374" y="0"/>
                <a:chExt cx="906" cy="403"/>
              </a:xfrm>
            </p:grpSpPr>
            <p:sp>
              <p:nvSpPr>
                <p:cNvPr id="124129" name="Rectangle 234"/>
                <p:cNvSpPr>
                  <a:spLocks noChangeArrowheads="1"/>
                </p:cNvSpPr>
                <p:nvPr/>
              </p:nvSpPr>
              <p:spPr bwMode="auto">
                <a:xfrm>
                  <a:off x="417" y="0"/>
                  <a:ext cx="82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Work</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30" name="Rectangle 235"/>
                <p:cNvSpPr>
                  <a:spLocks noChangeArrowheads="1"/>
                </p:cNvSpPr>
                <p:nvPr/>
              </p:nvSpPr>
              <p:spPr bwMode="auto">
                <a:xfrm>
                  <a:off x="374" y="0"/>
                  <a:ext cx="90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3" name="Group 236"/>
              <p:cNvGrpSpPr/>
              <p:nvPr/>
            </p:nvGrpSpPr>
            <p:grpSpPr bwMode="auto">
              <a:xfrm>
                <a:off x="1280" y="0"/>
                <a:ext cx="877" cy="403"/>
                <a:chOff x="1280" y="0"/>
                <a:chExt cx="877" cy="403"/>
              </a:xfrm>
            </p:grpSpPr>
            <p:sp>
              <p:nvSpPr>
                <p:cNvPr id="124127" name="Rectangle 237"/>
                <p:cNvSpPr>
                  <a:spLocks noChangeArrowheads="1"/>
                </p:cNvSpPr>
                <p:nvPr/>
              </p:nvSpPr>
              <p:spPr bwMode="auto">
                <a:xfrm>
                  <a:off x="1323" y="0"/>
                  <a:ext cx="79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Need</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28" name="Rectangle 238"/>
                <p:cNvSpPr>
                  <a:spLocks noChangeArrowheads="1"/>
                </p:cNvSpPr>
                <p:nvPr/>
              </p:nvSpPr>
              <p:spPr bwMode="auto">
                <a:xfrm>
                  <a:off x="1280" y="0"/>
                  <a:ext cx="87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4" name="Group 239"/>
              <p:cNvGrpSpPr/>
              <p:nvPr/>
            </p:nvGrpSpPr>
            <p:grpSpPr bwMode="auto">
              <a:xfrm>
                <a:off x="2157" y="0"/>
                <a:ext cx="934" cy="403"/>
                <a:chOff x="2157" y="0"/>
                <a:chExt cx="934" cy="403"/>
              </a:xfrm>
            </p:grpSpPr>
            <p:sp>
              <p:nvSpPr>
                <p:cNvPr id="124125" name="Rectangle 240"/>
                <p:cNvSpPr>
                  <a:spLocks noChangeArrowheads="1"/>
                </p:cNvSpPr>
                <p:nvPr/>
              </p:nvSpPr>
              <p:spPr bwMode="auto">
                <a:xfrm>
                  <a:off x="2200" y="0"/>
                  <a:ext cx="84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Allocation</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26" name="Rectangle 241"/>
                <p:cNvSpPr>
                  <a:spLocks noChangeArrowheads="1"/>
                </p:cNvSpPr>
                <p:nvPr/>
              </p:nvSpPr>
              <p:spPr bwMode="auto">
                <a:xfrm>
                  <a:off x="2157" y="0"/>
                  <a:ext cx="93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5" name="Group 242"/>
              <p:cNvGrpSpPr/>
              <p:nvPr/>
            </p:nvGrpSpPr>
            <p:grpSpPr bwMode="auto">
              <a:xfrm>
                <a:off x="3091" y="0"/>
                <a:ext cx="1122" cy="403"/>
                <a:chOff x="3091" y="0"/>
                <a:chExt cx="1122" cy="403"/>
              </a:xfrm>
            </p:grpSpPr>
            <p:sp>
              <p:nvSpPr>
                <p:cNvPr id="124123" name="Rectangle 243"/>
                <p:cNvSpPr>
                  <a:spLocks noChangeArrowheads="1"/>
                </p:cNvSpPr>
                <p:nvPr/>
              </p:nvSpPr>
              <p:spPr bwMode="auto">
                <a:xfrm>
                  <a:off x="3134" y="0"/>
                  <a:ext cx="10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Work+Allocation</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24" name="Rectangle 244"/>
                <p:cNvSpPr>
                  <a:spLocks noChangeArrowheads="1"/>
                </p:cNvSpPr>
                <p:nvPr/>
              </p:nvSpPr>
              <p:spPr bwMode="auto">
                <a:xfrm>
                  <a:off x="3091" y="0"/>
                  <a:ext cx="112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6" name="Group 245"/>
              <p:cNvGrpSpPr/>
              <p:nvPr/>
            </p:nvGrpSpPr>
            <p:grpSpPr bwMode="auto">
              <a:xfrm>
                <a:off x="4213" y="0"/>
                <a:ext cx="518" cy="921"/>
                <a:chOff x="4213" y="0"/>
                <a:chExt cx="518" cy="921"/>
              </a:xfrm>
            </p:grpSpPr>
            <p:sp>
              <p:nvSpPr>
                <p:cNvPr id="124121" name="Rectangle 246"/>
                <p:cNvSpPr>
                  <a:spLocks noChangeArrowheads="1"/>
                </p:cNvSpPr>
                <p:nvPr/>
              </p:nvSpPr>
              <p:spPr bwMode="auto">
                <a:xfrm>
                  <a:off x="4256" y="0"/>
                  <a:ext cx="432" cy="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Finish</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22" name="Rectangle 247"/>
                <p:cNvSpPr>
                  <a:spLocks noChangeArrowheads="1"/>
                </p:cNvSpPr>
                <p:nvPr/>
              </p:nvSpPr>
              <p:spPr bwMode="auto">
                <a:xfrm>
                  <a:off x="4213" y="0"/>
                  <a:ext cx="518" cy="921"/>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7" name="Group 248"/>
              <p:cNvGrpSpPr/>
              <p:nvPr/>
            </p:nvGrpSpPr>
            <p:grpSpPr bwMode="auto">
              <a:xfrm>
                <a:off x="374" y="403"/>
                <a:ext cx="302" cy="518"/>
                <a:chOff x="374" y="403"/>
                <a:chExt cx="302" cy="518"/>
              </a:xfrm>
            </p:grpSpPr>
            <p:sp>
              <p:nvSpPr>
                <p:cNvPr id="124119" name="Rectangle 249"/>
                <p:cNvSpPr>
                  <a:spLocks noChangeArrowheads="1"/>
                </p:cNvSpPr>
                <p:nvPr/>
              </p:nvSpPr>
              <p:spPr bwMode="auto">
                <a:xfrm>
                  <a:off x="417" y="403"/>
                  <a:ext cx="2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20" name="Rectangle 250"/>
                <p:cNvSpPr>
                  <a:spLocks noChangeArrowheads="1"/>
                </p:cNvSpPr>
                <p:nvPr/>
              </p:nvSpPr>
              <p:spPr bwMode="auto">
                <a:xfrm>
                  <a:off x="374" y="403"/>
                  <a:ext cx="302"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8" name="Group 251"/>
              <p:cNvGrpSpPr/>
              <p:nvPr/>
            </p:nvGrpSpPr>
            <p:grpSpPr bwMode="auto">
              <a:xfrm>
                <a:off x="676" y="403"/>
                <a:ext cx="302" cy="518"/>
                <a:chOff x="676" y="403"/>
                <a:chExt cx="302" cy="518"/>
              </a:xfrm>
            </p:grpSpPr>
            <p:sp>
              <p:nvSpPr>
                <p:cNvPr id="124117" name="Rectangle 252"/>
                <p:cNvSpPr>
                  <a:spLocks noChangeArrowheads="1"/>
                </p:cNvSpPr>
                <p:nvPr/>
              </p:nvSpPr>
              <p:spPr bwMode="auto">
                <a:xfrm>
                  <a:off x="719" y="403"/>
                  <a:ext cx="2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18" name="Rectangle 253"/>
                <p:cNvSpPr>
                  <a:spLocks noChangeArrowheads="1"/>
                </p:cNvSpPr>
                <p:nvPr/>
              </p:nvSpPr>
              <p:spPr bwMode="auto">
                <a:xfrm>
                  <a:off x="676" y="403"/>
                  <a:ext cx="302"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19" name="Group 254"/>
              <p:cNvGrpSpPr/>
              <p:nvPr/>
            </p:nvGrpSpPr>
            <p:grpSpPr bwMode="auto">
              <a:xfrm>
                <a:off x="978" y="403"/>
                <a:ext cx="302" cy="518"/>
                <a:chOff x="978" y="403"/>
                <a:chExt cx="302" cy="518"/>
              </a:xfrm>
            </p:grpSpPr>
            <p:sp>
              <p:nvSpPr>
                <p:cNvPr id="124115" name="Rectangle 255"/>
                <p:cNvSpPr>
                  <a:spLocks noChangeArrowheads="1"/>
                </p:cNvSpPr>
                <p:nvPr/>
              </p:nvSpPr>
              <p:spPr bwMode="auto">
                <a:xfrm>
                  <a:off x="1021" y="403"/>
                  <a:ext cx="2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16" name="Rectangle 256"/>
                <p:cNvSpPr>
                  <a:spLocks noChangeArrowheads="1"/>
                </p:cNvSpPr>
                <p:nvPr/>
              </p:nvSpPr>
              <p:spPr bwMode="auto">
                <a:xfrm>
                  <a:off x="978" y="403"/>
                  <a:ext cx="302"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0" name="Group 257"/>
              <p:cNvGrpSpPr/>
              <p:nvPr/>
            </p:nvGrpSpPr>
            <p:grpSpPr bwMode="auto">
              <a:xfrm>
                <a:off x="1280" y="403"/>
                <a:ext cx="297" cy="518"/>
                <a:chOff x="1280" y="403"/>
                <a:chExt cx="297" cy="518"/>
              </a:xfrm>
            </p:grpSpPr>
            <p:sp>
              <p:nvSpPr>
                <p:cNvPr id="124113" name="Rectangle 258"/>
                <p:cNvSpPr>
                  <a:spLocks noChangeArrowheads="1"/>
                </p:cNvSpPr>
                <p:nvPr/>
              </p:nvSpPr>
              <p:spPr bwMode="auto">
                <a:xfrm>
                  <a:off x="1323" y="403"/>
                  <a:ext cx="21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14" name="Rectangle 259"/>
                <p:cNvSpPr>
                  <a:spLocks noChangeArrowheads="1"/>
                </p:cNvSpPr>
                <p:nvPr/>
              </p:nvSpPr>
              <p:spPr bwMode="auto">
                <a:xfrm>
                  <a:off x="1280" y="403"/>
                  <a:ext cx="297"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1" name="Group 260"/>
              <p:cNvGrpSpPr/>
              <p:nvPr/>
            </p:nvGrpSpPr>
            <p:grpSpPr bwMode="auto">
              <a:xfrm>
                <a:off x="1577" y="403"/>
                <a:ext cx="285" cy="518"/>
                <a:chOff x="1577" y="403"/>
                <a:chExt cx="285" cy="518"/>
              </a:xfrm>
            </p:grpSpPr>
            <p:sp>
              <p:nvSpPr>
                <p:cNvPr id="124111" name="Rectangle 261"/>
                <p:cNvSpPr>
                  <a:spLocks noChangeArrowheads="1"/>
                </p:cNvSpPr>
                <p:nvPr/>
              </p:nvSpPr>
              <p:spPr bwMode="auto">
                <a:xfrm>
                  <a:off x="1620" y="403"/>
                  <a:ext cx="19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12" name="Rectangle 262"/>
                <p:cNvSpPr>
                  <a:spLocks noChangeArrowheads="1"/>
                </p:cNvSpPr>
                <p:nvPr/>
              </p:nvSpPr>
              <p:spPr bwMode="auto">
                <a:xfrm>
                  <a:off x="1577" y="403"/>
                  <a:ext cx="285"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2" name="Group 263"/>
              <p:cNvGrpSpPr/>
              <p:nvPr/>
            </p:nvGrpSpPr>
            <p:grpSpPr bwMode="auto">
              <a:xfrm>
                <a:off x="1862" y="403"/>
                <a:ext cx="295" cy="518"/>
                <a:chOff x="1862" y="403"/>
                <a:chExt cx="295" cy="518"/>
              </a:xfrm>
            </p:grpSpPr>
            <p:sp>
              <p:nvSpPr>
                <p:cNvPr id="124109" name="Rectangle 264"/>
                <p:cNvSpPr>
                  <a:spLocks noChangeArrowheads="1"/>
                </p:cNvSpPr>
                <p:nvPr/>
              </p:nvSpPr>
              <p:spPr bwMode="auto">
                <a:xfrm>
                  <a:off x="1905" y="403"/>
                  <a:ext cx="209"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10" name="Rectangle 265"/>
                <p:cNvSpPr>
                  <a:spLocks noChangeArrowheads="1"/>
                </p:cNvSpPr>
                <p:nvPr/>
              </p:nvSpPr>
              <p:spPr bwMode="auto">
                <a:xfrm>
                  <a:off x="1862" y="403"/>
                  <a:ext cx="295"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3" name="Group 266"/>
              <p:cNvGrpSpPr/>
              <p:nvPr/>
            </p:nvGrpSpPr>
            <p:grpSpPr bwMode="auto">
              <a:xfrm>
                <a:off x="2157" y="403"/>
                <a:ext cx="297" cy="518"/>
                <a:chOff x="2157" y="403"/>
                <a:chExt cx="297" cy="518"/>
              </a:xfrm>
            </p:grpSpPr>
            <p:sp>
              <p:nvSpPr>
                <p:cNvPr id="124107" name="Rectangle 267"/>
                <p:cNvSpPr>
                  <a:spLocks noChangeArrowheads="1"/>
                </p:cNvSpPr>
                <p:nvPr/>
              </p:nvSpPr>
              <p:spPr bwMode="auto">
                <a:xfrm>
                  <a:off x="2200" y="403"/>
                  <a:ext cx="21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08" name="Rectangle 268"/>
                <p:cNvSpPr>
                  <a:spLocks noChangeArrowheads="1"/>
                </p:cNvSpPr>
                <p:nvPr/>
              </p:nvSpPr>
              <p:spPr bwMode="auto">
                <a:xfrm>
                  <a:off x="2157" y="403"/>
                  <a:ext cx="297"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4" name="Group 269"/>
              <p:cNvGrpSpPr/>
              <p:nvPr/>
            </p:nvGrpSpPr>
            <p:grpSpPr bwMode="auto">
              <a:xfrm>
                <a:off x="2454" y="403"/>
                <a:ext cx="297" cy="518"/>
                <a:chOff x="2454" y="403"/>
                <a:chExt cx="297" cy="518"/>
              </a:xfrm>
            </p:grpSpPr>
            <p:sp>
              <p:nvSpPr>
                <p:cNvPr id="124105" name="Rectangle 270"/>
                <p:cNvSpPr>
                  <a:spLocks noChangeArrowheads="1"/>
                </p:cNvSpPr>
                <p:nvPr/>
              </p:nvSpPr>
              <p:spPr bwMode="auto">
                <a:xfrm>
                  <a:off x="2497" y="403"/>
                  <a:ext cx="211"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06" name="Rectangle 271"/>
                <p:cNvSpPr>
                  <a:spLocks noChangeArrowheads="1"/>
                </p:cNvSpPr>
                <p:nvPr/>
              </p:nvSpPr>
              <p:spPr bwMode="auto">
                <a:xfrm>
                  <a:off x="2454" y="403"/>
                  <a:ext cx="297"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5" name="Group 272"/>
              <p:cNvGrpSpPr/>
              <p:nvPr/>
            </p:nvGrpSpPr>
            <p:grpSpPr bwMode="auto">
              <a:xfrm>
                <a:off x="2751" y="403"/>
                <a:ext cx="340" cy="518"/>
                <a:chOff x="2751" y="403"/>
                <a:chExt cx="340" cy="518"/>
              </a:xfrm>
            </p:grpSpPr>
            <p:sp>
              <p:nvSpPr>
                <p:cNvPr id="124103" name="Rectangle 273"/>
                <p:cNvSpPr>
                  <a:spLocks noChangeArrowheads="1"/>
                </p:cNvSpPr>
                <p:nvPr/>
              </p:nvSpPr>
              <p:spPr bwMode="auto">
                <a:xfrm>
                  <a:off x="2794" y="403"/>
                  <a:ext cx="25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04" name="Rectangle 274"/>
                <p:cNvSpPr>
                  <a:spLocks noChangeArrowheads="1"/>
                </p:cNvSpPr>
                <p:nvPr/>
              </p:nvSpPr>
              <p:spPr bwMode="auto">
                <a:xfrm>
                  <a:off x="2751" y="403"/>
                  <a:ext cx="340"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6" name="Group 275"/>
              <p:cNvGrpSpPr/>
              <p:nvPr/>
            </p:nvGrpSpPr>
            <p:grpSpPr bwMode="auto">
              <a:xfrm>
                <a:off x="3091" y="403"/>
                <a:ext cx="374" cy="518"/>
                <a:chOff x="3091" y="403"/>
                <a:chExt cx="374" cy="518"/>
              </a:xfrm>
            </p:grpSpPr>
            <p:sp>
              <p:nvSpPr>
                <p:cNvPr id="124101" name="Rectangle 276"/>
                <p:cNvSpPr>
                  <a:spLocks noChangeArrowheads="1"/>
                </p:cNvSpPr>
                <p:nvPr/>
              </p:nvSpPr>
              <p:spPr bwMode="auto">
                <a:xfrm>
                  <a:off x="3134" y="403"/>
                  <a:ext cx="2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02" name="Rectangle 277"/>
                <p:cNvSpPr>
                  <a:spLocks noChangeArrowheads="1"/>
                </p:cNvSpPr>
                <p:nvPr/>
              </p:nvSpPr>
              <p:spPr bwMode="auto">
                <a:xfrm>
                  <a:off x="3091" y="403"/>
                  <a:ext cx="374"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7" name="Group 278"/>
              <p:cNvGrpSpPr/>
              <p:nvPr/>
            </p:nvGrpSpPr>
            <p:grpSpPr bwMode="auto">
              <a:xfrm>
                <a:off x="3465" y="403"/>
                <a:ext cx="302" cy="518"/>
                <a:chOff x="3465" y="403"/>
                <a:chExt cx="302" cy="518"/>
              </a:xfrm>
            </p:grpSpPr>
            <p:sp>
              <p:nvSpPr>
                <p:cNvPr id="124099" name="Rectangle 279"/>
                <p:cNvSpPr>
                  <a:spLocks noChangeArrowheads="1"/>
                </p:cNvSpPr>
                <p:nvPr/>
              </p:nvSpPr>
              <p:spPr bwMode="auto">
                <a:xfrm>
                  <a:off x="3508" y="403"/>
                  <a:ext cx="216"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100" name="Rectangle 280"/>
                <p:cNvSpPr>
                  <a:spLocks noChangeArrowheads="1"/>
                </p:cNvSpPr>
                <p:nvPr/>
              </p:nvSpPr>
              <p:spPr bwMode="auto">
                <a:xfrm>
                  <a:off x="3465" y="403"/>
                  <a:ext cx="302"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8" name="Group 281"/>
              <p:cNvGrpSpPr/>
              <p:nvPr/>
            </p:nvGrpSpPr>
            <p:grpSpPr bwMode="auto">
              <a:xfrm>
                <a:off x="3767" y="403"/>
                <a:ext cx="446" cy="518"/>
                <a:chOff x="3767" y="403"/>
                <a:chExt cx="446" cy="518"/>
              </a:xfrm>
            </p:grpSpPr>
            <p:sp>
              <p:nvSpPr>
                <p:cNvPr id="124097" name="Rectangle 282"/>
                <p:cNvSpPr>
                  <a:spLocks noChangeArrowheads="1"/>
                </p:cNvSpPr>
                <p:nvPr/>
              </p:nvSpPr>
              <p:spPr bwMode="auto">
                <a:xfrm>
                  <a:off x="3810" y="403"/>
                  <a:ext cx="36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R3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98" name="Rectangle 283"/>
                <p:cNvSpPr>
                  <a:spLocks noChangeArrowheads="1"/>
                </p:cNvSpPr>
                <p:nvPr/>
              </p:nvSpPr>
              <p:spPr bwMode="auto">
                <a:xfrm>
                  <a:off x="3767" y="403"/>
                  <a:ext cx="446" cy="5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29" name="Group 284"/>
              <p:cNvGrpSpPr/>
              <p:nvPr/>
            </p:nvGrpSpPr>
            <p:grpSpPr bwMode="auto">
              <a:xfrm>
                <a:off x="0" y="921"/>
                <a:ext cx="374" cy="403"/>
                <a:chOff x="0" y="921"/>
                <a:chExt cx="374" cy="403"/>
              </a:xfrm>
            </p:grpSpPr>
            <p:sp>
              <p:nvSpPr>
                <p:cNvPr id="124095" name="Rectangle 285"/>
                <p:cNvSpPr>
                  <a:spLocks noChangeArrowheads="1"/>
                </p:cNvSpPr>
                <p:nvPr/>
              </p:nvSpPr>
              <p:spPr bwMode="auto">
                <a:xfrm>
                  <a:off x="43" y="921"/>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P2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96" name="Rectangle 286"/>
                <p:cNvSpPr>
                  <a:spLocks noChangeArrowheads="1"/>
                </p:cNvSpPr>
                <p:nvPr/>
              </p:nvSpPr>
              <p:spPr bwMode="auto">
                <a:xfrm>
                  <a:off x="0" y="921"/>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0" name="Group 287"/>
              <p:cNvGrpSpPr/>
              <p:nvPr/>
            </p:nvGrpSpPr>
            <p:grpSpPr bwMode="auto">
              <a:xfrm>
                <a:off x="374" y="921"/>
                <a:ext cx="302" cy="403"/>
                <a:chOff x="374" y="921"/>
                <a:chExt cx="302" cy="403"/>
              </a:xfrm>
            </p:grpSpPr>
            <p:sp>
              <p:nvSpPr>
                <p:cNvPr id="124093" name="Rectangle 288"/>
                <p:cNvSpPr>
                  <a:spLocks noChangeArrowheads="1"/>
                </p:cNvSpPr>
                <p:nvPr/>
              </p:nvSpPr>
              <p:spPr bwMode="auto">
                <a:xfrm>
                  <a:off x="417" y="921"/>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94" name="Rectangle 289"/>
                <p:cNvSpPr>
                  <a:spLocks noChangeArrowheads="1"/>
                </p:cNvSpPr>
                <p:nvPr/>
              </p:nvSpPr>
              <p:spPr bwMode="auto">
                <a:xfrm>
                  <a:off x="374" y="921"/>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1" name="Group 290"/>
              <p:cNvGrpSpPr/>
              <p:nvPr/>
            </p:nvGrpSpPr>
            <p:grpSpPr bwMode="auto">
              <a:xfrm>
                <a:off x="676" y="921"/>
                <a:ext cx="302" cy="403"/>
                <a:chOff x="676" y="921"/>
                <a:chExt cx="302" cy="403"/>
              </a:xfrm>
            </p:grpSpPr>
            <p:sp>
              <p:nvSpPr>
                <p:cNvPr id="124091" name="Rectangle 291"/>
                <p:cNvSpPr>
                  <a:spLocks noChangeArrowheads="1"/>
                </p:cNvSpPr>
                <p:nvPr/>
              </p:nvSpPr>
              <p:spPr bwMode="auto">
                <a:xfrm>
                  <a:off x="719" y="921"/>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92" name="Rectangle 292"/>
                <p:cNvSpPr>
                  <a:spLocks noChangeArrowheads="1"/>
                </p:cNvSpPr>
                <p:nvPr/>
              </p:nvSpPr>
              <p:spPr bwMode="auto">
                <a:xfrm>
                  <a:off x="676" y="921"/>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2" name="Group 293"/>
              <p:cNvGrpSpPr/>
              <p:nvPr/>
            </p:nvGrpSpPr>
            <p:grpSpPr bwMode="auto">
              <a:xfrm>
                <a:off x="978" y="921"/>
                <a:ext cx="302" cy="403"/>
                <a:chOff x="978" y="921"/>
                <a:chExt cx="302" cy="403"/>
              </a:xfrm>
            </p:grpSpPr>
            <p:sp>
              <p:nvSpPr>
                <p:cNvPr id="124089" name="Rectangle 294"/>
                <p:cNvSpPr>
                  <a:spLocks noChangeArrowheads="1"/>
                </p:cNvSpPr>
                <p:nvPr/>
              </p:nvSpPr>
              <p:spPr bwMode="auto">
                <a:xfrm>
                  <a:off x="1021" y="921"/>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90" name="Rectangle 295"/>
                <p:cNvSpPr>
                  <a:spLocks noChangeArrowheads="1"/>
                </p:cNvSpPr>
                <p:nvPr/>
              </p:nvSpPr>
              <p:spPr bwMode="auto">
                <a:xfrm>
                  <a:off x="978" y="921"/>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3" name="Group 296"/>
              <p:cNvGrpSpPr/>
              <p:nvPr/>
            </p:nvGrpSpPr>
            <p:grpSpPr bwMode="auto">
              <a:xfrm>
                <a:off x="1280" y="921"/>
                <a:ext cx="297" cy="403"/>
                <a:chOff x="1280" y="921"/>
                <a:chExt cx="297" cy="403"/>
              </a:xfrm>
            </p:grpSpPr>
            <p:sp>
              <p:nvSpPr>
                <p:cNvPr id="124087" name="Rectangle 297"/>
                <p:cNvSpPr>
                  <a:spLocks noChangeArrowheads="1"/>
                </p:cNvSpPr>
                <p:nvPr/>
              </p:nvSpPr>
              <p:spPr bwMode="auto">
                <a:xfrm>
                  <a:off x="1323" y="921"/>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88" name="Rectangle 298"/>
                <p:cNvSpPr>
                  <a:spLocks noChangeArrowheads="1"/>
                </p:cNvSpPr>
                <p:nvPr/>
              </p:nvSpPr>
              <p:spPr bwMode="auto">
                <a:xfrm>
                  <a:off x="1280" y="921"/>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4" name="Group 299"/>
              <p:cNvGrpSpPr/>
              <p:nvPr/>
            </p:nvGrpSpPr>
            <p:grpSpPr bwMode="auto">
              <a:xfrm>
                <a:off x="1577" y="921"/>
                <a:ext cx="285" cy="403"/>
                <a:chOff x="1577" y="921"/>
                <a:chExt cx="285" cy="403"/>
              </a:xfrm>
            </p:grpSpPr>
            <p:sp>
              <p:nvSpPr>
                <p:cNvPr id="124085" name="Rectangle 300"/>
                <p:cNvSpPr>
                  <a:spLocks noChangeArrowheads="1"/>
                </p:cNvSpPr>
                <p:nvPr/>
              </p:nvSpPr>
              <p:spPr bwMode="auto">
                <a:xfrm>
                  <a:off x="1620" y="921"/>
                  <a:ext cx="19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86" name="Rectangle 301"/>
                <p:cNvSpPr>
                  <a:spLocks noChangeArrowheads="1"/>
                </p:cNvSpPr>
                <p:nvPr/>
              </p:nvSpPr>
              <p:spPr bwMode="auto">
                <a:xfrm>
                  <a:off x="1577" y="921"/>
                  <a:ext cx="28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5" name="Group 302"/>
              <p:cNvGrpSpPr/>
              <p:nvPr/>
            </p:nvGrpSpPr>
            <p:grpSpPr bwMode="auto">
              <a:xfrm>
                <a:off x="1862" y="921"/>
                <a:ext cx="295" cy="403"/>
                <a:chOff x="1862" y="921"/>
                <a:chExt cx="295" cy="403"/>
              </a:xfrm>
            </p:grpSpPr>
            <p:sp>
              <p:nvSpPr>
                <p:cNvPr id="124083" name="Rectangle 303"/>
                <p:cNvSpPr>
                  <a:spLocks noChangeArrowheads="1"/>
                </p:cNvSpPr>
                <p:nvPr/>
              </p:nvSpPr>
              <p:spPr bwMode="auto">
                <a:xfrm>
                  <a:off x="1905" y="921"/>
                  <a:ext cx="20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84" name="Rectangle 304"/>
                <p:cNvSpPr>
                  <a:spLocks noChangeArrowheads="1"/>
                </p:cNvSpPr>
                <p:nvPr/>
              </p:nvSpPr>
              <p:spPr bwMode="auto">
                <a:xfrm>
                  <a:off x="1862" y="921"/>
                  <a:ext cx="29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6" name="Group 305"/>
              <p:cNvGrpSpPr/>
              <p:nvPr/>
            </p:nvGrpSpPr>
            <p:grpSpPr bwMode="auto">
              <a:xfrm>
                <a:off x="2157" y="921"/>
                <a:ext cx="297" cy="403"/>
                <a:chOff x="2157" y="921"/>
                <a:chExt cx="297" cy="403"/>
              </a:xfrm>
            </p:grpSpPr>
            <p:sp>
              <p:nvSpPr>
                <p:cNvPr id="124081" name="Rectangle 306"/>
                <p:cNvSpPr>
                  <a:spLocks noChangeArrowheads="1"/>
                </p:cNvSpPr>
                <p:nvPr/>
              </p:nvSpPr>
              <p:spPr bwMode="auto">
                <a:xfrm>
                  <a:off x="2200" y="921"/>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6</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82" name="Rectangle 307"/>
                <p:cNvSpPr>
                  <a:spLocks noChangeArrowheads="1"/>
                </p:cNvSpPr>
                <p:nvPr/>
              </p:nvSpPr>
              <p:spPr bwMode="auto">
                <a:xfrm>
                  <a:off x="2157" y="921"/>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7" name="Group 308"/>
              <p:cNvGrpSpPr/>
              <p:nvPr/>
            </p:nvGrpSpPr>
            <p:grpSpPr bwMode="auto">
              <a:xfrm>
                <a:off x="2454" y="921"/>
                <a:ext cx="297" cy="403"/>
                <a:chOff x="2454" y="921"/>
                <a:chExt cx="297" cy="403"/>
              </a:xfrm>
            </p:grpSpPr>
            <p:sp>
              <p:nvSpPr>
                <p:cNvPr id="124079" name="Rectangle 309"/>
                <p:cNvSpPr>
                  <a:spLocks noChangeArrowheads="1"/>
                </p:cNvSpPr>
                <p:nvPr/>
              </p:nvSpPr>
              <p:spPr bwMode="auto">
                <a:xfrm>
                  <a:off x="2497" y="921"/>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80" name="Rectangle 310"/>
                <p:cNvSpPr>
                  <a:spLocks noChangeArrowheads="1"/>
                </p:cNvSpPr>
                <p:nvPr/>
              </p:nvSpPr>
              <p:spPr bwMode="auto">
                <a:xfrm>
                  <a:off x="2454" y="921"/>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8" name="Group 311"/>
              <p:cNvGrpSpPr/>
              <p:nvPr/>
            </p:nvGrpSpPr>
            <p:grpSpPr bwMode="auto">
              <a:xfrm>
                <a:off x="2751" y="921"/>
                <a:ext cx="340" cy="403"/>
                <a:chOff x="2751" y="921"/>
                <a:chExt cx="340" cy="403"/>
              </a:xfrm>
            </p:grpSpPr>
            <p:sp>
              <p:nvSpPr>
                <p:cNvPr id="124077" name="Rectangle 312"/>
                <p:cNvSpPr>
                  <a:spLocks noChangeArrowheads="1"/>
                </p:cNvSpPr>
                <p:nvPr/>
              </p:nvSpPr>
              <p:spPr bwMode="auto">
                <a:xfrm>
                  <a:off x="2794" y="921"/>
                  <a:ext cx="25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78" name="Rectangle 313"/>
                <p:cNvSpPr>
                  <a:spLocks noChangeArrowheads="1"/>
                </p:cNvSpPr>
                <p:nvPr/>
              </p:nvSpPr>
              <p:spPr bwMode="auto">
                <a:xfrm>
                  <a:off x="2751" y="921"/>
                  <a:ext cx="34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39" name="Group 314"/>
              <p:cNvGrpSpPr/>
              <p:nvPr/>
            </p:nvGrpSpPr>
            <p:grpSpPr bwMode="auto">
              <a:xfrm>
                <a:off x="3091" y="921"/>
                <a:ext cx="374" cy="403"/>
                <a:chOff x="3091" y="921"/>
                <a:chExt cx="374" cy="403"/>
              </a:xfrm>
            </p:grpSpPr>
            <p:sp>
              <p:nvSpPr>
                <p:cNvPr id="124075" name="Rectangle 315"/>
                <p:cNvSpPr>
                  <a:spLocks noChangeArrowheads="1"/>
                </p:cNvSpPr>
                <p:nvPr/>
              </p:nvSpPr>
              <p:spPr bwMode="auto">
                <a:xfrm>
                  <a:off x="3134" y="921"/>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6</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76" name="Rectangle 316"/>
                <p:cNvSpPr>
                  <a:spLocks noChangeArrowheads="1"/>
                </p:cNvSpPr>
                <p:nvPr/>
              </p:nvSpPr>
              <p:spPr bwMode="auto">
                <a:xfrm>
                  <a:off x="3091" y="921"/>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0" name="Group 317"/>
              <p:cNvGrpSpPr/>
              <p:nvPr/>
            </p:nvGrpSpPr>
            <p:grpSpPr bwMode="auto">
              <a:xfrm>
                <a:off x="3465" y="921"/>
                <a:ext cx="302" cy="403"/>
                <a:chOff x="3465" y="921"/>
                <a:chExt cx="302" cy="403"/>
              </a:xfrm>
            </p:grpSpPr>
            <p:sp>
              <p:nvSpPr>
                <p:cNvPr id="124073" name="Rectangle 318"/>
                <p:cNvSpPr>
                  <a:spLocks noChangeArrowheads="1"/>
                </p:cNvSpPr>
                <p:nvPr/>
              </p:nvSpPr>
              <p:spPr bwMode="auto">
                <a:xfrm>
                  <a:off x="3508" y="921"/>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74" name="Rectangle 319"/>
                <p:cNvSpPr>
                  <a:spLocks noChangeArrowheads="1"/>
                </p:cNvSpPr>
                <p:nvPr/>
              </p:nvSpPr>
              <p:spPr bwMode="auto">
                <a:xfrm>
                  <a:off x="3465" y="921"/>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1" name="Group 320"/>
              <p:cNvGrpSpPr/>
              <p:nvPr/>
            </p:nvGrpSpPr>
            <p:grpSpPr bwMode="auto">
              <a:xfrm>
                <a:off x="3767" y="921"/>
                <a:ext cx="446" cy="403"/>
                <a:chOff x="3767" y="921"/>
                <a:chExt cx="446" cy="403"/>
              </a:xfrm>
            </p:grpSpPr>
            <p:sp>
              <p:nvSpPr>
                <p:cNvPr id="124071" name="Rectangle 321"/>
                <p:cNvSpPr>
                  <a:spLocks noChangeArrowheads="1"/>
                </p:cNvSpPr>
                <p:nvPr/>
              </p:nvSpPr>
              <p:spPr bwMode="auto">
                <a:xfrm>
                  <a:off x="3810" y="921"/>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72" name="Rectangle 322"/>
                <p:cNvSpPr>
                  <a:spLocks noChangeArrowheads="1"/>
                </p:cNvSpPr>
                <p:nvPr/>
              </p:nvSpPr>
              <p:spPr bwMode="auto">
                <a:xfrm>
                  <a:off x="3767" y="921"/>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2" name="Group 323"/>
              <p:cNvGrpSpPr/>
              <p:nvPr/>
            </p:nvGrpSpPr>
            <p:grpSpPr bwMode="auto">
              <a:xfrm>
                <a:off x="4213" y="921"/>
                <a:ext cx="518" cy="403"/>
                <a:chOff x="4213" y="921"/>
                <a:chExt cx="518" cy="403"/>
              </a:xfrm>
            </p:grpSpPr>
            <p:sp>
              <p:nvSpPr>
                <p:cNvPr id="124069" name="Rectangle 324"/>
                <p:cNvSpPr>
                  <a:spLocks noChangeArrowheads="1"/>
                </p:cNvSpPr>
                <p:nvPr/>
              </p:nvSpPr>
              <p:spPr bwMode="auto">
                <a:xfrm>
                  <a:off x="4256" y="921"/>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true</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70" name="Rectangle 325"/>
                <p:cNvSpPr>
                  <a:spLocks noChangeArrowheads="1"/>
                </p:cNvSpPr>
                <p:nvPr/>
              </p:nvSpPr>
              <p:spPr bwMode="auto">
                <a:xfrm>
                  <a:off x="4213" y="921"/>
                  <a:ext cx="51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3" name="Group 326"/>
              <p:cNvGrpSpPr/>
              <p:nvPr/>
            </p:nvGrpSpPr>
            <p:grpSpPr bwMode="auto">
              <a:xfrm>
                <a:off x="0" y="1324"/>
                <a:ext cx="374" cy="403"/>
                <a:chOff x="0" y="1324"/>
                <a:chExt cx="374" cy="403"/>
              </a:xfrm>
            </p:grpSpPr>
            <p:sp>
              <p:nvSpPr>
                <p:cNvPr id="124067" name="Rectangle 327"/>
                <p:cNvSpPr>
                  <a:spLocks noChangeArrowheads="1"/>
                </p:cNvSpPr>
                <p:nvPr/>
              </p:nvSpPr>
              <p:spPr bwMode="auto">
                <a:xfrm>
                  <a:off x="43" y="1324"/>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P1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68" name="Rectangle 328"/>
                <p:cNvSpPr>
                  <a:spLocks noChangeArrowheads="1"/>
                </p:cNvSpPr>
                <p:nvPr/>
              </p:nvSpPr>
              <p:spPr bwMode="auto">
                <a:xfrm>
                  <a:off x="0" y="1324"/>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4" name="Group 329"/>
              <p:cNvGrpSpPr/>
              <p:nvPr/>
            </p:nvGrpSpPr>
            <p:grpSpPr bwMode="auto">
              <a:xfrm>
                <a:off x="374" y="1324"/>
                <a:ext cx="302" cy="403"/>
                <a:chOff x="374" y="1324"/>
                <a:chExt cx="302" cy="403"/>
              </a:xfrm>
            </p:grpSpPr>
            <p:sp>
              <p:nvSpPr>
                <p:cNvPr id="124065" name="Rectangle 330"/>
                <p:cNvSpPr>
                  <a:spLocks noChangeArrowheads="1"/>
                </p:cNvSpPr>
                <p:nvPr/>
              </p:nvSpPr>
              <p:spPr bwMode="auto">
                <a:xfrm>
                  <a:off x="417" y="1324"/>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6</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66" name="Rectangle 331"/>
                <p:cNvSpPr>
                  <a:spLocks noChangeArrowheads="1"/>
                </p:cNvSpPr>
                <p:nvPr/>
              </p:nvSpPr>
              <p:spPr bwMode="auto">
                <a:xfrm>
                  <a:off x="374" y="1324"/>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5" name="Group 332"/>
              <p:cNvGrpSpPr/>
              <p:nvPr/>
            </p:nvGrpSpPr>
            <p:grpSpPr bwMode="auto">
              <a:xfrm>
                <a:off x="676" y="1324"/>
                <a:ext cx="302" cy="403"/>
                <a:chOff x="676" y="1324"/>
                <a:chExt cx="302" cy="403"/>
              </a:xfrm>
            </p:grpSpPr>
            <p:sp>
              <p:nvSpPr>
                <p:cNvPr id="124063" name="Rectangle 333"/>
                <p:cNvSpPr>
                  <a:spLocks noChangeArrowheads="1"/>
                </p:cNvSpPr>
                <p:nvPr/>
              </p:nvSpPr>
              <p:spPr bwMode="auto">
                <a:xfrm>
                  <a:off x="719" y="1324"/>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64" name="Rectangle 334"/>
                <p:cNvSpPr>
                  <a:spLocks noChangeArrowheads="1"/>
                </p:cNvSpPr>
                <p:nvPr/>
              </p:nvSpPr>
              <p:spPr bwMode="auto">
                <a:xfrm>
                  <a:off x="676" y="1324"/>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6" name="Group 335"/>
              <p:cNvGrpSpPr/>
              <p:nvPr/>
            </p:nvGrpSpPr>
            <p:grpSpPr bwMode="auto">
              <a:xfrm>
                <a:off x="978" y="1324"/>
                <a:ext cx="302" cy="403"/>
                <a:chOff x="978" y="1324"/>
                <a:chExt cx="302" cy="403"/>
              </a:xfrm>
            </p:grpSpPr>
            <p:sp>
              <p:nvSpPr>
                <p:cNvPr id="124061" name="Rectangle 336"/>
                <p:cNvSpPr>
                  <a:spLocks noChangeArrowheads="1"/>
                </p:cNvSpPr>
                <p:nvPr/>
              </p:nvSpPr>
              <p:spPr bwMode="auto">
                <a:xfrm>
                  <a:off x="1021" y="1324"/>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62" name="Rectangle 337"/>
                <p:cNvSpPr>
                  <a:spLocks noChangeArrowheads="1"/>
                </p:cNvSpPr>
                <p:nvPr/>
              </p:nvSpPr>
              <p:spPr bwMode="auto">
                <a:xfrm>
                  <a:off x="978" y="1324"/>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7" name="Group 338"/>
              <p:cNvGrpSpPr/>
              <p:nvPr/>
            </p:nvGrpSpPr>
            <p:grpSpPr bwMode="auto">
              <a:xfrm>
                <a:off x="1280" y="1324"/>
                <a:ext cx="297" cy="403"/>
                <a:chOff x="1280" y="1324"/>
                <a:chExt cx="297" cy="403"/>
              </a:xfrm>
            </p:grpSpPr>
            <p:sp>
              <p:nvSpPr>
                <p:cNvPr id="124059" name="Rectangle 339"/>
                <p:cNvSpPr>
                  <a:spLocks noChangeArrowheads="1"/>
                </p:cNvSpPr>
                <p:nvPr/>
              </p:nvSpPr>
              <p:spPr bwMode="auto">
                <a:xfrm>
                  <a:off x="1323" y="1324"/>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60" name="Rectangle 340"/>
                <p:cNvSpPr>
                  <a:spLocks noChangeArrowheads="1"/>
                </p:cNvSpPr>
                <p:nvPr/>
              </p:nvSpPr>
              <p:spPr bwMode="auto">
                <a:xfrm>
                  <a:off x="1280" y="1324"/>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8" name="Group 341"/>
              <p:cNvGrpSpPr/>
              <p:nvPr/>
            </p:nvGrpSpPr>
            <p:grpSpPr bwMode="auto">
              <a:xfrm>
                <a:off x="1577" y="1324"/>
                <a:ext cx="285" cy="403"/>
                <a:chOff x="1577" y="1324"/>
                <a:chExt cx="285" cy="403"/>
              </a:xfrm>
            </p:grpSpPr>
            <p:sp>
              <p:nvSpPr>
                <p:cNvPr id="124057" name="Rectangle 342"/>
                <p:cNvSpPr>
                  <a:spLocks noChangeArrowheads="1"/>
                </p:cNvSpPr>
                <p:nvPr/>
              </p:nvSpPr>
              <p:spPr bwMode="auto">
                <a:xfrm>
                  <a:off x="1620" y="1324"/>
                  <a:ext cx="19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58" name="Rectangle 343"/>
                <p:cNvSpPr>
                  <a:spLocks noChangeArrowheads="1"/>
                </p:cNvSpPr>
                <p:nvPr/>
              </p:nvSpPr>
              <p:spPr bwMode="auto">
                <a:xfrm>
                  <a:off x="1577" y="1324"/>
                  <a:ext cx="28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49" name="Group 344"/>
              <p:cNvGrpSpPr/>
              <p:nvPr/>
            </p:nvGrpSpPr>
            <p:grpSpPr bwMode="auto">
              <a:xfrm>
                <a:off x="1862" y="1324"/>
                <a:ext cx="295" cy="403"/>
                <a:chOff x="1862" y="1324"/>
                <a:chExt cx="295" cy="403"/>
              </a:xfrm>
            </p:grpSpPr>
            <p:sp>
              <p:nvSpPr>
                <p:cNvPr id="124055" name="Rectangle 345"/>
                <p:cNvSpPr>
                  <a:spLocks noChangeArrowheads="1"/>
                </p:cNvSpPr>
                <p:nvPr/>
              </p:nvSpPr>
              <p:spPr bwMode="auto">
                <a:xfrm>
                  <a:off x="1905" y="1324"/>
                  <a:ext cx="20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56" name="Rectangle 346"/>
                <p:cNvSpPr>
                  <a:spLocks noChangeArrowheads="1"/>
                </p:cNvSpPr>
                <p:nvPr/>
              </p:nvSpPr>
              <p:spPr bwMode="auto">
                <a:xfrm>
                  <a:off x="1862" y="1324"/>
                  <a:ext cx="29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0" name="Group 347"/>
              <p:cNvGrpSpPr/>
              <p:nvPr/>
            </p:nvGrpSpPr>
            <p:grpSpPr bwMode="auto">
              <a:xfrm>
                <a:off x="2157" y="1324"/>
                <a:ext cx="297" cy="403"/>
                <a:chOff x="2157" y="1324"/>
                <a:chExt cx="297" cy="403"/>
              </a:xfrm>
            </p:grpSpPr>
            <p:sp>
              <p:nvSpPr>
                <p:cNvPr id="124053" name="Rectangle 348"/>
                <p:cNvSpPr>
                  <a:spLocks noChangeArrowheads="1"/>
                </p:cNvSpPr>
                <p:nvPr/>
              </p:nvSpPr>
              <p:spPr bwMode="auto">
                <a:xfrm>
                  <a:off x="2200" y="1324"/>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54" name="Rectangle 349"/>
                <p:cNvSpPr>
                  <a:spLocks noChangeArrowheads="1"/>
                </p:cNvSpPr>
                <p:nvPr/>
              </p:nvSpPr>
              <p:spPr bwMode="auto">
                <a:xfrm>
                  <a:off x="2157" y="1324"/>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1" name="Group 350"/>
              <p:cNvGrpSpPr/>
              <p:nvPr/>
            </p:nvGrpSpPr>
            <p:grpSpPr bwMode="auto">
              <a:xfrm>
                <a:off x="2454" y="1324"/>
                <a:ext cx="297" cy="403"/>
                <a:chOff x="2454" y="1324"/>
                <a:chExt cx="297" cy="403"/>
              </a:xfrm>
            </p:grpSpPr>
            <p:sp>
              <p:nvSpPr>
                <p:cNvPr id="124051" name="Rectangle 351"/>
                <p:cNvSpPr>
                  <a:spLocks noChangeArrowheads="1"/>
                </p:cNvSpPr>
                <p:nvPr/>
              </p:nvSpPr>
              <p:spPr bwMode="auto">
                <a:xfrm>
                  <a:off x="2497" y="1324"/>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52" name="Rectangle 352"/>
                <p:cNvSpPr>
                  <a:spLocks noChangeArrowheads="1"/>
                </p:cNvSpPr>
                <p:nvPr/>
              </p:nvSpPr>
              <p:spPr bwMode="auto">
                <a:xfrm>
                  <a:off x="2454" y="1324"/>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2" name="Group 353"/>
              <p:cNvGrpSpPr/>
              <p:nvPr/>
            </p:nvGrpSpPr>
            <p:grpSpPr bwMode="auto">
              <a:xfrm>
                <a:off x="2751" y="1324"/>
                <a:ext cx="340" cy="403"/>
                <a:chOff x="2751" y="1324"/>
                <a:chExt cx="340" cy="403"/>
              </a:xfrm>
            </p:grpSpPr>
            <p:sp>
              <p:nvSpPr>
                <p:cNvPr id="124049" name="Rectangle 354"/>
                <p:cNvSpPr>
                  <a:spLocks noChangeArrowheads="1"/>
                </p:cNvSpPr>
                <p:nvPr/>
              </p:nvSpPr>
              <p:spPr bwMode="auto">
                <a:xfrm>
                  <a:off x="2794" y="1324"/>
                  <a:ext cx="25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50" name="Rectangle 355"/>
                <p:cNvSpPr>
                  <a:spLocks noChangeArrowheads="1"/>
                </p:cNvSpPr>
                <p:nvPr/>
              </p:nvSpPr>
              <p:spPr bwMode="auto">
                <a:xfrm>
                  <a:off x="2751" y="1324"/>
                  <a:ext cx="34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3" name="Group 356"/>
              <p:cNvGrpSpPr/>
              <p:nvPr/>
            </p:nvGrpSpPr>
            <p:grpSpPr bwMode="auto">
              <a:xfrm>
                <a:off x="3091" y="1324"/>
                <a:ext cx="374" cy="403"/>
                <a:chOff x="3091" y="1324"/>
                <a:chExt cx="374" cy="403"/>
              </a:xfrm>
            </p:grpSpPr>
            <p:sp>
              <p:nvSpPr>
                <p:cNvPr id="124047" name="Rectangle 357"/>
                <p:cNvSpPr>
                  <a:spLocks noChangeArrowheads="1"/>
                </p:cNvSpPr>
                <p:nvPr/>
              </p:nvSpPr>
              <p:spPr bwMode="auto">
                <a:xfrm>
                  <a:off x="3134" y="1324"/>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7</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48" name="Rectangle 358"/>
                <p:cNvSpPr>
                  <a:spLocks noChangeArrowheads="1"/>
                </p:cNvSpPr>
                <p:nvPr/>
              </p:nvSpPr>
              <p:spPr bwMode="auto">
                <a:xfrm>
                  <a:off x="3091" y="1324"/>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4" name="Group 359"/>
              <p:cNvGrpSpPr/>
              <p:nvPr/>
            </p:nvGrpSpPr>
            <p:grpSpPr bwMode="auto">
              <a:xfrm>
                <a:off x="3465" y="1324"/>
                <a:ext cx="302" cy="403"/>
                <a:chOff x="3465" y="1324"/>
                <a:chExt cx="302" cy="403"/>
              </a:xfrm>
            </p:grpSpPr>
            <p:sp>
              <p:nvSpPr>
                <p:cNvPr id="124045" name="Rectangle 360"/>
                <p:cNvSpPr>
                  <a:spLocks noChangeArrowheads="1"/>
                </p:cNvSpPr>
                <p:nvPr/>
              </p:nvSpPr>
              <p:spPr bwMode="auto">
                <a:xfrm>
                  <a:off x="3508" y="1324"/>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46" name="Rectangle 361"/>
                <p:cNvSpPr>
                  <a:spLocks noChangeArrowheads="1"/>
                </p:cNvSpPr>
                <p:nvPr/>
              </p:nvSpPr>
              <p:spPr bwMode="auto">
                <a:xfrm>
                  <a:off x="3465" y="1324"/>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5" name="Group 362"/>
              <p:cNvGrpSpPr/>
              <p:nvPr/>
            </p:nvGrpSpPr>
            <p:grpSpPr bwMode="auto">
              <a:xfrm>
                <a:off x="3767" y="1324"/>
                <a:ext cx="446" cy="403"/>
                <a:chOff x="3767" y="1324"/>
                <a:chExt cx="446" cy="403"/>
              </a:xfrm>
            </p:grpSpPr>
            <p:sp>
              <p:nvSpPr>
                <p:cNvPr id="124043" name="Rectangle 363"/>
                <p:cNvSpPr>
                  <a:spLocks noChangeArrowheads="1"/>
                </p:cNvSpPr>
                <p:nvPr/>
              </p:nvSpPr>
              <p:spPr bwMode="auto">
                <a:xfrm>
                  <a:off x="3810" y="1324"/>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44" name="Rectangle 364"/>
                <p:cNvSpPr>
                  <a:spLocks noChangeArrowheads="1"/>
                </p:cNvSpPr>
                <p:nvPr/>
              </p:nvSpPr>
              <p:spPr bwMode="auto">
                <a:xfrm>
                  <a:off x="3767" y="1324"/>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6" name="Group 365"/>
              <p:cNvGrpSpPr/>
              <p:nvPr/>
            </p:nvGrpSpPr>
            <p:grpSpPr bwMode="auto">
              <a:xfrm>
                <a:off x="4213" y="1324"/>
                <a:ext cx="518" cy="403"/>
                <a:chOff x="4213" y="1324"/>
                <a:chExt cx="518" cy="403"/>
              </a:xfrm>
            </p:grpSpPr>
            <p:sp>
              <p:nvSpPr>
                <p:cNvPr id="124041" name="Rectangle 366"/>
                <p:cNvSpPr>
                  <a:spLocks noChangeArrowheads="1"/>
                </p:cNvSpPr>
                <p:nvPr/>
              </p:nvSpPr>
              <p:spPr bwMode="auto">
                <a:xfrm>
                  <a:off x="4256" y="1324"/>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true</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42" name="Rectangle 367"/>
                <p:cNvSpPr>
                  <a:spLocks noChangeArrowheads="1"/>
                </p:cNvSpPr>
                <p:nvPr/>
              </p:nvSpPr>
              <p:spPr bwMode="auto">
                <a:xfrm>
                  <a:off x="4213" y="1324"/>
                  <a:ext cx="51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7" name="Group 368"/>
              <p:cNvGrpSpPr/>
              <p:nvPr/>
            </p:nvGrpSpPr>
            <p:grpSpPr bwMode="auto">
              <a:xfrm>
                <a:off x="0" y="1727"/>
                <a:ext cx="374" cy="403"/>
                <a:chOff x="0" y="1727"/>
                <a:chExt cx="374" cy="403"/>
              </a:xfrm>
            </p:grpSpPr>
            <p:sp>
              <p:nvSpPr>
                <p:cNvPr id="124039" name="Rectangle 369"/>
                <p:cNvSpPr>
                  <a:spLocks noChangeArrowheads="1"/>
                </p:cNvSpPr>
                <p:nvPr/>
              </p:nvSpPr>
              <p:spPr bwMode="auto">
                <a:xfrm>
                  <a:off x="43" y="1727"/>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P4</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40" name="Rectangle 370"/>
                <p:cNvSpPr>
                  <a:spLocks noChangeArrowheads="1"/>
                </p:cNvSpPr>
                <p:nvPr/>
              </p:nvSpPr>
              <p:spPr bwMode="auto">
                <a:xfrm>
                  <a:off x="0" y="1727"/>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8" name="Group 371"/>
              <p:cNvGrpSpPr/>
              <p:nvPr/>
            </p:nvGrpSpPr>
            <p:grpSpPr bwMode="auto">
              <a:xfrm>
                <a:off x="374" y="1727"/>
                <a:ext cx="302" cy="403"/>
                <a:chOff x="374" y="1727"/>
                <a:chExt cx="302" cy="403"/>
              </a:xfrm>
            </p:grpSpPr>
            <p:sp>
              <p:nvSpPr>
                <p:cNvPr id="124037" name="Rectangle 372"/>
                <p:cNvSpPr>
                  <a:spLocks noChangeArrowheads="1"/>
                </p:cNvSpPr>
                <p:nvPr/>
              </p:nvSpPr>
              <p:spPr bwMode="auto">
                <a:xfrm>
                  <a:off x="417" y="1727"/>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7</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38" name="Rectangle 373"/>
                <p:cNvSpPr>
                  <a:spLocks noChangeArrowheads="1"/>
                </p:cNvSpPr>
                <p:nvPr/>
              </p:nvSpPr>
              <p:spPr bwMode="auto">
                <a:xfrm>
                  <a:off x="374" y="1727"/>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59" name="Group 374"/>
              <p:cNvGrpSpPr/>
              <p:nvPr/>
            </p:nvGrpSpPr>
            <p:grpSpPr bwMode="auto">
              <a:xfrm>
                <a:off x="676" y="1727"/>
                <a:ext cx="302" cy="403"/>
                <a:chOff x="676" y="1727"/>
                <a:chExt cx="302" cy="403"/>
              </a:xfrm>
            </p:grpSpPr>
            <p:sp>
              <p:nvSpPr>
                <p:cNvPr id="124035" name="Rectangle 375"/>
                <p:cNvSpPr>
                  <a:spLocks noChangeArrowheads="1"/>
                </p:cNvSpPr>
                <p:nvPr/>
              </p:nvSpPr>
              <p:spPr bwMode="auto">
                <a:xfrm>
                  <a:off x="719" y="1727"/>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36" name="Rectangle 376"/>
                <p:cNvSpPr>
                  <a:spLocks noChangeArrowheads="1"/>
                </p:cNvSpPr>
                <p:nvPr/>
              </p:nvSpPr>
              <p:spPr bwMode="auto">
                <a:xfrm>
                  <a:off x="676" y="1727"/>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0" name="Group 377"/>
              <p:cNvGrpSpPr/>
              <p:nvPr/>
            </p:nvGrpSpPr>
            <p:grpSpPr bwMode="auto">
              <a:xfrm>
                <a:off x="978" y="1727"/>
                <a:ext cx="302" cy="403"/>
                <a:chOff x="978" y="1727"/>
                <a:chExt cx="302" cy="403"/>
              </a:xfrm>
            </p:grpSpPr>
            <p:sp>
              <p:nvSpPr>
                <p:cNvPr id="124033" name="Rectangle 378"/>
                <p:cNvSpPr>
                  <a:spLocks noChangeArrowheads="1"/>
                </p:cNvSpPr>
                <p:nvPr/>
              </p:nvSpPr>
              <p:spPr bwMode="auto">
                <a:xfrm>
                  <a:off x="1021" y="1727"/>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34" name="Rectangle 379"/>
                <p:cNvSpPr>
                  <a:spLocks noChangeArrowheads="1"/>
                </p:cNvSpPr>
                <p:nvPr/>
              </p:nvSpPr>
              <p:spPr bwMode="auto">
                <a:xfrm>
                  <a:off x="978" y="1727"/>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1" name="Group 380"/>
              <p:cNvGrpSpPr/>
              <p:nvPr/>
            </p:nvGrpSpPr>
            <p:grpSpPr bwMode="auto">
              <a:xfrm>
                <a:off x="1280" y="1727"/>
                <a:ext cx="297" cy="403"/>
                <a:chOff x="1280" y="1727"/>
                <a:chExt cx="297" cy="403"/>
              </a:xfrm>
            </p:grpSpPr>
            <p:sp>
              <p:nvSpPr>
                <p:cNvPr id="124031" name="Rectangle 381"/>
                <p:cNvSpPr>
                  <a:spLocks noChangeArrowheads="1"/>
                </p:cNvSpPr>
                <p:nvPr/>
              </p:nvSpPr>
              <p:spPr bwMode="auto">
                <a:xfrm>
                  <a:off x="1323" y="1727"/>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4</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32" name="Rectangle 382"/>
                <p:cNvSpPr>
                  <a:spLocks noChangeArrowheads="1"/>
                </p:cNvSpPr>
                <p:nvPr/>
              </p:nvSpPr>
              <p:spPr bwMode="auto">
                <a:xfrm>
                  <a:off x="1280" y="1727"/>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2" name="Group 383"/>
              <p:cNvGrpSpPr/>
              <p:nvPr/>
            </p:nvGrpSpPr>
            <p:grpSpPr bwMode="auto">
              <a:xfrm>
                <a:off x="1577" y="1727"/>
                <a:ext cx="285" cy="403"/>
                <a:chOff x="1577" y="1727"/>
                <a:chExt cx="285" cy="403"/>
              </a:xfrm>
            </p:grpSpPr>
            <p:sp>
              <p:nvSpPr>
                <p:cNvPr id="124029" name="Rectangle 384"/>
                <p:cNvSpPr>
                  <a:spLocks noChangeArrowheads="1"/>
                </p:cNvSpPr>
                <p:nvPr/>
              </p:nvSpPr>
              <p:spPr bwMode="auto">
                <a:xfrm>
                  <a:off x="1620" y="1727"/>
                  <a:ext cx="19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30" name="Rectangle 385"/>
                <p:cNvSpPr>
                  <a:spLocks noChangeArrowheads="1"/>
                </p:cNvSpPr>
                <p:nvPr/>
              </p:nvSpPr>
              <p:spPr bwMode="auto">
                <a:xfrm>
                  <a:off x="1577" y="1727"/>
                  <a:ext cx="28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3" name="Group 386"/>
              <p:cNvGrpSpPr/>
              <p:nvPr/>
            </p:nvGrpSpPr>
            <p:grpSpPr bwMode="auto">
              <a:xfrm>
                <a:off x="1862" y="1727"/>
                <a:ext cx="295" cy="403"/>
                <a:chOff x="1862" y="1727"/>
                <a:chExt cx="295" cy="403"/>
              </a:xfrm>
            </p:grpSpPr>
            <p:sp>
              <p:nvSpPr>
                <p:cNvPr id="124027" name="Rectangle 387"/>
                <p:cNvSpPr>
                  <a:spLocks noChangeArrowheads="1"/>
                </p:cNvSpPr>
                <p:nvPr/>
              </p:nvSpPr>
              <p:spPr bwMode="auto">
                <a:xfrm>
                  <a:off x="1905" y="1727"/>
                  <a:ext cx="20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28" name="Rectangle 388"/>
                <p:cNvSpPr>
                  <a:spLocks noChangeArrowheads="1"/>
                </p:cNvSpPr>
                <p:nvPr/>
              </p:nvSpPr>
              <p:spPr bwMode="auto">
                <a:xfrm>
                  <a:off x="1862" y="1727"/>
                  <a:ext cx="29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4" name="Group 389"/>
              <p:cNvGrpSpPr/>
              <p:nvPr/>
            </p:nvGrpSpPr>
            <p:grpSpPr bwMode="auto">
              <a:xfrm>
                <a:off x="2157" y="1727"/>
                <a:ext cx="297" cy="403"/>
                <a:chOff x="2157" y="1727"/>
                <a:chExt cx="297" cy="403"/>
              </a:xfrm>
            </p:grpSpPr>
            <p:sp>
              <p:nvSpPr>
                <p:cNvPr id="124025" name="Rectangle 390"/>
                <p:cNvSpPr>
                  <a:spLocks noChangeArrowheads="1"/>
                </p:cNvSpPr>
                <p:nvPr/>
              </p:nvSpPr>
              <p:spPr bwMode="auto">
                <a:xfrm>
                  <a:off x="2200" y="1727"/>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26" name="Rectangle 391"/>
                <p:cNvSpPr>
                  <a:spLocks noChangeArrowheads="1"/>
                </p:cNvSpPr>
                <p:nvPr/>
              </p:nvSpPr>
              <p:spPr bwMode="auto">
                <a:xfrm>
                  <a:off x="2157" y="1727"/>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5" name="Group 392"/>
              <p:cNvGrpSpPr/>
              <p:nvPr/>
            </p:nvGrpSpPr>
            <p:grpSpPr bwMode="auto">
              <a:xfrm>
                <a:off x="2454" y="1727"/>
                <a:ext cx="297" cy="403"/>
                <a:chOff x="2454" y="1727"/>
                <a:chExt cx="297" cy="403"/>
              </a:xfrm>
            </p:grpSpPr>
            <p:sp>
              <p:nvSpPr>
                <p:cNvPr id="124023" name="Rectangle 393"/>
                <p:cNvSpPr>
                  <a:spLocks noChangeArrowheads="1"/>
                </p:cNvSpPr>
                <p:nvPr/>
              </p:nvSpPr>
              <p:spPr bwMode="auto">
                <a:xfrm>
                  <a:off x="2497" y="1727"/>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24" name="Rectangle 394"/>
                <p:cNvSpPr>
                  <a:spLocks noChangeArrowheads="1"/>
                </p:cNvSpPr>
                <p:nvPr/>
              </p:nvSpPr>
              <p:spPr bwMode="auto">
                <a:xfrm>
                  <a:off x="2454" y="1727"/>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6" name="Group 395"/>
              <p:cNvGrpSpPr/>
              <p:nvPr/>
            </p:nvGrpSpPr>
            <p:grpSpPr bwMode="auto">
              <a:xfrm>
                <a:off x="2751" y="1727"/>
                <a:ext cx="340" cy="403"/>
                <a:chOff x="2751" y="1727"/>
                <a:chExt cx="340" cy="403"/>
              </a:xfrm>
            </p:grpSpPr>
            <p:sp>
              <p:nvSpPr>
                <p:cNvPr id="124021" name="Rectangle 396"/>
                <p:cNvSpPr>
                  <a:spLocks noChangeArrowheads="1"/>
                </p:cNvSpPr>
                <p:nvPr/>
              </p:nvSpPr>
              <p:spPr bwMode="auto">
                <a:xfrm>
                  <a:off x="2794" y="1727"/>
                  <a:ext cx="25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22" name="Rectangle 397"/>
                <p:cNvSpPr>
                  <a:spLocks noChangeArrowheads="1"/>
                </p:cNvSpPr>
                <p:nvPr/>
              </p:nvSpPr>
              <p:spPr bwMode="auto">
                <a:xfrm>
                  <a:off x="2751" y="1727"/>
                  <a:ext cx="34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7" name="Group 398"/>
              <p:cNvGrpSpPr/>
              <p:nvPr/>
            </p:nvGrpSpPr>
            <p:grpSpPr bwMode="auto">
              <a:xfrm>
                <a:off x="3091" y="1727"/>
                <a:ext cx="374" cy="403"/>
                <a:chOff x="3091" y="1727"/>
                <a:chExt cx="374" cy="403"/>
              </a:xfrm>
            </p:grpSpPr>
            <p:sp>
              <p:nvSpPr>
                <p:cNvPr id="124019" name="Rectangle 399"/>
                <p:cNvSpPr>
                  <a:spLocks noChangeArrowheads="1"/>
                </p:cNvSpPr>
                <p:nvPr/>
              </p:nvSpPr>
              <p:spPr bwMode="auto">
                <a:xfrm>
                  <a:off x="3134" y="1727"/>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7</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20" name="Rectangle 400"/>
                <p:cNvSpPr>
                  <a:spLocks noChangeArrowheads="1"/>
                </p:cNvSpPr>
                <p:nvPr/>
              </p:nvSpPr>
              <p:spPr bwMode="auto">
                <a:xfrm>
                  <a:off x="3091" y="1727"/>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8" name="Group 401"/>
              <p:cNvGrpSpPr/>
              <p:nvPr/>
            </p:nvGrpSpPr>
            <p:grpSpPr bwMode="auto">
              <a:xfrm>
                <a:off x="3465" y="1727"/>
                <a:ext cx="302" cy="403"/>
                <a:chOff x="3465" y="1727"/>
                <a:chExt cx="302" cy="403"/>
              </a:xfrm>
            </p:grpSpPr>
            <p:sp>
              <p:nvSpPr>
                <p:cNvPr id="124017" name="Rectangle 402"/>
                <p:cNvSpPr>
                  <a:spLocks noChangeArrowheads="1"/>
                </p:cNvSpPr>
                <p:nvPr/>
              </p:nvSpPr>
              <p:spPr bwMode="auto">
                <a:xfrm>
                  <a:off x="3508" y="1727"/>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18" name="Rectangle 403"/>
                <p:cNvSpPr>
                  <a:spLocks noChangeArrowheads="1"/>
                </p:cNvSpPr>
                <p:nvPr/>
              </p:nvSpPr>
              <p:spPr bwMode="auto">
                <a:xfrm>
                  <a:off x="3465" y="1727"/>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69" name="Group 404"/>
              <p:cNvGrpSpPr/>
              <p:nvPr/>
            </p:nvGrpSpPr>
            <p:grpSpPr bwMode="auto">
              <a:xfrm>
                <a:off x="3767" y="1727"/>
                <a:ext cx="446" cy="403"/>
                <a:chOff x="3767" y="1727"/>
                <a:chExt cx="446" cy="403"/>
              </a:xfrm>
            </p:grpSpPr>
            <p:sp>
              <p:nvSpPr>
                <p:cNvPr id="124015" name="Rectangle 405"/>
                <p:cNvSpPr>
                  <a:spLocks noChangeArrowheads="1"/>
                </p:cNvSpPr>
                <p:nvPr/>
              </p:nvSpPr>
              <p:spPr bwMode="auto">
                <a:xfrm>
                  <a:off x="3810" y="1727"/>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5</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16" name="Rectangle 406"/>
                <p:cNvSpPr>
                  <a:spLocks noChangeArrowheads="1"/>
                </p:cNvSpPr>
                <p:nvPr/>
              </p:nvSpPr>
              <p:spPr bwMode="auto">
                <a:xfrm>
                  <a:off x="3767" y="1727"/>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0" name="Group 407"/>
              <p:cNvGrpSpPr/>
              <p:nvPr/>
            </p:nvGrpSpPr>
            <p:grpSpPr bwMode="auto">
              <a:xfrm>
                <a:off x="4213" y="1727"/>
                <a:ext cx="518" cy="403"/>
                <a:chOff x="4213" y="1727"/>
                <a:chExt cx="518" cy="403"/>
              </a:xfrm>
            </p:grpSpPr>
            <p:sp>
              <p:nvSpPr>
                <p:cNvPr id="124013" name="Rectangle 408"/>
                <p:cNvSpPr>
                  <a:spLocks noChangeArrowheads="1"/>
                </p:cNvSpPr>
                <p:nvPr/>
              </p:nvSpPr>
              <p:spPr bwMode="auto">
                <a:xfrm>
                  <a:off x="4256" y="1727"/>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True</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14" name="Rectangle 409"/>
                <p:cNvSpPr>
                  <a:spLocks noChangeArrowheads="1"/>
                </p:cNvSpPr>
                <p:nvPr/>
              </p:nvSpPr>
              <p:spPr bwMode="auto">
                <a:xfrm>
                  <a:off x="4213" y="1727"/>
                  <a:ext cx="51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1" name="Group 410"/>
              <p:cNvGrpSpPr/>
              <p:nvPr/>
            </p:nvGrpSpPr>
            <p:grpSpPr bwMode="auto">
              <a:xfrm>
                <a:off x="0" y="2130"/>
                <a:ext cx="374" cy="403"/>
                <a:chOff x="0" y="2130"/>
                <a:chExt cx="374" cy="403"/>
              </a:xfrm>
            </p:grpSpPr>
            <p:sp>
              <p:nvSpPr>
                <p:cNvPr id="124011" name="Rectangle 411"/>
                <p:cNvSpPr>
                  <a:spLocks noChangeArrowheads="1"/>
                </p:cNvSpPr>
                <p:nvPr/>
              </p:nvSpPr>
              <p:spPr bwMode="auto">
                <a:xfrm>
                  <a:off x="43" y="2130"/>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P3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12" name="Rectangle 412"/>
                <p:cNvSpPr>
                  <a:spLocks noChangeArrowheads="1"/>
                </p:cNvSpPr>
                <p:nvPr/>
              </p:nvSpPr>
              <p:spPr bwMode="auto">
                <a:xfrm>
                  <a:off x="0" y="2130"/>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2" name="Group 413"/>
              <p:cNvGrpSpPr/>
              <p:nvPr/>
            </p:nvGrpSpPr>
            <p:grpSpPr bwMode="auto">
              <a:xfrm>
                <a:off x="374" y="2130"/>
                <a:ext cx="302" cy="403"/>
                <a:chOff x="374" y="2130"/>
                <a:chExt cx="302" cy="403"/>
              </a:xfrm>
            </p:grpSpPr>
            <p:sp>
              <p:nvSpPr>
                <p:cNvPr id="124009" name="Rectangle 414"/>
                <p:cNvSpPr>
                  <a:spLocks noChangeArrowheads="1"/>
                </p:cNvSpPr>
                <p:nvPr/>
              </p:nvSpPr>
              <p:spPr bwMode="auto">
                <a:xfrm>
                  <a:off x="417" y="2130"/>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7</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10" name="Rectangle 415"/>
                <p:cNvSpPr>
                  <a:spLocks noChangeArrowheads="1"/>
                </p:cNvSpPr>
                <p:nvPr/>
              </p:nvSpPr>
              <p:spPr bwMode="auto">
                <a:xfrm>
                  <a:off x="374" y="2130"/>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3" name="Group 416"/>
              <p:cNvGrpSpPr/>
              <p:nvPr/>
            </p:nvGrpSpPr>
            <p:grpSpPr bwMode="auto">
              <a:xfrm>
                <a:off x="676" y="2130"/>
                <a:ext cx="302" cy="403"/>
                <a:chOff x="676" y="2130"/>
                <a:chExt cx="302" cy="403"/>
              </a:xfrm>
            </p:grpSpPr>
            <p:sp>
              <p:nvSpPr>
                <p:cNvPr id="124007" name="Rectangle 417"/>
                <p:cNvSpPr>
                  <a:spLocks noChangeArrowheads="1"/>
                </p:cNvSpPr>
                <p:nvPr/>
              </p:nvSpPr>
              <p:spPr bwMode="auto">
                <a:xfrm>
                  <a:off x="719" y="2130"/>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08" name="Rectangle 418"/>
                <p:cNvSpPr>
                  <a:spLocks noChangeArrowheads="1"/>
                </p:cNvSpPr>
                <p:nvPr/>
              </p:nvSpPr>
              <p:spPr bwMode="auto">
                <a:xfrm>
                  <a:off x="676" y="2130"/>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4" name="Group 419"/>
              <p:cNvGrpSpPr/>
              <p:nvPr/>
            </p:nvGrpSpPr>
            <p:grpSpPr bwMode="auto">
              <a:xfrm>
                <a:off x="978" y="2130"/>
                <a:ext cx="302" cy="403"/>
                <a:chOff x="978" y="2130"/>
                <a:chExt cx="302" cy="403"/>
              </a:xfrm>
            </p:grpSpPr>
            <p:sp>
              <p:nvSpPr>
                <p:cNvPr id="124005" name="Rectangle 420"/>
                <p:cNvSpPr>
                  <a:spLocks noChangeArrowheads="1"/>
                </p:cNvSpPr>
                <p:nvPr/>
              </p:nvSpPr>
              <p:spPr bwMode="auto">
                <a:xfrm>
                  <a:off x="1021" y="2130"/>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5</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06" name="Rectangle 421"/>
                <p:cNvSpPr>
                  <a:spLocks noChangeArrowheads="1"/>
                </p:cNvSpPr>
                <p:nvPr/>
              </p:nvSpPr>
              <p:spPr bwMode="auto">
                <a:xfrm>
                  <a:off x="978" y="2130"/>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5" name="Group 422"/>
              <p:cNvGrpSpPr/>
              <p:nvPr/>
            </p:nvGrpSpPr>
            <p:grpSpPr bwMode="auto">
              <a:xfrm>
                <a:off x="1280" y="2130"/>
                <a:ext cx="297" cy="403"/>
                <a:chOff x="1280" y="2130"/>
                <a:chExt cx="297" cy="403"/>
              </a:xfrm>
            </p:grpSpPr>
            <p:sp>
              <p:nvSpPr>
                <p:cNvPr id="124003" name="Rectangle 423"/>
                <p:cNvSpPr>
                  <a:spLocks noChangeArrowheads="1"/>
                </p:cNvSpPr>
                <p:nvPr/>
              </p:nvSpPr>
              <p:spPr bwMode="auto">
                <a:xfrm>
                  <a:off x="1323" y="2130"/>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04" name="Rectangle 424"/>
                <p:cNvSpPr>
                  <a:spLocks noChangeArrowheads="1"/>
                </p:cNvSpPr>
                <p:nvPr/>
              </p:nvSpPr>
              <p:spPr bwMode="auto">
                <a:xfrm>
                  <a:off x="1280" y="2130"/>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6" name="Group 425"/>
              <p:cNvGrpSpPr/>
              <p:nvPr/>
            </p:nvGrpSpPr>
            <p:grpSpPr bwMode="auto">
              <a:xfrm>
                <a:off x="1577" y="2130"/>
                <a:ext cx="285" cy="403"/>
                <a:chOff x="1577" y="2130"/>
                <a:chExt cx="285" cy="403"/>
              </a:xfrm>
            </p:grpSpPr>
            <p:sp>
              <p:nvSpPr>
                <p:cNvPr id="124001" name="Rectangle 426"/>
                <p:cNvSpPr>
                  <a:spLocks noChangeArrowheads="1"/>
                </p:cNvSpPr>
                <p:nvPr/>
              </p:nvSpPr>
              <p:spPr bwMode="auto">
                <a:xfrm>
                  <a:off x="1620" y="2130"/>
                  <a:ext cx="19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0</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02" name="Rectangle 427"/>
                <p:cNvSpPr>
                  <a:spLocks noChangeArrowheads="1"/>
                </p:cNvSpPr>
                <p:nvPr/>
              </p:nvSpPr>
              <p:spPr bwMode="auto">
                <a:xfrm>
                  <a:off x="1577" y="2130"/>
                  <a:ext cx="28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7" name="Group 428"/>
              <p:cNvGrpSpPr/>
              <p:nvPr/>
            </p:nvGrpSpPr>
            <p:grpSpPr bwMode="auto">
              <a:xfrm>
                <a:off x="1862" y="2130"/>
                <a:ext cx="295" cy="403"/>
                <a:chOff x="1862" y="2130"/>
                <a:chExt cx="295" cy="403"/>
              </a:xfrm>
            </p:grpSpPr>
            <p:sp>
              <p:nvSpPr>
                <p:cNvPr id="123999" name="Rectangle 429"/>
                <p:cNvSpPr>
                  <a:spLocks noChangeArrowheads="1"/>
                </p:cNvSpPr>
                <p:nvPr/>
              </p:nvSpPr>
              <p:spPr bwMode="auto">
                <a:xfrm>
                  <a:off x="1905" y="2130"/>
                  <a:ext cx="20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4000" name="Rectangle 430"/>
                <p:cNvSpPr>
                  <a:spLocks noChangeArrowheads="1"/>
                </p:cNvSpPr>
                <p:nvPr/>
              </p:nvSpPr>
              <p:spPr bwMode="auto">
                <a:xfrm>
                  <a:off x="1862" y="2130"/>
                  <a:ext cx="295"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8" name="Group 431"/>
              <p:cNvGrpSpPr/>
              <p:nvPr/>
            </p:nvGrpSpPr>
            <p:grpSpPr bwMode="auto">
              <a:xfrm>
                <a:off x="2157" y="2130"/>
                <a:ext cx="297" cy="403"/>
                <a:chOff x="2157" y="2130"/>
                <a:chExt cx="297" cy="403"/>
              </a:xfrm>
            </p:grpSpPr>
            <p:sp>
              <p:nvSpPr>
                <p:cNvPr id="123997" name="Rectangle 432"/>
                <p:cNvSpPr>
                  <a:spLocks noChangeArrowheads="1"/>
                </p:cNvSpPr>
                <p:nvPr/>
              </p:nvSpPr>
              <p:spPr bwMode="auto">
                <a:xfrm>
                  <a:off x="2200" y="2130"/>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2</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98" name="Rectangle 433"/>
                <p:cNvSpPr>
                  <a:spLocks noChangeArrowheads="1"/>
                </p:cNvSpPr>
                <p:nvPr/>
              </p:nvSpPr>
              <p:spPr bwMode="auto">
                <a:xfrm>
                  <a:off x="2157" y="2130"/>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79" name="Group 434"/>
              <p:cNvGrpSpPr/>
              <p:nvPr/>
            </p:nvGrpSpPr>
            <p:grpSpPr bwMode="auto">
              <a:xfrm>
                <a:off x="2454" y="2130"/>
                <a:ext cx="297" cy="403"/>
                <a:chOff x="2454" y="2130"/>
                <a:chExt cx="297" cy="403"/>
              </a:xfrm>
            </p:grpSpPr>
            <p:sp>
              <p:nvSpPr>
                <p:cNvPr id="123995" name="Rectangle 435"/>
                <p:cNvSpPr>
                  <a:spLocks noChangeArrowheads="1"/>
                </p:cNvSpPr>
                <p:nvPr/>
              </p:nvSpPr>
              <p:spPr bwMode="auto">
                <a:xfrm>
                  <a:off x="2497" y="2130"/>
                  <a:ext cx="211"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96" name="Rectangle 436"/>
                <p:cNvSpPr>
                  <a:spLocks noChangeArrowheads="1"/>
                </p:cNvSpPr>
                <p:nvPr/>
              </p:nvSpPr>
              <p:spPr bwMode="auto">
                <a:xfrm>
                  <a:off x="2454" y="2130"/>
                  <a:ext cx="297"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80" name="Group 437"/>
              <p:cNvGrpSpPr/>
              <p:nvPr/>
            </p:nvGrpSpPr>
            <p:grpSpPr bwMode="auto">
              <a:xfrm>
                <a:off x="2751" y="2130"/>
                <a:ext cx="340" cy="403"/>
                <a:chOff x="2751" y="2130"/>
                <a:chExt cx="340" cy="403"/>
              </a:xfrm>
            </p:grpSpPr>
            <p:sp>
              <p:nvSpPr>
                <p:cNvPr id="123993" name="Rectangle 438"/>
                <p:cNvSpPr>
                  <a:spLocks noChangeArrowheads="1"/>
                </p:cNvSpPr>
                <p:nvPr/>
              </p:nvSpPr>
              <p:spPr bwMode="auto">
                <a:xfrm>
                  <a:off x="2794" y="2130"/>
                  <a:ext cx="25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1</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94" name="Rectangle 439"/>
                <p:cNvSpPr>
                  <a:spLocks noChangeArrowheads="1"/>
                </p:cNvSpPr>
                <p:nvPr/>
              </p:nvSpPr>
              <p:spPr bwMode="auto">
                <a:xfrm>
                  <a:off x="2751" y="2130"/>
                  <a:ext cx="34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81" name="Group 440"/>
              <p:cNvGrpSpPr/>
              <p:nvPr/>
            </p:nvGrpSpPr>
            <p:grpSpPr bwMode="auto">
              <a:xfrm>
                <a:off x="3091" y="2130"/>
                <a:ext cx="374" cy="403"/>
                <a:chOff x="3091" y="2130"/>
                <a:chExt cx="374" cy="403"/>
              </a:xfrm>
            </p:grpSpPr>
            <p:sp>
              <p:nvSpPr>
                <p:cNvPr id="123991" name="Rectangle 441"/>
                <p:cNvSpPr>
                  <a:spLocks noChangeArrowheads="1"/>
                </p:cNvSpPr>
                <p:nvPr/>
              </p:nvSpPr>
              <p:spPr bwMode="auto">
                <a:xfrm>
                  <a:off x="3134" y="2130"/>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9</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92" name="Rectangle 442"/>
                <p:cNvSpPr>
                  <a:spLocks noChangeArrowheads="1"/>
                </p:cNvSpPr>
                <p:nvPr/>
              </p:nvSpPr>
              <p:spPr bwMode="auto">
                <a:xfrm>
                  <a:off x="3091" y="2130"/>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82" name="Group 443"/>
              <p:cNvGrpSpPr/>
              <p:nvPr/>
            </p:nvGrpSpPr>
            <p:grpSpPr bwMode="auto">
              <a:xfrm>
                <a:off x="3465" y="2130"/>
                <a:ext cx="302" cy="403"/>
                <a:chOff x="3465" y="2130"/>
                <a:chExt cx="302" cy="403"/>
              </a:xfrm>
            </p:grpSpPr>
            <p:sp>
              <p:nvSpPr>
                <p:cNvPr id="123989" name="Rectangle 444"/>
                <p:cNvSpPr>
                  <a:spLocks noChangeArrowheads="1"/>
                </p:cNvSpPr>
                <p:nvPr/>
              </p:nvSpPr>
              <p:spPr bwMode="auto">
                <a:xfrm>
                  <a:off x="3508" y="2130"/>
                  <a:ext cx="21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3</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90" name="Rectangle 445"/>
                <p:cNvSpPr>
                  <a:spLocks noChangeArrowheads="1"/>
                </p:cNvSpPr>
                <p:nvPr/>
              </p:nvSpPr>
              <p:spPr bwMode="auto">
                <a:xfrm>
                  <a:off x="3465" y="2130"/>
                  <a:ext cx="30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83" name="Group 446"/>
              <p:cNvGrpSpPr/>
              <p:nvPr/>
            </p:nvGrpSpPr>
            <p:grpSpPr bwMode="auto">
              <a:xfrm>
                <a:off x="3767" y="2130"/>
                <a:ext cx="446" cy="403"/>
                <a:chOff x="3767" y="2130"/>
                <a:chExt cx="446" cy="403"/>
              </a:xfrm>
            </p:grpSpPr>
            <p:sp>
              <p:nvSpPr>
                <p:cNvPr id="123987" name="Rectangle 447"/>
                <p:cNvSpPr>
                  <a:spLocks noChangeArrowheads="1"/>
                </p:cNvSpPr>
                <p:nvPr/>
              </p:nvSpPr>
              <p:spPr bwMode="auto">
                <a:xfrm>
                  <a:off x="3810" y="2130"/>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6</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88" name="Rectangle 448"/>
                <p:cNvSpPr>
                  <a:spLocks noChangeArrowheads="1"/>
                </p:cNvSpPr>
                <p:nvPr/>
              </p:nvSpPr>
              <p:spPr bwMode="auto">
                <a:xfrm>
                  <a:off x="3767" y="2130"/>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nvGrpSpPr>
              <p:cNvPr id="123984" name="Group 449"/>
              <p:cNvGrpSpPr/>
              <p:nvPr/>
            </p:nvGrpSpPr>
            <p:grpSpPr bwMode="auto">
              <a:xfrm>
                <a:off x="4213" y="2130"/>
                <a:ext cx="518" cy="403"/>
                <a:chOff x="4213" y="2130"/>
                <a:chExt cx="518" cy="403"/>
              </a:xfrm>
            </p:grpSpPr>
            <p:sp>
              <p:nvSpPr>
                <p:cNvPr id="123985" name="Rectangle 450"/>
                <p:cNvSpPr>
                  <a:spLocks noChangeArrowheads="1"/>
                </p:cNvSpPr>
                <p:nvPr/>
              </p:nvSpPr>
              <p:spPr bwMode="auto">
                <a:xfrm>
                  <a:off x="4256" y="2130"/>
                  <a:ext cx="432"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000" b="1">
                      <a:solidFill>
                        <a:srgbClr val="003300"/>
                      </a:solidFill>
                      <a:ea typeface="楷体_GB2312" pitchFamily="49" charset="-122"/>
                    </a:rPr>
                    <a:t>True</a:t>
                  </a:r>
                  <a:endParaRPr lang="en-US" altLang="zh-CN" sz="2000" b="1">
                    <a:solidFill>
                      <a:srgbClr val="003300"/>
                    </a:solidFill>
                    <a:ea typeface="楷体_GB2312" pitchFamily="49" charset="-122"/>
                  </a:endParaRPr>
                </a:p>
                <a:p>
                  <a:pPr algn="ctr">
                    <a:spcBef>
                      <a:spcPct val="0"/>
                    </a:spcBef>
                    <a:buClrTx/>
                    <a:buFontTx/>
                    <a:buNone/>
                  </a:pPr>
                  <a:endParaRPr lang="zh-CN" altLang="en-US" sz="2000" b="1">
                    <a:solidFill>
                      <a:srgbClr val="003300"/>
                    </a:solidFill>
                    <a:ea typeface="楷体_GB2312" pitchFamily="49" charset="-122"/>
                  </a:endParaRPr>
                </a:p>
              </p:txBody>
            </p:sp>
            <p:sp>
              <p:nvSpPr>
                <p:cNvPr id="123986" name="Rectangle 451"/>
                <p:cNvSpPr>
                  <a:spLocks noChangeArrowheads="1"/>
                </p:cNvSpPr>
                <p:nvPr/>
              </p:nvSpPr>
              <p:spPr bwMode="auto">
                <a:xfrm>
                  <a:off x="4213" y="2130"/>
                  <a:ext cx="518"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grpSp>
        <p:sp>
          <p:nvSpPr>
            <p:cNvPr id="123910" name="Rectangle 452"/>
            <p:cNvSpPr>
              <a:spLocks noChangeArrowheads="1"/>
            </p:cNvSpPr>
            <p:nvPr/>
          </p:nvSpPr>
          <p:spPr bwMode="auto">
            <a:xfrm>
              <a:off x="-3" y="-3"/>
              <a:ext cx="4737" cy="2539"/>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000" b="1">
                <a:latin typeface="Tahoma" panose="020B0604030504040204" pitchFamily="34" charset="0"/>
                <a:ea typeface="楷体_GB2312" pitchFamily="49" charset="-122"/>
              </a:endParaRPr>
            </a:p>
          </p:txBody>
        </p:sp>
      </p:grpSp>
      <p:sp>
        <p:nvSpPr>
          <p:cNvPr id="3" name="矩形 2"/>
          <p:cNvSpPr/>
          <p:nvPr/>
        </p:nvSpPr>
        <p:spPr>
          <a:xfrm>
            <a:off x="2593976" y="228601"/>
            <a:ext cx="7616825" cy="523875"/>
          </a:xfrm>
          <a:prstGeom prst="rect">
            <a:avLst/>
          </a:prstGeom>
        </p:spPr>
        <p:txBody>
          <a:bodyPr>
            <a:spAutoFit/>
          </a:bodyPr>
          <a:lstStyle/>
          <a:p>
            <a:pPr algn="ctr" eaLnBrk="1" hangingPunct="1">
              <a:defRPr/>
            </a:pPr>
            <a:r>
              <a:rPr lang="zh-CN" altLang="en-US" sz="2800" kern="0" dirty="0">
                <a:solidFill>
                  <a:srgbClr val="000000"/>
                </a:solidFill>
                <a:effectLst>
                  <a:outerShdw blurRad="38100" dist="38100" dir="2700000" algn="tl">
                    <a:srgbClr val="000000"/>
                  </a:outerShdw>
                </a:effectLst>
                <a:latin typeface="Times New Roman" panose="02020603050405020304"/>
                <a:ea typeface="仿宋_GB2312" pitchFamily="49" charset="-122"/>
              </a:rPr>
              <a:t>利用安全性算法，分析</a:t>
            </a:r>
            <a:r>
              <a:rPr lang="en-US" altLang="zh-CN" sz="2800" kern="0" dirty="0" err="1">
                <a:solidFill>
                  <a:srgbClr val="000000"/>
                </a:solidFill>
                <a:effectLst>
                  <a:outerShdw blurRad="38100" dist="38100" dir="2700000" algn="tl">
                    <a:srgbClr val="000000"/>
                  </a:outerShdw>
                </a:effectLst>
                <a:latin typeface="Times New Roman" panose="02020603050405020304"/>
                <a:ea typeface="仿宋_GB2312" pitchFamily="49" charset="-122"/>
              </a:rPr>
              <a:t>T0</a:t>
            </a:r>
            <a:r>
              <a:rPr lang="zh-CN" altLang="en-US" sz="2800" kern="0" dirty="0">
                <a:solidFill>
                  <a:srgbClr val="000000"/>
                </a:solidFill>
                <a:effectLst>
                  <a:outerShdw blurRad="38100" dist="38100" dir="2700000" algn="tl">
                    <a:srgbClr val="000000"/>
                  </a:outerShdw>
                </a:effectLst>
                <a:latin typeface="Times New Roman" panose="02020603050405020304"/>
                <a:ea typeface="仿宋_GB2312" pitchFamily="49" charset="-122"/>
              </a:rPr>
              <a:t>时刻的资源分配情况，</a:t>
            </a:r>
            <a:endParaRPr lang="zh-CN" altLang="en-US" dirty="0">
              <a:latin typeface="Arial" panose="020B0604020202020204" pitchFamily="34" charset="0"/>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Rot="1" noChangeArrowheads="1"/>
          </p:cNvSpPr>
          <p:nvPr>
            <p:ph type="title"/>
          </p:nvPr>
        </p:nvSpPr>
        <p:spPr/>
        <p:txBody>
          <a:bodyPr/>
          <a:lstStyle/>
          <a:p>
            <a:pPr>
              <a:defRPr/>
            </a:pPr>
            <a:r>
              <a:rPr lang="en-US" altLang="zh-CN">
                <a:ea typeface="仿宋_GB2312" pitchFamily="49" charset="-122"/>
              </a:rPr>
              <a:t>T</a:t>
            </a:r>
            <a:r>
              <a:rPr lang="en-US" altLang="zh-CN" baseline="-30000">
                <a:ea typeface="仿宋_GB2312" pitchFamily="49" charset="-122"/>
              </a:rPr>
              <a:t>0</a:t>
            </a:r>
            <a:r>
              <a:rPr lang="zh-CN" altLang="en-US">
                <a:ea typeface="仿宋_GB2312" pitchFamily="49" charset="-122"/>
              </a:rPr>
              <a:t>时刻的安全性</a:t>
            </a:r>
            <a:endParaRPr lang="zh-CN" altLang="en-US">
              <a:ea typeface="仿宋_GB2312" pitchFamily="49" charset="-122"/>
            </a:endParaRPr>
          </a:p>
        </p:txBody>
      </p:sp>
      <p:sp>
        <p:nvSpPr>
          <p:cNvPr id="457731" name="Rectangle 3"/>
          <p:cNvSpPr>
            <a:spLocks noGrp="1" noRot="1" noChangeArrowheads="1"/>
          </p:cNvSpPr>
          <p:nvPr>
            <p:ph idx="1"/>
          </p:nvPr>
        </p:nvSpPr>
        <p:spPr>
          <a:xfrm>
            <a:off x="1204856" y="1430767"/>
            <a:ext cx="9774049" cy="4970034"/>
          </a:xfrm>
        </p:spPr>
        <p:txBody>
          <a:bodyPr/>
          <a:lstStyle/>
          <a:p>
            <a:pPr>
              <a:lnSpc>
                <a:spcPct val="150000"/>
              </a:lnSpc>
              <a:buFont typeface="Wingdings" panose="05000000000000000000" pitchFamily="2" charset="2"/>
              <a:buNone/>
              <a:defRPr/>
            </a:pPr>
            <a:r>
              <a:rPr lang="zh-CN" altLang="en-US" dirty="0">
                <a:effectLst>
                  <a:outerShdw blurRad="38100" dist="38100" dir="2700000" algn="tl">
                    <a:srgbClr val="000000"/>
                  </a:outerShdw>
                </a:effectLst>
                <a:ea typeface="仿宋_GB2312" pitchFamily="49" charset="-122"/>
              </a:rPr>
              <a:t>从</a:t>
            </a:r>
            <a:r>
              <a:rPr lang="en-US" altLang="zh-CN" dirty="0" err="1">
                <a:effectLst>
                  <a:outerShdw blurRad="38100" dist="38100" dir="2700000" algn="tl">
                    <a:srgbClr val="000000"/>
                  </a:outerShdw>
                </a:effectLst>
                <a:ea typeface="仿宋_GB2312" pitchFamily="49" charset="-122"/>
              </a:rPr>
              <a:t>T</a:t>
            </a:r>
            <a:r>
              <a:rPr lang="en-US" altLang="zh-CN" baseline="-30000" dirty="0" err="1">
                <a:effectLst>
                  <a:outerShdw blurRad="38100" dist="38100" dir="2700000" algn="tl">
                    <a:srgbClr val="000000"/>
                  </a:outerShdw>
                </a:effectLst>
                <a:ea typeface="仿宋_GB2312" pitchFamily="49" charset="-122"/>
              </a:rPr>
              <a:t>0</a:t>
            </a:r>
            <a:r>
              <a:rPr lang="zh-CN" altLang="en-US" dirty="0">
                <a:effectLst>
                  <a:outerShdw blurRad="38100" dist="38100" dir="2700000" algn="tl">
                    <a:srgbClr val="000000"/>
                  </a:outerShdw>
                </a:effectLst>
                <a:ea typeface="仿宋_GB2312" pitchFamily="49" charset="-122"/>
              </a:rPr>
              <a:t>时刻的安全性分析可知，</a:t>
            </a:r>
            <a:r>
              <a:rPr lang="en-US" altLang="zh-CN" dirty="0" err="1">
                <a:effectLst>
                  <a:outerShdw blurRad="38100" dist="38100" dir="2700000" algn="tl">
                    <a:srgbClr val="000000"/>
                  </a:outerShdw>
                </a:effectLst>
                <a:ea typeface="仿宋_GB2312" pitchFamily="49" charset="-122"/>
              </a:rPr>
              <a:t>T</a:t>
            </a:r>
            <a:r>
              <a:rPr lang="en-US" altLang="zh-CN" baseline="-30000" dirty="0" err="1">
                <a:effectLst>
                  <a:outerShdw blurRad="38100" dist="38100" dir="2700000" algn="tl">
                    <a:srgbClr val="000000"/>
                  </a:outerShdw>
                </a:effectLst>
                <a:ea typeface="仿宋_GB2312" pitchFamily="49" charset="-122"/>
              </a:rPr>
              <a:t>0</a:t>
            </a:r>
            <a:r>
              <a:rPr lang="zh-CN" altLang="en-US" dirty="0">
                <a:effectLst>
                  <a:outerShdw blurRad="38100" dist="38100" dir="2700000" algn="tl">
                    <a:srgbClr val="000000"/>
                  </a:outerShdw>
                </a:effectLst>
                <a:ea typeface="仿宋_GB2312" pitchFamily="49" charset="-122"/>
              </a:rPr>
              <a:t>时刻存在着一个安全序列</a:t>
            </a:r>
            <a:r>
              <a:rPr lang="en-US" altLang="zh-CN" dirty="0">
                <a:effectLst>
                  <a:outerShdw blurRad="38100" dist="38100" dir="2700000" algn="tl">
                    <a:srgbClr val="000000"/>
                  </a:outerShdw>
                </a:effectLst>
                <a:ea typeface="仿宋_GB2312" pitchFamily="49" charset="-122"/>
              </a:rPr>
              <a:t>&lt;</a:t>
            </a:r>
            <a:r>
              <a:rPr lang="en-US" altLang="zh-CN" dirty="0" err="1">
                <a:effectLst>
                  <a:outerShdw blurRad="38100" dist="38100" dir="2700000" algn="tl">
                    <a:srgbClr val="000000"/>
                  </a:outerShdw>
                </a:effectLst>
                <a:ea typeface="仿宋_GB2312" pitchFamily="49" charset="-122"/>
              </a:rPr>
              <a:t>P2,P1</a:t>
            </a:r>
            <a:r>
              <a:rPr lang="zh-CN" altLang="en-US" dirty="0">
                <a:effectLst>
                  <a:outerShdw blurRad="38100" dist="38100" dir="2700000" algn="tl">
                    <a:srgbClr val="000000"/>
                  </a:outerShdw>
                </a:effectLst>
                <a:ea typeface="仿宋_GB2312" pitchFamily="49" charset="-122"/>
              </a:rPr>
              <a:t>，</a:t>
            </a:r>
            <a:r>
              <a:rPr lang="en-US" altLang="zh-CN" dirty="0" err="1">
                <a:effectLst>
                  <a:outerShdw blurRad="38100" dist="38100" dir="2700000" algn="tl">
                    <a:srgbClr val="000000"/>
                  </a:outerShdw>
                </a:effectLst>
                <a:ea typeface="仿宋_GB2312" pitchFamily="49" charset="-122"/>
              </a:rPr>
              <a:t>P4,P3</a:t>
            </a:r>
            <a:r>
              <a:rPr lang="en-US" altLang="zh-CN" dirty="0">
                <a:effectLst>
                  <a:outerShdw blurRad="38100" dist="38100" dir="2700000" algn="tl">
                    <a:srgbClr val="000000"/>
                  </a:outerShdw>
                </a:effectLst>
                <a:ea typeface="仿宋_GB2312" pitchFamily="49" charset="-122"/>
              </a:rPr>
              <a:t>&gt;,</a:t>
            </a:r>
            <a:r>
              <a:rPr lang="zh-CN" altLang="en-US" dirty="0">
                <a:effectLst>
                  <a:outerShdw blurRad="38100" dist="38100" dir="2700000" algn="tl">
                    <a:srgbClr val="000000"/>
                  </a:outerShdw>
                </a:effectLst>
                <a:ea typeface="仿宋_GB2312" pitchFamily="49" charset="-122"/>
              </a:rPr>
              <a:t>故</a:t>
            </a:r>
            <a:r>
              <a:rPr lang="en-US" altLang="zh-CN" dirty="0" err="1">
                <a:effectLst>
                  <a:outerShdw blurRad="38100" dist="38100" dir="2700000" algn="tl">
                    <a:srgbClr val="000000"/>
                  </a:outerShdw>
                </a:effectLst>
                <a:ea typeface="仿宋_GB2312" pitchFamily="49" charset="-122"/>
              </a:rPr>
              <a:t>T</a:t>
            </a:r>
            <a:r>
              <a:rPr lang="en-US" altLang="zh-CN" baseline="-30000" dirty="0" err="1">
                <a:effectLst>
                  <a:outerShdw blurRad="38100" dist="38100" dir="2700000" algn="tl">
                    <a:srgbClr val="000000"/>
                  </a:outerShdw>
                </a:effectLst>
                <a:ea typeface="仿宋_GB2312" pitchFamily="49" charset="-122"/>
              </a:rPr>
              <a:t>0</a:t>
            </a:r>
            <a:r>
              <a:rPr lang="zh-CN" altLang="en-US" dirty="0">
                <a:effectLst>
                  <a:outerShdw blurRad="38100" dist="38100" dir="2700000" algn="tl">
                    <a:srgbClr val="000000"/>
                  </a:outerShdw>
                </a:effectLst>
                <a:ea typeface="仿宋_GB2312" pitchFamily="49" charset="-122"/>
              </a:rPr>
              <a:t>时刻系统是安全的。</a:t>
            </a:r>
            <a:r>
              <a:rPr lang="zh-CN" altLang="en-US" dirty="0"/>
              <a:t> </a:t>
            </a:r>
            <a:endParaRPr lang="zh-CN" altLang="en-US" dirty="0"/>
          </a:p>
        </p:txBody>
      </p:sp>
      <p:sp>
        <p:nvSpPr>
          <p:cNvPr id="4" name="Text Box 453"/>
          <p:cNvSpPr txBox="1">
            <a:spLocks noChangeArrowheads="1"/>
          </p:cNvSpPr>
          <p:nvPr/>
        </p:nvSpPr>
        <p:spPr bwMode="auto">
          <a:xfrm>
            <a:off x="1905000" y="3733800"/>
            <a:ext cx="8305800" cy="584200"/>
          </a:xfrm>
          <a:prstGeom prst="rect">
            <a:avLst/>
          </a:prstGeom>
          <a:noFill/>
          <a:ln>
            <a:noFill/>
          </a:ln>
          <a:effectLst>
            <a:prstShdw prst="shdw18" dist="17961" dir="13500000">
              <a:schemeClr val="accent1">
                <a:gamma/>
                <a:shade val="60000"/>
                <a:invGamma/>
              </a:schemeClr>
            </a:prstShdw>
          </a:effectLst>
        </p:spPr>
        <p:txBody>
          <a:bodyPr>
            <a:spAutoFit/>
          </a:bodyPr>
          <a:lstStyle/>
          <a:p>
            <a:pPr algn="ctr" eaLnBrk="1" hangingPunct="1">
              <a:spcBef>
                <a:spcPct val="50000"/>
              </a:spcBef>
              <a:defRPr/>
            </a:pPr>
            <a:r>
              <a:rPr lang="zh-CN" altLang="en-US" sz="3200" dirty="0">
                <a:solidFill>
                  <a:srgbClr val="3609F7"/>
                </a:solidFill>
              </a:rPr>
              <a:t>思考：你觉得还有那些安全序列？</a:t>
            </a:r>
            <a:endParaRPr lang="zh-CN" altLang="en-US" sz="3200" dirty="0">
              <a:solidFill>
                <a:srgbClr val="3609F7"/>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rrowheads="1"/>
          </p:cNvSpPr>
          <p:nvPr>
            <p:ph type="title"/>
          </p:nvPr>
        </p:nvSpPr>
        <p:spPr>
          <a:noFill/>
          <a:extLst>
            <a:ext uri="{909E8E84-426E-40DD-AFC4-6F175D3DCCD1}">
              <a14:hiddenFill xmlns:a14="http://schemas.microsoft.com/office/drawing/2010/main">
                <a:solidFill>
                  <a:srgbClr val="FFFFFF"/>
                </a:solidFill>
              </a14:hiddenFill>
            </a:ext>
          </a:extLst>
        </p:spPr>
        <p:txBody>
          <a:bodyPr/>
          <a:lstStyle/>
          <a:p>
            <a:r>
              <a:rPr lang="zh-CN" altLang="en-US" dirty="0">
                <a:effectLst/>
              </a:rPr>
              <a:t>请求分配的银行家算法应用</a:t>
            </a:r>
            <a:endParaRPr lang="zh-CN" altLang="en-US" dirty="0">
              <a:effectLst/>
            </a:endParaRPr>
          </a:p>
        </p:txBody>
      </p:sp>
      <p:sp>
        <p:nvSpPr>
          <p:cNvPr id="459779" name="Rectangle 3"/>
          <p:cNvSpPr>
            <a:spLocks noGrp="1" noRot="1" noChangeArrowheads="1"/>
          </p:cNvSpPr>
          <p:nvPr>
            <p:ph idx="1"/>
          </p:nvPr>
        </p:nvSpPr>
        <p:spPr/>
        <p:txBody>
          <a:bodyPr/>
          <a:lstStyle/>
          <a:p>
            <a:pPr algn="just">
              <a:defRPr/>
            </a:pPr>
            <a:r>
              <a:rPr lang="zh-CN" altLang="en-US" sz="2800" dirty="0">
                <a:effectLst>
                  <a:outerShdw blurRad="38100" dist="38100" dir="2700000" algn="tl">
                    <a:srgbClr val="000000"/>
                  </a:outerShdw>
                </a:effectLst>
                <a:ea typeface="仿宋_GB2312" pitchFamily="49" charset="-122"/>
              </a:rPr>
              <a:t>假设</a:t>
            </a:r>
            <a:r>
              <a:rPr lang="en-US" altLang="zh-CN" sz="2800" dirty="0" err="1">
                <a:effectLst>
                  <a:outerShdw blurRad="38100" dist="38100" dir="2700000" algn="tl">
                    <a:srgbClr val="000000"/>
                  </a:outerShdw>
                </a:effectLst>
                <a:ea typeface="仿宋_GB2312" pitchFamily="49" charset="-122"/>
              </a:rPr>
              <a:t>T</a:t>
            </a:r>
            <a:r>
              <a:rPr lang="en-US" altLang="zh-CN" sz="2800" baseline="-30000" dirty="0" err="1">
                <a:effectLst>
                  <a:outerShdw blurRad="38100" dist="38100" dir="2700000" algn="tl">
                    <a:srgbClr val="000000"/>
                  </a:outerShdw>
                </a:effectLst>
                <a:ea typeface="仿宋_GB2312" pitchFamily="49" charset="-122"/>
              </a:rPr>
              <a:t>0</a:t>
            </a:r>
            <a:r>
              <a:rPr lang="zh-CN" altLang="en-US" sz="2800" dirty="0">
                <a:effectLst>
                  <a:outerShdw blurRad="38100" dist="38100" dir="2700000" algn="tl">
                    <a:srgbClr val="000000"/>
                  </a:outerShdw>
                </a:effectLst>
                <a:ea typeface="仿宋_GB2312" pitchFamily="49" charset="-122"/>
              </a:rPr>
              <a:t>时刻，进程</a:t>
            </a:r>
            <a:r>
              <a:rPr lang="en-US" altLang="zh-CN" sz="2800" dirty="0" err="1">
                <a:effectLst>
                  <a:outerShdw blurRad="38100" dist="38100" dir="2700000" algn="tl">
                    <a:srgbClr val="000000"/>
                  </a:outerShdw>
                </a:effectLst>
                <a:ea typeface="仿宋_GB2312" pitchFamily="49" charset="-122"/>
              </a:rPr>
              <a:t>P1</a:t>
            </a:r>
            <a:r>
              <a:rPr lang="zh-CN" altLang="en-US" sz="2800" dirty="0">
                <a:effectLst>
                  <a:outerShdw blurRad="38100" dist="38100" dir="2700000" algn="tl">
                    <a:srgbClr val="000000"/>
                  </a:outerShdw>
                </a:effectLst>
                <a:ea typeface="仿宋_GB2312" pitchFamily="49" charset="-122"/>
              </a:rPr>
              <a:t>申请资源，其请求向量为</a:t>
            </a:r>
            <a:r>
              <a:rPr lang="en-US" altLang="zh-CN" sz="2800" dirty="0" err="1">
                <a:effectLst>
                  <a:outerShdw blurRad="38100" dist="38100" dir="2700000" algn="tl">
                    <a:srgbClr val="000000"/>
                  </a:outerShdw>
                </a:effectLst>
                <a:ea typeface="仿宋_GB2312" pitchFamily="49" charset="-122"/>
              </a:rPr>
              <a:t>Request</a:t>
            </a:r>
            <a:r>
              <a:rPr lang="en-US" altLang="zh-CN" sz="2800" baseline="-30000" dirty="0" err="1">
                <a:effectLst>
                  <a:outerShdw blurRad="38100" dist="38100" dir="2700000" algn="tl">
                    <a:srgbClr val="000000"/>
                  </a:outerShdw>
                </a:effectLst>
                <a:ea typeface="仿宋_GB2312" pitchFamily="49" charset="-122"/>
              </a:rPr>
              <a:t>1</a:t>
            </a:r>
            <a:r>
              <a:rPr lang="en-US" altLang="zh-CN" sz="2800" dirty="0">
                <a:effectLst>
                  <a:outerShdw blurRad="38100" dist="38100" dir="2700000" algn="tl">
                    <a:srgbClr val="000000"/>
                  </a:outerShdw>
                </a:effectLst>
                <a:ea typeface="仿宋_GB2312" pitchFamily="49" charset="-122"/>
              </a:rPr>
              <a:t>(0,0,1),</a:t>
            </a:r>
            <a:r>
              <a:rPr lang="zh-CN" altLang="en-US" sz="2800" dirty="0">
                <a:effectLst>
                  <a:outerShdw blurRad="38100" dist="38100" dir="2700000" algn="tl">
                    <a:srgbClr val="000000"/>
                  </a:outerShdw>
                </a:effectLst>
                <a:ea typeface="仿宋_GB2312" pitchFamily="49" charset="-122"/>
              </a:rPr>
              <a:t>系统按银行家算法进行检查：</a:t>
            </a:r>
            <a:endParaRPr lang="zh-CN" altLang="en-US" sz="2800" dirty="0">
              <a:effectLst>
                <a:outerShdw blurRad="38100" dist="38100" dir="2700000" algn="tl">
                  <a:srgbClr val="000000"/>
                </a:outerShdw>
              </a:effectLst>
              <a:ea typeface="仿宋_GB2312" pitchFamily="49" charset="-122"/>
            </a:endParaRPr>
          </a:p>
          <a:p>
            <a:pPr algn="just">
              <a:buFont typeface="Wingdings" panose="05000000000000000000" pitchFamily="2" charset="2"/>
              <a:buNone/>
              <a:defRPr/>
            </a:pPr>
            <a:r>
              <a:rPr lang="en-US" altLang="zh-CN" sz="2800" dirty="0" err="1">
                <a:effectLst>
                  <a:outerShdw blurRad="38100" dist="38100" dir="2700000" algn="tl">
                    <a:srgbClr val="000000"/>
                  </a:outerShdw>
                </a:effectLst>
                <a:ea typeface="仿宋_GB2312" pitchFamily="49" charset="-122"/>
              </a:rPr>
              <a:t>Request</a:t>
            </a:r>
            <a:r>
              <a:rPr lang="en-US" altLang="zh-CN" sz="2800" baseline="-30000" dirty="0" err="1">
                <a:effectLst>
                  <a:outerShdw blurRad="38100" dist="38100" dir="2700000" algn="tl">
                    <a:srgbClr val="000000"/>
                  </a:outerShdw>
                </a:effectLst>
                <a:ea typeface="仿宋_GB2312" pitchFamily="49" charset="-122"/>
              </a:rPr>
              <a:t>1</a:t>
            </a:r>
            <a:r>
              <a:rPr lang="en-US" altLang="zh-CN" sz="2800" dirty="0">
                <a:effectLst>
                  <a:outerShdw blurRad="38100" dist="38100" dir="2700000" algn="tl">
                    <a:srgbClr val="000000"/>
                  </a:outerShdw>
                </a:effectLst>
                <a:ea typeface="仿宋_GB2312" pitchFamily="49" charset="-122"/>
              </a:rPr>
              <a:t> (0,0,1) ≤ </a:t>
            </a:r>
            <a:r>
              <a:rPr lang="en-US" altLang="zh-CN" sz="2800" dirty="0" err="1">
                <a:effectLst>
                  <a:outerShdw blurRad="38100" dist="38100" dir="2700000" algn="tl">
                    <a:srgbClr val="000000"/>
                  </a:outerShdw>
                </a:effectLst>
                <a:ea typeface="仿宋_GB2312" pitchFamily="49" charset="-122"/>
              </a:rPr>
              <a:t>Need</a:t>
            </a:r>
            <a:r>
              <a:rPr lang="en-US" altLang="zh-CN" sz="2800" baseline="-30000" dirty="0" err="1">
                <a:effectLst>
                  <a:outerShdw blurRad="38100" dist="38100" dir="2700000" algn="tl">
                    <a:srgbClr val="000000"/>
                  </a:outerShdw>
                </a:effectLst>
                <a:ea typeface="仿宋_GB2312" pitchFamily="49" charset="-122"/>
              </a:rPr>
              <a:t>1</a:t>
            </a:r>
            <a:r>
              <a:rPr lang="en-US" altLang="zh-CN" sz="2800" dirty="0">
                <a:effectLst>
                  <a:outerShdw blurRad="38100" dist="38100" dir="2700000" algn="tl">
                    <a:srgbClr val="000000"/>
                  </a:outerShdw>
                </a:effectLst>
                <a:ea typeface="仿宋_GB2312" pitchFamily="49" charset="-122"/>
              </a:rPr>
              <a:t>(2,2,2)</a:t>
            </a:r>
            <a:r>
              <a:rPr lang="zh-CN" altLang="en-US" sz="2800" dirty="0">
                <a:effectLst>
                  <a:outerShdw blurRad="38100" dist="38100" dir="2700000" algn="tl">
                    <a:srgbClr val="000000"/>
                  </a:outerShdw>
                </a:effectLst>
                <a:ea typeface="仿宋_GB2312" pitchFamily="49" charset="-122"/>
              </a:rPr>
              <a:t>，且</a:t>
            </a:r>
            <a:endParaRPr lang="zh-CN" altLang="en-US" sz="2800" dirty="0">
              <a:effectLst>
                <a:outerShdw blurRad="38100" dist="38100" dir="2700000" algn="tl">
                  <a:srgbClr val="000000"/>
                </a:outerShdw>
              </a:effectLst>
              <a:ea typeface="仿宋_GB2312" pitchFamily="49" charset="-122"/>
            </a:endParaRPr>
          </a:p>
          <a:p>
            <a:pPr algn="just">
              <a:buFont typeface="Wingdings" panose="05000000000000000000" pitchFamily="2" charset="2"/>
              <a:buNone/>
              <a:defRPr/>
            </a:pPr>
            <a:r>
              <a:rPr lang="en-US" altLang="zh-CN" sz="2800" dirty="0" err="1">
                <a:effectLst>
                  <a:outerShdw blurRad="38100" dist="38100" dir="2700000" algn="tl">
                    <a:srgbClr val="000000"/>
                  </a:outerShdw>
                </a:effectLst>
                <a:ea typeface="仿宋_GB2312" pitchFamily="49" charset="-122"/>
              </a:rPr>
              <a:t>Request</a:t>
            </a:r>
            <a:r>
              <a:rPr lang="en-US" altLang="zh-CN" sz="2800" baseline="-30000" dirty="0" err="1">
                <a:effectLst>
                  <a:outerShdw blurRad="38100" dist="38100" dir="2700000" algn="tl">
                    <a:srgbClr val="000000"/>
                  </a:outerShdw>
                </a:effectLst>
                <a:ea typeface="仿宋_GB2312" pitchFamily="49" charset="-122"/>
              </a:rPr>
              <a:t>1</a:t>
            </a:r>
            <a:r>
              <a:rPr lang="en-US" altLang="zh-CN" sz="2800" dirty="0">
                <a:effectLst>
                  <a:outerShdw blurRad="38100" dist="38100" dir="2700000" algn="tl">
                    <a:srgbClr val="000000"/>
                  </a:outerShdw>
                </a:effectLst>
                <a:ea typeface="仿宋_GB2312" pitchFamily="49" charset="-122"/>
              </a:rPr>
              <a:t> (0,0,1) ≤ Available (0,1,1)</a:t>
            </a:r>
            <a:endParaRPr lang="en-US" altLang="zh-CN" sz="2800" dirty="0">
              <a:effectLst>
                <a:outerShdw blurRad="38100" dist="38100" dir="2700000" algn="tl">
                  <a:srgbClr val="000000"/>
                </a:outerShdw>
              </a:effectLst>
              <a:ea typeface="仿宋_GB2312" pitchFamily="49" charset="-122"/>
            </a:endParaRPr>
          </a:p>
          <a:p>
            <a:pPr algn="just">
              <a:buFont typeface="Wingdings" panose="05000000000000000000" pitchFamily="2" charset="2"/>
              <a:buNone/>
              <a:defRPr/>
            </a:pPr>
            <a:endParaRPr lang="en-US" altLang="zh-CN" sz="2800" dirty="0">
              <a:effectLst>
                <a:outerShdw blurRad="38100" dist="38100" dir="2700000" algn="tl">
                  <a:srgbClr val="000000"/>
                </a:outerShdw>
              </a:effectLst>
              <a:ea typeface="仿宋_GB2312" pitchFamily="49" charset="-122"/>
            </a:endParaRPr>
          </a:p>
          <a:p>
            <a:pPr algn="just">
              <a:defRPr/>
            </a:pPr>
            <a:r>
              <a:rPr lang="zh-CN" altLang="en-US" sz="2800" dirty="0">
                <a:effectLst>
                  <a:outerShdw blurRad="38100" dist="38100" dir="2700000" algn="tl">
                    <a:srgbClr val="000000"/>
                  </a:outerShdw>
                </a:effectLst>
                <a:ea typeface="仿宋_GB2312" pitchFamily="49" charset="-122"/>
              </a:rPr>
              <a:t>故，系统试探性地为</a:t>
            </a:r>
            <a:r>
              <a:rPr lang="en-US" altLang="zh-CN" sz="2800" dirty="0" err="1">
                <a:effectLst>
                  <a:outerShdw blurRad="38100" dist="38100" dir="2700000" algn="tl">
                    <a:srgbClr val="000000"/>
                  </a:outerShdw>
                </a:effectLst>
                <a:ea typeface="仿宋_GB2312" pitchFamily="49" charset="-122"/>
              </a:rPr>
              <a:t>P1</a:t>
            </a:r>
            <a:r>
              <a:rPr lang="zh-CN" altLang="en-US" sz="2800" dirty="0">
                <a:effectLst>
                  <a:outerShdw blurRad="38100" dist="38100" dir="2700000" algn="tl">
                    <a:srgbClr val="000000"/>
                  </a:outerShdw>
                </a:effectLst>
                <a:ea typeface="仿宋_GB2312" pitchFamily="49" charset="-122"/>
              </a:rPr>
              <a:t>分配资源，并修改</a:t>
            </a:r>
            <a:r>
              <a:rPr lang="en-US" altLang="zh-CN" sz="2800" dirty="0" err="1">
                <a:effectLst>
                  <a:outerShdw blurRad="38100" dist="38100" dir="2700000" algn="tl">
                    <a:srgbClr val="000000"/>
                  </a:outerShdw>
                </a:effectLst>
                <a:ea typeface="仿宋_GB2312" pitchFamily="49" charset="-122"/>
              </a:rPr>
              <a:t>Available,Allocation</a:t>
            </a:r>
            <a:r>
              <a:rPr lang="en-US" altLang="zh-CN" sz="2800" baseline="-30000" dirty="0" err="1">
                <a:effectLst>
                  <a:outerShdw blurRad="38100" dist="38100" dir="2700000" algn="tl">
                    <a:srgbClr val="000000"/>
                  </a:outerShdw>
                </a:effectLst>
                <a:ea typeface="仿宋_GB2312" pitchFamily="49" charset="-122"/>
              </a:rPr>
              <a:t>1</a:t>
            </a:r>
            <a:r>
              <a:rPr lang="zh-CN" altLang="en-US" sz="2800" dirty="0">
                <a:effectLst>
                  <a:outerShdw blurRad="38100" dist="38100" dir="2700000" algn="tl">
                    <a:srgbClr val="000000"/>
                  </a:outerShdw>
                </a:effectLst>
                <a:ea typeface="仿宋_GB2312" pitchFamily="49" charset="-122"/>
              </a:rPr>
              <a:t>和</a:t>
            </a:r>
            <a:r>
              <a:rPr lang="en-US" altLang="zh-CN" sz="2800" dirty="0" err="1">
                <a:effectLst>
                  <a:outerShdw blurRad="38100" dist="38100" dir="2700000" algn="tl">
                    <a:srgbClr val="000000"/>
                  </a:outerShdw>
                </a:effectLst>
                <a:ea typeface="仿宋_GB2312" pitchFamily="49" charset="-122"/>
              </a:rPr>
              <a:t>Need</a:t>
            </a:r>
            <a:r>
              <a:rPr lang="en-US" altLang="zh-CN" sz="2800" baseline="-30000" dirty="0" err="1">
                <a:effectLst>
                  <a:outerShdw blurRad="38100" dist="38100" dir="2700000" algn="tl">
                    <a:srgbClr val="000000"/>
                  </a:outerShdw>
                </a:effectLst>
                <a:ea typeface="仿宋_GB2312" pitchFamily="49" charset="-122"/>
              </a:rPr>
              <a:t>1</a:t>
            </a:r>
            <a:r>
              <a:rPr lang="zh-CN" altLang="en-US" sz="2800" dirty="0">
                <a:effectLst>
                  <a:outerShdw blurRad="38100" dist="38100" dir="2700000" algn="tl">
                    <a:srgbClr val="000000"/>
                  </a:outerShdw>
                </a:effectLst>
                <a:ea typeface="仿宋_GB2312" pitchFamily="49" charset="-122"/>
              </a:rPr>
              <a:t>向量如表</a:t>
            </a:r>
            <a:r>
              <a:rPr lang="en-US" altLang="zh-CN" sz="2800" dirty="0">
                <a:effectLst>
                  <a:outerShdw blurRad="38100" dist="38100" dir="2700000" algn="tl">
                    <a:srgbClr val="000000"/>
                  </a:outerShdw>
                </a:effectLst>
                <a:ea typeface="仿宋_GB2312" pitchFamily="49" charset="-122"/>
              </a:rPr>
              <a:t>2</a:t>
            </a:r>
            <a:r>
              <a:rPr lang="zh-CN" altLang="en-US" sz="2800" dirty="0">
                <a:effectLst>
                  <a:outerShdw blurRad="38100" dist="38100" dir="2700000" algn="tl">
                    <a:srgbClr val="000000"/>
                  </a:outerShdw>
                </a:effectLst>
                <a:ea typeface="仿宋_GB2312" pitchFamily="49" charset="-122"/>
              </a:rPr>
              <a:t>所示。</a:t>
            </a:r>
            <a:endParaRPr lang="zh-CN" altLang="en-US" sz="2800" dirty="0">
              <a:effectLst>
                <a:outerShdw blurRad="38100" dist="38100" dir="2700000" algn="tl">
                  <a:srgbClr val="000000"/>
                </a:outerShdw>
              </a:effectLst>
              <a:ea typeface="仿宋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anim calcmode="lin" valueType="num">
                                      <p:cBhvr additive="base">
                                        <p:cTn id="7" dur="500" fill="hold"/>
                                        <p:tgtEl>
                                          <p:spTgt spid="4597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97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59779">
                                            <p:txEl>
                                              <p:pRg st="1" end="1"/>
                                            </p:txEl>
                                          </p:spTgt>
                                        </p:tgtEl>
                                        <p:attrNameLst>
                                          <p:attrName>style.visibility</p:attrName>
                                        </p:attrNameLst>
                                      </p:cBhvr>
                                      <p:to>
                                        <p:strVal val="visible"/>
                                      </p:to>
                                    </p:set>
                                    <p:anim calcmode="lin" valueType="num">
                                      <p:cBhvr additive="base">
                                        <p:cTn id="13" dur="500" fill="hold"/>
                                        <p:tgtEl>
                                          <p:spTgt spid="4597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97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9779">
                                            <p:txEl>
                                              <p:pRg st="2" end="2"/>
                                            </p:txEl>
                                          </p:spTgt>
                                        </p:tgtEl>
                                        <p:attrNameLst>
                                          <p:attrName>style.visibility</p:attrName>
                                        </p:attrNameLst>
                                      </p:cBhvr>
                                      <p:to>
                                        <p:strVal val="visible"/>
                                      </p:to>
                                    </p:set>
                                    <p:anim calcmode="lin" valueType="num">
                                      <p:cBhvr additive="base">
                                        <p:cTn id="19" dur="500" fill="hold"/>
                                        <p:tgtEl>
                                          <p:spTgt spid="4597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97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59779">
                                            <p:txEl>
                                              <p:pRg st="4" end="4"/>
                                            </p:txEl>
                                          </p:spTgt>
                                        </p:tgtEl>
                                        <p:attrNameLst>
                                          <p:attrName>style.visibility</p:attrName>
                                        </p:attrNameLst>
                                      </p:cBhvr>
                                      <p:to>
                                        <p:strVal val="visible"/>
                                      </p:to>
                                    </p:set>
                                    <p:anim calcmode="lin" valueType="num">
                                      <p:cBhvr additive="base">
                                        <p:cTn id="25" dur="500" fill="hold"/>
                                        <p:tgtEl>
                                          <p:spTgt spid="45977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5977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501" y="0"/>
            <a:ext cx="6542977" cy="668780"/>
          </a:xfrm>
        </p:spPr>
        <p:txBody>
          <a:bodyPr/>
          <a:lstStyle/>
          <a:p>
            <a:r>
              <a:rPr lang="zh-CN" altLang="en-US" dirty="0"/>
              <a:t>请求分配的银行家算法应用</a:t>
            </a:r>
            <a:endParaRPr lang="zh-CN" altLang="en-US" dirty="0"/>
          </a:p>
        </p:txBody>
      </p:sp>
      <p:sp>
        <p:nvSpPr>
          <p:cNvPr id="4" name="Rectangle 162"/>
          <p:cNvSpPr>
            <a:spLocks noChangeArrowheads="1"/>
          </p:cNvSpPr>
          <p:nvPr/>
        </p:nvSpPr>
        <p:spPr bwMode="auto">
          <a:xfrm>
            <a:off x="1104340" y="4620786"/>
            <a:ext cx="1011218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dirty="0">
                <a:ea typeface="仿宋_GB2312" pitchFamily="49" charset="-122"/>
              </a:rPr>
              <a:t>         </a:t>
            </a:r>
            <a:r>
              <a:rPr lang="zh-CN" altLang="en-US" sz="2400" b="1" dirty="0">
                <a:solidFill>
                  <a:srgbClr val="3609F7"/>
                </a:solidFill>
                <a:ea typeface="仿宋_GB2312" pitchFamily="49" charset="-122"/>
              </a:rPr>
              <a:t>利用安全性算法检查此时系统是否安全</a:t>
            </a:r>
            <a:r>
              <a:rPr lang="en-US" altLang="zh-CN" sz="2400" b="1" dirty="0">
                <a:solidFill>
                  <a:srgbClr val="3609F7"/>
                </a:solidFill>
                <a:ea typeface="仿宋_GB2312" pitchFamily="49" charset="-122"/>
              </a:rPr>
              <a:t>:</a:t>
            </a:r>
            <a:endParaRPr lang="en-US" altLang="zh-CN" sz="2400" b="1" dirty="0">
              <a:solidFill>
                <a:srgbClr val="3609F7"/>
              </a:solidFill>
              <a:ea typeface="仿宋_GB2312" pitchFamily="49" charset="-122"/>
            </a:endParaRPr>
          </a:p>
          <a:p>
            <a:pPr eaLnBrk="1" hangingPunct="1">
              <a:spcBef>
                <a:spcPct val="0"/>
              </a:spcBef>
              <a:buClrTx/>
              <a:buFontTx/>
              <a:buChar char="•"/>
            </a:pPr>
            <a:r>
              <a:rPr lang="zh-CN" altLang="en-US" sz="2400" b="1" dirty="0">
                <a:ea typeface="仿宋_GB2312" pitchFamily="49" charset="-122"/>
              </a:rPr>
              <a:t>此时，系统的可用资源向量为</a:t>
            </a:r>
            <a:r>
              <a:rPr lang="en-US" altLang="zh-CN" sz="2400" b="1" dirty="0">
                <a:ea typeface="仿宋_GB2312" pitchFamily="49" charset="-122"/>
              </a:rPr>
              <a:t>Available</a:t>
            </a:r>
            <a:r>
              <a:rPr lang="zh-CN" altLang="en-US" sz="2400" b="1" dirty="0">
                <a:ea typeface="仿宋_GB2312" pitchFamily="49" charset="-122"/>
              </a:rPr>
              <a:t>（</a:t>
            </a:r>
            <a:r>
              <a:rPr lang="en-US" altLang="zh-CN" sz="2400" b="1" dirty="0">
                <a:ea typeface="仿宋_GB2312" pitchFamily="49" charset="-122"/>
              </a:rPr>
              <a:t>0,1,0</a:t>
            </a:r>
            <a:r>
              <a:rPr lang="zh-CN" altLang="en-US" sz="2400" b="1" dirty="0">
                <a:ea typeface="仿宋_GB2312" pitchFamily="49" charset="-122"/>
              </a:rPr>
              <a:t>），比较各进程的需求向量</a:t>
            </a:r>
            <a:r>
              <a:rPr lang="en-US" altLang="zh-CN" sz="2400" b="1" dirty="0">
                <a:ea typeface="仿宋_GB2312" pitchFamily="49" charset="-122"/>
              </a:rPr>
              <a:t>Need</a:t>
            </a:r>
            <a:r>
              <a:rPr lang="zh-CN" altLang="en-US" sz="2400" b="1" dirty="0">
                <a:ea typeface="仿宋_GB2312" pitchFamily="49" charset="-122"/>
              </a:rPr>
              <a:t>，系统不能满足任何进程的资源请求，系统进入不安全状态。</a:t>
            </a:r>
            <a:endParaRPr lang="zh-CN" altLang="en-US" sz="2400" b="1" dirty="0">
              <a:ea typeface="仿宋_GB2312" pitchFamily="49" charset="-122"/>
            </a:endParaRPr>
          </a:p>
          <a:p>
            <a:pPr eaLnBrk="1" hangingPunct="1">
              <a:spcBef>
                <a:spcPct val="0"/>
              </a:spcBef>
              <a:buClrTx/>
              <a:buFontTx/>
              <a:buChar char="•"/>
            </a:pPr>
            <a:r>
              <a:rPr lang="zh-CN" altLang="en-US" sz="2400" b="1" dirty="0">
                <a:ea typeface="仿宋_GB2312" pitchFamily="49" charset="-122"/>
              </a:rPr>
              <a:t>所以，</a:t>
            </a:r>
            <a:r>
              <a:rPr lang="en-US" altLang="zh-CN" sz="2400" b="1" dirty="0">
                <a:ea typeface="仿宋_GB2312" pitchFamily="49" charset="-122"/>
              </a:rPr>
              <a:t>P1</a:t>
            </a:r>
            <a:r>
              <a:rPr lang="zh-CN" altLang="en-US" sz="2400" b="1" dirty="0">
                <a:ea typeface="仿宋_GB2312" pitchFamily="49" charset="-122"/>
              </a:rPr>
              <a:t>请求的资源不能分配，只能让进程</a:t>
            </a:r>
            <a:r>
              <a:rPr lang="en-US" altLang="zh-CN" sz="2400" b="1" dirty="0">
                <a:ea typeface="仿宋_GB2312" pitchFamily="49" charset="-122"/>
              </a:rPr>
              <a:t>P1</a:t>
            </a:r>
            <a:r>
              <a:rPr lang="zh-CN" altLang="en-US" sz="2400" b="1" dirty="0">
                <a:ea typeface="仿宋_GB2312" pitchFamily="49" charset="-122"/>
              </a:rPr>
              <a:t>阻塞等待。</a:t>
            </a:r>
            <a:endParaRPr lang="zh-CN" altLang="en-US" sz="2400" b="1" dirty="0">
              <a:ea typeface="仿宋_GB2312" pitchFamily="49" charset="-122"/>
            </a:endParaRPr>
          </a:p>
        </p:txBody>
      </p:sp>
      <p:grpSp>
        <p:nvGrpSpPr>
          <p:cNvPr id="5" name="Group 164"/>
          <p:cNvGrpSpPr/>
          <p:nvPr/>
        </p:nvGrpSpPr>
        <p:grpSpPr bwMode="auto">
          <a:xfrm>
            <a:off x="1781175" y="791736"/>
            <a:ext cx="8629650" cy="3582988"/>
            <a:chOff x="-3" y="-3"/>
            <a:chExt cx="4427" cy="2257"/>
          </a:xfrm>
        </p:grpSpPr>
        <p:grpSp>
          <p:nvGrpSpPr>
            <p:cNvPr id="6" name="Group 165"/>
            <p:cNvGrpSpPr/>
            <p:nvPr/>
          </p:nvGrpSpPr>
          <p:grpSpPr bwMode="auto">
            <a:xfrm>
              <a:off x="0" y="0"/>
              <a:ext cx="4421" cy="2251"/>
              <a:chOff x="0" y="0"/>
              <a:chExt cx="4421" cy="2251"/>
            </a:xfrm>
          </p:grpSpPr>
          <p:grpSp>
            <p:nvGrpSpPr>
              <p:cNvPr id="8" name="Group 166"/>
              <p:cNvGrpSpPr/>
              <p:nvPr/>
            </p:nvGrpSpPr>
            <p:grpSpPr bwMode="auto">
              <a:xfrm>
                <a:off x="0" y="0"/>
                <a:ext cx="489" cy="639"/>
                <a:chOff x="0" y="0"/>
                <a:chExt cx="489" cy="639"/>
              </a:xfrm>
            </p:grpSpPr>
            <p:sp>
              <p:nvSpPr>
                <p:cNvPr id="159" name="Rectangle 167"/>
                <p:cNvSpPr>
                  <a:spLocks noChangeArrowheads="1"/>
                </p:cNvSpPr>
                <p:nvPr/>
              </p:nvSpPr>
              <p:spPr bwMode="auto">
                <a:xfrm>
                  <a:off x="43" y="0"/>
                  <a:ext cx="403" cy="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400" b="1">
                      <a:solidFill>
                        <a:srgbClr val="003300"/>
                      </a:solidFill>
                      <a:ea typeface="楷体_GB2312" pitchFamily="49" charset="-122"/>
                    </a:rPr>
                    <a:t> </a:t>
                  </a:r>
                  <a:endParaRPr lang="zh-CN" altLang="en-US" sz="2400" b="1">
                    <a:solidFill>
                      <a:srgbClr val="003300"/>
                    </a:solidFill>
                    <a:ea typeface="楷体_GB2312" pitchFamily="49" charset="-122"/>
                  </a:endParaRPr>
                </a:p>
                <a:p>
                  <a:pPr algn="ctr">
                    <a:spcBef>
                      <a:spcPct val="0"/>
                    </a:spcBef>
                    <a:buClrTx/>
                    <a:buFontTx/>
                    <a:buNone/>
                  </a:pPr>
                  <a:r>
                    <a:rPr lang="zh-CN" altLang="en-US" sz="2000" b="1">
                      <a:solidFill>
                        <a:srgbClr val="003300"/>
                      </a:solidFill>
                      <a:ea typeface="楷体_GB2312" pitchFamily="49" charset="-122"/>
                    </a:rPr>
                    <a:t>进程</a:t>
                  </a:r>
                  <a:endParaRPr lang="zh-CN" altLang="en-US" sz="20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60" name="Rectangle 168"/>
                <p:cNvSpPr>
                  <a:spLocks noChangeArrowheads="1"/>
                </p:cNvSpPr>
                <p:nvPr/>
              </p:nvSpPr>
              <p:spPr bwMode="auto">
                <a:xfrm>
                  <a:off x="0" y="0"/>
                  <a:ext cx="489" cy="639"/>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9" name="Group 169"/>
              <p:cNvGrpSpPr/>
              <p:nvPr/>
            </p:nvGrpSpPr>
            <p:grpSpPr bwMode="auto">
              <a:xfrm>
                <a:off x="489" y="0"/>
                <a:ext cx="1290" cy="236"/>
                <a:chOff x="489" y="0"/>
                <a:chExt cx="1290" cy="236"/>
              </a:xfrm>
            </p:grpSpPr>
            <p:sp>
              <p:nvSpPr>
                <p:cNvPr id="157" name="Rectangle 170"/>
                <p:cNvSpPr>
                  <a:spLocks noChangeArrowheads="1"/>
                </p:cNvSpPr>
                <p:nvPr/>
              </p:nvSpPr>
              <p:spPr bwMode="auto">
                <a:xfrm>
                  <a:off x="532" y="0"/>
                  <a:ext cx="120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dirty="0">
                      <a:solidFill>
                        <a:srgbClr val="003300"/>
                      </a:solidFill>
                      <a:ea typeface="楷体_GB2312" pitchFamily="49" charset="-122"/>
                    </a:rPr>
                    <a:t>Allocation</a:t>
                  </a:r>
                  <a:endParaRPr lang="en-US" altLang="zh-CN" sz="2400" b="1" dirty="0">
                    <a:solidFill>
                      <a:srgbClr val="003300"/>
                    </a:solidFill>
                    <a:ea typeface="楷体_GB2312" pitchFamily="49" charset="-122"/>
                  </a:endParaRPr>
                </a:p>
                <a:p>
                  <a:pPr algn="ctr">
                    <a:spcBef>
                      <a:spcPct val="0"/>
                    </a:spcBef>
                    <a:buClrTx/>
                    <a:buFontTx/>
                    <a:buNone/>
                  </a:pPr>
                  <a:endParaRPr lang="zh-CN" altLang="en-US" sz="2400" b="1" dirty="0">
                    <a:solidFill>
                      <a:srgbClr val="003300"/>
                    </a:solidFill>
                    <a:ea typeface="楷体_GB2312" pitchFamily="49" charset="-122"/>
                  </a:endParaRPr>
                </a:p>
              </p:txBody>
            </p:sp>
            <p:sp>
              <p:nvSpPr>
                <p:cNvPr id="158" name="Rectangle 171"/>
                <p:cNvSpPr>
                  <a:spLocks noChangeArrowheads="1"/>
                </p:cNvSpPr>
                <p:nvPr/>
              </p:nvSpPr>
              <p:spPr bwMode="auto">
                <a:xfrm>
                  <a:off x="489" y="0"/>
                  <a:ext cx="1290" cy="23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0" name="Group 172"/>
              <p:cNvGrpSpPr/>
              <p:nvPr/>
            </p:nvGrpSpPr>
            <p:grpSpPr bwMode="auto">
              <a:xfrm>
                <a:off x="1779" y="0"/>
                <a:ext cx="1150" cy="236"/>
                <a:chOff x="1779" y="0"/>
                <a:chExt cx="1150" cy="236"/>
              </a:xfrm>
            </p:grpSpPr>
            <p:sp>
              <p:nvSpPr>
                <p:cNvPr id="155" name="Rectangle 173"/>
                <p:cNvSpPr>
                  <a:spLocks noChangeArrowheads="1"/>
                </p:cNvSpPr>
                <p:nvPr/>
              </p:nvSpPr>
              <p:spPr bwMode="auto">
                <a:xfrm>
                  <a:off x="1822" y="0"/>
                  <a:ext cx="106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Need</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56" name="Rectangle 174"/>
                <p:cNvSpPr>
                  <a:spLocks noChangeArrowheads="1"/>
                </p:cNvSpPr>
                <p:nvPr/>
              </p:nvSpPr>
              <p:spPr bwMode="auto">
                <a:xfrm>
                  <a:off x="1779" y="0"/>
                  <a:ext cx="1150" cy="23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1" name="Group 175"/>
              <p:cNvGrpSpPr/>
              <p:nvPr/>
            </p:nvGrpSpPr>
            <p:grpSpPr bwMode="auto">
              <a:xfrm>
                <a:off x="2929" y="0"/>
                <a:ext cx="1342" cy="236"/>
                <a:chOff x="2929" y="0"/>
                <a:chExt cx="1342" cy="236"/>
              </a:xfrm>
            </p:grpSpPr>
            <p:sp>
              <p:nvSpPr>
                <p:cNvPr id="153" name="Rectangle 176"/>
                <p:cNvSpPr>
                  <a:spLocks noChangeArrowheads="1"/>
                </p:cNvSpPr>
                <p:nvPr/>
              </p:nvSpPr>
              <p:spPr bwMode="auto">
                <a:xfrm>
                  <a:off x="2972" y="0"/>
                  <a:ext cx="125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Available</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54" name="Rectangle 177"/>
                <p:cNvSpPr>
                  <a:spLocks noChangeArrowheads="1"/>
                </p:cNvSpPr>
                <p:nvPr/>
              </p:nvSpPr>
              <p:spPr bwMode="auto">
                <a:xfrm>
                  <a:off x="2929" y="0"/>
                  <a:ext cx="1342" cy="236"/>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2" name="Group 178"/>
              <p:cNvGrpSpPr/>
              <p:nvPr/>
            </p:nvGrpSpPr>
            <p:grpSpPr bwMode="auto">
              <a:xfrm>
                <a:off x="4271" y="0"/>
                <a:ext cx="150" cy="291"/>
                <a:chOff x="4271" y="0"/>
                <a:chExt cx="150" cy="291"/>
              </a:xfrm>
            </p:grpSpPr>
            <p:sp>
              <p:nvSpPr>
                <p:cNvPr id="151" name="Rectangle 179"/>
                <p:cNvSpPr>
                  <a:spLocks noChangeArrowheads="1"/>
                </p:cNvSpPr>
                <p:nvPr/>
              </p:nvSpPr>
              <p:spPr bwMode="auto">
                <a:xfrm>
                  <a:off x="4271" y="0"/>
                  <a:ext cx="1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sp>
              <p:nvSpPr>
                <p:cNvPr id="152" name="Rectangle 180"/>
                <p:cNvSpPr>
                  <a:spLocks noChangeArrowheads="1"/>
                </p:cNvSpPr>
                <p:nvPr/>
              </p:nvSpPr>
              <p:spPr bwMode="auto">
                <a:xfrm>
                  <a:off x="4271" y="0"/>
                  <a:ext cx="150" cy="1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3" name="Group 181"/>
              <p:cNvGrpSpPr/>
              <p:nvPr/>
            </p:nvGrpSpPr>
            <p:grpSpPr bwMode="auto">
              <a:xfrm>
                <a:off x="4271" y="118"/>
                <a:ext cx="150" cy="291"/>
                <a:chOff x="4271" y="118"/>
                <a:chExt cx="150" cy="291"/>
              </a:xfrm>
            </p:grpSpPr>
            <p:sp>
              <p:nvSpPr>
                <p:cNvPr id="149" name="Rectangle 182"/>
                <p:cNvSpPr>
                  <a:spLocks noChangeArrowheads="1"/>
                </p:cNvSpPr>
                <p:nvPr/>
              </p:nvSpPr>
              <p:spPr bwMode="auto">
                <a:xfrm>
                  <a:off x="4271" y="118"/>
                  <a:ext cx="15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sp>
              <p:nvSpPr>
                <p:cNvPr id="150" name="Rectangle 183"/>
                <p:cNvSpPr>
                  <a:spLocks noChangeArrowheads="1"/>
                </p:cNvSpPr>
                <p:nvPr/>
              </p:nvSpPr>
              <p:spPr bwMode="auto">
                <a:xfrm>
                  <a:off x="4271" y="118"/>
                  <a:ext cx="150" cy="118"/>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4" name="Group 184"/>
              <p:cNvGrpSpPr/>
              <p:nvPr/>
            </p:nvGrpSpPr>
            <p:grpSpPr bwMode="auto">
              <a:xfrm>
                <a:off x="489" y="236"/>
                <a:ext cx="374" cy="403"/>
                <a:chOff x="489" y="236"/>
                <a:chExt cx="374" cy="403"/>
              </a:xfrm>
            </p:grpSpPr>
            <p:sp>
              <p:nvSpPr>
                <p:cNvPr id="147" name="Rectangle 185"/>
                <p:cNvSpPr>
                  <a:spLocks noChangeArrowheads="1"/>
                </p:cNvSpPr>
                <p:nvPr/>
              </p:nvSpPr>
              <p:spPr bwMode="auto">
                <a:xfrm>
                  <a:off x="532" y="236"/>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48" name="Rectangle 186"/>
                <p:cNvSpPr>
                  <a:spLocks noChangeArrowheads="1"/>
                </p:cNvSpPr>
                <p:nvPr/>
              </p:nvSpPr>
              <p:spPr bwMode="auto">
                <a:xfrm>
                  <a:off x="489" y="236"/>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5" name="Group 187"/>
              <p:cNvGrpSpPr/>
              <p:nvPr/>
            </p:nvGrpSpPr>
            <p:grpSpPr bwMode="auto">
              <a:xfrm>
                <a:off x="863" y="236"/>
                <a:ext cx="446" cy="403"/>
                <a:chOff x="863" y="236"/>
                <a:chExt cx="446" cy="403"/>
              </a:xfrm>
            </p:grpSpPr>
            <p:sp>
              <p:nvSpPr>
                <p:cNvPr id="145" name="Rectangle 188"/>
                <p:cNvSpPr>
                  <a:spLocks noChangeArrowheads="1"/>
                </p:cNvSpPr>
                <p:nvPr/>
              </p:nvSpPr>
              <p:spPr bwMode="auto">
                <a:xfrm>
                  <a:off x="906" y="236"/>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46" name="Rectangle 189"/>
                <p:cNvSpPr>
                  <a:spLocks noChangeArrowheads="1"/>
                </p:cNvSpPr>
                <p:nvPr/>
              </p:nvSpPr>
              <p:spPr bwMode="auto">
                <a:xfrm>
                  <a:off x="863" y="236"/>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6" name="Group 190"/>
              <p:cNvGrpSpPr/>
              <p:nvPr/>
            </p:nvGrpSpPr>
            <p:grpSpPr bwMode="auto">
              <a:xfrm>
                <a:off x="1309" y="236"/>
                <a:ext cx="470" cy="403"/>
                <a:chOff x="1309" y="236"/>
                <a:chExt cx="470" cy="403"/>
              </a:xfrm>
            </p:grpSpPr>
            <p:sp>
              <p:nvSpPr>
                <p:cNvPr id="143" name="Rectangle 191"/>
                <p:cNvSpPr>
                  <a:spLocks noChangeArrowheads="1"/>
                </p:cNvSpPr>
                <p:nvPr/>
              </p:nvSpPr>
              <p:spPr bwMode="auto">
                <a:xfrm>
                  <a:off x="1352" y="236"/>
                  <a:ext cx="38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R3</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44" name="Rectangle 192"/>
                <p:cNvSpPr>
                  <a:spLocks noChangeArrowheads="1"/>
                </p:cNvSpPr>
                <p:nvPr/>
              </p:nvSpPr>
              <p:spPr bwMode="auto">
                <a:xfrm>
                  <a:off x="1309" y="236"/>
                  <a:ext cx="47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7" name="Group 193"/>
              <p:cNvGrpSpPr/>
              <p:nvPr/>
            </p:nvGrpSpPr>
            <p:grpSpPr bwMode="auto">
              <a:xfrm>
                <a:off x="1779" y="236"/>
                <a:ext cx="412" cy="403"/>
                <a:chOff x="1779" y="236"/>
                <a:chExt cx="412" cy="403"/>
              </a:xfrm>
            </p:grpSpPr>
            <p:sp>
              <p:nvSpPr>
                <p:cNvPr id="141" name="Rectangle 194"/>
                <p:cNvSpPr>
                  <a:spLocks noChangeArrowheads="1"/>
                </p:cNvSpPr>
                <p:nvPr/>
              </p:nvSpPr>
              <p:spPr bwMode="auto">
                <a:xfrm>
                  <a:off x="1822" y="236"/>
                  <a:ext cx="32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42" name="Rectangle 195"/>
                <p:cNvSpPr>
                  <a:spLocks noChangeArrowheads="1"/>
                </p:cNvSpPr>
                <p:nvPr/>
              </p:nvSpPr>
              <p:spPr bwMode="auto">
                <a:xfrm>
                  <a:off x="1779" y="236"/>
                  <a:ext cx="41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8" name="Group 196"/>
              <p:cNvGrpSpPr/>
              <p:nvPr/>
            </p:nvGrpSpPr>
            <p:grpSpPr bwMode="auto">
              <a:xfrm>
                <a:off x="2161" y="236"/>
                <a:ext cx="399" cy="403"/>
                <a:chOff x="2161" y="236"/>
                <a:chExt cx="399" cy="403"/>
              </a:xfrm>
            </p:grpSpPr>
            <p:sp>
              <p:nvSpPr>
                <p:cNvPr id="139" name="Rectangle 197"/>
                <p:cNvSpPr>
                  <a:spLocks noChangeArrowheads="1"/>
                </p:cNvSpPr>
                <p:nvPr/>
              </p:nvSpPr>
              <p:spPr bwMode="auto">
                <a:xfrm>
                  <a:off x="2161" y="236"/>
                  <a:ext cx="35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40" name="Rectangle 198"/>
                <p:cNvSpPr>
                  <a:spLocks noChangeArrowheads="1"/>
                </p:cNvSpPr>
                <p:nvPr/>
              </p:nvSpPr>
              <p:spPr bwMode="auto">
                <a:xfrm>
                  <a:off x="2191" y="236"/>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19" name="Group 199"/>
              <p:cNvGrpSpPr/>
              <p:nvPr/>
            </p:nvGrpSpPr>
            <p:grpSpPr bwMode="auto">
              <a:xfrm>
                <a:off x="2549" y="236"/>
                <a:ext cx="380" cy="403"/>
                <a:chOff x="2549" y="236"/>
                <a:chExt cx="380" cy="403"/>
              </a:xfrm>
            </p:grpSpPr>
            <p:sp>
              <p:nvSpPr>
                <p:cNvPr id="137" name="Rectangle 200"/>
                <p:cNvSpPr>
                  <a:spLocks noChangeArrowheads="1"/>
                </p:cNvSpPr>
                <p:nvPr/>
              </p:nvSpPr>
              <p:spPr bwMode="auto">
                <a:xfrm>
                  <a:off x="2549" y="236"/>
                  <a:ext cx="33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R3</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38" name="Rectangle 201"/>
                <p:cNvSpPr>
                  <a:spLocks noChangeArrowheads="1"/>
                </p:cNvSpPr>
                <p:nvPr/>
              </p:nvSpPr>
              <p:spPr bwMode="auto">
                <a:xfrm>
                  <a:off x="2560" y="236"/>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0" name="Group 202"/>
              <p:cNvGrpSpPr/>
              <p:nvPr/>
            </p:nvGrpSpPr>
            <p:grpSpPr bwMode="auto">
              <a:xfrm>
                <a:off x="2929" y="236"/>
                <a:ext cx="604" cy="403"/>
                <a:chOff x="2929" y="236"/>
                <a:chExt cx="604" cy="403"/>
              </a:xfrm>
            </p:grpSpPr>
            <p:sp>
              <p:nvSpPr>
                <p:cNvPr id="135" name="Rectangle 203"/>
                <p:cNvSpPr>
                  <a:spLocks noChangeArrowheads="1"/>
                </p:cNvSpPr>
                <p:nvPr/>
              </p:nvSpPr>
              <p:spPr bwMode="auto">
                <a:xfrm>
                  <a:off x="2972" y="236"/>
                  <a:ext cx="51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36" name="Rectangle 204"/>
                <p:cNvSpPr>
                  <a:spLocks noChangeArrowheads="1"/>
                </p:cNvSpPr>
                <p:nvPr/>
              </p:nvSpPr>
              <p:spPr bwMode="auto">
                <a:xfrm>
                  <a:off x="2929" y="236"/>
                  <a:ext cx="60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1" name="Group 205"/>
              <p:cNvGrpSpPr/>
              <p:nvPr/>
            </p:nvGrpSpPr>
            <p:grpSpPr bwMode="auto">
              <a:xfrm>
                <a:off x="3533" y="236"/>
                <a:ext cx="374" cy="403"/>
                <a:chOff x="3533" y="236"/>
                <a:chExt cx="374" cy="403"/>
              </a:xfrm>
            </p:grpSpPr>
            <p:sp>
              <p:nvSpPr>
                <p:cNvPr id="133" name="Rectangle 206"/>
                <p:cNvSpPr>
                  <a:spLocks noChangeArrowheads="1"/>
                </p:cNvSpPr>
                <p:nvPr/>
              </p:nvSpPr>
              <p:spPr bwMode="auto">
                <a:xfrm>
                  <a:off x="3558" y="236"/>
                  <a:ext cx="3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34" name="Rectangle 207"/>
                <p:cNvSpPr>
                  <a:spLocks noChangeArrowheads="1"/>
                </p:cNvSpPr>
                <p:nvPr/>
              </p:nvSpPr>
              <p:spPr bwMode="auto">
                <a:xfrm>
                  <a:off x="3533" y="236"/>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2" name="Group 208"/>
              <p:cNvGrpSpPr/>
              <p:nvPr/>
            </p:nvGrpSpPr>
            <p:grpSpPr bwMode="auto">
              <a:xfrm>
                <a:off x="3902" y="236"/>
                <a:ext cx="369" cy="403"/>
                <a:chOff x="3902" y="236"/>
                <a:chExt cx="369" cy="403"/>
              </a:xfrm>
            </p:grpSpPr>
            <p:sp>
              <p:nvSpPr>
                <p:cNvPr id="131" name="Rectangle 209"/>
                <p:cNvSpPr>
                  <a:spLocks noChangeArrowheads="1"/>
                </p:cNvSpPr>
                <p:nvPr/>
              </p:nvSpPr>
              <p:spPr bwMode="auto">
                <a:xfrm>
                  <a:off x="3946" y="236"/>
                  <a:ext cx="31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R3</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32" name="Rectangle 210"/>
                <p:cNvSpPr>
                  <a:spLocks noChangeArrowheads="1"/>
                </p:cNvSpPr>
                <p:nvPr/>
              </p:nvSpPr>
              <p:spPr bwMode="auto">
                <a:xfrm>
                  <a:off x="3902" y="236"/>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3" name="Group 211"/>
              <p:cNvGrpSpPr/>
              <p:nvPr/>
            </p:nvGrpSpPr>
            <p:grpSpPr bwMode="auto">
              <a:xfrm>
                <a:off x="4271" y="236"/>
                <a:ext cx="150" cy="403"/>
                <a:chOff x="4271" y="236"/>
                <a:chExt cx="150" cy="403"/>
              </a:xfrm>
            </p:grpSpPr>
            <p:sp>
              <p:nvSpPr>
                <p:cNvPr id="129" name="Rectangle 212"/>
                <p:cNvSpPr>
                  <a:spLocks noChangeArrowheads="1"/>
                </p:cNvSpPr>
                <p:nvPr/>
              </p:nvSpPr>
              <p:spPr bwMode="auto">
                <a:xfrm>
                  <a:off x="4271" y="236"/>
                  <a:ext cx="1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b="1">
                      <a:solidFill>
                        <a:srgbClr val="003300"/>
                      </a:solidFill>
                      <a:ea typeface="楷体_GB2312" pitchFamily="49" charset="-122"/>
                    </a:rPr>
                    <a:t> </a:t>
                  </a:r>
                  <a:endParaRPr lang="zh-CN" altLang="en-US"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30" name="Rectangle 213"/>
                <p:cNvSpPr>
                  <a:spLocks noChangeArrowheads="1"/>
                </p:cNvSpPr>
                <p:nvPr/>
              </p:nvSpPr>
              <p:spPr bwMode="auto">
                <a:xfrm>
                  <a:off x="4271" y="236"/>
                  <a:ext cx="15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4" name="Group 214"/>
              <p:cNvGrpSpPr/>
              <p:nvPr/>
            </p:nvGrpSpPr>
            <p:grpSpPr bwMode="auto">
              <a:xfrm>
                <a:off x="0" y="639"/>
                <a:ext cx="489" cy="403"/>
                <a:chOff x="0" y="639"/>
                <a:chExt cx="489" cy="403"/>
              </a:xfrm>
            </p:grpSpPr>
            <p:sp>
              <p:nvSpPr>
                <p:cNvPr id="127" name="Rectangle 215"/>
                <p:cNvSpPr>
                  <a:spLocks noChangeArrowheads="1"/>
                </p:cNvSpPr>
                <p:nvPr/>
              </p:nvSpPr>
              <p:spPr bwMode="auto">
                <a:xfrm>
                  <a:off x="43" y="639"/>
                  <a:ext cx="4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P1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8" name="Rectangle 216"/>
                <p:cNvSpPr>
                  <a:spLocks noChangeArrowheads="1"/>
                </p:cNvSpPr>
                <p:nvPr/>
              </p:nvSpPr>
              <p:spPr bwMode="auto">
                <a:xfrm>
                  <a:off x="0" y="639"/>
                  <a:ext cx="4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5" name="Group 217"/>
              <p:cNvGrpSpPr/>
              <p:nvPr/>
            </p:nvGrpSpPr>
            <p:grpSpPr bwMode="auto">
              <a:xfrm>
                <a:off x="489" y="639"/>
                <a:ext cx="374" cy="403"/>
                <a:chOff x="489" y="639"/>
                <a:chExt cx="374" cy="403"/>
              </a:xfrm>
            </p:grpSpPr>
            <p:sp>
              <p:nvSpPr>
                <p:cNvPr id="125" name="Rectangle 218"/>
                <p:cNvSpPr>
                  <a:spLocks noChangeArrowheads="1"/>
                </p:cNvSpPr>
                <p:nvPr/>
              </p:nvSpPr>
              <p:spPr bwMode="auto">
                <a:xfrm>
                  <a:off x="532" y="639"/>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6" name="Rectangle 219"/>
                <p:cNvSpPr>
                  <a:spLocks noChangeArrowheads="1"/>
                </p:cNvSpPr>
                <p:nvPr/>
              </p:nvSpPr>
              <p:spPr bwMode="auto">
                <a:xfrm>
                  <a:off x="489" y="639"/>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6" name="Group 220"/>
              <p:cNvGrpSpPr/>
              <p:nvPr/>
            </p:nvGrpSpPr>
            <p:grpSpPr bwMode="auto">
              <a:xfrm>
                <a:off x="863" y="639"/>
                <a:ext cx="446" cy="403"/>
                <a:chOff x="863" y="639"/>
                <a:chExt cx="446" cy="403"/>
              </a:xfrm>
            </p:grpSpPr>
            <p:sp>
              <p:nvSpPr>
                <p:cNvPr id="123" name="Rectangle 221"/>
                <p:cNvSpPr>
                  <a:spLocks noChangeArrowheads="1"/>
                </p:cNvSpPr>
                <p:nvPr/>
              </p:nvSpPr>
              <p:spPr bwMode="auto">
                <a:xfrm>
                  <a:off x="906" y="639"/>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4" name="Rectangle 222"/>
                <p:cNvSpPr>
                  <a:spLocks noChangeArrowheads="1"/>
                </p:cNvSpPr>
                <p:nvPr/>
              </p:nvSpPr>
              <p:spPr bwMode="auto">
                <a:xfrm>
                  <a:off x="863" y="639"/>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7" name="Group 223"/>
              <p:cNvGrpSpPr/>
              <p:nvPr/>
            </p:nvGrpSpPr>
            <p:grpSpPr bwMode="auto">
              <a:xfrm>
                <a:off x="1309" y="639"/>
                <a:ext cx="470" cy="403"/>
                <a:chOff x="1309" y="639"/>
                <a:chExt cx="470" cy="403"/>
              </a:xfrm>
            </p:grpSpPr>
            <p:sp>
              <p:nvSpPr>
                <p:cNvPr id="121" name="Rectangle 224"/>
                <p:cNvSpPr>
                  <a:spLocks noChangeArrowheads="1"/>
                </p:cNvSpPr>
                <p:nvPr/>
              </p:nvSpPr>
              <p:spPr bwMode="auto">
                <a:xfrm>
                  <a:off x="1352" y="639"/>
                  <a:ext cx="38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2" name="Rectangle 225"/>
                <p:cNvSpPr>
                  <a:spLocks noChangeArrowheads="1"/>
                </p:cNvSpPr>
                <p:nvPr/>
              </p:nvSpPr>
              <p:spPr bwMode="auto">
                <a:xfrm>
                  <a:off x="1309" y="639"/>
                  <a:ext cx="47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8" name="Group 226"/>
              <p:cNvGrpSpPr/>
              <p:nvPr/>
            </p:nvGrpSpPr>
            <p:grpSpPr bwMode="auto">
              <a:xfrm>
                <a:off x="1779" y="639"/>
                <a:ext cx="412" cy="403"/>
                <a:chOff x="1779" y="639"/>
                <a:chExt cx="412" cy="403"/>
              </a:xfrm>
            </p:grpSpPr>
            <p:sp>
              <p:nvSpPr>
                <p:cNvPr id="119" name="Rectangle 227"/>
                <p:cNvSpPr>
                  <a:spLocks noChangeArrowheads="1"/>
                </p:cNvSpPr>
                <p:nvPr/>
              </p:nvSpPr>
              <p:spPr bwMode="auto">
                <a:xfrm>
                  <a:off x="1822" y="639"/>
                  <a:ext cx="32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20" name="Rectangle 228"/>
                <p:cNvSpPr>
                  <a:spLocks noChangeArrowheads="1"/>
                </p:cNvSpPr>
                <p:nvPr/>
              </p:nvSpPr>
              <p:spPr bwMode="auto">
                <a:xfrm>
                  <a:off x="1779" y="639"/>
                  <a:ext cx="41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29" name="Group 229"/>
              <p:cNvGrpSpPr/>
              <p:nvPr/>
            </p:nvGrpSpPr>
            <p:grpSpPr bwMode="auto">
              <a:xfrm>
                <a:off x="2191" y="639"/>
                <a:ext cx="369" cy="403"/>
                <a:chOff x="2191" y="639"/>
                <a:chExt cx="369" cy="403"/>
              </a:xfrm>
            </p:grpSpPr>
            <p:sp>
              <p:nvSpPr>
                <p:cNvPr id="117" name="Rectangle 230"/>
                <p:cNvSpPr>
                  <a:spLocks noChangeArrowheads="1"/>
                </p:cNvSpPr>
                <p:nvPr/>
              </p:nvSpPr>
              <p:spPr bwMode="auto">
                <a:xfrm>
                  <a:off x="2234" y="639"/>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18" name="Rectangle 231"/>
                <p:cNvSpPr>
                  <a:spLocks noChangeArrowheads="1"/>
                </p:cNvSpPr>
                <p:nvPr/>
              </p:nvSpPr>
              <p:spPr bwMode="auto">
                <a:xfrm>
                  <a:off x="2191" y="639"/>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0" name="Group 232"/>
              <p:cNvGrpSpPr/>
              <p:nvPr/>
            </p:nvGrpSpPr>
            <p:grpSpPr bwMode="auto">
              <a:xfrm>
                <a:off x="2560" y="639"/>
                <a:ext cx="369" cy="403"/>
                <a:chOff x="2560" y="639"/>
                <a:chExt cx="369" cy="403"/>
              </a:xfrm>
            </p:grpSpPr>
            <p:sp>
              <p:nvSpPr>
                <p:cNvPr id="115" name="Rectangle 233"/>
                <p:cNvSpPr>
                  <a:spLocks noChangeArrowheads="1"/>
                </p:cNvSpPr>
                <p:nvPr/>
              </p:nvSpPr>
              <p:spPr bwMode="auto">
                <a:xfrm>
                  <a:off x="2603" y="639"/>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16" name="Rectangle 234"/>
                <p:cNvSpPr>
                  <a:spLocks noChangeArrowheads="1"/>
                </p:cNvSpPr>
                <p:nvPr/>
              </p:nvSpPr>
              <p:spPr bwMode="auto">
                <a:xfrm>
                  <a:off x="2560" y="639"/>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1" name="Group 235"/>
              <p:cNvGrpSpPr/>
              <p:nvPr/>
            </p:nvGrpSpPr>
            <p:grpSpPr bwMode="auto">
              <a:xfrm>
                <a:off x="2929" y="639"/>
                <a:ext cx="604" cy="1612"/>
                <a:chOff x="2929" y="639"/>
                <a:chExt cx="604" cy="1612"/>
              </a:xfrm>
            </p:grpSpPr>
            <p:sp>
              <p:nvSpPr>
                <p:cNvPr id="113" name="Rectangle 236"/>
                <p:cNvSpPr>
                  <a:spLocks noChangeArrowheads="1"/>
                </p:cNvSpPr>
                <p:nvPr/>
              </p:nvSpPr>
              <p:spPr bwMode="auto">
                <a:xfrm>
                  <a:off x="2972" y="639"/>
                  <a:ext cx="518" cy="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14" name="Rectangle 237"/>
                <p:cNvSpPr>
                  <a:spLocks noChangeArrowheads="1"/>
                </p:cNvSpPr>
                <p:nvPr/>
              </p:nvSpPr>
              <p:spPr bwMode="auto">
                <a:xfrm>
                  <a:off x="2929" y="639"/>
                  <a:ext cx="604" cy="161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2" name="Group 238"/>
              <p:cNvGrpSpPr/>
              <p:nvPr/>
            </p:nvGrpSpPr>
            <p:grpSpPr bwMode="auto">
              <a:xfrm>
                <a:off x="3533" y="639"/>
                <a:ext cx="369" cy="1612"/>
                <a:chOff x="3533" y="639"/>
                <a:chExt cx="369" cy="1612"/>
              </a:xfrm>
            </p:grpSpPr>
            <p:sp>
              <p:nvSpPr>
                <p:cNvPr id="111" name="Rectangle 239"/>
                <p:cNvSpPr>
                  <a:spLocks noChangeArrowheads="1"/>
                </p:cNvSpPr>
                <p:nvPr/>
              </p:nvSpPr>
              <p:spPr bwMode="auto">
                <a:xfrm>
                  <a:off x="3576" y="639"/>
                  <a:ext cx="283" cy="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12" name="Rectangle 240"/>
                <p:cNvSpPr>
                  <a:spLocks noChangeArrowheads="1"/>
                </p:cNvSpPr>
                <p:nvPr/>
              </p:nvSpPr>
              <p:spPr bwMode="auto">
                <a:xfrm>
                  <a:off x="3533" y="639"/>
                  <a:ext cx="369" cy="161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3" name="Group 241"/>
              <p:cNvGrpSpPr/>
              <p:nvPr/>
            </p:nvGrpSpPr>
            <p:grpSpPr bwMode="auto">
              <a:xfrm>
                <a:off x="3902" y="639"/>
                <a:ext cx="369" cy="1612"/>
                <a:chOff x="3902" y="639"/>
                <a:chExt cx="369" cy="1612"/>
              </a:xfrm>
            </p:grpSpPr>
            <p:sp>
              <p:nvSpPr>
                <p:cNvPr id="109" name="Rectangle 242"/>
                <p:cNvSpPr>
                  <a:spLocks noChangeArrowheads="1"/>
                </p:cNvSpPr>
                <p:nvPr/>
              </p:nvSpPr>
              <p:spPr bwMode="auto">
                <a:xfrm>
                  <a:off x="3945" y="639"/>
                  <a:ext cx="283" cy="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10" name="Rectangle 243"/>
                <p:cNvSpPr>
                  <a:spLocks noChangeArrowheads="1"/>
                </p:cNvSpPr>
                <p:nvPr/>
              </p:nvSpPr>
              <p:spPr bwMode="auto">
                <a:xfrm>
                  <a:off x="3902" y="639"/>
                  <a:ext cx="369" cy="1612"/>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4" name="Group 244"/>
              <p:cNvGrpSpPr/>
              <p:nvPr/>
            </p:nvGrpSpPr>
            <p:grpSpPr bwMode="auto">
              <a:xfrm>
                <a:off x="4271" y="639"/>
                <a:ext cx="150" cy="403"/>
                <a:chOff x="4271" y="639"/>
                <a:chExt cx="150" cy="403"/>
              </a:xfrm>
            </p:grpSpPr>
            <p:sp>
              <p:nvSpPr>
                <p:cNvPr id="107" name="Rectangle 245"/>
                <p:cNvSpPr>
                  <a:spLocks noChangeArrowheads="1"/>
                </p:cNvSpPr>
                <p:nvPr/>
              </p:nvSpPr>
              <p:spPr bwMode="auto">
                <a:xfrm>
                  <a:off x="4271" y="639"/>
                  <a:ext cx="1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b="1">
                      <a:solidFill>
                        <a:srgbClr val="003300"/>
                      </a:solidFill>
                      <a:ea typeface="楷体_GB2312" pitchFamily="49" charset="-122"/>
                    </a:rPr>
                    <a:t> </a:t>
                  </a:r>
                  <a:endParaRPr lang="zh-CN" altLang="en-US"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108" name="Rectangle 246"/>
                <p:cNvSpPr>
                  <a:spLocks noChangeArrowheads="1"/>
                </p:cNvSpPr>
                <p:nvPr/>
              </p:nvSpPr>
              <p:spPr bwMode="auto">
                <a:xfrm>
                  <a:off x="4271" y="639"/>
                  <a:ext cx="15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5" name="Group 247"/>
              <p:cNvGrpSpPr/>
              <p:nvPr/>
            </p:nvGrpSpPr>
            <p:grpSpPr bwMode="auto">
              <a:xfrm>
                <a:off x="0" y="1042"/>
                <a:ext cx="489" cy="403"/>
                <a:chOff x="0" y="1042"/>
                <a:chExt cx="489" cy="403"/>
              </a:xfrm>
            </p:grpSpPr>
            <p:sp>
              <p:nvSpPr>
                <p:cNvPr id="105" name="Rectangle 248"/>
                <p:cNvSpPr>
                  <a:spLocks noChangeArrowheads="1"/>
                </p:cNvSpPr>
                <p:nvPr/>
              </p:nvSpPr>
              <p:spPr bwMode="auto">
                <a:xfrm>
                  <a:off x="43" y="1042"/>
                  <a:ext cx="4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P2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06" name="Rectangle 249"/>
                <p:cNvSpPr>
                  <a:spLocks noChangeArrowheads="1"/>
                </p:cNvSpPr>
                <p:nvPr/>
              </p:nvSpPr>
              <p:spPr bwMode="auto">
                <a:xfrm>
                  <a:off x="0" y="1042"/>
                  <a:ext cx="4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6" name="Group 250"/>
              <p:cNvGrpSpPr/>
              <p:nvPr/>
            </p:nvGrpSpPr>
            <p:grpSpPr bwMode="auto">
              <a:xfrm>
                <a:off x="489" y="1042"/>
                <a:ext cx="374" cy="403"/>
                <a:chOff x="489" y="1042"/>
                <a:chExt cx="374" cy="403"/>
              </a:xfrm>
            </p:grpSpPr>
            <p:sp>
              <p:nvSpPr>
                <p:cNvPr id="103" name="Rectangle 251"/>
                <p:cNvSpPr>
                  <a:spLocks noChangeArrowheads="1"/>
                </p:cNvSpPr>
                <p:nvPr/>
              </p:nvSpPr>
              <p:spPr bwMode="auto">
                <a:xfrm>
                  <a:off x="532" y="1042"/>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6</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04" name="Rectangle 252"/>
                <p:cNvSpPr>
                  <a:spLocks noChangeArrowheads="1"/>
                </p:cNvSpPr>
                <p:nvPr/>
              </p:nvSpPr>
              <p:spPr bwMode="auto">
                <a:xfrm>
                  <a:off x="489" y="1042"/>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7" name="Group 253"/>
              <p:cNvGrpSpPr/>
              <p:nvPr/>
            </p:nvGrpSpPr>
            <p:grpSpPr bwMode="auto">
              <a:xfrm>
                <a:off x="863" y="1042"/>
                <a:ext cx="446" cy="403"/>
                <a:chOff x="863" y="1042"/>
                <a:chExt cx="446" cy="403"/>
              </a:xfrm>
            </p:grpSpPr>
            <p:sp>
              <p:nvSpPr>
                <p:cNvPr id="101" name="Rectangle 254"/>
                <p:cNvSpPr>
                  <a:spLocks noChangeArrowheads="1"/>
                </p:cNvSpPr>
                <p:nvPr/>
              </p:nvSpPr>
              <p:spPr bwMode="auto">
                <a:xfrm>
                  <a:off x="906" y="1042"/>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02" name="Rectangle 255"/>
                <p:cNvSpPr>
                  <a:spLocks noChangeArrowheads="1"/>
                </p:cNvSpPr>
                <p:nvPr/>
              </p:nvSpPr>
              <p:spPr bwMode="auto">
                <a:xfrm>
                  <a:off x="863" y="1042"/>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8" name="Group 256"/>
              <p:cNvGrpSpPr/>
              <p:nvPr/>
            </p:nvGrpSpPr>
            <p:grpSpPr bwMode="auto">
              <a:xfrm>
                <a:off x="1309" y="1042"/>
                <a:ext cx="470" cy="403"/>
                <a:chOff x="1309" y="1042"/>
                <a:chExt cx="470" cy="403"/>
              </a:xfrm>
            </p:grpSpPr>
            <p:sp>
              <p:nvSpPr>
                <p:cNvPr id="99" name="Rectangle 257"/>
                <p:cNvSpPr>
                  <a:spLocks noChangeArrowheads="1"/>
                </p:cNvSpPr>
                <p:nvPr/>
              </p:nvSpPr>
              <p:spPr bwMode="auto">
                <a:xfrm>
                  <a:off x="1352" y="1042"/>
                  <a:ext cx="38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100" name="Rectangle 258"/>
                <p:cNvSpPr>
                  <a:spLocks noChangeArrowheads="1"/>
                </p:cNvSpPr>
                <p:nvPr/>
              </p:nvSpPr>
              <p:spPr bwMode="auto">
                <a:xfrm>
                  <a:off x="1309" y="1042"/>
                  <a:ext cx="47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39" name="Group 259"/>
              <p:cNvGrpSpPr/>
              <p:nvPr/>
            </p:nvGrpSpPr>
            <p:grpSpPr bwMode="auto">
              <a:xfrm>
                <a:off x="1779" y="1042"/>
                <a:ext cx="412" cy="403"/>
                <a:chOff x="1779" y="1042"/>
                <a:chExt cx="412" cy="403"/>
              </a:xfrm>
            </p:grpSpPr>
            <p:sp>
              <p:nvSpPr>
                <p:cNvPr id="97" name="Rectangle 260"/>
                <p:cNvSpPr>
                  <a:spLocks noChangeArrowheads="1"/>
                </p:cNvSpPr>
                <p:nvPr/>
              </p:nvSpPr>
              <p:spPr bwMode="auto">
                <a:xfrm>
                  <a:off x="1822" y="1042"/>
                  <a:ext cx="32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98" name="Rectangle 261"/>
                <p:cNvSpPr>
                  <a:spLocks noChangeArrowheads="1"/>
                </p:cNvSpPr>
                <p:nvPr/>
              </p:nvSpPr>
              <p:spPr bwMode="auto">
                <a:xfrm>
                  <a:off x="1779" y="1042"/>
                  <a:ext cx="41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0" name="Group 262"/>
              <p:cNvGrpSpPr/>
              <p:nvPr/>
            </p:nvGrpSpPr>
            <p:grpSpPr bwMode="auto">
              <a:xfrm>
                <a:off x="2191" y="1042"/>
                <a:ext cx="369" cy="403"/>
                <a:chOff x="2191" y="1042"/>
                <a:chExt cx="369" cy="403"/>
              </a:xfrm>
            </p:grpSpPr>
            <p:sp>
              <p:nvSpPr>
                <p:cNvPr id="95" name="Rectangle 263"/>
                <p:cNvSpPr>
                  <a:spLocks noChangeArrowheads="1"/>
                </p:cNvSpPr>
                <p:nvPr/>
              </p:nvSpPr>
              <p:spPr bwMode="auto">
                <a:xfrm>
                  <a:off x="2234" y="1042"/>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96" name="Rectangle 264"/>
                <p:cNvSpPr>
                  <a:spLocks noChangeArrowheads="1"/>
                </p:cNvSpPr>
                <p:nvPr/>
              </p:nvSpPr>
              <p:spPr bwMode="auto">
                <a:xfrm>
                  <a:off x="2191" y="1042"/>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1" name="Group 265"/>
              <p:cNvGrpSpPr/>
              <p:nvPr/>
            </p:nvGrpSpPr>
            <p:grpSpPr bwMode="auto">
              <a:xfrm>
                <a:off x="2560" y="1042"/>
                <a:ext cx="369" cy="403"/>
                <a:chOff x="2560" y="1042"/>
                <a:chExt cx="369" cy="403"/>
              </a:xfrm>
            </p:grpSpPr>
            <p:sp>
              <p:nvSpPr>
                <p:cNvPr id="93" name="Rectangle 266"/>
                <p:cNvSpPr>
                  <a:spLocks noChangeArrowheads="1"/>
                </p:cNvSpPr>
                <p:nvPr/>
              </p:nvSpPr>
              <p:spPr bwMode="auto">
                <a:xfrm>
                  <a:off x="2603" y="1042"/>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94" name="Rectangle 267"/>
                <p:cNvSpPr>
                  <a:spLocks noChangeArrowheads="1"/>
                </p:cNvSpPr>
                <p:nvPr/>
              </p:nvSpPr>
              <p:spPr bwMode="auto">
                <a:xfrm>
                  <a:off x="2560" y="1042"/>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2" name="Group 268"/>
              <p:cNvGrpSpPr/>
              <p:nvPr/>
            </p:nvGrpSpPr>
            <p:grpSpPr bwMode="auto">
              <a:xfrm>
                <a:off x="4271" y="1042"/>
                <a:ext cx="150" cy="403"/>
                <a:chOff x="4271" y="1042"/>
                <a:chExt cx="150" cy="403"/>
              </a:xfrm>
            </p:grpSpPr>
            <p:sp>
              <p:nvSpPr>
                <p:cNvPr id="91" name="Rectangle 269"/>
                <p:cNvSpPr>
                  <a:spLocks noChangeArrowheads="1"/>
                </p:cNvSpPr>
                <p:nvPr/>
              </p:nvSpPr>
              <p:spPr bwMode="auto">
                <a:xfrm>
                  <a:off x="4271" y="1042"/>
                  <a:ext cx="1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b="1">
                      <a:solidFill>
                        <a:srgbClr val="003300"/>
                      </a:solidFill>
                      <a:ea typeface="楷体_GB2312" pitchFamily="49" charset="-122"/>
                    </a:rPr>
                    <a:t> </a:t>
                  </a:r>
                  <a:endParaRPr lang="zh-CN" altLang="en-US"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92" name="Rectangle 270"/>
                <p:cNvSpPr>
                  <a:spLocks noChangeArrowheads="1"/>
                </p:cNvSpPr>
                <p:nvPr/>
              </p:nvSpPr>
              <p:spPr bwMode="auto">
                <a:xfrm>
                  <a:off x="4271" y="1042"/>
                  <a:ext cx="15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3" name="Group 271"/>
              <p:cNvGrpSpPr/>
              <p:nvPr/>
            </p:nvGrpSpPr>
            <p:grpSpPr bwMode="auto">
              <a:xfrm>
                <a:off x="0" y="1445"/>
                <a:ext cx="489" cy="403"/>
                <a:chOff x="0" y="1445"/>
                <a:chExt cx="489" cy="403"/>
              </a:xfrm>
            </p:grpSpPr>
            <p:sp>
              <p:nvSpPr>
                <p:cNvPr id="89" name="Rectangle 272"/>
                <p:cNvSpPr>
                  <a:spLocks noChangeArrowheads="1"/>
                </p:cNvSpPr>
                <p:nvPr/>
              </p:nvSpPr>
              <p:spPr bwMode="auto">
                <a:xfrm>
                  <a:off x="43" y="1445"/>
                  <a:ext cx="4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P3</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90" name="Rectangle 273"/>
                <p:cNvSpPr>
                  <a:spLocks noChangeArrowheads="1"/>
                </p:cNvSpPr>
                <p:nvPr/>
              </p:nvSpPr>
              <p:spPr bwMode="auto">
                <a:xfrm>
                  <a:off x="0" y="1445"/>
                  <a:ext cx="4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4" name="Group 274"/>
              <p:cNvGrpSpPr/>
              <p:nvPr/>
            </p:nvGrpSpPr>
            <p:grpSpPr bwMode="auto">
              <a:xfrm>
                <a:off x="489" y="1445"/>
                <a:ext cx="374" cy="403"/>
                <a:chOff x="489" y="1445"/>
                <a:chExt cx="374" cy="403"/>
              </a:xfrm>
            </p:grpSpPr>
            <p:sp>
              <p:nvSpPr>
                <p:cNvPr id="87" name="Rectangle 275"/>
                <p:cNvSpPr>
                  <a:spLocks noChangeArrowheads="1"/>
                </p:cNvSpPr>
                <p:nvPr/>
              </p:nvSpPr>
              <p:spPr bwMode="auto">
                <a:xfrm>
                  <a:off x="532" y="1445"/>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88" name="Rectangle 276"/>
                <p:cNvSpPr>
                  <a:spLocks noChangeArrowheads="1"/>
                </p:cNvSpPr>
                <p:nvPr/>
              </p:nvSpPr>
              <p:spPr bwMode="auto">
                <a:xfrm>
                  <a:off x="489" y="1445"/>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5" name="Group 277"/>
              <p:cNvGrpSpPr/>
              <p:nvPr/>
            </p:nvGrpSpPr>
            <p:grpSpPr bwMode="auto">
              <a:xfrm>
                <a:off x="863" y="1445"/>
                <a:ext cx="446" cy="403"/>
                <a:chOff x="863" y="1445"/>
                <a:chExt cx="446" cy="403"/>
              </a:xfrm>
            </p:grpSpPr>
            <p:sp>
              <p:nvSpPr>
                <p:cNvPr id="85" name="Rectangle 278"/>
                <p:cNvSpPr>
                  <a:spLocks noChangeArrowheads="1"/>
                </p:cNvSpPr>
                <p:nvPr/>
              </p:nvSpPr>
              <p:spPr bwMode="auto">
                <a:xfrm>
                  <a:off x="906" y="1445"/>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86" name="Rectangle 279"/>
                <p:cNvSpPr>
                  <a:spLocks noChangeArrowheads="1"/>
                </p:cNvSpPr>
                <p:nvPr/>
              </p:nvSpPr>
              <p:spPr bwMode="auto">
                <a:xfrm>
                  <a:off x="863" y="1445"/>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6" name="Group 280"/>
              <p:cNvGrpSpPr/>
              <p:nvPr/>
            </p:nvGrpSpPr>
            <p:grpSpPr bwMode="auto">
              <a:xfrm>
                <a:off x="1309" y="1445"/>
                <a:ext cx="470" cy="403"/>
                <a:chOff x="1309" y="1445"/>
                <a:chExt cx="470" cy="403"/>
              </a:xfrm>
            </p:grpSpPr>
            <p:sp>
              <p:nvSpPr>
                <p:cNvPr id="83" name="Rectangle 281"/>
                <p:cNvSpPr>
                  <a:spLocks noChangeArrowheads="1"/>
                </p:cNvSpPr>
                <p:nvPr/>
              </p:nvSpPr>
              <p:spPr bwMode="auto">
                <a:xfrm>
                  <a:off x="1352" y="1445"/>
                  <a:ext cx="38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84" name="Rectangle 282"/>
                <p:cNvSpPr>
                  <a:spLocks noChangeArrowheads="1"/>
                </p:cNvSpPr>
                <p:nvPr/>
              </p:nvSpPr>
              <p:spPr bwMode="auto">
                <a:xfrm>
                  <a:off x="1309" y="1445"/>
                  <a:ext cx="47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7" name="Group 283"/>
              <p:cNvGrpSpPr/>
              <p:nvPr/>
            </p:nvGrpSpPr>
            <p:grpSpPr bwMode="auto">
              <a:xfrm>
                <a:off x="1779" y="1445"/>
                <a:ext cx="412" cy="403"/>
                <a:chOff x="1779" y="1445"/>
                <a:chExt cx="412" cy="403"/>
              </a:xfrm>
            </p:grpSpPr>
            <p:sp>
              <p:nvSpPr>
                <p:cNvPr id="81" name="Rectangle 284"/>
                <p:cNvSpPr>
                  <a:spLocks noChangeArrowheads="1"/>
                </p:cNvSpPr>
                <p:nvPr/>
              </p:nvSpPr>
              <p:spPr bwMode="auto">
                <a:xfrm>
                  <a:off x="1822" y="1445"/>
                  <a:ext cx="32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1</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82" name="Rectangle 285"/>
                <p:cNvSpPr>
                  <a:spLocks noChangeArrowheads="1"/>
                </p:cNvSpPr>
                <p:nvPr/>
              </p:nvSpPr>
              <p:spPr bwMode="auto">
                <a:xfrm>
                  <a:off x="1779" y="1445"/>
                  <a:ext cx="41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8" name="Group 286"/>
              <p:cNvGrpSpPr/>
              <p:nvPr/>
            </p:nvGrpSpPr>
            <p:grpSpPr bwMode="auto">
              <a:xfrm>
                <a:off x="2191" y="1445"/>
                <a:ext cx="369" cy="403"/>
                <a:chOff x="2191" y="1445"/>
                <a:chExt cx="369" cy="403"/>
              </a:xfrm>
            </p:grpSpPr>
            <p:sp>
              <p:nvSpPr>
                <p:cNvPr id="79" name="Rectangle 287"/>
                <p:cNvSpPr>
                  <a:spLocks noChangeArrowheads="1"/>
                </p:cNvSpPr>
                <p:nvPr/>
              </p:nvSpPr>
              <p:spPr bwMode="auto">
                <a:xfrm>
                  <a:off x="2234" y="1445"/>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80" name="Rectangle 288"/>
                <p:cNvSpPr>
                  <a:spLocks noChangeArrowheads="1"/>
                </p:cNvSpPr>
                <p:nvPr/>
              </p:nvSpPr>
              <p:spPr bwMode="auto">
                <a:xfrm>
                  <a:off x="2191" y="1445"/>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49" name="Group 289"/>
              <p:cNvGrpSpPr/>
              <p:nvPr/>
            </p:nvGrpSpPr>
            <p:grpSpPr bwMode="auto">
              <a:xfrm>
                <a:off x="2560" y="1445"/>
                <a:ext cx="369" cy="403"/>
                <a:chOff x="2560" y="1445"/>
                <a:chExt cx="369" cy="403"/>
              </a:xfrm>
            </p:grpSpPr>
            <p:sp>
              <p:nvSpPr>
                <p:cNvPr id="77" name="Rectangle 290"/>
                <p:cNvSpPr>
                  <a:spLocks noChangeArrowheads="1"/>
                </p:cNvSpPr>
                <p:nvPr/>
              </p:nvSpPr>
              <p:spPr bwMode="auto">
                <a:xfrm>
                  <a:off x="2603" y="1445"/>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3</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78" name="Rectangle 291"/>
                <p:cNvSpPr>
                  <a:spLocks noChangeArrowheads="1"/>
                </p:cNvSpPr>
                <p:nvPr/>
              </p:nvSpPr>
              <p:spPr bwMode="auto">
                <a:xfrm>
                  <a:off x="2560" y="1445"/>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0" name="Group 292"/>
              <p:cNvGrpSpPr/>
              <p:nvPr/>
            </p:nvGrpSpPr>
            <p:grpSpPr bwMode="auto">
              <a:xfrm>
                <a:off x="4271" y="1445"/>
                <a:ext cx="150" cy="403"/>
                <a:chOff x="4271" y="1445"/>
                <a:chExt cx="150" cy="403"/>
              </a:xfrm>
            </p:grpSpPr>
            <p:sp>
              <p:nvSpPr>
                <p:cNvPr id="75" name="Rectangle 293"/>
                <p:cNvSpPr>
                  <a:spLocks noChangeArrowheads="1"/>
                </p:cNvSpPr>
                <p:nvPr/>
              </p:nvSpPr>
              <p:spPr bwMode="auto">
                <a:xfrm>
                  <a:off x="4271" y="1445"/>
                  <a:ext cx="1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b="1">
                      <a:solidFill>
                        <a:srgbClr val="003300"/>
                      </a:solidFill>
                      <a:ea typeface="楷体_GB2312" pitchFamily="49" charset="-122"/>
                    </a:rPr>
                    <a:t> </a:t>
                  </a:r>
                  <a:endParaRPr lang="zh-CN" altLang="en-US"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76" name="Rectangle 294"/>
                <p:cNvSpPr>
                  <a:spLocks noChangeArrowheads="1"/>
                </p:cNvSpPr>
                <p:nvPr/>
              </p:nvSpPr>
              <p:spPr bwMode="auto">
                <a:xfrm>
                  <a:off x="4271" y="1445"/>
                  <a:ext cx="15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1" name="Group 295"/>
              <p:cNvGrpSpPr/>
              <p:nvPr/>
            </p:nvGrpSpPr>
            <p:grpSpPr bwMode="auto">
              <a:xfrm>
                <a:off x="0" y="1848"/>
                <a:ext cx="489" cy="403"/>
                <a:chOff x="0" y="1848"/>
                <a:chExt cx="489" cy="403"/>
              </a:xfrm>
            </p:grpSpPr>
            <p:sp>
              <p:nvSpPr>
                <p:cNvPr id="73" name="Rectangle 296"/>
                <p:cNvSpPr>
                  <a:spLocks noChangeArrowheads="1"/>
                </p:cNvSpPr>
                <p:nvPr/>
              </p:nvSpPr>
              <p:spPr bwMode="auto">
                <a:xfrm>
                  <a:off x="43" y="1848"/>
                  <a:ext cx="40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P4</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74" name="Rectangle 297"/>
                <p:cNvSpPr>
                  <a:spLocks noChangeArrowheads="1"/>
                </p:cNvSpPr>
                <p:nvPr/>
              </p:nvSpPr>
              <p:spPr bwMode="auto">
                <a:xfrm>
                  <a:off x="0" y="1848"/>
                  <a:ext cx="48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2" name="Group 298"/>
              <p:cNvGrpSpPr/>
              <p:nvPr/>
            </p:nvGrpSpPr>
            <p:grpSpPr bwMode="auto">
              <a:xfrm>
                <a:off x="489" y="1848"/>
                <a:ext cx="374" cy="403"/>
                <a:chOff x="489" y="1848"/>
                <a:chExt cx="374" cy="403"/>
              </a:xfrm>
            </p:grpSpPr>
            <p:sp>
              <p:nvSpPr>
                <p:cNvPr id="71" name="Rectangle 299"/>
                <p:cNvSpPr>
                  <a:spLocks noChangeArrowheads="1"/>
                </p:cNvSpPr>
                <p:nvPr/>
              </p:nvSpPr>
              <p:spPr bwMode="auto">
                <a:xfrm>
                  <a:off x="532" y="1848"/>
                  <a:ext cx="288"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72" name="Rectangle 300"/>
                <p:cNvSpPr>
                  <a:spLocks noChangeArrowheads="1"/>
                </p:cNvSpPr>
                <p:nvPr/>
              </p:nvSpPr>
              <p:spPr bwMode="auto">
                <a:xfrm>
                  <a:off x="489" y="1848"/>
                  <a:ext cx="374"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3" name="Group 301"/>
              <p:cNvGrpSpPr/>
              <p:nvPr/>
            </p:nvGrpSpPr>
            <p:grpSpPr bwMode="auto">
              <a:xfrm>
                <a:off x="863" y="1848"/>
                <a:ext cx="446" cy="403"/>
                <a:chOff x="863" y="1848"/>
                <a:chExt cx="446" cy="403"/>
              </a:xfrm>
            </p:grpSpPr>
            <p:sp>
              <p:nvSpPr>
                <p:cNvPr id="69" name="Rectangle 302"/>
                <p:cNvSpPr>
                  <a:spLocks noChangeArrowheads="1"/>
                </p:cNvSpPr>
                <p:nvPr/>
              </p:nvSpPr>
              <p:spPr bwMode="auto">
                <a:xfrm>
                  <a:off x="906" y="1848"/>
                  <a:ext cx="36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70" name="Rectangle 303"/>
                <p:cNvSpPr>
                  <a:spLocks noChangeArrowheads="1"/>
                </p:cNvSpPr>
                <p:nvPr/>
              </p:nvSpPr>
              <p:spPr bwMode="auto">
                <a:xfrm>
                  <a:off x="863" y="1848"/>
                  <a:ext cx="446"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4" name="Group 304"/>
              <p:cNvGrpSpPr/>
              <p:nvPr/>
            </p:nvGrpSpPr>
            <p:grpSpPr bwMode="auto">
              <a:xfrm>
                <a:off x="1309" y="1848"/>
                <a:ext cx="470" cy="403"/>
                <a:chOff x="1309" y="1848"/>
                <a:chExt cx="470" cy="403"/>
              </a:xfrm>
            </p:grpSpPr>
            <p:sp>
              <p:nvSpPr>
                <p:cNvPr id="67" name="Rectangle 305"/>
                <p:cNvSpPr>
                  <a:spLocks noChangeArrowheads="1"/>
                </p:cNvSpPr>
                <p:nvPr/>
              </p:nvSpPr>
              <p:spPr bwMode="auto">
                <a:xfrm>
                  <a:off x="1352" y="1848"/>
                  <a:ext cx="384"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68" name="Rectangle 306"/>
                <p:cNvSpPr>
                  <a:spLocks noChangeArrowheads="1"/>
                </p:cNvSpPr>
                <p:nvPr/>
              </p:nvSpPr>
              <p:spPr bwMode="auto">
                <a:xfrm>
                  <a:off x="1309" y="1848"/>
                  <a:ext cx="47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5" name="Group 307"/>
              <p:cNvGrpSpPr/>
              <p:nvPr/>
            </p:nvGrpSpPr>
            <p:grpSpPr bwMode="auto">
              <a:xfrm>
                <a:off x="1779" y="1848"/>
                <a:ext cx="412" cy="403"/>
                <a:chOff x="1779" y="1848"/>
                <a:chExt cx="412" cy="403"/>
              </a:xfrm>
            </p:grpSpPr>
            <p:sp>
              <p:nvSpPr>
                <p:cNvPr id="65" name="Rectangle 308"/>
                <p:cNvSpPr>
                  <a:spLocks noChangeArrowheads="1"/>
                </p:cNvSpPr>
                <p:nvPr/>
              </p:nvSpPr>
              <p:spPr bwMode="auto">
                <a:xfrm>
                  <a:off x="1822" y="1848"/>
                  <a:ext cx="32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4</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66" name="Rectangle 309"/>
                <p:cNvSpPr>
                  <a:spLocks noChangeArrowheads="1"/>
                </p:cNvSpPr>
                <p:nvPr/>
              </p:nvSpPr>
              <p:spPr bwMode="auto">
                <a:xfrm>
                  <a:off x="1779" y="1848"/>
                  <a:ext cx="412"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6" name="Group 310"/>
              <p:cNvGrpSpPr/>
              <p:nvPr/>
            </p:nvGrpSpPr>
            <p:grpSpPr bwMode="auto">
              <a:xfrm>
                <a:off x="2191" y="1848"/>
                <a:ext cx="369" cy="403"/>
                <a:chOff x="2191" y="1848"/>
                <a:chExt cx="369" cy="403"/>
              </a:xfrm>
            </p:grpSpPr>
            <p:sp>
              <p:nvSpPr>
                <p:cNvPr id="63" name="Rectangle 311"/>
                <p:cNvSpPr>
                  <a:spLocks noChangeArrowheads="1"/>
                </p:cNvSpPr>
                <p:nvPr/>
              </p:nvSpPr>
              <p:spPr bwMode="auto">
                <a:xfrm>
                  <a:off x="2234" y="1848"/>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2</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64" name="Rectangle 312"/>
                <p:cNvSpPr>
                  <a:spLocks noChangeArrowheads="1"/>
                </p:cNvSpPr>
                <p:nvPr/>
              </p:nvSpPr>
              <p:spPr bwMode="auto">
                <a:xfrm>
                  <a:off x="2191" y="1848"/>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7" name="Group 313"/>
              <p:cNvGrpSpPr/>
              <p:nvPr/>
            </p:nvGrpSpPr>
            <p:grpSpPr bwMode="auto">
              <a:xfrm>
                <a:off x="2560" y="1848"/>
                <a:ext cx="369" cy="403"/>
                <a:chOff x="2560" y="1848"/>
                <a:chExt cx="369" cy="403"/>
              </a:xfrm>
            </p:grpSpPr>
            <p:sp>
              <p:nvSpPr>
                <p:cNvPr id="61" name="Rectangle 314"/>
                <p:cNvSpPr>
                  <a:spLocks noChangeArrowheads="1"/>
                </p:cNvSpPr>
                <p:nvPr/>
              </p:nvSpPr>
              <p:spPr bwMode="auto">
                <a:xfrm>
                  <a:off x="2603" y="1848"/>
                  <a:ext cx="28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sz="2400" b="1">
                      <a:solidFill>
                        <a:srgbClr val="003300"/>
                      </a:solidFill>
                      <a:ea typeface="楷体_GB2312" pitchFamily="49" charset="-122"/>
                    </a:rPr>
                    <a:t>0</a:t>
                  </a:r>
                  <a:endParaRPr lang="en-US" altLang="zh-CN" sz="2400" b="1">
                    <a:solidFill>
                      <a:srgbClr val="003300"/>
                    </a:solidFill>
                    <a:ea typeface="楷体_GB2312" pitchFamily="49" charset="-122"/>
                  </a:endParaRPr>
                </a:p>
                <a:p>
                  <a:pPr algn="ctr">
                    <a:spcBef>
                      <a:spcPct val="0"/>
                    </a:spcBef>
                    <a:buClrTx/>
                    <a:buFontTx/>
                    <a:buNone/>
                  </a:pPr>
                  <a:endParaRPr lang="zh-CN" altLang="en-US" sz="2400" b="1">
                    <a:solidFill>
                      <a:srgbClr val="003300"/>
                    </a:solidFill>
                    <a:ea typeface="楷体_GB2312" pitchFamily="49" charset="-122"/>
                  </a:endParaRPr>
                </a:p>
              </p:txBody>
            </p:sp>
            <p:sp>
              <p:nvSpPr>
                <p:cNvPr id="62" name="Rectangle 315"/>
                <p:cNvSpPr>
                  <a:spLocks noChangeArrowheads="1"/>
                </p:cNvSpPr>
                <p:nvPr/>
              </p:nvSpPr>
              <p:spPr bwMode="auto">
                <a:xfrm>
                  <a:off x="2560" y="1848"/>
                  <a:ext cx="369"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nvGrpSpPr>
              <p:cNvPr id="58" name="Group 316"/>
              <p:cNvGrpSpPr/>
              <p:nvPr/>
            </p:nvGrpSpPr>
            <p:grpSpPr bwMode="auto">
              <a:xfrm>
                <a:off x="4271" y="1848"/>
                <a:ext cx="150" cy="403"/>
                <a:chOff x="4271" y="1848"/>
                <a:chExt cx="150" cy="403"/>
              </a:xfrm>
            </p:grpSpPr>
            <p:sp>
              <p:nvSpPr>
                <p:cNvPr id="59" name="Rectangle 317"/>
                <p:cNvSpPr>
                  <a:spLocks noChangeArrowheads="1"/>
                </p:cNvSpPr>
                <p:nvPr/>
              </p:nvSpPr>
              <p:spPr bwMode="auto">
                <a:xfrm>
                  <a:off x="4271" y="1848"/>
                  <a:ext cx="1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FontTx/>
                    <a:buNone/>
                  </a:pPr>
                  <a:r>
                    <a:rPr lang="zh-CN" altLang="en-US" sz="2400" b="1">
                      <a:solidFill>
                        <a:srgbClr val="003300"/>
                      </a:solidFill>
                      <a:ea typeface="楷体_GB2312" pitchFamily="49" charset="-122"/>
                    </a:rPr>
                    <a:t> </a:t>
                  </a:r>
                  <a:endParaRPr lang="zh-CN" altLang="en-US" sz="2400" b="1">
                    <a:solidFill>
                      <a:srgbClr val="003300"/>
                    </a:solidFill>
                    <a:ea typeface="楷体_GB2312" pitchFamily="49" charset="-122"/>
                  </a:endParaRPr>
                </a:p>
                <a:p>
                  <a:pPr algn="just">
                    <a:spcBef>
                      <a:spcPct val="0"/>
                    </a:spcBef>
                    <a:buClrTx/>
                    <a:buFontTx/>
                    <a:buNone/>
                  </a:pPr>
                  <a:endParaRPr lang="zh-CN" altLang="en-US" sz="2400" b="1">
                    <a:solidFill>
                      <a:srgbClr val="003300"/>
                    </a:solidFill>
                    <a:ea typeface="楷体_GB2312" pitchFamily="49" charset="-122"/>
                  </a:endParaRPr>
                </a:p>
              </p:txBody>
            </p:sp>
            <p:sp>
              <p:nvSpPr>
                <p:cNvPr id="60" name="Rectangle 318"/>
                <p:cNvSpPr>
                  <a:spLocks noChangeArrowheads="1"/>
                </p:cNvSpPr>
                <p:nvPr/>
              </p:nvSpPr>
              <p:spPr bwMode="auto">
                <a:xfrm>
                  <a:off x="4271" y="1848"/>
                  <a:ext cx="150" cy="403"/>
                </a:xfrm>
                <a:prstGeom prst="rect">
                  <a:avLst/>
                </a:prstGeom>
                <a:noFill/>
                <a:ln w="7">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grpSp>
        <p:sp>
          <p:nvSpPr>
            <p:cNvPr id="7" name="Rectangle 319"/>
            <p:cNvSpPr>
              <a:spLocks noChangeArrowheads="1"/>
            </p:cNvSpPr>
            <p:nvPr/>
          </p:nvSpPr>
          <p:spPr bwMode="auto">
            <a:xfrm>
              <a:off x="-3" y="-3"/>
              <a:ext cx="4427" cy="2257"/>
            </a:xfrm>
            <a:prstGeom prst="rect">
              <a:avLst/>
            </a:prstGeom>
            <a:noFill/>
            <a:ln w="9525">
              <a:solidFill>
                <a:srgbClr val="A0A0A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2400" b="1">
                <a:latin typeface="Tahoma" panose="020B0604030504040204" pitchFamily="34" charset="0"/>
                <a:ea typeface="楷体_GB2312"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Rot="1" noChangeArrowheads="1"/>
          </p:cNvSpPr>
          <p:nvPr>
            <p:ph idx="1"/>
          </p:nvPr>
        </p:nvSpPr>
        <p:spPr>
          <a:xfrm>
            <a:off x="1003610" y="1071563"/>
            <a:ext cx="10459844" cy="5486400"/>
          </a:xfrm>
        </p:spPr>
        <p:txBody>
          <a:bodyPr/>
          <a:lstStyle/>
          <a:p>
            <a:pPr algn="just"/>
            <a:r>
              <a:rPr lang="zh-CN" altLang="en-US" sz="2800" dirty="0">
                <a:ea typeface="仿宋_GB2312" pitchFamily="49" charset="-122"/>
              </a:rPr>
              <a:t>假设</a:t>
            </a:r>
            <a:r>
              <a:rPr lang="en-US" altLang="zh-CN" sz="2800" dirty="0">
                <a:ea typeface="仿宋_GB2312" pitchFamily="49" charset="-122"/>
              </a:rPr>
              <a:t>T</a:t>
            </a:r>
            <a:r>
              <a:rPr lang="en-US" altLang="zh-CN" sz="2800" baseline="-30000" dirty="0">
                <a:ea typeface="仿宋_GB2312" pitchFamily="49" charset="-122"/>
              </a:rPr>
              <a:t>0</a:t>
            </a:r>
            <a:r>
              <a:rPr lang="zh-CN" altLang="en-US" sz="2800" dirty="0">
                <a:ea typeface="仿宋_GB2312" pitchFamily="49" charset="-122"/>
              </a:rPr>
              <a:t>时刻，进程</a:t>
            </a:r>
            <a:r>
              <a:rPr lang="en-US" altLang="zh-CN" sz="2800" dirty="0">
                <a:ea typeface="仿宋_GB2312" pitchFamily="49" charset="-122"/>
              </a:rPr>
              <a:t>P4</a:t>
            </a:r>
            <a:r>
              <a:rPr lang="zh-CN" altLang="en-US" sz="2800" dirty="0">
                <a:ea typeface="仿宋_GB2312" pitchFamily="49" charset="-122"/>
              </a:rPr>
              <a:t>申请资源，其请求向量为</a:t>
            </a:r>
            <a:r>
              <a:rPr lang="en-US" altLang="zh-CN" sz="2800" dirty="0">
                <a:ea typeface="仿宋_GB2312" pitchFamily="49" charset="-122"/>
              </a:rPr>
              <a:t>Request</a:t>
            </a:r>
            <a:r>
              <a:rPr lang="en-US" altLang="zh-CN" sz="2800" baseline="-30000" dirty="0">
                <a:ea typeface="仿宋_GB2312" pitchFamily="49" charset="-122"/>
              </a:rPr>
              <a:t>4</a:t>
            </a:r>
            <a:r>
              <a:rPr lang="en-US" altLang="zh-CN" sz="2800" dirty="0">
                <a:ea typeface="仿宋_GB2312" pitchFamily="49" charset="-122"/>
              </a:rPr>
              <a:t>(1,2,0),</a:t>
            </a:r>
            <a:r>
              <a:rPr lang="zh-CN" altLang="en-US" sz="2800" dirty="0">
                <a:ea typeface="仿宋_GB2312" pitchFamily="49" charset="-122"/>
              </a:rPr>
              <a:t>系统按银行家算法进行检查：</a:t>
            </a:r>
            <a:endParaRPr lang="zh-CN" altLang="en-US" sz="2800" dirty="0">
              <a:ea typeface="仿宋_GB2312" pitchFamily="49" charset="-122"/>
            </a:endParaRPr>
          </a:p>
          <a:p>
            <a:pPr algn="just">
              <a:buFont typeface="Wingdings" panose="05000000000000000000" pitchFamily="2" charset="2"/>
              <a:buNone/>
            </a:pPr>
            <a:r>
              <a:rPr lang="en-US" altLang="zh-CN" sz="2800" dirty="0">
                <a:ea typeface="仿宋_GB2312" pitchFamily="49" charset="-122"/>
              </a:rPr>
              <a:t>Request</a:t>
            </a:r>
            <a:r>
              <a:rPr lang="en-US" altLang="zh-CN" sz="2800" baseline="-30000" dirty="0">
                <a:ea typeface="仿宋_GB2312" pitchFamily="49" charset="-122"/>
              </a:rPr>
              <a:t>4</a:t>
            </a:r>
            <a:r>
              <a:rPr lang="en-US" altLang="zh-CN" sz="2800" dirty="0">
                <a:ea typeface="仿宋_GB2312" pitchFamily="49" charset="-122"/>
              </a:rPr>
              <a:t> (1,2,0) ≤ Need</a:t>
            </a:r>
            <a:r>
              <a:rPr lang="en-US" altLang="zh-CN" sz="2800" baseline="-30000" dirty="0">
                <a:ea typeface="仿宋_GB2312" pitchFamily="49" charset="-122"/>
              </a:rPr>
              <a:t>4</a:t>
            </a:r>
            <a:r>
              <a:rPr lang="en-US" altLang="zh-CN" sz="2800" dirty="0">
                <a:ea typeface="仿宋_GB2312" pitchFamily="49" charset="-122"/>
              </a:rPr>
              <a:t>(4,2,0)</a:t>
            </a:r>
            <a:r>
              <a:rPr lang="zh-CN" altLang="en-US" sz="2800" dirty="0">
                <a:ea typeface="仿宋_GB2312" pitchFamily="49" charset="-122"/>
              </a:rPr>
              <a:t>，且</a:t>
            </a:r>
            <a:endParaRPr lang="zh-CN" altLang="en-US" sz="2800" dirty="0">
              <a:ea typeface="仿宋_GB2312" pitchFamily="49" charset="-122"/>
            </a:endParaRPr>
          </a:p>
          <a:p>
            <a:pPr algn="just">
              <a:buFont typeface="Wingdings" panose="05000000000000000000" pitchFamily="2" charset="2"/>
              <a:buNone/>
            </a:pPr>
            <a:r>
              <a:rPr lang="en-US" altLang="zh-CN" sz="2800" dirty="0">
                <a:ea typeface="仿宋_GB2312" pitchFamily="49" charset="-122"/>
              </a:rPr>
              <a:t>Request</a:t>
            </a:r>
            <a:r>
              <a:rPr lang="en-US" altLang="zh-CN" sz="2800" baseline="-30000" dirty="0">
                <a:ea typeface="仿宋_GB2312" pitchFamily="49" charset="-122"/>
              </a:rPr>
              <a:t>4</a:t>
            </a:r>
            <a:r>
              <a:rPr lang="en-US" altLang="zh-CN" sz="2800" dirty="0">
                <a:ea typeface="仿宋_GB2312" pitchFamily="49" charset="-122"/>
              </a:rPr>
              <a:t> (1,2,0) &gt; Available (0,1,1)</a:t>
            </a:r>
            <a:endParaRPr lang="en-US" altLang="zh-CN" sz="2800" dirty="0">
              <a:ea typeface="仿宋_GB2312" pitchFamily="49" charset="-122"/>
            </a:endParaRPr>
          </a:p>
          <a:p>
            <a:pPr algn="just">
              <a:buFont typeface="Wingdings" panose="05000000000000000000" pitchFamily="2" charset="2"/>
              <a:buNone/>
            </a:pPr>
            <a:r>
              <a:rPr lang="en-US" altLang="zh-CN" sz="2800" dirty="0">
                <a:ea typeface="仿宋_GB2312" pitchFamily="49" charset="-122"/>
              </a:rPr>
              <a:t>P4</a:t>
            </a:r>
            <a:r>
              <a:rPr lang="zh-CN" altLang="en-US" sz="2800" dirty="0">
                <a:ea typeface="仿宋_GB2312" pitchFamily="49" charset="-122"/>
              </a:rPr>
              <a:t>的请求向量超过系统的可用资源向量，故</a:t>
            </a:r>
            <a:r>
              <a:rPr lang="en-US" altLang="zh-CN" sz="2800" dirty="0">
                <a:ea typeface="仿宋_GB2312" pitchFamily="49" charset="-122"/>
              </a:rPr>
              <a:t>P4</a:t>
            </a:r>
            <a:r>
              <a:rPr lang="zh-CN" altLang="en-US" sz="2800" dirty="0">
                <a:ea typeface="仿宋_GB2312" pitchFamily="49" charset="-122"/>
              </a:rPr>
              <a:t>的请求不能满足。进程</a:t>
            </a:r>
            <a:r>
              <a:rPr lang="en-US" altLang="zh-CN" sz="2800" dirty="0">
                <a:ea typeface="仿宋_GB2312" pitchFamily="49" charset="-122"/>
              </a:rPr>
              <a:t>P4</a:t>
            </a:r>
            <a:r>
              <a:rPr lang="zh-CN" altLang="en-US" sz="2800" dirty="0">
                <a:ea typeface="仿宋_GB2312" pitchFamily="49" charset="-122"/>
              </a:rPr>
              <a:t>阻塞等待</a:t>
            </a:r>
            <a:endParaRPr lang="en-US" altLang="zh-CN" sz="2800" dirty="0">
              <a:ea typeface="仿宋_GB2312" pitchFamily="49" charset="-122"/>
            </a:endParaRPr>
          </a:p>
          <a:p>
            <a:pPr algn="just">
              <a:buFont typeface="Wingdings" panose="05000000000000000000" pitchFamily="2" charset="2"/>
              <a:buNone/>
            </a:pPr>
            <a:endParaRPr lang="zh-CN" altLang="en-US" sz="2800" dirty="0">
              <a:ea typeface="仿宋_GB2312" pitchFamily="49" charset="-122"/>
            </a:endParaRPr>
          </a:p>
          <a:p>
            <a:r>
              <a:rPr lang="zh-CN" altLang="en-US" sz="2800" i="1" dirty="0">
                <a:solidFill>
                  <a:srgbClr val="3609F7"/>
                </a:solidFill>
                <a:ea typeface="仿宋_GB2312" pitchFamily="49" charset="-122"/>
              </a:rPr>
              <a:t>请考虑，如果</a:t>
            </a:r>
            <a:r>
              <a:rPr lang="en-US" altLang="zh-CN" sz="2800" i="1" dirty="0">
                <a:solidFill>
                  <a:srgbClr val="3609F7"/>
                </a:solidFill>
                <a:ea typeface="仿宋_GB2312" pitchFamily="49" charset="-122"/>
              </a:rPr>
              <a:t>T</a:t>
            </a:r>
            <a:r>
              <a:rPr lang="en-US" altLang="zh-CN" sz="2800" i="1" baseline="-30000" dirty="0">
                <a:solidFill>
                  <a:srgbClr val="3609F7"/>
                </a:solidFill>
                <a:ea typeface="仿宋_GB2312" pitchFamily="49" charset="-122"/>
              </a:rPr>
              <a:t>0</a:t>
            </a:r>
            <a:r>
              <a:rPr lang="zh-CN" altLang="en-US" sz="2800" i="1" dirty="0">
                <a:solidFill>
                  <a:srgbClr val="3609F7"/>
                </a:solidFill>
                <a:ea typeface="仿宋_GB2312" pitchFamily="49" charset="-122"/>
              </a:rPr>
              <a:t>时刻，进程</a:t>
            </a:r>
            <a:r>
              <a:rPr lang="en-US" altLang="zh-CN" sz="2800" i="1" dirty="0">
                <a:solidFill>
                  <a:srgbClr val="3609F7"/>
                </a:solidFill>
                <a:ea typeface="仿宋_GB2312" pitchFamily="49" charset="-122"/>
              </a:rPr>
              <a:t>P4</a:t>
            </a:r>
            <a:r>
              <a:rPr lang="zh-CN" altLang="en-US" sz="2800" i="1" dirty="0">
                <a:solidFill>
                  <a:srgbClr val="3609F7"/>
                </a:solidFill>
                <a:ea typeface="仿宋_GB2312" pitchFamily="49" charset="-122"/>
              </a:rPr>
              <a:t>申请资源，其请求向量为</a:t>
            </a:r>
            <a:r>
              <a:rPr lang="en-US" altLang="zh-CN" sz="2800" i="1" dirty="0">
                <a:solidFill>
                  <a:srgbClr val="3609F7"/>
                </a:solidFill>
                <a:ea typeface="仿宋_GB2312" pitchFamily="49" charset="-122"/>
              </a:rPr>
              <a:t>Request</a:t>
            </a:r>
            <a:r>
              <a:rPr lang="en-US" altLang="zh-CN" sz="2800" i="1" baseline="-30000" dirty="0">
                <a:solidFill>
                  <a:srgbClr val="3609F7"/>
                </a:solidFill>
                <a:ea typeface="仿宋_GB2312" pitchFamily="49" charset="-122"/>
              </a:rPr>
              <a:t>4</a:t>
            </a:r>
            <a:r>
              <a:rPr lang="en-US" altLang="zh-CN" sz="2800" i="1" dirty="0">
                <a:solidFill>
                  <a:srgbClr val="3609F7"/>
                </a:solidFill>
                <a:ea typeface="仿宋_GB2312" pitchFamily="49" charset="-122"/>
              </a:rPr>
              <a:t>(0,1,0),</a:t>
            </a:r>
            <a:r>
              <a:rPr lang="zh-CN" altLang="en-US" sz="2800" i="1" dirty="0">
                <a:solidFill>
                  <a:srgbClr val="3609F7"/>
                </a:solidFill>
                <a:ea typeface="仿宋_GB2312" pitchFamily="49" charset="-122"/>
              </a:rPr>
              <a:t>系统是否能将资源分配给它？</a:t>
            </a:r>
            <a:endParaRPr lang="zh-CN" altLang="en-US" sz="2800" i="1" dirty="0">
              <a:solidFill>
                <a:srgbClr val="3609F7"/>
              </a:solidFill>
              <a:ea typeface="仿宋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采用资源剥夺法可以解除死锁，还可以采用</a:t>
            </a:r>
            <a:r>
              <a:rPr lang="en-US" altLang="zh-CN" dirty="0"/>
              <a:t>( )</a:t>
            </a:r>
            <a:r>
              <a:rPr lang="zh-CN" altLang="en-US" dirty="0"/>
              <a:t>解脱死锁。</a:t>
            </a:r>
            <a:endParaRPr lang="zh-CN" altLang="en-US" dirty="0"/>
          </a:p>
          <a:p>
            <a:pPr lvl="1"/>
            <a:r>
              <a:rPr lang="en-US" altLang="zh-CN" dirty="0"/>
              <a:t>A.</a:t>
            </a:r>
            <a:r>
              <a:rPr lang="zh-CN" altLang="en-US" dirty="0"/>
              <a:t>停止并行操作 </a:t>
            </a:r>
            <a:endParaRPr lang="en-US" altLang="zh-CN" dirty="0"/>
          </a:p>
          <a:p>
            <a:pPr lvl="1"/>
            <a:r>
              <a:rPr lang="en-US" altLang="zh-CN" dirty="0"/>
              <a:t>B.</a:t>
            </a:r>
            <a:r>
              <a:rPr lang="zh-CN" altLang="en-US" dirty="0"/>
              <a:t>撤销进程 </a:t>
            </a:r>
            <a:endParaRPr lang="en-US" altLang="zh-CN" dirty="0"/>
          </a:p>
          <a:p>
            <a:pPr lvl="1"/>
            <a:r>
              <a:rPr lang="en-US" altLang="zh-CN" dirty="0"/>
              <a:t>C.</a:t>
            </a:r>
            <a:r>
              <a:rPr lang="zh-CN" altLang="en-US" dirty="0"/>
              <a:t>拒绝分配新资源 </a:t>
            </a:r>
            <a:endParaRPr lang="en-US" altLang="zh-CN" dirty="0"/>
          </a:p>
          <a:p>
            <a:pPr lvl="1"/>
            <a:r>
              <a:rPr lang="en-US" altLang="zh-CN" dirty="0"/>
              <a:t>D.</a:t>
            </a:r>
            <a:r>
              <a:rPr lang="zh-CN" altLang="en-US" dirty="0"/>
              <a:t>修改信号量</a:t>
            </a:r>
            <a:endParaRPr lang="zh-CN" altLang="en-US" dirty="0"/>
          </a:p>
          <a:p>
            <a:pPr lvl="1"/>
            <a:r>
              <a:rPr lang="zh-CN" altLang="en-US" dirty="0"/>
              <a:t>答案：</a:t>
            </a:r>
            <a:r>
              <a:rPr lang="en-US" altLang="zh-CN" dirty="0"/>
              <a:t>B</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801065"/>
            <a:ext cx="10770648" cy="5255870"/>
          </a:xfrm>
        </p:spPr>
        <p:txBody>
          <a:bodyPr/>
          <a:lstStyle/>
          <a:p>
            <a:r>
              <a:rPr lang="zh-CN" altLang="en-US" sz="2800" dirty="0"/>
              <a:t>存储管理的目的是</a:t>
            </a:r>
            <a:r>
              <a:rPr lang="en-US" altLang="zh-CN" sz="2800" dirty="0"/>
              <a:t>( )</a:t>
            </a:r>
            <a:endParaRPr lang="en-US" altLang="zh-CN" sz="2800" dirty="0"/>
          </a:p>
          <a:p>
            <a:pPr lvl="1"/>
            <a:r>
              <a:rPr lang="en-US" altLang="zh-CN" sz="2400" dirty="0"/>
              <a:t>A.</a:t>
            </a:r>
            <a:r>
              <a:rPr lang="zh-CN" altLang="en-US" sz="2400" dirty="0"/>
              <a:t>方便用户 </a:t>
            </a:r>
            <a:r>
              <a:rPr lang="en-US" altLang="zh-CN" sz="2400" dirty="0"/>
              <a:t>		B.</a:t>
            </a:r>
            <a:r>
              <a:rPr lang="zh-CN" altLang="en-US" sz="2400" dirty="0"/>
              <a:t>提高内存利用率 </a:t>
            </a:r>
            <a:endParaRPr lang="zh-CN" altLang="en-US" sz="2400" dirty="0"/>
          </a:p>
          <a:p>
            <a:pPr lvl="1"/>
            <a:r>
              <a:rPr lang="en-US" altLang="zh-CN" sz="2400" dirty="0"/>
              <a:t>C.</a:t>
            </a:r>
            <a:r>
              <a:rPr lang="zh-CN" altLang="en-US" sz="2400" dirty="0"/>
              <a:t>方便用户和提高内存利用率 </a:t>
            </a:r>
            <a:r>
              <a:rPr lang="en-US" altLang="zh-CN" sz="2400" dirty="0"/>
              <a:t>		D.</a:t>
            </a:r>
            <a:r>
              <a:rPr lang="zh-CN" altLang="en-US" sz="2400" dirty="0"/>
              <a:t>增加内存实际容量</a:t>
            </a:r>
            <a:endParaRPr lang="zh-CN" altLang="en-US" sz="2400" dirty="0"/>
          </a:p>
          <a:p>
            <a:pPr lvl="1"/>
            <a:r>
              <a:rPr lang="zh-CN" altLang="en-US" sz="2400" dirty="0"/>
              <a:t>答案：</a:t>
            </a:r>
            <a:r>
              <a:rPr lang="en-US" altLang="zh-CN" sz="2400" dirty="0"/>
              <a:t>C</a:t>
            </a:r>
            <a:endParaRPr lang="en-US" altLang="zh-CN" sz="2400" dirty="0"/>
          </a:p>
          <a:p>
            <a:r>
              <a:rPr lang="zh-CN" altLang="en-US" sz="2800" dirty="0"/>
              <a:t>参与指令执行的存储器不包括（   ）：</a:t>
            </a:r>
            <a:endParaRPr lang="en-US" altLang="zh-CN" sz="2800" dirty="0"/>
          </a:p>
          <a:p>
            <a:pPr lvl="1"/>
            <a:r>
              <a:rPr lang="en-US" altLang="zh-CN" sz="2400" dirty="0"/>
              <a:t>A </a:t>
            </a:r>
            <a:r>
              <a:rPr lang="zh-CN" altLang="en-US" sz="2400" dirty="0"/>
              <a:t>寄存器    </a:t>
            </a:r>
            <a:r>
              <a:rPr lang="en-US" altLang="zh-CN" sz="2400" dirty="0"/>
              <a:t>B</a:t>
            </a:r>
            <a:r>
              <a:rPr lang="zh-CN" altLang="en-US" sz="2400" dirty="0"/>
              <a:t>高速缓存       </a:t>
            </a:r>
            <a:r>
              <a:rPr lang="en-US" altLang="zh-CN" sz="2400" dirty="0"/>
              <a:t>C </a:t>
            </a:r>
            <a:r>
              <a:rPr lang="zh-CN" altLang="en-US" sz="2400" dirty="0"/>
              <a:t>内存         </a:t>
            </a:r>
            <a:r>
              <a:rPr lang="en-US" altLang="zh-CN" sz="2400" dirty="0"/>
              <a:t>D  </a:t>
            </a:r>
            <a:r>
              <a:rPr lang="zh-CN" altLang="en-US" sz="2400" dirty="0"/>
              <a:t>磁盘缓存</a:t>
            </a:r>
            <a:endParaRPr lang="en-US" altLang="zh-CN" sz="2400" dirty="0"/>
          </a:p>
          <a:p>
            <a:pPr lvl="1"/>
            <a:r>
              <a:rPr lang="zh-CN" altLang="en-US" sz="2400" dirty="0"/>
              <a:t>答案：</a:t>
            </a:r>
            <a:r>
              <a:rPr lang="en-US" altLang="zh-CN" sz="2400" dirty="0"/>
              <a:t>D</a:t>
            </a:r>
            <a:endParaRPr lang="en-US" altLang="zh-CN" sz="2400" dirty="0"/>
          </a:p>
          <a:p>
            <a:r>
              <a:rPr lang="zh-CN" altLang="en-US" sz="2800" dirty="0"/>
              <a:t>高速缓存能有效提升指令访问内存的原因是：</a:t>
            </a:r>
            <a:endParaRPr lang="en-US" altLang="zh-CN" sz="2800" dirty="0"/>
          </a:p>
          <a:p>
            <a:pPr lvl="1"/>
            <a:r>
              <a:rPr lang="en-US" altLang="zh-CN" sz="2400" dirty="0"/>
              <a:t>A </a:t>
            </a:r>
            <a:r>
              <a:rPr lang="zh-CN" altLang="en-US" sz="2400" dirty="0"/>
              <a:t>程序执行的局部性原理  </a:t>
            </a:r>
            <a:r>
              <a:rPr lang="en-US" altLang="zh-CN" sz="2400" dirty="0"/>
              <a:t>B </a:t>
            </a:r>
            <a:r>
              <a:rPr lang="zh-CN" altLang="en-US" sz="2400" dirty="0"/>
              <a:t>程序顺序执行   </a:t>
            </a:r>
            <a:r>
              <a:rPr lang="en-US" altLang="zh-CN" sz="2400" dirty="0"/>
              <a:t>C </a:t>
            </a:r>
            <a:r>
              <a:rPr lang="zh-CN" altLang="en-US" sz="2400" dirty="0"/>
              <a:t>进程切换     </a:t>
            </a:r>
            <a:r>
              <a:rPr lang="en-US" altLang="zh-CN" sz="2400" dirty="0"/>
              <a:t>D</a:t>
            </a:r>
            <a:r>
              <a:rPr lang="zh-CN" altLang="en-US" sz="2400" dirty="0"/>
              <a:t> 内存有限</a:t>
            </a:r>
            <a:endParaRPr lang="en-US" altLang="zh-CN" sz="2400" dirty="0"/>
          </a:p>
          <a:p>
            <a:pPr lvl="1"/>
            <a:r>
              <a:rPr lang="zh-CN" altLang="en-US" sz="2400" dirty="0"/>
              <a:t>答案：</a:t>
            </a:r>
            <a:r>
              <a:rPr lang="en-US" altLang="zh-CN" sz="2400" dirty="0"/>
              <a:t>A</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6" name="内容占位符 5"/>
          <p:cNvSpPr>
            <a:spLocks noGrp="1"/>
          </p:cNvSpPr>
          <p:nvPr>
            <p:ph idx="1"/>
          </p:nvPr>
        </p:nvSpPr>
        <p:spPr/>
        <p:txBody>
          <a:bodyPr/>
          <a:lstStyle/>
          <a:p>
            <a:r>
              <a:rPr lang="zh-CN" altLang="zh-CN" dirty="0"/>
              <a:t>当程序经过编译或者汇编以后，形成了一种由机器指令组成的集合，被称为</a:t>
            </a:r>
            <a:r>
              <a:rPr lang="en-US" altLang="zh-CN" dirty="0"/>
              <a:t>(    )</a:t>
            </a:r>
            <a:endParaRPr lang="en-US" altLang="zh-CN" dirty="0"/>
          </a:p>
          <a:p>
            <a:pPr lvl="1"/>
            <a:r>
              <a:rPr lang="en-US" altLang="zh-CN" dirty="0"/>
              <a:t>A. </a:t>
            </a:r>
            <a:r>
              <a:rPr lang="zh-CN" altLang="zh-CN" dirty="0"/>
              <a:t>源程序</a:t>
            </a:r>
            <a:r>
              <a:rPr lang="en-US" altLang="zh-CN" dirty="0"/>
              <a:t>   B</a:t>
            </a:r>
            <a:r>
              <a:rPr lang="zh-CN" altLang="zh-CN" dirty="0"/>
              <a:t>．目标程序</a:t>
            </a:r>
            <a:r>
              <a:rPr lang="en-US" altLang="zh-CN" dirty="0"/>
              <a:t>   C</a:t>
            </a:r>
            <a:r>
              <a:rPr lang="zh-CN" altLang="zh-CN" dirty="0"/>
              <a:t>．可执行程序</a:t>
            </a:r>
            <a:r>
              <a:rPr lang="en-US" altLang="zh-CN" dirty="0"/>
              <a:t>    D.</a:t>
            </a:r>
            <a:r>
              <a:rPr lang="zh-CN" altLang="zh-CN" dirty="0"/>
              <a:t>非执行程序</a:t>
            </a:r>
            <a:endParaRPr lang="en-US" altLang="zh-CN" dirty="0"/>
          </a:p>
          <a:p>
            <a:pPr lvl="1"/>
            <a:r>
              <a:rPr lang="zh-CN" altLang="zh-CN" dirty="0"/>
              <a:t>答案：</a:t>
            </a:r>
            <a:r>
              <a:rPr lang="en-US" altLang="zh-CN" dirty="0"/>
              <a:t>B</a:t>
            </a:r>
            <a:endParaRPr lang="en-US" altLang="zh-CN" dirty="0"/>
          </a:p>
          <a:p>
            <a:r>
              <a:rPr lang="zh-CN" altLang="zh-CN"/>
              <a:t>目</a:t>
            </a:r>
            <a:r>
              <a:rPr lang="zh-CN" altLang="en-US"/>
              <a:t>标</a:t>
            </a:r>
            <a:r>
              <a:rPr lang="zh-CN" altLang="zh-CN"/>
              <a:t>程序</a:t>
            </a:r>
            <a:r>
              <a:rPr lang="zh-CN" altLang="zh-CN" dirty="0"/>
              <a:t>指令的顺序都以</a:t>
            </a:r>
            <a:r>
              <a:rPr lang="en-US" altLang="zh-CN" dirty="0"/>
              <a:t>0</a:t>
            </a:r>
            <a:r>
              <a:rPr lang="zh-CN" altLang="zh-CN" dirty="0"/>
              <a:t>作为一个参考地址，这些地址称为</a:t>
            </a:r>
            <a:r>
              <a:rPr lang="en-US" altLang="zh-CN" dirty="0"/>
              <a:t>(     )</a:t>
            </a:r>
            <a:endParaRPr lang="en-US" altLang="zh-CN" dirty="0"/>
          </a:p>
          <a:p>
            <a:pPr lvl="1"/>
            <a:r>
              <a:rPr lang="en-US" altLang="zh-CN" dirty="0"/>
              <a:t>A. </a:t>
            </a:r>
            <a:r>
              <a:rPr lang="zh-CN" altLang="zh-CN" dirty="0"/>
              <a:t>虚拟地址</a:t>
            </a:r>
            <a:r>
              <a:rPr lang="en-US" altLang="zh-CN" dirty="0"/>
              <a:t>  B. </a:t>
            </a:r>
            <a:r>
              <a:rPr lang="zh-CN" altLang="zh-CN" dirty="0"/>
              <a:t>物理地址</a:t>
            </a:r>
            <a:r>
              <a:rPr lang="en-US" altLang="zh-CN" dirty="0"/>
              <a:t>   C</a:t>
            </a:r>
            <a:r>
              <a:rPr lang="zh-CN" altLang="zh-CN" dirty="0"/>
              <a:t>．绝对地址</a:t>
            </a:r>
            <a:r>
              <a:rPr lang="en-US" altLang="zh-CN" dirty="0"/>
              <a:t>   D</a:t>
            </a:r>
            <a:r>
              <a:rPr lang="zh-CN" altLang="zh-CN" dirty="0"/>
              <a:t>．重定位地址</a:t>
            </a:r>
            <a:endParaRPr lang="en-US" altLang="zh-CN" dirty="0"/>
          </a:p>
          <a:p>
            <a:pPr lvl="1"/>
            <a:r>
              <a:rPr lang="zh-CN" altLang="zh-CN" dirty="0"/>
              <a:t>答案：</a:t>
            </a:r>
            <a:r>
              <a:rPr lang="en-US" altLang="zh-CN" dirty="0"/>
              <a:t>A</a:t>
            </a:r>
            <a:br>
              <a:rPr lang="en-US" altLang="zh-CN" dirty="0"/>
            </a:b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小测试</a:t>
            </a:r>
            <a:endParaRPr lang="zh-CN" altLang="en-US" dirty="0"/>
          </a:p>
        </p:txBody>
      </p:sp>
      <p:sp>
        <p:nvSpPr>
          <p:cNvPr id="5" name="内容占位符 4"/>
          <p:cNvSpPr>
            <a:spLocks noGrp="1"/>
          </p:cNvSpPr>
          <p:nvPr>
            <p:ph idx="1"/>
          </p:nvPr>
        </p:nvSpPr>
        <p:spPr/>
        <p:txBody>
          <a:bodyPr/>
          <a:lstStyle/>
          <a:p>
            <a:r>
              <a:rPr lang="zh-CN" altLang="zh-CN" sz="2800" dirty="0"/>
              <a:t>若调用指令</a:t>
            </a:r>
            <a:r>
              <a:rPr lang="en-US" altLang="zh-CN" sz="2800" dirty="0"/>
              <a:t>LOAD A Data</a:t>
            </a:r>
            <a:r>
              <a:rPr lang="zh-CN" altLang="zh-CN" sz="2800" dirty="0"/>
              <a:t>，经动态重新定位后，其对应指令代码</a:t>
            </a:r>
            <a:r>
              <a:rPr lang="en-US" altLang="zh-CN" sz="2800" dirty="0"/>
              <a:t>(    )</a:t>
            </a:r>
            <a:endParaRPr lang="en-US" altLang="zh-CN" sz="2800" dirty="0"/>
          </a:p>
          <a:p>
            <a:pPr lvl="1"/>
            <a:r>
              <a:rPr lang="en-US" altLang="zh-CN" sz="2400" dirty="0"/>
              <a:t>A. </a:t>
            </a:r>
            <a:r>
              <a:rPr lang="zh-CN" altLang="zh-CN" sz="2400" dirty="0"/>
              <a:t>保持不变</a:t>
            </a:r>
            <a:r>
              <a:rPr lang="en-US" altLang="zh-CN" sz="2400" dirty="0"/>
              <a:t>    B</a:t>
            </a:r>
            <a:r>
              <a:rPr lang="zh-CN" altLang="zh-CN" sz="2400" dirty="0"/>
              <a:t>．会变化，随装入起始地址变化而变化</a:t>
            </a:r>
            <a:endParaRPr lang="en-US" altLang="zh-CN" sz="2400" dirty="0"/>
          </a:p>
          <a:p>
            <a:pPr lvl="1"/>
            <a:r>
              <a:rPr lang="en-US" altLang="zh-CN" sz="2400" dirty="0"/>
              <a:t>C. </a:t>
            </a:r>
            <a:r>
              <a:rPr lang="zh-CN" altLang="zh-CN" sz="2400" dirty="0"/>
              <a:t>会变化，固定在某一存储区域</a:t>
            </a:r>
            <a:r>
              <a:rPr lang="en-US" altLang="zh-CN" sz="2400" dirty="0"/>
              <a:t>    D</a:t>
            </a:r>
            <a:r>
              <a:rPr lang="zh-CN" altLang="zh-CN" sz="2400" dirty="0"/>
              <a:t>．重定位项等于重定位寄存器内容</a:t>
            </a:r>
            <a:endParaRPr lang="en-US" altLang="zh-CN" sz="2400" dirty="0"/>
          </a:p>
          <a:p>
            <a:pPr lvl="1"/>
            <a:r>
              <a:rPr lang="zh-CN" altLang="zh-CN" sz="2400" dirty="0"/>
              <a:t>答案：</a:t>
            </a:r>
            <a:r>
              <a:rPr lang="en-US" altLang="zh-CN" sz="2400" dirty="0"/>
              <a:t>A</a:t>
            </a:r>
            <a:endParaRPr lang="en-US" altLang="zh-CN" sz="2400" dirty="0"/>
          </a:p>
          <a:p>
            <a:r>
              <a:rPr lang="zh-CN" altLang="zh-CN" sz="2800" dirty="0"/>
              <a:t>设基址寄存器的内容为</a:t>
            </a:r>
            <a:r>
              <a:rPr lang="en-US" altLang="zh-CN" sz="2800" dirty="0"/>
              <a:t>1000</a:t>
            </a:r>
            <a:r>
              <a:rPr lang="zh-CN" altLang="zh-CN" sz="2800" dirty="0"/>
              <a:t>，执行指令</a:t>
            </a:r>
            <a:r>
              <a:rPr lang="en-US" altLang="zh-CN" sz="2800" dirty="0"/>
              <a:t>“LOAD A</a:t>
            </a:r>
            <a:r>
              <a:rPr lang="zh-CN" altLang="zh-CN" sz="2800" dirty="0"/>
              <a:t>，</a:t>
            </a:r>
            <a:r>
              <a:rPr lang="en-US" altLang="zh-CN" sz="2800" dirty="0"/>
              <a:t>2000”</a:t>
            </a:r>
            <a:r>
              <a:rPr lang="zh-CN" altLang="zh-CN" sz="2800" dirty="0"/>
              <a:t>时，操作数的地址是</a:t>
            </a:r>
            <a:r>
              <a:rPr lang="en-US" altLang="zh-CN" sz="2800" dirty="0"/>
              <a:t>(   </a:t>
            </a:r>
            <a:r>
              <a:rPr lang="zh-CN" altLang="en-US" sz="2800" dirty="0"/>
              <a:t>）</a:t>
            </a:r>
            <a:endParaRPr lang="en-US" altLang="zh-CN" sz="2800" dirty="0"/>
          </a:p>
          <a:p>
            <a:pPr lvl="1"/>
            <a:r>
              <a:rPr lang="en-US" altLang="zh-CN" sz="2400" dirty="0"/>
              <a:t>A</a:t>
            </a:r>
            <a:r>
              <a:rPr lang="zh-CN" altLang="en-US" sz="2400" dirty="0"/>
              <a:t>．</a:t>
            </a:r>
            <a:r>
              <a:rPr lang="en-US" altLang="zh-CN" sz="2400" dirty="0"/>
              <a:t>1000     B</a:t>
            </a:r>
            <a:r>
              <a:rPr lang="zh-CN" altLang="en-US" sz="2400" dirty="0"/>
              <a:t>．</a:t>
            </a:r>
            <a:r>
              <a:rPr lang="en-US" altLang="zh-CN" sz="2400" dirty="0"/>
              <a:t>2000     C</a:t>
            </a:r>
            <a:r>
              <a:rPr lang="zh-CN" altLang="en-US" sz="2400" dirty="0"/>
              <a:t>．</a:t>
            </a:r>
            <a:r>
              <a:rPr lang="en-US" altLang="zh-CN" sz="2400" dirty="0"/>
              <a:t>3000     D</a:t>
            </a:r>
            <a:r>
              <a:rPr lang="zh-CN" altLang="en-US" sz="2400" dirty="0"/>
              <a:t>．</a:t>
            </a:r>
            <a:r>
              <a:rPr lang="en-US" altLang="zh-CN" sz="2400" dirty="0"/>
              <a:t>4000</a:t>
            </a:r>
            <a:endParaRPr lang="en-US" altLang="zh-CN" sz="2400" dirty="0"/>
          </a:p>
          <a:p>
            <a:pPr lvl="1"/>
            <a:r>
              <a:rPr lang="zh-CN" altLang="en-US" sz="2400" dirty="0"/>
              <a:t>答案： </a:t>
            </a:r>
            <a:r>
              <a:rPr lang="en-US" altLang="zh-CN" sz="2400" dirty="0"/>
              <a:t>C</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zh-CN" dirty="0"/>
              <a:t>可变分区管理的分配策略</a:t>
            </a:r>
            <a:r>
              <a:rPr lang="en-US" altLang="zh-CN" dirty="0"/>
              <a:t>( )</a:t>
            </a:r>
            <a:r>
              <a:rPr lang="zh-CN" altLang="zh-CN" dirty="0"/>
              <a:t>采用按起始地址递增顺序排列空闲区的链表结构。</a:t>
            </a:r>
            <a:endParaRPr lang="en-US" altLang="zh-CN" dirty="0"/>
          </a:p>
          <a:p>
            <a:pPr lvl="1"/>
            <a:r>
              <a:rPr lang="en-US" altLang="zh-CN" dirty="0"/>
              <a:t>A. </a:t>
            </a:r>
            <a:r>
              <a:rPr lang="zh-CN" altLang="en-US" dirty="0"/>
              <a:t>首次适应（</a:t>
            </a:r>
            <a:r>
              <a:rPr lang="en-US" altLang="zh-CN" dirty="0"/>
              <a:t>FF </a:t>
            </a:r>
            <a:r>
              <a:rPr lang="zh-CN" altLang="en-US" dirty="0"/>
              <a:t>）</a:t>
            </a:r>
            <a:r>
              <a:rPr lang="en-US" altLang="zh-CN" dirty="0"/>
              <a:t>		B</a:t>
            </a:r>
            <a:r>
              <a:rPr lang="zh-CN" altLang="zh-CN" dirty="0"/>
              <a:t>．</a:t>
            </a:r>
            <a:r>
              <a:rPr lang="zh-CN" altLang="en-US" dirty="0"/>
              <a:t>最佳适应（</a:t>
            </a:r>
            <a:r>
              <a:rPr lang="en-US" altLang="zh-CN" dirty="0"/>
              <a:t>BF</a:t>
            </a:r>
            <a:r>
              <a:rPr lang="zh-CN" altLang="en-US" dirty="0"/>
              <a:t>）</a:t>
            </a:r>
            <a:r>
              <a:rPr lang="en-US" altLang="zh-CN" dirty="0"/>
              <a:t> </a:t>
            </a:r>
            <a:endParaRPr lang="en-US" altLang="zh-CN" dirty="0"/>
          </a:p>
          <a:p>
            <a:pPr lvl="1"/>
            <a:r>
              <a:rPr lang="en-US" altLang="zh-CN" dirty="0"/>
              <a:t>C. </a:t>
            </a:r>
            <a:r>
              <a:rPr lang="zh-CN" altLang="en-US" dirty="0"/>
              <a:t>最坏适应（</a:t>
            </a:r>
            <a:r>
              <a:rPr lang="en-US" altLang="zh-CN" dirty="0"/>
              <a:t>WF</a:t>
            </a:r>
            <a:r>
              <a:rPr lang="zh-CN" altLang="en-US" dirty="0"/>
              <a:t>）</a:t>
            </a:r>
            <a:r>
              <a:rPr lang="en-US" altLang="zh-CN" dirty="0"/>
              <a:t> 	D</a:t>
            </a:r>
            <a:r>
              <a:rPr lang="zh-CN" altLang="zh-CN" dirty="0"/>
              <a:t>．</a:t>
            </a:r>
            <a:r>
              <a:rPr lang="zh-CN" altLang="en-US" dirty="0"/>
              <a:t>最近最久未使用</a:t>
            </a:r>
            <a:r>
              <a:rPr lang="en-US" altLang="zh-CN" dirty="0"/>
              <a:t>(LRU)</a:t>
            </a:r>
            <a:endParaRPr lang="en-US" altLang="zh-CN" dirty="0"/>
          </a:p>
          <a:p>
            <a:pPr lvl="1"/>
            <a:r>
              <a:rPr lang="zh-CN" altLang="zh-CN" dirty="0"/>
              <a:t>答案：</a:t>
            </a:r>
            <a:r>
              <a:rPr lang="en-US" altLang="zh-CN" dirty="0"/>
              <a:t>A</a:t>
            </a:r>
            <a:endParaRPr lang="en-US" altLang="zh-CN" dirty="0"/>
          </a:p>
          <a:p>
            <a:r>
              <a:rPr lang="zh-CN" altLang="en-US" dirty="0"/>
              <a:t>可变分区管理的分配策略</a:t>
            </a:r>
            <a:r>
              <a:rPr lang="en-US" altLang="zh-CN" dirty="0"/>
              <a:t>( )</a:t>
            </a:r>
            <a:r>
              <a:rPr lang="zh-CN" altLang="en-US" dirty="0"/>
              <a:t>采用按分区大小递增顺序排列空闲区的链表结构。</a:t>
            </a:r>
            <a:endParaRPr lang="zh-CN" altLang="en-US" dirty="0"/>
          </a:p>
          <a:p>
            <a:pPr lvl="1"/>
            <a:r>
              <a:rPr lang="en-US" altLang="zh-CN" dirty="0"/>
              <a:t>A</a:t>
            </a:r>
            <a:r>
              <a:rPr lang="zh-CN" altLang="en-US" dirty="0"/>
              <a:t>．</a:t>
            </a:r>
            <a:r>
              <a:rPr lang="en-US" altLang="zh-CN" dirty="0"/>
              <a:t>FF 	B</a:t>
            </a:r>
            <a:r>
              <a:rPr lang="zh-CN" altLang="en-US" dirty="0"/>
              <a:t>．</a:t>
            </a:r>
            <a:r>
              <a:rPr lang="en-US" altLang="zh-CN" dirty="0"/>
              <a:t>BF 	C</a:t>
            </a:r>
            <a:r>
              <a:rPr lang="zh-CN" altLang="en-US" dirty="0"/>
              <a:t>．</a:t>
            </a:r>
            <a:r>
              <a:rPr lang="en-US" altLang="zh-CN" dirty="0"/>
              <a:t>WF 	D</a:t>
            </a:r>
            <a:r>
              <a:rPr lang="zh-CN" altLang="en-US" dirty="0"/>
              <a:t>．</a:t>
            </a:r>
            <a:r>
              <a:rPr lang="en-US" altLang="zh-CN" dirty="0"/>
              <a:t>LRU</a:t>
            </a:r>
            <a:endParaRPr lang="en-US" altLang="zh-CN" dirty="0"/>
          </a:p>
          <a:p>
            <a:pPr lvl="1"/>
            <a:r>
              <a:rPr lang="zh-CN" altLang="en-US" dirty="0"/>
              <a:t>答案：</a:t>
            </a:r>
            <a:r>
              <a:rPr lang="en-US" altLang="zh-CN" dirty="0"/>
              <a:t>B</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采用动态分区存储管理系统中，主存总容量为</a:t>
            </a:r>
            <a:r>
              <a:rPr lang="en-US" altLang="zh-CN" dirty="0"/>
              <a:t>55MB</a:t>
            </a:r>
            <a:r>
              <a:rPr lang="zh-CN" altLang="en-US" dirty="0"/>
              <a:t>，初始状态为空，采用最佳适应算法，内存的分配和回收顺序为：分配</a:t>
            </a:r>
            <a:r>
              <a:rPr lang="en-US" altLang="zh-CN" dirty="0"/>
              <a:t>15MB</a:t>
            </a:r>
            <a:r>
              <a:rPr lang="zh-CN" altLang="en-US" dirty="0"/>
              <a:t>，分配</a:t>
            </a:r>
            <a:r>
              <a:rPr lang="en-US" altLang="zh-CN" dirty="0"/>
              <a:t>30MB</a:t>
            </a:r>
            <a:r>
              <a:rPr lang="zh-CN" altLang="en-US" dirty="0"/>
              <a:t>，回收</a:t>
            </a:r>
            <a:r>
              <a:rPr lang="en-US" altLang="zh-CN" dirty="0"/>
              <a:t>15MB</a:t>
            </a:r>
            <a:r>
              <a:rPr lang="zh-CN" altLang="en-US" dirty="0"/>
              <a:t>，分配</a:t>
            </a:r>
            <a:r>
              <a:rPr lang="en-US" altLang="zh-CN" dirty="0"/>
              <a:t>8MB</a:t>
            </a:r>
            <a:r>
              <a:rPr lang="zh-CN" altLang="en-US" dirty="0"/>
              <a:t>，分配</a:t>
            </a:r>
            <a:r>
              <a:rPr lang="en-US" altLang="zh-CN" dirty="0"/>
              <a:t>6MB</a:t>
            </a:r>
            <a:r>
              <a:rPr lang="zh-CN" altLang="en-US" dirty="0"/>
              <a:t>，此时主存中最大的空闲分区大小是（    ）。采用首次适应算法，则应该是（   ）。</a:t>
            </a:r>
            <a:endParaRPr lang="en-US" altLang="zh-CN" dirty="0"/>
          </a:p>
          <a:p>
            <a:pPr lvl="1"/>
            <a:r>
              <a:rPr lang="en-US" altLang="zh-CN" dirty="0"/>
              <a:t>A</a:t>
            </a:r>
            <a:r>
              <a:rPr lang="zh-CN" altLang="en-US" dirty="0"/>
              <a:t>）</a:t>
            </a:r>
            <a:r>
              <a:rPr lang="en-US" altLang="zh-CN" dirty="0"/>
              <a:t>7MB      B</a:t>
            </a:r>
            <a:r>
              <a:rPr lang="zh-CN" altLang="en-US" dirty="0"/>
              <a:t>）</a:t>
            </a:r>
            <a:r>
              <a:rPr lang="en-US" altLang="zh-CN" dirty="0"/>
              <a:t>9MB      C</a:t>
            </a:r>
            <a:r>
              <a:rPr lang="zh-CN" altLang="en-US" dirty="0"/>
              <a:t>）</a:t>
            </a:r>
            <a:r>
              <a:rPr lang="en-US" altLang="zh-CN" dirty="0"/>
              <a:t>10MB      D)15MB</a:t>
            </a:r>
            <a:endParaRPr lang="en-US" altLang="zh-CN" dirty="0"/>
          </a:p>
          <a:p>
            <a:r>
              <a:rPr lang="zh-CN" altLang="en-US" dirty="0"/>
              <a:t>第一个空：</a:t>
            </a:r>
            <a:r>
              <a:rPr lang="en-US" altLang="zh-CN" dirty="0"/>
              <a:t>B</a:t>
            </a:r>
            <a:endParaRPr lang="en-US" altLang="zh-CN" dirty="0"/>
          </a:p>
          <a:p>
            <a:r>
              <a:rPr lang="zh-CN" altLang="en-US" dirty="0"/>
              <a:t>第二个空：</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zh-CN" altLang="en-US" b="1"/>
              <a:t>伙伴系统（续）</a:t>
            </a:r>
            <a:endParaRPr lang="zh-CN" altLang="en-US" b="1"/>
          </a:p>
        </p:txBody>
      </p:sp>
      <p:sp>
        <p:nvSpPr>
          <p:cNvPr id="246787" name="Rectangle 3"/>
          <p:cNvSpPr>
            <a:spLocks noGrp="1" noChangeArrowheads="1"/>
          </p:cNvSpPr>
          <p:nvPr>
            <p:ph type="body" idx="1"/>
          </p:nvPr>
        </p:nvSpPr>
        <p:spPr>
          <a:xfrm>
            <a:off x="676425" y="1366327"/>
            <a:ext cx="11012129" cy="5184775"/>
          </a:xfrm>
        </p:spPr>
        <p:txBody>
          <a:bodyPr/>
          <a:lstStyle/>
          <a:p>
            <a:pPr eaLnBrk="1" hangingPunct="1">
              <a:defRPr/>
            </a:pPr>
            <a:r>
              <a:rPr lang="zh-CN" altLang="en-US" sz="2400" dirty="0">
                <a:solidFill>
                  <a:srgbClr val="000099"/>
                </a:solidFill>
              </a:rPr>
              <a:t>进程请求大小为</a:t>
            </a:r>
            <a:r>
              <a:rPr lang="en-US" altLang="zh-CN" sz="2400" dirty="0">
                <a:solidFill>
                  <a:srgbClr val="FF0000"/>
                </a:solidFill>
              </a:rPr>
              <a:t>n</a:t>
            </a:r>
            <a:r>
              <a:rPr lang="zh-CN" altLang="en-US" sz="2400" dirty="0">
                <a:solidFill>
                  <a:srgbClr val="000099"/>
                </a:solidFill>
              </a:rPr>
              <a:t>的存储空间时，</a:t>
            </a:r>
            <a:endParaRPr lang="zh-CN" altLang="en-US" sz="2400" dirty="0">
              <a:solidFill>
                <a:srgbClr val="000099"/>
              </a:solidFill>
            </a:endParaRPr>
          </a:p>
          <a:p>
            <a:pPr lvl="1" eaLnBrk="1" hangingPunct="1">
              <a:defRPr/>
            </a:pPr>
            <a:r>
              <a:rPr lang="zh-CN" altLang="en-US" sz="2400" dirty="0"/>
              <a:t>首先计算一个</a:t>
            </a:r>
            <a:r>
              <a:rPr lang="zh-CN" altLang="en-US" sz="2400" dirty="0">
                <a:solidFill>
                  <a:srgbClr val="FF0000"/>
                </a:solidFill>
                <a:effectLst>
                  <a:outerShdw blurRad="38100" dist="38100" dir="2700000" algn="tl">
                    <a:srgbClr val="C0C0C0"/>
                  </a:outerShdw>
                </a:effectLst>
              </a:rPr>
              <a:t> </a:t>
            </a:r>
            <a:r>
              <a:rPr lang="en-US" altLang="zh-CN" sz="2400" dirty="0" err="1">
                <a:solidFill>
                  <a:srgbClr val="FF0000"/>
                </a:solidFill>
                <a:effectLst>
                  <a:outerShdw blurRad="38100" dist="38100" dir="2700000" algn="tl">
                    <a:srgbClr val="C0C0C0"/>
                  </a:outerShdw>
                </a:effectLst>
              </a:rPr>
              <a:t>i</a:t>
            </a:r>
            <a:r>
              <a:rPr lang="en-US" altLang="zh-CN" sz="2400" dirty="0">
                <a:solidFill>
                  <a:srgbClr val="FF0000"/>
                </a:solidFill>
                <a:effectLst>
                  <a:outerShdw blurRad="38100" dist="38100" dir="2700000" algn="tl">
                    <a:srgbClr val="C0C0C0"/>
                  </a:outerShdw>
                </a:effectLst>
              </a:rPr>
              <a:t> </a:t>
            </a:r>
            <a:r>
              <a:rPr lang="zh-CN" altLang="en-US" sz="2400" dirty="0"/>
              <a:t>值，使 </a:t>
            </a:r>
            <a:r>
              <a:rPr lang="en-US" altLang="zh-CN" sz="2400" dirty="0">
                <a:solidFill>
                  <a:schemeClr val="hlink"/>
                </a:solidFill>
                <a:effectLst>
                  <a:outerShdw blurRad="38100" dist="38100" dir="2700000" algn="tl">
                    <a:srgbClr val="C0C0C0"/>
                  </a:outerShdw>
                </a:effectLst>
              </a:rPr>
              <a:t>2</a:t>
            </a:r>
            <a:r>
              <a:rPr lang="en-US" altLang="zh-CN" sz="2400" i="1" baseline="30000" dirty="0">
                <a:solidFill>
                  <a:schemeClr val="hlink"/>
                </a:solidFill>
                <a:effectLst>
                  <a:outerShdw blurRad="38100" dist="38100" dir="2700000" algn="tl">
                    <a:srgbClr val="C0C0C0"/>
                  </a:outerShdw>
                </a:effectLst>
              </a:rPr>
              <a:t>i</a:t>
            </a:r>
            <a:r>
              <a:rPr lang="zh-CN" altLang="en-US" sz="2400" baseline="30000" dirty="0">
                <a:solidFill>
                  <a:schemeClr val="hlink"/>
                </a:solidFill>
                <a:effectLst>
                  <a:outerShdw blurRad="38100" dist="38100" dir="2700000" algn="tl">
                    <a:srgbClr val="C0C0C0"/>
                  </a:outerShdw>
                </a:effectLst>
              </a:rPr>
              <a:t>－</a:t>
            </a:r>
            <a:r>
              <a:rPr lang="en-US" altLang="zh-CN" sz="2400" baseline="30000" dirty="0">
                <a:solidFill>
                  <a:schemeClr val="hlink"/>
                </a:solidFill>
                <a:effectLst>
                  <a:outerShdw blurRad="38100" dist="38100" dir="2700000" algn="tl">
                    <a:srgbClr val="C0C0C0"/>
                  </a:outerShdw>
                </a:effectLst>
              </a:rPr>
              <a:t>1</a:t>
            </a:r>
            <a:r>
              <a:rPr lang="en-US" altLang="zh-CN" sz="2400" dirty="0">
                <a:solidFill>
                  <a:schemeClr val="hlink"/>
                </a:solidFill>
                <a:effectLst>
                  <a:outerShdw blurRad="38100" dist="38100" dir="2700000" algn="tl">
                    <a:srgbClr val="C0C0C0"/>
                  </a:outerShdw>
                </a:effectLst>
              </a:rPr>
              <a:t> &lt; </a:t>
            </a:r>
            <a:r>
              <a:rPr lang="en-US" altLang="zh-CN" sz="2400" i="1" dirty="0">
                <a:solidFill>
                  <a:schemeClr val="hlink"/>
                </a:solidFill>
                <a:effectLst>
                  <a:outerShdw blurRad="38100" dist="38100" dir="2700000" algn="tl">
                    <a:srgbClr val="C0C0C0"/>
                  </a:outerShdw>
                </a:effectLst>
              </a:rPr>
              <a:t>n </a:t>
            </a:r>
            <a:r>
              <a:rPr lang="en-US" altLang="zh-CN" sz="2400" dirty="0">
                <a:solidFill>
                  <a:schemeClr val="hlink"/>
                </a:solidFill>
                <a:effectLst>
                  <a:outerShdw blurRad="38100" dist="38100" dir="2700000" algn="tl">
                    <a:srgbClr val="C0C0C0"/>
                  </a:outerShdw>
                </a:effectLst>
              </a:rPr>
              <a:t>≤ 2</a:t>
            </a:r>
            <a:r>
              <a:rPr lang="en-US" altLang="zh-CN" sz="2400" i="1" baseline="30000" dirty="0">
                <a:solidFill>
                  <a:schemeClr val="hlink"/>
                </a:solidFill>
                <a:effectLst>
                  <a:outerShdw blurRad="38100" dist="38100" dir="2700000" algn="tl">
                    <a:srgbClr val="C0C0C0"/>
                  </a:outerShdw>
                </a:effectLst>
              </a:rPr>
              <a:t>i</a:t>
            </a:r>
            <a:r>
              <a:rPr lang="zh-CN" altLang="en-US" sz="2400" dirty="0">
                <a:solidFill>
                  <a:schemeClr val="hlink"/>
                </a:solidFill>
              </a:rPr>
              <a:t>；</a:t>
            </a:r>
            <a:endParaRPr lang="zh-CN" altLang="en-US" sz="2400" dirty="0">
              <a:solidFill>
                <a:schemeClr val="hlink"/>
              </a:solidFill>
            </a:endParaRPr>
          </a:p>
          <a:p>
            <a:pPr lvl="1" eaLnBrk="1" hangingPunct="1">
              <a:defRPr/>
            </a:pPr>
            <a:r>
              <a:rPr lang="zh-CN" altLang="en-US" sz="2400" dirty="0"/>
              <a:t>在空闲分区大小为 </a:t>
            </a:r>
            <a:r>
              <a:rPr lang="en-US" altLang="zh-CN" sz="2400" dirty="0"/>
              <a:t>2</a:t>
            </a:r>
            <a:r>
              <a:rPr lang="en-US" altLang="zh-CN" sz="2400" i="1" baseline="30000" dirty="0"/>
              <a:t>i </a:t>
            </a:r>
            <a:r>
              <a:rPr lang="zh-CN" altLang="en-US" sz="2400" dirty="0"/>
              <a:t>的空闲分区链表中查找。</a:t>
            </a:r>
            <a:endParaRPr lang="zh-CN" altLang="en-US" sz="2400" dirty="0"/>
          </a:p>
          <a:p>
            <a:pPr lvl="1" eaLnBrk="1" hangingPunct="1">
              <a:buFont typeface="Wingdings" panose="05000000000000000000" pitchFamily="2" charset="2"/>
              <a:buNone/>
              <a:defRPr/>
            </a:pPr>
            <a:r>
              <a:rPr lang="zh-CN" altLang="en-US" sz="2400" dirty="0">
                <a:solidFill>
                  <a:srgbClr val="000099"/>
                </a:solidFill>
              </a:rPr>
              <a:t>    </a:t>
            </a:r>
            <a:r>
              <a:rPr lang="en-US" altLang="zh-CN" sz="2400" dirty="0">
                <a:solidFill>
                  <a:srgbClr val="000099"/>
                </a:solidFill>
              </a:rPr>
              <a:t>if  </a:t>
            </a:r>
            <a:r>
              <a:rPr lang="zh-CN" altLang="en-US" sz="2400" dirty="0"/>
              <a:t>找到，即把该空闲分区分配给进程。</a:t>
            </a:r>
            <a:endParaRPr lang="zh-CN" altLang="en-US" sz="2400" dirty="0"/>
          </a:p>
          <a:p>
            <a:pPr lvl="1" eaLnBrk="1" hangingPunct="1">
              <a:buFont typeface="Wingdings" panose="05000000000000000000" pitchFamily="2" charset="2"/>
              <a:buNone/>
              <a:defRPr/>
            </a:pPr>
            <a:r>
              <a:rPr lang="zh-CN" altLang="en-US" sz="2400" dirty="0"/>
              <a:t>  </a:t>
            </a:r>
            <a:r>
              <a:rPr lang="en-US" altLang="zh-CN" sz="2400" dirty="0">
                <a:solidFill>
                  <a:srgbClr val="000099"/>
                </a:solidFill>
              </a:rPr>
              <a:t>else </a:t>
            </a:r>
            <a:r>
              <a:rPr lang="en-US" altLang="zh-CN" sz="2400" dirty="0"/>
              <a:t> </a:t>
            </a:r>
            <a:r>
              <a:rPr lang="zh-CN" altLang="en-US" sz="2400" dirty="0"/>
              <a:t>在分区大小为</a:t>
            </a:r>
            <a:r>
              <a:rPr lang="en-US" altLang="zh-CN" sz="2400" dirty="0"/>
              <a:t>2</a:t>
            </a:r>
            <a:r>
              <a:rPr lang="en-US" altLang="zh-CN" sz="2400" i="1" baseline="30000" dirty="0"/>
              <a:t>i</a:t>
            </a:r>
            <a:r>
              <a:rPr lang="zh-CN" altLang="en-US" sz="2400" i="1" baseline="30000" dirty="0"/>
              <a:t>＋</a:t>
            </a:r>
            <a:r>
              <a:rPr lang="en-US" altLang="zh-CN" sz="2400" i="1" baseline="30000" dirty="0"/>
              <a:t>1</a:t>
            </a:r>
            <a:r>
              <a:rPr lang="zh-CN" altLang="en-US" sz="2400" dirty="0"/>
              <a:t>的空闲分区链表中寻找</a:t>
            </a:r>
            <a:r>
              <a:rPr lang="en-US" altLang="zh-CN" sz="2400" dirty="0"/>
              <a:t>;</a:t>
            </a:r>
            <a:endParaRPr lang="en-US" altLang="zh-CN" sz="2400" dirty="0"/>
          </a:p>
          <a:p>
            <a:pPr lvl="2" eaLnBrk="1" hangingPunct="1">
              <a:buFont typeface="Wingdings" panose="05000000000000000000" pitchFamily="2" charset="2"/>
              <a:buNone/>
              <a:defRPr/>
            </a:pPr>
            <a:r>
              <a:rPr lang="en-US" altLang="zh-CN" dirty="0"/>
              <a:t>                               </a:t>
            </a:r>
            <a:r>
              <a:rPr lang="en-US" altLang="zh-CN" sz="2200" dirty="0">
                <a:solidFill>
                  <a:srgbClr val="006600"/>
                </a:solidFill>
              </a:rPr>
              <a:t>//</a:t>
            </a:r>
            <a:r>
              <a:rPr lang="zh-CN" altLang="en-US" sz="2200" dirty="0">
                <a:solidFill>
                  <a:srgbClr val="006600"/>
                </a:solidFill>
              </a:rPr>
              <a:t>表明长度为</a:t>
            </a:r>
            <a:r>
              <a:rPr lang="en-US" altLang="zh-CN" sz="2200" dirty="0">
                <a:solidFill>
                  <a:srgbClr val="006600"/>
                </a:solidFill>
              </a:rPr>
              <a:t>2</a:t>
            </a:r>
            <a:r>
              <a:rPr lang="en-US" altLang="zh-CN" sz="2200" i="1" baseline="30000" dirty="0">
                <a:solidFill>
                  <a:srgbClr val="006600"/>
                </a:solidFill>
              </a:rPr>
              <a:t>i</a:t>
            </a:r>
            <a:r>
              <a:rPr lang="zh-CN" altLang="en-US" sz="2200" dirty="0">
                <a:solidFill>
                  <a:srgbClr val="006600"/>
                </a:solidFill>
              </a:rPr>
              <a:t>的空闲分区已经耗尽</a:t>
            </a:r>
            <a:endParaRPr lang="zh-CN" altLang="en-US" sz="2200" dirty="0">
              <a:solidFill>
                <a:srgbClr val="006600"/>
              </a:solidFill>
            </a:endParaRPr>
          </a:p>
          <a:p>
            <a:pPr lvl="4" eaLnBrk="1" hangingPunct="1">
              <a:buFont typeface="Wingdings" panose="05000000000000000000" pitchFamily="2" charset="2"/>
              <a:buNone/>
              <a:defRPr/>
            </a:pPr>
            <a:r>
              <a:rPr lang="en-US" altLang="zh-CN" sz="2400" dirty="0">
                <a:solidFill>
                  <a:srgbClr val="000099"/>
                </a:solidFill>
              </a:rPr>
              <a:t>if</a:t>
            </a:r>
            <a:r>
              <a:rPr lang="en-US" altLang="zh-CN" sz="2400" dirty="0"/>
              <a:t>  </a:t>
            </a:r>
            <a:r>
              <a:rPr lang="zh-CN" altLang="en-US" sz="2400" dirty="0"/>
              <a:t>找到大小为</a:t>
            </a:r>
            <a:r>
              <a:rPr lang="en-US" altLang="zh-CN" sz="2400" dirty="0"/>
              <a:t>2</a:t>
            </a:r>
            <a:r>
              <a:rPr lang="en-US" altLang="zh-CN" sz="2400" i="1" baseline="30000" dirty="0"/>
              <a:t>i</a:t>
            </a:r>
            <a:r>
              <a:rPr lang="zh-CN" altLang="en-US" sz="2400" i="1" baseline="30000" dirty="0"/>
              <a:t>＋</a:t>
            </a:r>
            <a:r>
              <a:rPr lang="en-US" altLang="zh-CN" sz="2400" i="1" baseline="30000" dirty="0"/>
              <a:t>1 </a:t>
            </a:r>
            <a:r>
              <a:rPr lang="zh-CN" altLang="en-US" sz="2400" dirty="0"/>
              <a:t>的空闲分区</a:t>
            </a:r>
            <a:endParaRPr lang="zh-CN" altLang="en-US" sz="2400" dirty="0"/>
          </a:p>
          <a:p>
            <a:pPr lvl="4" eaLnBrk="1" hangingPunct="1">
              <a:buFont typeface="Wingdings" panose="05000000000000000000" pitchFamily="2" charset="2"/>
              <a:buNone/>
              <a:defRPr/>
            </a:pPr>
            <a:r>
              <a:rPr lang="zh-CN" altLang="en-US" sz="2400" dirty="0"/>
              <a:t>      把该空闲分区分为相等的两个分区（一对伙伴），其中一个用于分配，另一个加入分区大小为 </a:t>
            </a:r>
            <a:r>
              <a:rPr lang="en-US" altLang="zh-CN" sz="2400" dirty="0"/>
              <a:t>2</a:t>
            </a:r>
            <a:r>
              <a:rPr lang="en-US" altLang="zh-CN" sz="2400" i="1" baseline="30000" dirty="0"/>
              <a:t>i </a:t>
            </a:r>
            <a:r>
              <a:rPr lang="zh-CN" altLang="en-US" sz="2400" dirty="0"/>
              <a:t>的空闲分区链表中。</a:t>
            </a:r>
            <a:endParaRPr lang="zh-CN" altLang="en-US" sz="2400" dirty="0"/>
          </a:p>
          <a:p>
            <a:pPr lvl="4" eaLnBrk="1" hangingPunct="1">
              <a:buFont typeface="Wingdings" panose="05000000000000000000" pitchFamily="2" charset="2"/>
              <a:buNone/>
              <a:defRPr/>
            </a:pPr>
            <a:r>
              <a:rPr lang="en-US" altLang="zh-CN" sz="2400" dirty="0">
                <a:solidFill>
                  <a:srgbClr val="000099"/>
                </a:solidFill>
              </a:rPr>
              <a:t>else</a:t>
            </a:r>
            <a:r>
              <a:rPr lang="en-US" altLang="zh-CN" sz="2400" dirty="0"/>
              <a:t>  </a:t>
            </a:r>
            <a:r>
              <a:rPr lang="zh-CN" altLang="en-US" sz="2400" dirty="0"/>
              <a:t>查找大小为</a:t>
            </a:r>
            <a:r>
              <a:rPr lang="en-US" altLang="zh-CN" sz="2400" dirty="0"/>
              <a:t>2</a:t>
            </a:r>
            <a:r>
              <a:rPr lang="en-US" altLang="zh-CN" sz="2400" i="1" baseline="30000" dirty="0"/>
              <a:t>i</a:t>
            </a:r>
            <a:r>
              <a:rPr lang="zh-CN" altLang="en-US" sz="2400" i="1" baseline="30000" dirty="0"/>
              <a:t>＋</a:t>
            </a:r>
            <a:r>
              <a:rPr lang="en-US" altLang="zh-CN" sz="2400" i="1" baseline="30000" dirty="0"/>
              <a:t>2 </a:t>
            </a:r>
            <a:r>
              <a:rPr lang="zh-CN" altLang="en-US" sz="2400" dirty="0"/>
              <a:t>的空闲分区</a:t>
            </a:r>
            <a:r>
              <a:rPr lang="en-US" altLang="zh-CN" sz="2400" dirty="0"/>
              <a:t>……</a:t>
            </a: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a:spLocks noChangeArrowheads="1"/>
          </p:cNvSpPr>
          <p:nvPr/>
        </p:nvSpPr>
        <p:spPr bwMode="auto">
          <a:xfrm>
            <a:off x="2161894" y="303191"/>
            <a:ext cx="7956550" cy="600075"/>
          </a:xfrm>
          <a:prstGeom prst="rect">
            <a:avLst/>
          </a:prstGeom>
          <a:noFill/>
          <a:ln>
            <a:noFill/>
          </a:ln>
        </p:spPr>
        <p:txBody>
          <a:bodyPr lIns="90360" tIns="44280" rIns="90360" bIns="44280" anchor="b"/>
          <a:lstStyle/>
          <a:p>
            <a:pPr algn="ctr" eaLnBrk="1" hangingPunct="1">
              <a:buSzPct val="100000"/>
            </a:pPr>
            <a:r>
              <a:rPr lang="zh-CN" altLang="en-US" sz="3000" b="1" dirty="0">
                <a:solidFill>
                  <a:srgbClr val="11576A"/>
                </a:solidFill>
                <a:latin typeface="微软雅黑" panose="020B0503020204020204" charset="-122"/>
                <a:ea typeface="微软雅黑" panose="020B0503020204020204" charset="-122"/>
                <a:sym typeface="Times New Roman" panose="02020603050405020304" pitchFamily="18" charset="0"/>
              </a:rPr>
              <a:t>伙伴系统的实现</a:t>
            </a:r>
            <a:endParaRPr lang="en-US" altLang="zh-CN" sz="3000" b="1" dirty="0">
              <a:solidFill>
                <a:srgbClr val="11576A"/>
              </a:solidFill>
              <a:latin typeface="微软雅黑" panose="020B0503020204020204" charset="-122"/>
              <a:ea typeface="微软雅黑" panose="020B0503020204020204" charset="-122"/>
              <a:sym typeface="Times New Roman" panose="02020603050405020304" pitchFamily="18" charset="0"/>
            </a:endParaRPr>
          </a:p>
        </p:txBody>
      </p:sp>
      <p:grpSp>
        <p:nvGrpSpPr>
          <p:cNvPr id="4" name="组合 3"/>
          <p:cNvGrpSpPr/>
          <p:nvPr/>
        </p:nvGrpSpPr>
        <p:grpSpPr>
          <a:xfrm>
            <a:off x="1682684" y="1780164"/>
            <a:ext cx="3960440" cy="1185382"/>
            <a:chOff x="158684" y="922914"/>
            <a:chExt cx="3960440" cy="1185382"/>
          </a:xfrm>
        </p:grpSpPr>
        <p:sp>
          <p:nvSpPr>
            <p:cNvPr id="3" name="Text Box 2"/>
            <p:cNvSpPr>
              <a:spLocks noChangeArrowheads="1"/>
            </p:cNvSpPr>
            <p:nvPr/>
          </p:nvSpPr>
          <p:spPr bwMode="auto">
            <a:xfrm>
              <a:off x="158684" y="922914"/>
              <a:ext cx="3960440" cy="423261"/>
            </a:xfrm>
            <a:prstGeom prst="rect">
              <a:avLst/>
            </a:prstGeom>
            <a:noFill/>
            <a:ln>
              <a:noFill/>
            </a:ln>
          </p:spPr>
          <p:txBody>
            <a:bodyPr lIns="90360" tIns="44280" rIns="90360" bIns="44280"/>
            <a:lstStyle/>
            <a:p>
              <a:pPr>
                <a:spcBef>
                  <a:spcPts val="600"/>
                </a:spcBef>
                <a:buClr>
                  <a:srgbClr val="0066FF"/>
                </a:buClr>
                <a:buSzPct val="100000"/>
              </a:pPr>
              <a:r>
                <a:rPr lang="zh-CN" altLang="en-US"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charset="-122"/>
                  <a:ea typeface="微软雅黑" panose="020B0503020204020204" charset="-122"/>
                </a:rPr>
                <a:t> 释放过程</a:t>
              </a:r>
              <a:endParaRPr lang="en-US" altLang="zh-CN" sz="2000" b="1" dirty="0">
                <a:solidFill>
                  <a:srgbClr val="11576A"/>
                </a:solidFill>
                <a:latin typeface="微软雅黑" panose="020B0503020204020204" charset="-122"/>
                <a:ea typeface="微软雅黑" panose="020B0503020204020204" charset="-122"/>
              </a:endParaRPr>
            </a:p>
          </p:txBody>
        </p:sp>
        <p:pic>
          <p:nvPicPr>
            <p:cNvPr id="35" name="图片 8" descr="小点1.png"/>
            <p:cNvPicPr>
              <a:picLocks noChangeAspect="1"/>
            </p:cNvPicPr>
            <p:nvPr/>
          </p:nvPicPr>
          <p:blipFill>
            <a:blip r:embed="rId1"/>
            <a:srcRect/>
            <a:stretch>
              <a:fillRect/>
            </a:stretch>
          </p:blipFill>
          <p:spPr bwMode="auto">
            <a:xfrm>
              <a:off x="541475" y="1402482"/>
              <a:ext cx="149225" cy="149225"/>
            </a:xfrm>
            <a:prstGeom prst="rect">
              <a:avLst/>
            </a:prstGeom>
            <a:noFill/>
            <a:ln w="9525">
              <a:noFill/>
              <a:miter lim="800000"/>
              <a:headEnd/>
              <a:tailEnd/>
            </a:ln>
          </p:spPr>
        </p:pic>
        <p:sp>
          <p:nvSpPr>
            <p:cNvPr id="36" name="Text Box 2"/>
            <p:cNvSpPr>
              <a:spLocks noChangeArrowheads="1"/>
            </p:cNvSpPr>
            <p:nvPr/>
          </p:nvSpPr>
          <p:spPr bwMode="auto">
            <a:xfrm>
              <a:off x="679971" y="1308560"/>
              <a:ext cx="1850376" cy="709430"/>
            </a:xfrm>
            <a:prstGeom prst="rect">
              <a:avLst/>
            </a:prstGeom>
            <a:noFill/>
            <a:ln>
              <a:noFill/>
            </a:ln>
          </p:spPr>
          <p:txBody>
            <a:bodyPr lIns="90360" tIns="44280" rIns="90360" bIns="44280"/>
            <a:lstStyle/>
            <a:p>
              <a:pPr>
                <a:spcBef>
                  <a:spcPts val="600"/>
                </a:spcBef>
                <a:buClr>
                  <a:srgbClr val="0066FF"/>
                </a:buClr>
                <a:buSzPct val="100000"/>
              </a:pPr>
              <a:r>
                <a:rPr lang="zh-CN" altLang="en-US" sz="1600" b="1" dirty="0">
                  <a:solidFill>
                    <a:schemeClr val="accent5">
                      <a:lumMod val="75000"/>
                    </a:schemeClr>
                  </a:solidFill>
                  <a:latin typeface="微软雅黑" panose="020B0503020204020204" charset="-122"/>
                  <a:ea typeface="微软雅黑" panose="020B0503020204020204" charset="-122"/>
                </a:rPr>
                <a:t>把释放的块放入空闲块数组</a:t>
              </a:r>
              <a:endParaRPr lang="zh-CN" altLang="en-US" sz="1600" b="1" dirty="0">
                <a:solidFill>
                  <a:schemeClr val="accent5">
                    <a:lumMod val="75000"/>
                  </a:schemeClr>
                </a:solidFill>
                <a:latin typeface="微软雅黑" panose="020B0503020204020204" charset="-122"/>
                <a:ea typeface="微软雅黑" panose="020B0503020204020204" charset="-122"/>
              </a:endParaRPr>
            </a:p>
            <a:p>
              <a:pPr>
                <a:spcBef>
                  <a:spcPts val="600"/>
                </a:spcBef>
                <a:buClr>
                  <a:srgbClr val="0066FF"/>
                </a:buClr>
                <a:buSzPct val="100000"/>
              </a:pPr>
              <a:r>
                <a:rPr lang="zh-CN" altLang="en-US" sz="1600" b="1" dirty="0">
                  <a:solidFill>
                    <a:schemeClr val="accent5">
                      <a:lumMod val="75000"/>
                    </a:schemeClr>
                  </a:solidFill>
                  <a:latin typeface="微软雅黑" panose="020B0503020204020204" charset="-122"/>
                  <a:ea typeface="微软雅黑" panose="020B0503020204020204" charset="-122"/>
                </a:rPr>
                <a:t>合并满足合并条件的空闲块</a:t>
              </a:r>
              <a:endParaRPr lang="zh-CN" altLang="en-US" sz="1600" b="1" dirty="0">
                <a:solidFill>
                  <a:schemeClr val="accent5">
                    <a:lumMod val="75000"/>
                  </a:schemeClr>
                </a:solidFill>
                <a:latin typeface="微软雅黑" panose="020B0503020204020204" charset="-122"/>
                <a:ea typeface="微软雅黑" panose="020B0503020204020204" charset="-122"/>
              </a:endParaRPr>
            </a:p>
          </p:txBody>
        </p:sp>
        <p:pic>
          <p:nvPicPr>
            <p:cNvPr id="9" name="图片 8" descr="小点1.png"/>
            <p:cNvPicPr>
              <a:picLocks noChangeAspect="1"/>
            </p:cNvPicPr>
            <p:nvPr/>
          </p:nvPicPr>
          <p:blipFill>
            <a:blip r:embed="rId1"/>
            <a:srcRect/>
            <a:stretch>
              <a:fillRect/>
            </a:stretch>
          </p:blipFill>
          <p:spPr bwMode="auto">
            <a:xfrm>
              <a:off x="541902" y="1959071"/>
              <a:ext cx="149225" cy="149225"/>
            </a:xfrm>
            <a:prstGeom prst="rect">
              <a:avLst/>
            </a:prstGeom>
            <a:noFill/>
            <a:ln w="9525">
              <a:noFill/>
              <a:miter lim="800000"/>
              <a:headEnd/>
              <a:tailEnd/>
            </a:ln>
          </p:spPr>
        </p:pic>
      </p:grpSp>
      <p:sp>
        <p:nvSpPr>
          <p:cNvPr id="10" name="Text Box 2"/>
          <p:cNvSpPr>
            <a:spLocks noChangeArrowheads="1"/>
          </p:cNvSpPr>
          <p:nvPr/>
        </p:nvSpPr>
        <p:spPr bwMode="auto">
          <a:xfrm>
            <a:off x="1688916" y="3344963"/>
            <a:ext cx="3960440" cy="423261"/>
          </a:xfrm>
          <a:prstGeom prst="rect">
            <a:avLst/>
          </a:prstGeom>
          <a:noFill/>
          <a:ln>
            <a:noFill/>
          </a:ln>
        </p:spPr>
        <p:txBody>
          <a:bodyPr lIns="90360" tIns="44280" rIns="90360" bIns="44280"/>
          <a:lstStyle/>
          <a:p>
            <a:pPr>
              <a:spcBef>
                <a:spcPts val="600"/>
              </a:spcBef>
              <a:buClr>
                <a:srgbClr val="0066FF"/>
              </a:buClr>
              <a:buSzPct val="100000"/>
            </a:pPr>
            <a:r>
              <a:rPr lang="zh-CN" altLang="en-US" b="1" dirty="0">
                <a:solidFill>
                  <a:srgbClr val="11576A"/>
                </a:solidFill>
                <a:latin typeface="张海山锐谐体2.0-授权联系：Samtype@QQ.com" pitchFamily="2" charset="-122"/>
                <a:ea typeface="张海山锐谐体2.0-授权联系：Samtype@QQ.com" pitchFamily="2" charset="-122"/>
              </a:rPr>
              <a:t>■</a:t>
            </a:r>
            <a:r>
              <a:rPr lang="zh-CN" altLang="en-US" sz="2000" b="1" dirty="0">
                <a:solidFill>
                  <a:srgbClr val="11576A"/>
                </a:solidFill>
                <a:latin typeface="微软雅黑" panose="020B0503020204020204" charset="-122"/>
                <a:ea typeface="微软雅黑" panose="020B0503020204020204" charset="-122"/>
              </a:rPr>
              <a:t> 合并条件</a:t>
            </a:r>
            <a:endParaRPr lang="en-US" altLang="zh-CN" sz="2000" b="1" dirty="0">
              <a:solidFill>
                <a:srgbClr val="11576A"/>
              </a:solidFill>
              <a:latin typeface="微软雅黑" panose="020B0503020204020204" charset="-122"/>
              <a:ea typeface="微软雅黑" panose="020B0503020204020204" charset="-122"/>
            </a:endParaRPr>
          </a:p>
        </p:txBody>
      </p:sp>
      <p:grpSp>
        <p:nvGrpSpPr>
          <p:cNvPr id="5" name="组合 4"/>
          <p:cNvGrpSpPr/>
          <p:nvPr/>
        </p:nvGrpSpPr>
        <p:grpSpPr>
          <a:xfrm>
            <a:off x="2083903" y="3704545"/>
            <a:ext cx="2413925" cy="413680"/>
            <a:chOff x="559901" y="2847295"/>
            <a:chExt cx="2413925" cy="413680"/>
          </a:xfrm>
        </p:grpSpPr>
        <p:pic>
          <p:nvPicPr>
            <p:cNvPr id="11" name="图片 8" descr="小点1.png"/>
            <p:cNvPicPr>
              <a:picLocks noChangeAspect="1"/>
            </p:cNvPicPr>
            <p:nvPr/>
          </p:nvPicPr>
          <p:blipFill>
            <a:blip r:embed="rId1"/>
            <a:srcRect/>
            <a:stretch>
              <a:fillRect/>
            </a:stretch>
          </p:blipFill>
          <p:spPr bwMode="auto">
            <a:xfrm>
              <a:off x="559901" y="2915218"/>
              <a:ext cx="149225" cy="149225"/>
            </a:xfrm>
            <a:prstGeom prst="rect">
              <a:avLst/>
            </a:prstGeom>
            <a:noFill/>
            <a:ln w="9525">
              <a:noFill/>
              <a:miter lim="800000"/>
              <a:headEnd/>
              <a:tailEnd/>
            </a:ln>
          </p:spPr>
        </p:pic>
        <p:sp>
          <p:nvSpPr>
            <p:cNvPr id="12" name="Text Box 2"/>
            <p:cNvSpPr>
              <a:spLocks noChangeArrowheads="1"/>
            </p:cNvSpPr>
            <p:nvPr/>
          </p:nvSpPr>
          <p:spPr bwMode="auto">
            <a:xfrm>
              <a:off x="690876" y="2847295"/>
              <a:ext cx="2282950" cy="413680"/>
            </a:xfrm>
            <a:prstGeom prst="rect">
              <a:avLst/>
            </a:prstGeom>
            <a:noFill/>
            <a:ln>
              <a:noFill/>
            </a:ln>
          </p:spPr>
          <p:txBody>
            <a:bodyPr lIns="90360" tIns="44280" rIns="90360" bIns="44280"/>
            <a:lstStyle/>
            <a:p>
              <a:pPr>
                <a:spcBef>
                  <a:spcPts val="600"/>
                </a:spcBef>
                <a:buClr>
                  <a:srgbClr val="0066FF"/>
                </a:buClr>
                <a:buSzPct val="100000"/>
              </a:pPr>
              <a:r>
                <a:rPr lang="zh-CN" altLang="en-US" sz="1600" b="1" dirty="0">
                  <a:solidFill>
                    <a:schemeClr val="accent5">
                      <a:lumMod val="75000"/>
                    </a:schemeClr>
                  </a:solidFill>
                  <a:latin typeface="微软雅黑" panose="020B0503020204020204" charset="-122"/>
                  <a:ea typeface="微软雅黑" panose="020B0503020204020204" charset="-122"/>
                </a:rPr>
                <a:t>大小相同</a:t>
              </a:r>
              <a:r>
                <a:rPr lang="en-US" altLang="zh-CN" sz="1600" b="1" dirty="0">
                  <a:solidFill>
                    <a:schemeClr val="accent5">
                      <a:lumMod val="75000"/>
                    </a:schemeClr>
                  </a:solidFill>
                  <a:latin typeface="微软雅黑" panose="020B0503020204020204" charset="-122"/>
                  <a:ea typeface="微软雅黑" panose="020B0503020204020204" charset="-122"/>
                </a:rPr>
                <a:t>2</a:t>
              </a:r>
              <a:r>
                <a:rPr lang="en-US" altLang="zh-CN" sz="1600" b="1" baseline="30000" dirty="0">
                  <a:solidFill>
                    <a:schemeClr val="accent5">
                      <a:lumMod val="75000"/>
                    </a:schemeClr>
                  </a:solidFill>
                  <a:latin typeface="微软雅黑" panose="020B0503020204020204" charset="-122"/>
                  <a:ea typeface="微软雅黑" panose="020B0503020204020204" charset="-122"/>
                </a:rPr>
                <a:t>i</a:t>
              </a:r>
              <a:endParaRPr lang="en-US" altLang="zh-CN" sz="1600" b="1" baseline="30000" dirty="0">
                <a:solidFill>
                  <a:schemeClr val="accent5">
                    <a:lumMod val="75000"/>
                  </a:schemeClr>
                </a:solidFill>
                <a:latin typeface="微软雅黑" panose="020B0503020204020204" charset="-122"/>
                <a:ea typeface="微软雅黑" panose="020B0503020204020204" charset="-122"/>
              </a:endParaRPr>
            </a:p>
          </p:txBody>
        </p:sp>
      </p:grpSp>
      <p:sp>
        <p:nvSpPr>
          <p:cNvPr id="15" name="TextBox 3"/>
          <p:cNvSpPr txBox="1">
            <a:spLocks noChangeArrowheads="1"/>
          </p:cNvSpPr>
          <p:nvPr/>
        </p:nvSpPr>
        <p:spPr bwMode="auto">
          <a:xfrm>
            <a:off x="2132156" y="5251256"/>
            <a:ext cx="5945667" cy="584775"/>
          </a:xfrm>
          <a:prstGeom prst="rect">
            <a:avLst/>
          </a:prstGeom>
          <a:noFill/>
          <a:ln>
            <a:noFill/>
          </a:ln>
        </p:spPr>
        <p:txBody>
          <a:bodyPr wrap="square">
            <a:spAutoFit/>
          </a:bodyPr>
          <a:lstStyle>
            <a:lvl1pPr eaLnBrk="0" hangingPunct="0">
              <a:defRPr sz="2400">
                <a:solidFill>
                  <a:schemeClr val="tx1"/>
                </a:solidFill>
                <a:latin typeface="Times" panose="00000500000000020000" pitchFamily="18" charset="0"/>
                <a:ea typeface="MS PGothic" panose="020B0600070205080204" charset="-128"/>
              </a:defRPr>
            </a:lvl1pPr>
            <a:lvl2pPr marL="742950" indent="-285750" eaLnBrk="0" hangingPunct="0">
              <a:defRPr sz="2400">
                <a:solidFill>
                  <a:schemeClr val="tx1"/>
                </a:solidFill>
                <a:latin typeface="Times" panose="00000500000000020000" pitchFamily="18" charset="0"/>
                <a:ea typeface="MS PGothic" panose="020B0600070205080204" charset="-128"/>
              </a:defRPr>
            </a:lvl2pPr>
            <a:lvl3pPr marL="1143000" indent="-228600" eaLnBrk="0" hangingPunct="0">
              <a:defRPr sz="2400">
                <a:solidFill>
                  <a:schemeClr val="tx1"/>
                </a:solidFill>
                <a:latin typeface="Times" panose="00000500000000020000" pitchFamily="18" charset="0"/>
                <a:ea typeface="MS PGothic" panose="020B0600070205080204" charset="-128"/>
              </a:defRPr>
            </a:lvl3pPr>
            <a:lvl4pPr marL="1600200" indent="-228600" eaLnBrk="0" hangingPunct="0">
              <a:defRPr sz="2400">
                <a:solidFill>
                  <a:schemeClr val="tx1"/>
                </a:solidFill>
                <a:latin typeface="Times" panose="00000500000000020000" pitchFamily="18" charset="0"/>
                <a:ea typeface="MS PGothic" panose="020B0600070205080204" charset="-128"/>
              </a:defRPr>
            </a:lvl4pPr>
            <a:lvl5pPr marL="2057400" indent="-228600" eaLnBrk="0" hangingPunct="0">
              <a:defRPr sz="2400">
                <a:solidFill>
                  <a:schemeClr val="tx1"/>
                </a:solidFill>
                <a:latin typeface="Times" panose="00000500000000020000" pitchFamily="18" charset="0"/>
                <a:ea typeface="MS PGothic" panose="020B0600070205080204" charset="-128"/>
              </a:defRPr>
            </a:lvl5pPr>
            <a:lvl6pPr marL="2514600" indent="-228600" eaLnBrk="0" fontAlgn="base" hangingPunct="0">
              <a:spcBef>
                <a:spcPct val="0"/>
              </a:spcBef>
              <a:spcAft>
                <a:spcPct val="0"/>
              </a:spcAft>
              <a:buClr>
                <a:srgbClr val="000000"/>
              </a:buClr>
              <a:buSzPct val="100000"/>
              <a:defRPr sz="2400">
                <a:solidFill>
                  <a:schemeClr val="tx1"/>
                </a:solidFill>
                <a:latin typeface="Times" panose="00000500000000020000" pitchFamily="18" charset="0"/>
                <a:ea typeface="MS PGothic" panose="020B0600070205080204" charset="-128"/>
              </a:defRPr>
            </a:lvl6pPr>
            <a:lvl7pPr marL="2971800" indent="-228600" eaLnBrk="0" fontAlgn="base" hangingPunct="0">
              <a:spcBef>
                <a:spcPct val="0"/>
              </a:spcBef>
              <a:spcAft>
                <a:spcPct val="0"/>
              </a:spcAft>
              <a:buClr>
                <a:srgbClr val="000000"/>
              </a:buClr>
              <a:buSzPct val="100000"/>
              <a:defRPr sz="2400">
                <a:solidFill>
                  <a:schemeClr val="tx1"/>
                </a:solidFill>
                <a:latin typeface="Times" panose="00000500000000020000" pitchFamily="18" charset="0"/>
                <a:ea typeface="MS PGothic" panose="020B0600070205080204" charset="-128"/>
              </a:defRPr>
            </a:lvl7pPr>
            <a:lvl8pPr marL="3429000" indent="-228600" eaLnBrk="0" fontAlgn="base" hangingPunct="0">
              <a:spcBef>
                <a:spcPct val="0"/>
              </a:spcBef>
              <a:spcAft>
                <a:spcPct val="0"/>
              </a:spcAft>
              <a:buClr>
                <a:srgbClr val="000000"/>
              </a:buClr>
              <a:buSzPct val="100000"/>
              <a:defRPr sz="2400">
                <a:solidFill>
                  <a:schemeClr val="tx1"/>
                </a:solidFill>
                <a:latin typeface="Times" panose="00000500000000020000" pitchFamily="18" charset="0"/>
                <a:ea typeface="MS PGothic" panose="020B0600070205080204" charset="-128"/>
              </a:defRPr>
            </a:lvl8pPr>
            <a:lvl9pPr marL="3886200" indent="-228600" eaLnBrk="0" fontAlgn="base" hangingPunct="0">
              <a:spcBef>
                <a:spcPct val="0"/>
              </a:spcBef>
              <a:spcAft>
                <a:spcPct val="0"/>
              </a:spcAft>
              <a:buClr>
                <a:srgbClr val="000000"/>
              </a:buClr>
              <a:buSzPct val="100000"/>
              <a:defRPr sz="2400">
                <a:solidFill>
                  <a:schemeClr val="tx1"/>
                </a:solidFill>
                <a:latin typeface="Times" panose="00000500000000020000" pitchFamily="18" charset="0"/>
                <a:ea typeface="MS PGothic" panose="020B0600070205080204" charset="-128"/>
              </a:defRPr>
            </a:lvl9pPr>
          </a:lstStyle>
          <a:p>
            <a:pPr eaLnBrk="1" hangingPunct="1"/>
            <a:r>
              <a:rPr lang="en-US" altLang="zh-CN" sz="1600" b="1" dirty="0">
                <a:latin typeface="微软雅黑" panose="020B0503020204020204" charset="-122"/>
                <a:ea typeface="微软雅黑" panose="020B0503020204020204" charset="-122"/>
                <a:hlinkClick r:id="rId2"/>
              </a:rPr>
              <a:t>http://en.wikipedia.org/wiki/Buddy_memory_allocation</a:t>
            </a:r>
            <a:endParaRPr lang="en-US" altLang="zh-CN" sz="1600" b="1" dirty="0">
              <a:latin typeface="微软雅黑" panose="020B0503020204020204" charset="-122"/>
              <a:ea typeface="微软雅黑" panose="020B0503020204020204" charset="-122"/>
            </a:endParaRPr>
          </a:p>
          <a:p>
            <a:pPr eaLnBrk="1" hangingPunct="1"/>
            <a:endParaRPr lang="zh-CN" altLang="en-US" sz="1600" b="1" dirty="0">
              <a:latin typeface="微软雅黑" panose="020B0503020204020204" charset="-122"/>
              <a:ea typeface="微软雅黑" panose="020B0503020204020204" charset="-122"/>
            </a:endParaRPr>
          </a:p>
        </p:txBody>
      </p:sp>
      <p:grpSp>
        <p:nvGrpSpPr>
          <p:cNvPr id="67" name="组合 66"/>
          <p:cNvGrpSpPr/>
          <p:nvPr/>
        </p:nvGrpSpPr>
        <p:grpSpPr>
          <a:xfrm>
            <a:off x="4200353" y="2018776"/>
            <a:ext cx="6085524" cy="2769697"/>
            <a:chOff x="1201120" y="1378390"/>
            <a:chExt cx="6085524" cy="2769697"/>
          </a:xfrm>
        </p:grpSpPr>
        <p:cxnSp>
          <p:nvCxnSpPr>
            <p:cNvPr id="68" name="直接箭头连接符 67"/>
            <p:cNvCxnSpPr/>
            <p:nvPr/>
          </p:nvCxnSpPr>
          <p:spPr>
            <a:xfrm rot="16200000" flipH="1">
              <a:off x="2474008" y="3616192"/>
              <a:ext cx="379289" cy="7552"/>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cxnSp>
          <p:nvCxnSpPr>
            <p:cNvPr id="69" name="直接箭头连接符 68"/>
            <p:cNvCxnSpPr>
              <a:stCxn id="85" idx="2"/>
            </p:cNvCxnSpPr>
            <p:nvPr/>
          </p:nvCxnSpPr>
          <p:spPr>
            <a:xfrm>
              <a:off x="3836681" y="2618680"/>
              <a:ext cx="42912" cy="1197486"/>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cxnSp>
          <p:nvCxnSpPr>
            <p:cNvPr id="70" name="直接箭头连接符 69"/>
            <p:cNvCxnSpPr>
              <a:stCxn id="86" idx="2"/>
            </p:cNvCxnSpPr>
            <p:nvPr/>
          </p:nvCxnSpPr>
          <p:spPr>
            <a:xfrm>
              <a:off x="5217856" y="2618680"/>
              <a:ext cx="26173" cy="1212173"/>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cxnSp>
          <p:nvCxnSpPr>
            <p:cNvPr id="71" name="直接箭头连接符 70"/>
            <p:cNvCxnSpPr>
              <a:stCxn id="87" idx="2"/>
            </p:cNvCxnSpPr>
            <p:nvPr/>
          </p:nvCxnSpPr>
          <p:spPr>
            <a:xfrm>
              <a:off x="6591080" y="2618680"/>
              <a:ext cx="7231" cy="1196270"/>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cxnSp>
          <p:nvCxnSpPr>
            <p:cNvPr id="72" name="直接连接符 71"/>
            <p:cNvCxnSpPr/>
            <p:nvPr/>
          </p:nvCxnSpPr>
          <p:spPr>
            <a:xfrm>
              <a:off x="5913600" y="2007243"/>
              <a:ext cx="677480" cy="44307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3" name="直接连接符 72"/>
            <p:cNvCxnSpPr/>
            <p:nvPr/>
          </p:nvCxnSpPr>
          <p:spPr>
            <a:xfrm flipH="1">
              <a:off x="5244029" y="2007243"/>
              <a:ext cx="598917" cy="44307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4" name="直接连接符 73"/>
            <p:cNvCxnSpPr/>
            <p:nvPr/>
          </p:nvCxnSpPr>
          <p:spPr>
            <a:xfrm>
              <a:off x="3143443" y="2024702"/>
              <a:ext cx="693238" cy="439743"/>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5" name="直接连接符 74"/>
            <p:cNvCxnSpPr/>
            <p:nvPr/>
          </p:nvCxnSpPr>
          <p:spPr>
            <a:xfrm flipH="1">
              <a:off x="2498420" y="2007660"/>
              <a:ext cx="626494" cy="442657"/>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6" name="直接连接符 75"/>
            <p:cNvCxnSpPr/>
            <p:nvPr/>
          </p:nvCxnSpPr>
          <p:spPr>
            <a:xfrm>
              <a:off x="2501995" y="2485367"/>
              <a:ext cx="426931" cy="437161"/>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7" name="直接连接符 76"/>
            <p:cNvCxnSpPr/>
            <p:nvPr/>
          </p:nvCxnSpPr>
          <p:spPr>
            <a:xfrm flipH="1">
              <a:off x="2169250" y="2478336"/>
              <a:ext cx="329170" cy="45591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8" name="直接连接符 77"/>
            <p:cNvCxnSpPr/>
            <p:nvPr/>
          </p:nvCxnSpPr>
          <p:spPr>
            <a:xfrm flipH="1">
              <a:off x="3149824" y="1524456"/>
              <a:ext cx="1399191" cy="48462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79" name="直接连接符 78"/>
            <p:cNvCxnSpPr/>
            <p:nvPr/>
          </p:nvCxnSpPr>
          <p:spPr>
            <a:xfrm flipH="1" flipV="1">
              <a:off x="4549017" y="1522401"/>
              <a:ext cx="1293928" cy="502301"/>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80" name="直接连接符 79"/>
            <p:cNvCxnSpPr/>
            <p:nvPr/>
          </p:nvCxnSpPr>
          <p:spPr>
            <a:xfrm>
              <a:off x="2928926" y="2937821"/>
              <a:ext cx="220898" cy="419746"/>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81" name="直接连接符 80"/>
            <p:cNvCxnSpPr/>
            <p:nvPr/>
          </p:nvCxnSpPr>
          <p:spPr>
            <a:xfrm flipH="1">
              <a:off x="2660516" y="2926774"/>
              <a:ext cx="234469" cy="492497"/>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82" name="图片 81" descr="7-1.png"/>
            <p:cNvPicPr>
              <a:picLocks noChangeAspect="1"/>
            </p:cNvPicPr>
            <p:nvPr/>
          </p:nvPicPr>
          <p:blipFill>
            <a:blip r:embed="rId3" cstate="print"/>
            <a:stretch>
              <a:fillRect/>
            </a:stretch>
          </p:blipFill>
          <p:spPr>
            <a:xfrm>
              <a:off x="4396615" y="1378390"/>
              <a:ext cx="304801" cy="304801"/>
            </a:xfrm>
            <a:prstGeom prst="rect">
              <a:avLst/>
            </a:prstGeom>
          </p:spPr>
        </p:pic>
        <p:pic>
          <p:nvPicPr>
            <p:cNvPr id="83" name="图片 82" descr="7-1.png"/>
            <p:cNvPicPr>
              <a:picLocks noChangeAspect="1"/>
            </p:cNvPicPr>
            <p:nvPr/>
          </p:nvPicPr>
          <p:blipFill>
            <a:blip r:embed="rId3" cstate="print"/>
            <a:stretch>
              <a:fillRect/>
            </a:stretch>
          </p:blipFill>
          <p:spPr>
            <a:xfrm>
              <a:off x="2988536" y="1854843"/>
              <a:ext cx="304801" cy="304801"/>
            </a:xfrm>
            <a:prstGeom prst="rect">
              <a:avLst/>
            </a:prstGeom>
          </p:spPr>
        </p:pic>
        <p:pic>
          <p:nvPicPr>
            <p:cNvPr id="84" name="图片 83" descr="7-1.png"/>
            <p:cNvPicPr>
              <a:picLocks noChangeAspect="1"/>
            </p:cNvPicPr>
            <p:nvPr/>
          </p:nvPicPr>
          <p:blipFill>
            <a:blip r:embed="rId3" cstate="print"/>
            <a:stretch>
              <a:fillRect/>
            </a:stretch>
          </p:blipFill>
          <p:spPr>
            <a:xfrm>
              <a:off x="2334909" y="2309317"/>
              <a:ext cx="304801" cy="304801"/>
            </a:xfrm>
            <a:prstGeom prst="rect">
              <a:avLst/>
            </a:prstGeom>
          </p:spPr>
        </p:pic>
        <p:pic>
          <p:nvPicPr>
            <p:cNvPr id="85" name="图片 8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84280" y="2313879"/>
              <a:ext cx="304801" cy="304801"/>
            </a:xfrm>
            <a:prstGeom prst="rect">
              <a:avLst/>
            </a:prstGeom>
          </p:spPr>
        </p:pic>
        <p:pic>
          <p:nvPicPr>
            <p:cNvPr id="86" name="图片 8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5455" y="2313879"/>
              <a:ext cx="304801" cy="304801"/>
            </a:xfrm>
            <a:prstGeom prst="rect">
              <a:avLst/>
            </a:prstGeom>
          </p:spPr>
        </p:pic>
        <p:pic>
          <p:nvPicPr>
            <p:cNvPr id="87" name="图片 8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8679" y="2313879"/>
              <a:ext cx="304801" cy="304801"/>
            </a:xfrm>
            <a:prstGeom prst="rect">
              <a:avLst/>
            </a:prstGeom>
          </p:spPr>
        </p:pic>
        <p:pic>
          <p:nvPicPr>
            <p:cNvPr id="88" name="图片 87" descr="7-1.png"/>
            <p:cNvPicPr>
              <a:picLocks noChangeAspect="1"/>
            </p:cNvPicPr>
            <p:nvPr/>
          </p:nvPicPr>
          <p:blipFill>
            <a:blip r:embed="rId3" cstate="print"/>
            <a:stretch>
              <a:fillRect/>
            </a:stretch>
          </p:blipFill>
          <p:spPr>
            <a:xfrm>
              <a:off x="2761033" y="2774893"/>
              <a:ext cx="304801" cy="304801"/>
            </a:xfrm>
            <a:prstGeom prst="rect">
              <a:avLst/>
            </a:prstGeom>
          </p:spPr>
        </p:pic>
        <p:pic>
          <p:nvPicPr>
            <p:cNvPr id="89" name="图片 88" descr="7-1.png"/>
            <p:cNvPicPr>
              <a:picLocks noChangeAspect="1"/>
            </p:cNvPicPr>
            <p:nvPr/>
          </p:nvPicPr>
          <p:blipFill>
            <a:blip r:embed="rId3" cstate="print"/>
            <a:stretch>
              <a:fillRect/>
            </a:stretch>
          </p:blipFill>
          <p:spPr>
            <a:xfrm>
              <a:off x="5726912" y="1854843"/>
              <a:ext cx="304801" cy="304801"/>
            </a:xfrm>
            <a:prstGeom prst="rect">
              <a:avLst/>
            </a:prstGeom>
          </p:spPr>
        </p:pic>
        <p:sp>
          <p:nvSpPr>
            <p:cNvPr id="90" name="矩形 89"/>
            <p:cNvSpPr/>
            <p:nvPr/>
          </p:nvSpPr>
          <p:spPr>
            <a:xfrm>
              <a:off x="1204197" y="2872143"/>
              <a:ext cx="620683" cy="297517"/>
            </a:xfrm>
            <a:prstGeom prst="rect">
              <a:avLst/>
            </a:prstGeom>
          </p:spPr>
          <p:txBody>
            <a:bodyPr wrap="none">
              <a:spAutoFit/>
            </a:bodyPr>
            <a:lstStyle/>
            <a:p>
              <a:pPr eaLnBrk="1" hangingPunct="1">
                <a:buNone/>
              </a:pPr>
              <a:r>
                <a:rPr lang="en-US" altLang="zh-CN" sz="2000" b="1" baseline="30000" dirty="0">
                  <a:solidFill>
                    <a:srgbClr val="11576A"/>
                  </a:solidFill>
                  <a:latin typeface="微软雅黑" panose="020B0503020204020204" charset="-122"/>
                  <a:ea typeface="微软雅黑" panose="020B0503020204020204" charset="-122"/>
                </a:rPr>
                <a:t>128K</a:t>
              </a:r>
              <a:endParaRPr lang="en-US" altLang="zh-CN" sz="2000" b="1" baseline="30000" dirty="0">
                <a:solidFill>
                  <a:srgbClr val="11576A"/>
                </a:solidFill>
                <a:latin typeface="微软雅黑" panose="020B0503020204020204" charset="-122"/>
                <a:ea typeface="微软雅黑" panose="020B0503020204020204" charset="-122"/>
              </a:endParaRPr>
            </a:p>
          </p:txBody>
        </p:sp>
        <p:sp>
          <p:nvSpPr>
            <p:cNvPr id="91" name="矩形 90"/>
            <p:cNvSpPr/>
            <p:nvPr/>
          </p:nvSpPr>
          <p:spPr>
            <a:xfrm>
              <a:off x="1354122" y="1500302"/>
              <a:ext cx="466794" cy="297517"/>
            </a:xfrm>
            <a:prstGeom prst="rect">
              <a:avLst/>
            </a:prstGeom>
          </p:spPr>
          <p:txBody>
            <a:bodyPr wrap="none">
              <a:spAutoFit/>
            </a:bodyPr>
            <a:lstStyle/>
            <a:p>
              <a:pPr eaLnBrk="1" hangingPunct="1">
                <a:buNone/>
              </a:pPr>
              <a:r>
                <a:rPr lang="en-US" altLang="zh-CN" sz="2000" b="1" baseline="30000" dirty="0">
                  <a:solidFill>
                    <a:srgbClr val="11576A"/>
                  </a:solidFill>
                  <a:latin typeface="微软雅黑" panose="020B0503020204020204" charset="-122"/>
                  <a:ea typeface="微软雅黑" panose="020B0503020204020204" charset="-122"/>
                </a:rPr>
                <a:t>1M</a:t>
              </a:r>
              <a:endParaRPr lang="en-US" altLang="zh-CN" sz="2000" b="1" baseline="30000" dirty="0">
                <a:solidFill>
                  <a:srgbClr val="11576A"/>
                </a:solidFill>
                <a:latin typeface="微软雅黑" panose="020B0503020204020204" charset="-122"/>
                <a:ea typeface="微软雅黑" panose="020B0503020204020204" charset="-122"/>
              </a:endParaRPr>
            </a:p>
          </p:txBody>
        </p:sp>
        <p:sp>
          <p:nvSpPr>
            <p:cNvPr id="92" name="矩形 91"/>
            <p:cNvSpPr/>
            <p:nvPr/>
          </p:nvSpPr>
          <p:spPr>
            <a:xfrm>
              <a:off x="1201120" y="1932318"/>
              <a:ext cx="620683" cy="297517"/>
            </a:xfrm>
            <a:prstGeom prst="rect">
              <a:avLst/>
            </a:prstGeom>
          </p:spPr>
          <p:txBody>
            <a:bodyPr wrap="none">
              <a:spAutoFit/>
            </a:bodyPr>
            <a:lstStyle/>
            <a:p>
              <a:pPr eaLnBrk="1" hangingPunct="1">
                <a:buNone/>
              </a:pPr>
              <a:r>
                <a:rPr lang="en-US" altLang="zh-CN" sz="2000" b="1" baseline="30000" dirty="0">
                  <a:solidFill>
                    <a:srgbClr val="11576A"/>
                  </a:solidFill>
                  <a:latin typeface="微软雅黑" panose="020B0503020204020204" charset="-122"/>
                  <a:ea typeface="微软雅黑" panose="020B0503020204020204" charset="-122"/>
                </a:rPr>
                <a:t>512K</a:t>
              </a:r>
              <a:endParaRPr lang="en-US" altLang="zh-CN" sz="2000" b="1" baseline="30000" dirty="0">
                <a:solidFill>
                  <a:srgbClr val="11576A"/>
                </a:solidFill>
                <a:latin typeface="微软雅黑" panose="020B0503020204020204" charset="-122"/>
                <a:ea typeface="微软雅黑" panose="020B0503020204020204" charset="-122"/>
              </a:endParaRPr>
            </a:p>
          </p:txBody>
        </p:sp>
        <p:sp>
          <p:nvSpPr>
            <p:cNvPr id="93" name="矩形 92"/>
            <p:cNvSpPr/>
            <p:nvPr/>
          </p:nvSpPr>
          <p:spPr>
            <a:xfrm>
              <a:off x="1302550" y="3347288"/>
              <a:ext cx="514885" cy="297517"/>
            </a:xfrm>
            <a:prstGeom prst="rect">
              <a:avLst/>
            </a:prstGeom>
          </p:spPr>
          <p:txBody>
            <a:bodyPr wrap="none">
              <a:spAutoFit/>
            </a:bodyPr>
            <a:lstStyle/>
            <a:p>
              <a:pPr eaLnBrk="1" hangingPunct="1">
                <a:buNone/>
              </a:pPr>
              <a:r>
                <a:rPr lang="en-US" altLang="zh-CN" sz="2000" b="1" baseline="30000" dirty="0">
                  <a:solidFill>
                    <a:srgbClr val="11576A"/>
                  </a:solidFill>
                  <a:latin typeface="微软雅黑" panose="020B0503020204020204" charset="-122"/>
                  <a:ea typeface="微软雅黑" panose="020B0503020204020204" charset="-122"/>
                </a:rPr>
                <a:t>64K</a:t>
              </a:r>
              <a:endParaRPr lang="en-US" altLang="zh-CN" sz="2000" b="1" baseline="30000" dirty="0">
                <a:solidFill>
                  <a:srgbClr val="11576A"/>
                </a:solidFill>
                <a:latin typeface="微软雅黑" panose="020B0503020204020204" charset="-122"/>
                <a:ea typeface="微软雅黑" panose="020B0503020204020204" charset="-122"/>
              </a:endParaRPr>
            </a:p>
          </p:txBody>
        </p:sp>
        <p:sp>
          <p:nvSpPr>
            <p:cNvPr id="94" name="矩形 93"/>
            <p:cNvSpPr/>
            <p:nvPr/>
          </p:nvSpPr>
          <p:spPr>
            <a:xfrm>
              <a:off x="1204197" y="2394834"/>
              <a:ext cx="620683" cy="297517"/>
            </a:xfrm>
            <a:prstGeom prst="rect">
              <a:avLst/>
            </a:prstGeom>
          </p:spPr>
          <p:txBody>
            <a:bodyPr wrap="none">
              <a:spAutoFit/>
            </a:bodyPr>
            <a:lstStyle/>
            <a:p>
              <a:pPr eaLnBrk="1" hangingPunct="1">
                <a:buNone/>
              </a:pPr>
              <a:r>
                <a:rPr lang="en-US" altLang="zh-CN" sz="2000" b="1" baseline="30000" dirty="0">
                  <a:solidFill>
                    <a:srgbClr val="11576A"/>
                  </a:solidFill>
                  <a:latin typeface="微软雅黑" panose="020B0503020204020204" charset="-122"/>
                  <a:ea typeface="微软雅黑" panose="020B0503020204020204" charset="-122"/>
                </a:rPr>
                <a:t>256K</a:t>
              </a:r>
              <a:endParaRPr lang="en-US" altLang="zh-CN" sz="2000" b="1" baseline="30000" dirty="0">
                <a:solidFill>
                  <a:srgbClr val="11576A"/>
                </a:solidFill>
                <a:latin typeface="微软雅黑" panose="020B0503020204020204" charset="-122"/>
                <a:ea typeface="微软雅黑" panose="020B0503020204020204" charset="-122"/>
              </a:endParaRPr>
            </a:p>
          </p:txBody>
        </p:sp>
        <p:cxnSp>
          <p:nvCxnSpPr>
            <p:cNvPr id="95" name="直接箭头连接符 94"/>
            <p:cNvCxnSpPr/>
            <p:nvPr/>
          </p:nvCxnSpPr>
          <p:spPr>
            <a:xfrm rot="16200000" flipH="1">
              <a:off x="2968817" y="3616193"/>
              <a:ext cx="379289" cy="7552"/>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pic>
          <p:nvPicPr>
            <p:cNvPr id="96" name="图片 9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4873" y="3243842"/>
              <a:ext cx="304801" cy="304801"/>
            </a:xfrm>
            <a:prstGeom prst="rect">
              <a:avLst/>
            </a:prstGeom>
          </p:spPr>
        </p:pic>
        <p:pic>
          <p:nvPicPr>
            <p:cNvPr id="97" name="图片 9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1043" y="3243842"/>
              <a:ext cx="304801" cy="304801"/>
            </a:xfrm>
            <a:prstGeom prst="rect">
              <a:avLst/>
            </a:prstGeom>
          </p:spPr>
        </p:pic>
        <p:pic>
          <p:nvPicPr>
            <p:cNvPr id="98" name="图片 97" descr="6-7.png"/>
            <p:cNvPicPr/>
            <p:nvPr/>
          </p:nvPicPr>
          <p:blipFill>
            <a:blip r:embed="rId7" cstate="print"/>
            <a:stretch>
              <a:fillRect/>
            </a:stretch>
          </p:blipFill>
          <p:spPr>
            <a:xfrm>
              <a:off x="2419132" y="3839316"/>
              <a:ext cx="509794" cy="248400"/>
            </a:xfrm>
            <a:prstGeom prst="rect">
              <a:avLst/>
            </a:prstGeom>
          </p:spPr>
        </p:pic>
        <p:pic>
          <p:nvPicPr>
            <p:cNvPr id="99" name="图片 98" descr="6-2.png"/>
            <p:cNvPicPr/>
            <p:nvPr/>
          </p:nvPicPr>
          <p:blipFill>
            <a:blip r:embed="rId8" cstate="print"/>
            <a:stretch>
              <a:fillRect/>
            </a:stretch>
          </p:blipFill>
          <p:spPr>
            <a:xfrm>
              <a:off x="1714480" y="3838178"/>
              <a:ext cx="712800" cy="248400"/>
            </a:xfrm>
            <a:prstGeom prst="rect">
              <a:avLst/>
            </a:prstGeom>
          </p:spPr>
        </p:pic>
        <p:pic>
          <p:nvPicPr>
            <p:cNvPr id="100" name="图片 99" descr="6-12.png"/>
            <p:cNvPicPr/>
            <p:nvPr/>
          </p:nvPicPr>
          <p:blipFill>
            <a:blip r:embed="rId9"/>
            <a:stretch>
              <a:fillRect/>
            </a:stretch>
          </p:blipFill>
          <p:spPr>
            <a:xfrm>
              <a:off x="4492654" y="3835408"/>
              <a:ext cx="1454400" cy="248400"/>
            </a:xfrm>
            <a:prstGeom prst="rect">
              <a:avLst/>
            </a:prstGeom>
          </p:spPr>
        </p:pic>
        <p:pic>
          <p:nvPicPr>
            <p:cNvPr id="101" name="图片 100" descr="6-11.png"/>
            <p:cNvPicPr/>
            <p:nvPr/>
          </p:nvPicPr>
          <p:blipFill>
            <a:blip r:embed="rId10"/>
            <a:stretch>
              <a:fillRect/>
            </a:stretch>
          </p:blipFill>
          <p:spPr>
            <a:xfrm>
              <a:off x="5916583" y="3839596"/>
              <a:ext cx="1370061" cy="248400"/>
            </a:xfrm>
            <a:prstGeom prst="rect">
              <a:avLst/>
            </a:prstGeom>
          </p:spPr>
        </p:pic>
        <p:pic>
          <p:nvPicPr>
            <p:cNvPr id="102" name="图片 101" descr="6-8.png"/>
            <p:cNvPicPr/>
            <p:nvPr/>
          </p:nvPicPr>
          <p:blipFill>
            <a:blip r:embed="rId11"/>
            <a:stretch>
              <a:fillRect/>
            </a:stretch>
          </p:blipFill>
          <p:spPr>
            <a:xfrm>
              <a:off x="3408014" y="3839316"/>
              <a:ext cx="1116000" cy="248400"/>
            </a:xfrm>
            <a:prstGeom prst="rect">
              <a:avLst/>
            </a:prstGeom>
          </p:spPr>
        </p:pic>
        <p:pic>
          <p:nvPicPr>
            <p:cNvPr id="103" name="图片 102" descr="6-8.png"/>
            <p:cNvPicPr/>
            <p:nvPr/>
          </p:nvPicPr>
          <p:blipFill>
            <a:blip r:embed="rId12" cstate="print"/>
            <a:stretch>
              <a:fillRect/>
            </a:stretch>
          </p:blipFill>
          <p:spPr>
            <a:xfrm>
              <a:off x="2917676" y="3839316"/>
              <a:ext cx="511200" cy="248400"/>
            </a:xfrm>
            <a:prstGeom prst="rect">
              <a:avLst/>
            </a:prstGeom>
          </p:spPr>
        </p:pic>
        <p:sp>
          <p:nvSpPr>
            <p:cNvPr id="104" name="矩形 103"/>
            <p:cNvSpPr/>
            <p:nvPr/>
          </p:nvSpPr>
          <p:spPr>
            <a:xfrm>
              <a:off x="2362233" y="3900781"/>
              <a:ext cx="614271" cy="246221"/>
            </a:xfrm>
            <a:prstGeom prst="rect">
              <a:avLst/>
            </a:prstGeom>
          </p:spPr>
          <p:txBody>
            <a:bodyPr wrap="none">
              <a:spAutoFit/>
            </a:bodyPr>
            <a:lstStyle/>
            <a:p>
              <a:pPr eaLnBrk="1" hangingPunct="1">
                <a:buNone/>
              </a:pPr>
              <a:r>
                <a:rPr lang="en-US" altLang="zh-CN" sz="1500" b="1" baseline="30000" dirty="0">
                  <a:solidFill>
                    <a:schemeClr val="bg1"/>
                  </a:solidFill>
                  <a:latin typeface="微软雅黑" panose="020B0503020204020204" charset="-122"/>
                  <a:ea typeface="微软雅黑" panose="020B0503020204020204" charset="-122"/>
                </a:rPr>
                <a:t>C=64K</a:t>
              </a:r>
              <a:endParaRPr lang="en-US" altLang="zh-CN" sz="1500" b="1" baseline="30000" dirty="0">
                <a:solidFill>
                  <a:schemeClr val="bg1"/>
                </a:solidFill>
                <a:latin typeface="微软雅黑" panose="020B0503020204020204" charset="-122"/>
                <a:ea typeface="微软雅黑" panose="020B0503020204020204" charset="-122"/>
              </a:endParaRPr>
            </a:p>
          </p:txBody>
        </p:sp>
        <p:sp>
          <p:nvSpPr>
            <p:cNvPr id="105" name="矩形 104"/>
            <p:cNvSpPr/>
            <p:nvPr/>
          </p:nvSpPr>
          <p:spPr>
            <a:xfrm>
              <a:off x="3704815" y="3900781"/>
              <a:ext cx="508473" cy="246221"/>
            </a:xfrm>
            <a:prstGeom prst="rect">
              <a:avLst/>
            </a:prstGeom>
          </p:spPr>
          <p:txBody>
            <a:bodyPr wrap="none">
              <a:spAutoFit/>
            </a:bodyPr>
            <a:lstStyle/>
            <a:p>
              <a:pPr eaLnBrk="1" hangingPunct="1">
                <a:buNone/>
              </a:pPr>
              <a:r>
                <a:rPr lang="en-US" altLang="zh-CN" sz="1500" b="1" baseline="30000" dirty="0">
                  <a:solidFill>
                    <a:schemeClr val="bg1"/>
                  </a:solidFill>
                  <a:latin typeface="微软雅黑" panose="020B0503020204020204" charset="-122"/>
                  <a:ea typeface="微软雅黑" panose="020B0503020204020204" charset="-122"/>
                </a:rPr>
                <a:t>256K</a:t>
              </a:r>
              <a:endParaRPr lang="en-US" altLang="zh-CN" sz="1500" b="1" baseline="30000" dirty="0">
                <a:solidFill>
                  <a:schemeClr val="bg1"/>
                </a:solidFill>
                <a:latin typeface="微软雅黑" panose="020B0503020204020204" charset="-122"/>
                <a:ea typeface="微软雅黑" panose="020B0503020204020204" charset="-122"/>
              </a:endParaRPr>
            </a:p>
          </p:txBody>
        </p:sp>
        <p:sp>
          <p:nvSpPr>
            <p:cNvPr id="106" name="矩形 105"/>
            <p:cNvSpPr/>
            <p:nvPr/>
          </p:nvSpPr>
          <p:spPr>
            <a:xfrm>
              <a:off x="2956812" y="3901866"/>
              <a:ext cx="429926" cy="246221"/>
            </a:xfrm>
            <a:prstGeom prst="rect">
              <a:avLst/>
            </a:prstGeom>
          </p:spPr>
          <p:txBody>
            <a:bodyPr wrap="none">
              <a:spAutoFit/>
            </a:bodyPr>
            <a:lstStyle/>
            <a:p>
              <a:pPr eaLnBrk="1" hangingPunct="1">
                <a:buNone/>
              </a:pPr>
              <a:r>
                <a:rPr lang="en-US" altLang="zh-CN" sz="1500" b="1" baseline="30000" dirty="0">
                  <a:solidFill>
                    <a:schemeClr val="bg1"/>
                  </a:solidFill>
                  <a:latin typeface="微软雅黑" panose="020B0503020204020204" charset="-122"/>
                  <a:ea typeface="微软雅黑" panose="020B0503020204020204" charset="-122"/>
                </a:rPr>
                <a:t>64K</a:t>
              </a:r>
              <a:endParaRPr lang="en-US" altLang="zh-CN" sz="1500" b="1" baseline="30000" dirty="0">
                <a:solidFill>
                  <a:schemeClr val="bg1"/>
                </a:solidFill>
                <a:latin typeface="微软雅黑" panose="020B0503020204020204" charset="-122"/>
                <a:ea typeface="微软雅黑" panose="020B0503020204020204" charset="-122"/>
              </a:endParaRPr>
            </a:p>
          </p:txBody>
        </p:sp>
        <p:sp>
          <p:nvSpPr>
            <p:cNvPr id="107" name="矩形 106"/>
            <p:cNvSpPr/>
            <p:nvPr/>
          </p:nvSpPr>
          <p:spPr>
            <a:xfrm>
              <a:off x="6303502" y="3892873"/>
              <a:ext cx="508473" cy="246221"/>
            </a:xfrm>
            <a:prstGeom prst="rect">
              <a:avLst/>
            </a:prstGeom>
          </p:spPr>
          <p:txBody>
            <a:bodyPr wrap="none">
              <a:spAutoFit/>
            </a:bodyPr>
            <a:lstStyle/>
            <a:p>
              <a:pPr eaLnBrk="1" hangingPunct="1">
                <a:buNone/>
              </a:pPr>
              <a:r>
                <a:rPr lang="en-US" altLang="zh-CN" sz="1500" b="1" baseline="30000" dirty="0">
                  <a:solidFill>
                    <a:schemeClr val="bg1"/>
                  </a:solidFill>
                  <a:latin typeface="微软雅黑" panose="020B0503020204020204" charset="-122"/>
                  <a:ea typeface="微软雅黑" panose="020B0503020204020204" charset="-122"/>
                </a:rPr>
                <a:t>256K</a:t>
              </a:r>
              <a:endParaRPr lang="en-US" altLang="zh-CN" sz="1500" b="1" baseline="30000" dirty="0">
                <a:solidFill>
                  <a:schemeClr val="bg1"/>
                </a:solidFill>
                <a:latin typeface="微软雅黑" panose="020B0503020204020204" charset="-122"/>
                <a:ea typeface="微软雅黑" panose="020B0503020204020204" charset="-122"/>
              </a:endParaRPr>
            </a:p>
          </p:txBody>
        </p:sp>
        <p:sp>
          <p:nvSpPr>
            <p:cNvPr id="108" name="矩形 107"/>
            <p:cNvSpPr/>
            <p:nvPr/>
          </p:nvSpPr>
          <p:spPr>
            <a:xfrm>
              <a:off x="4857407" y="3891053"/>
              <a:ext cx="707245" cy="246221"/>
            </a:xfrm>
            <a:prstGeom prst="rect">
              <a:avLst/>
            </a:prstGeom>
          </p:spPr>
          <p:txBody>
            <a:bodyPr wrap="none">
              <a:spAutoFit/>
            </a:bodyPr>
            <a:lstStyle/>
            <a:p>
              <a:pPr eaLnBrk="1" hangingPunct="1">
                <a:buNone/>
              </a:pPr>
              <a:r>
                <a:rPr lang="en-US" altLang="zh-CN" sz="1500" b="1" baseline="30000" dirty="0">
                  <a:solidFill>
                    <a:schemeClr val="bg1"/>
                  </a:solidFill>
                  <a:latin typeface="微软雅黑" panose="020B0503020204020204" charset="-122"/>
                  <a:ea typeface="微软雅黑" panose="020B0503020204020204" charset="-122"/>
                </a:rPr>
                <a:t>D=256K</a:t>
              </a:r>
              <a:endParaRPr lang="en-US" altLang="zh-CN" sz="1500" b="1" baseline="30000" dirty="0">
                <a:solidFill>
                  <a:schemeClr val="bg1"/>
                </a:solidFill>
                <a:latin typeface="微软雅黑" panose="020B0503020204020204" charset="-122"/>
                <a:ea typeface="微软雅黑" panose="020B0503020204020204" charset="-122"/>
              </a:endParaRPr>
            </a:p>
          </p:txBody>
        </p:sp>
        <p:sp>
          <p:nvSpPr>
            <p:cNvPr id="109" name="矩形 108"/>
            <p:cNvSpPr/>
            <p:nvPr/>
          </p:nvSpPr>
          <p:spPr>
            <a:xfrm>
              <a:off x="1717822" y="3895917"/>
              <a:ext cx="702436" cy="246221"/>
            </a:xfrm>
            <a:prstGeom prst="rect">
              <a:avLst/>
            </a:prstGeom>
          </p:spPr>
          <p:txBody>
            <a:bodyPr wrap="none">
              <a:spAutoFit/>
            </a:bodyPr>
            <a:lstStyle/>
            <a:p>
              <a:pPr eaLnBrk="1" hangingPunct="1">
                <a:buNone/>
              </a:pPr>
              <a:r>
                <a:rPr lang="en-US" altLang="zh-CN" sz="1500" b="1" baseline="30000" dirty="0">
                  <a:solidFill>
                    <a:schemeClr val="bg1"/>
                  </a:solidFill>
                  <a:latin typeface="微软雅黑" panose="020B0503020204020204" charset="-122"/>
                  <a:ea typeface="微软雅黑" panose="020B0503020204020204" charset="-122"/>
                </a:rPr>
                <a:t>A=128K</a:t>
              </a:r>
              <a:endParaRPr lang="en-US" altLang="zh-CN" sz="1500" b="1" baseline="30000" dirty="0">
                <a:solidFill>
                  <a:schemeClr val="bg1"/>
                </a:solidFill>
                <a:latin typeface="微软雅黑" panose="020B0503020204020204" charset="-122"/>
                <a:ea typeface="微软雅黑" panose="020B0503020204020204" charset="-122"/>
              </a:endParaRPr>
            </a:p>
          </p:txBody>
        </p:sp>
        <p:cxnSp>
          <p:nvCxnSpPr>
            <p:cNvPr id="110" name="直接箭头连接符 109"/>
            <p:cNvCxnSpPr>
              <a:stCxn id="111" idx="2"/>
            </p:cNvCxnSpPr>
            <p:nvPr/>
          </p:nvCxnSpPr>
          <p:spPr>
            <a:xfrm>
              <a:off x="2149376" y="3090222"/>
              <a:ext cx="5569" cy="725944"/>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pic>
          <p:nvPicPr>
            <p:cNvPr id="111" name="图片 110" descr="7-2.png"/>
            <p:cNvPicPr>
              <a:picLocks noChangeAspect="1"/>
            </p:cNvPicPr>
            <p:nvPr/>
          </p:nvPicPr>
          <p:blipFill>
            <a:blip r:embed="rId13" cstate="print"/>
            <a:stretch>
              <a:fillRect/>
            </a:stretch>
          </p:blipFill>
          <p:spPr>
            <a:xfrm>
              <a:off x="1996975" y="2785421"/>
              <a:ext cx="304801" cy="304801"/>
            </a:xfrm>
            <a:prstGeom prst="rect">
              <a:avLst/>
            </a:prstGeom>
          </p:spPr>
        </p:pic>
      </p:grpSp>
      <p:grpSp>
        <p:nvGrpSpPr>
          <p:cNvPr id="6" name="组合 5"/>
          <p:cNvGrpSpPr/>
          <p:nvPr/>
        </p:nvGrpSpPr>
        <p:grpSpPr>
          <a:xfrm>
            <a:off x="2077845" y="4025664"/>
            <a:ext cx="2449192" cy="392852"/>
            <a:chOff x="553845" y="3168414"/>
            <a:chExt cx="2449192" cy="392852"/>
          </a:xfrm>
        </p:grpSpPr>
        <p:pic>
          <p:nvPicPr>
            <p:cNvPr id="13" name="图片 12" descr="小点1.png"/>
            <p:cNvPicPr>
              <a:picLocks noChangeAspect="1"/>
            </p:cNvPicPr>
            <p:nvPr/>
          </p:nvPicPr>
          <p:blipFill>
            <a:blip r:embed="rId1"/>
            <a:srcRect/>
            <a:stretch>
              <a:fillRect/>
            </a:stretch>
          </p:blipFill>
          <p:spPr bwMode="auto">
            <a:xfrm>
              <a:off x="553845" y="3264672"/>
              <a:ext cx="149225" cy="149225"/>
            </a:xfrm>
            <a:prstGeom prst="rect">
              <a:avLst/>
            </a:prstGeom>
            <a:noFill/>
            <a:ln w="9525">
              <a:noFill/>
              <a:miter lim="800000"/>
              <a:headEnd/>
              <a:tailEnd/>
            </a:ln>
          </p:spPr>
        </p:pic>
        <p:sp>
          <p:nvSpPr>
            <p:cNvPr id="112" name="Text Box 2"/>
            <p:cNvSpPr>
              <a:spLocks noChangeArrowheads="1"/>
            </p:cNvSpPr>
            <p:nvPr/>
          </p:nvSpPr>
          <p:spPr bwMode="auto">
            <a:xfrm>
              <a:off x="720087" y="3168414"/>
              <a:ext cx="2282950" cy="392852"/>
            </a:xfrm>
            <a:prstGeom prst="rect">
              <a:avLst/>
            </a:prstGeom>
            <a:noFill/>
            <a:ln>
              <a:noFill/>
            </a:ln>
          </p:spPr>
          <p:txBody>
            <a:bodyPr lIns="90360" tIns="44280" rIns="90360" bIns="44280"/>
            <a:lstStyle/>
            <a:p>
              <a:pPr>
                <a:spcBef>
                  <a:spcPts val="600"/>
                </a:spcBef>
                <a:buClr>
                  <a:srgbClr val="0066FF"/>
                </a:buClr>
                <a:buSzPct val="100000"/>
              </a:pPr>
              <a:r>
                <a:rPr lang="zh-CN" altLang="en-US" sz="1600" b="1" dirty="0">
                  <a:solidFill>
                    <a:schemeClr val="accent5">
                      <a:lumMod val="75000"/>
                    </a:schemeClr>
                  </a:solidFill>
                  <a:latin typeface="微软雅黑" panose="020B0503020204020204" charset="-122"/>
                  <a:ea typeface="微软雅黑" panose="020B0503020204020204" charset="-122"/>
                </a:rPr>
                <a:t>地址相邻</a:t>
              </a:r>
              <a:endParaRPr lang="zh-CN" altLang="en-US" sz="1600" b="1" dirty="0">
                <a:solidFill>
                  <a:schemeClr val="accent5">
                    <a:lumMod val="75000"/>
                  </a:schemeClr>
                </a:solidFill>
                <a:latin typeface="微软雅黑" panose="020B0503020204020204" charset="-122"/>
                <a:ea typeface="微软雅黑" panose="020B0503020204020204" charset="-122"/>
              </a:endParaRPr>
            </a:p>
          </p:txBody>
        </p:sp>
      </p:grpSp>
      <p:grpSp>
        <p:nvGrpSpPr>
          <p:cNvPr id="7" name="组合 6"/>
          <p:cNvGrpSpPr/>
          <p:nvPr/>
        </p:nvGrpSpPr>
        <p:grpSpPr>
          <a:xfrm>
            <a:off x="2077845" y="4377552"/>
            <a:ext cx="1970104" cy="1110447"/>
            <a:chOff x="553845" y="3520300"/>
            <a:chExt cx="1970104" cy="1110447"/>
          </a:xfrm>
        </p:grpSpPr>
        <p:pic>
          <p:nvPicPr>
            <p:cNvPr id="14" name="图片 13" descr="小点1.png"/>
            <p:cNvPicPr>
              <a:picLocks noChangeAspect="1"/>
            </p:cNvPicPr>
            <p:nvPr/>
          </p:nvPicPr>
          <p:blipFill>
            <a:blip r:embed="rId1"/>
            <a:srcRect/>
            <a:stretch>
              <a:fillRect/>
            </a:stretch>
          </p:blipFill>
          <p:spPr bwMode="auto">
            <a:xfrm>
              <a:off x="553845" y="3614126"/>
              <a:ext cx="149225" cy="149225"/>
            </a:xfrm>
            <a:prstGeom prst="rect">
              <a:avLst/>
            </a:prstGeom>
            <a:noFill/>
            <a:ln w="9525">
              <a:noFill/>
              <a:miter lim="800000"/>
              <a:headEnd/>
              <a:tailEnd/>
            </a:ln>
          </p:spPr>
        </p:pic>
        <p:sp>
          <p:nvSpPr>
            <p:cNvPr id="113" name="Text Box 2"/>
            <p:cNvSpPr>
              <a:spLocks noChangeArrowheads="1"/>
            </p:cNvSpPr>
            <p:nvPr/>
          </p:nvSpPr>
          <p:spPr bwMode="auto">
            <a:xfrm>
              <a:off x="699841" y="3520300"/>
              <a:ext cx="1824108" cy="1110447"/>
            </a:xfrm>
            <a:prstGeom prst="rect">
              <a:avLst/>
            </a:prstGeom>
            <a:noFill/>
            <a:ln>
              <a:noFill/>
            </a:ln>
          </p:spPr>
          <p:txBody>
            <a:bodyPr lIns="90360" tIns="44280" rIns="90360" bIns="44280"/>
            <a:lstStyle/>
            <a:p>
              <a:pPr>
                <a:spcBef>
                  <a:spcPts val="600"/>
                </a:spcBef>
                <a:buClr>
                  <a:srgbClr val="0066FF"/>
                </a:buClr>
                <a:buSzPct val="100000"/>
              </a:pPr>
              <a:r>
                <a:rPr lang="zh-CN" altLang="en-US" sz="1600" b="1" dirty="0">
                  <a:solidFill>
                    <a:schemeClr val="accent5">
                      <a:lumMod val="75000"/>
                    </a:schemeClr>
                  </a:solidFill>
                  <a:latin typeface="微软雅黑" panose="020B0503020204020204" charset="-122"/>
                  <a:ea typeface="微软雅黑" panose="020B0503020204020204" charset="-122"/>
                </a:rPr>
                <a:t>低地址空闲块起始地址的位数为</a:t>
              </a:r>
              <a:r>
                <a:rPr lang="en-US" altLang="zh-CN" sz="1600" b="1" dirty="0">
                  <a:solidFill>
                    <a:schemeClr val="accent5">
                      <a:lumMod val="75000"/>
                    </a:schemeClr>
                  </a:solidFill>
                  <a:latin typeface="微软雅黑" panose="020B0503020204020204" charset="-122"/>
                  <a:ea typeface="微软雅黑" panose="020B0503020204020204" charset="-122"/>
                </a:rPr>
                <a:t>2</a:t>
              </a:r>
              <a:r>
                <a:rPr lang="en-US" altLang="zh-CN" sz="1600" b="1" baseline="30000" dirty="0">
                  <a:solidFill>
                    <a:schemeClr val="accent5">
                      <a:lumMod val="75000"/>
                    </a:schemeClr>
                  </a:solidFill>
                  <a:latin typeface="微软雅黑" panose="020B0503020204020204" charset="-122"/>
                  <a:ea typeface="微软雅黑" panose="020B0503020204020204" charset="-122"/>
                </a:rPr>
                <a:t>i</a:t>
              </a:r>
              <a:r>
                <a:rPr lang="zh-CN" altLang="en-US" sz="1600" b="1" baseline="30000" dirty="0">
                  <a:solidFill>
                    <a:schemeClr val="accent5">
                      <a:lumMod val="75000"/>
                    </a:schemeClr>
                  </a:solidFill>
                  <a:latin typeface="微软雅黑" panose="020B0503020204020204" charset="-122"/>
                  <a:ea typeface="微软雅黑" panose="020B0503020204020204" charset="-122"/>
                </a:rPr>
                <a:t>＋</a:t>
              </a:r>
              <a:r>
                <a:rPr lang="en-US" altLang="zh-CN" sz="1600" b="1" baseline="30000" dirty="0">
                  <a:solidFill>
                    <a:schemeClr val="accent5">
                      <a:lumMod val="75000"/>
                    </a:schemeClr>
                  </a:solidFill>
                  <a:latin typeface="微软雅黑" panose="020B0503020204020204" charset="-122"/>
                  <a:ea typeface="微软雅黑" panose="020B0503020204020204" charset="-122"/>
                </a:rPr>
                <a:t>1</a:t>
              </a:r>
              <a:endParaRPr lang="zh-CN" altLang="en-US" sz="1600" b="1" dirty="0">
                <a:solidFill>
                  <a:schemeClr val="accent5">
                    <a:lumMod val="75000"/>
                  </a:schemeClr>
                </a:solidFill>
                <a:latin typeface="微软雅黑" panose="020B0503020204020204" charset="-122"/>
                <a:ea typeface="微软雅黑" panose="020B0503020204020204" charset="-122"/>
              </a:endParaRPr>
            </a:p>
          </p:txBody>
        </p:sp>
      </p:grpSp>
      <p:sp>
        <p:nvSpPr>
          <p:cNvPr id="64" name="Rectangle 6"/>
          <p:cNvSpPr>
            <a:spLocks noChangeArrowheads="1"/>
          </p:cNvSpPr>
          <p:nvPr/>
        </p:nvSpPr>
        <p:spPr bwMode="auto">
          <a:xfrm>
            <a:off x="1867694" y="5999243"/>
            <a:ext cx="8456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r>
              <a:rPr lang="zh-CN" altLang="en-US" sz="2400" b="1" dirty="0">
                <a:solidFill>
                  <a:srgbClr val="000099"/>
                </a:solidFill>
                <a:effectLst>
                  <a:outerShdw blurRad="38100" dist="38100" dir="2700000" algn="tl">
                    <a:srgbClr val="C0C0C0"/>
                  </a:outerShdw>
                </a:effectLst>
                <a:latin typeface="微软雅黑" panose="020B0503020204020204" charset="-122"/>
                <a:ea typeface="微软雅黑" panose="020B0503020204020204" charset="-122"/>
              </a:rPr>
              <a:t>分割及回收合并分区需要时间开销，多用于多处理机系统中。</a:t>
            </a:r>
            <a:endParaRPr lang="zh-CN" altLang="en-US" sz="2400" b="1" dirty="0">
              <a:solidFill>
                <a:srgbClr val="000099"/>
              </a:solidFill>
              <a:effectLst>
                <a:outerShdw blurRad="38100" dist="38100" dir="2700000" algn="tl">
                  <a:srgbClr val="C0C0C0"/>
                </a:outerShdw>
              </a:effectLst>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box(in)">
                                      <p:cBhvr>
                                        <p:cTn id="37"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64" grpId="0" bldLvl="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2931" y="0"/>
            <a:ext cx="5202767" cy="668780"/>
          </a:xfrm>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在伙伴系统中，一对空闲分区为伙伴是指（   ）</a:t>
            </a:r>
            <a:endParaRPr lang="en-US" altLang="zh-CN" dirty="0"/>
          </a:p>
          <a:p>
            <a:pPr lvl="1"/>
            <a:r>
              <a:rPr lang="en-US" altLang="zh-CN" dirty="0"/>
              <a:t>A)</a:t>
            </a:r>
            <a:r>
              <a:rPr lang="zh-CN" altLang="en-US" dirty="0"/>
              <a:t>两个大小均为</a:t>
            </a:r>
            <a:r>
              <a:rPr lang="en-US" altLang="zh-CN" dirty="0"/>
              <a:t>2</a:t>
            </a:r>
            <a:r>
              <a:rPr lang="en-US" altLang="zh-CN" baseline="30000" dirty="0"/>
              <a:t>k</a:t>
            </a:r>
            <a:r>
              <a:rPr lang="en-US" altLang="zh-CN" dirty="0"/>
              <a:t>B</a:t>
            </a:r>
            <a:r>
              <a:rPr lang="zh-CN" altLang="en-US" dirty="0"/>
              <a:t>的相邻空闲分区</a:t>
            </a:r>
            <a:endParaRPr lang="en-US" altLang="zh-CN" dirty="0"/>
          </a:p>
          <a:p>
            <a:pPr lvl="1"/>
            <a:r>
              <a:rPr lang="en-US" altLang="zh-CN" dirty="0"/>
              <a:t>B)</a:t>
            </a:r>
            <a:r>
              <a:rPr lang="zh-CN" altLang="en-US" dirty="0"/>
              <a:t>两个大小可以相等或者不等，但均是</a:t>
            </a:r>
            <a:r>
              <a:rPr lang="en-US" altLang="zh-CN" dirty="0"/>
              <a:t>2</a:t>
            </a:r>
            <a:r>
              <a:rPr lang="zh-CN" altLang="en-US" dirty="0"/>
              <a:t>的幂的相邻空闲分区</a:t>
            </a:r>
            <a:endParaRPr lang="en-US" altLang="zh-CN" dirty="0"/>
          </a:p>
          <a:p>
            <a:pPr lvl="1"/>
            <a:r>
              <a:rPr lang="en-US" altLang="zh-CN" dirty="0"/>
              <a:t>C)</a:t>
            </a:r>
            <a:r>
              <a:rPr lang="zh-CN" altLang="en-US" dirty="0"/>
              <a:t>两个大小均为</a:t>
            </a:r>
            <a:r>
              <a:rPr lang="en-US" altLang="zh-CN" dirty="0"/>
              <a:t>2</a:t>
            </a:r>
            <a:r>
              <a:rPr lang="en-US" altLang="zh-CN" baseline="30000" dirty="0"/>
              <a:t>k</a:t>
            </a:r>
            <a:r>
              <a:rPr lang="en-US" altLang="zh-CN" dirty="0"/>
              <a:t>B</a:t>
            </a:r>
            <a:r>
              <a:rPr lang="zh-CN" altLang="en-US" dirty="0"/>
              <a:t>的相邻空闲分区，且前一个分区的起始地址是</a:t>
            </a:r>
            <a:r>
              <a:rPr lang="en-US" altLang="zh-CN" dirty="0"/>
              <a:t>2</a:t>
            </a:r>
            <a:r>
              <a:rPr lang="en-US" altLang="zh-CN" baseline="30000" dirty="0"/>
              <a:t>k+1</a:t>
            </a:r>
            <a:r>
              <a:rPr lang="en-US" altLang="zh-CN" dirty="0"/>
              <a:t>B</a:t>
            </a:r>
            <a:r>
              <a:rPr lang="zh-CN" altLang="en-US" dirty="0"/>
              <a:t>的倍数</a:t>
            </a:r>
            <a:endParaRPr lang="en-US" altLang="zh-CN" dirty="0"/>
          </a:p>
          <a:p>
            <a:pPr lvl="1"/>
            <a:r>
              <a:rPr lang="en-US" altLang="zh-CN" dirty="0"/>
              <a:t>D)</a:t>
            </a:r>
            <a:r>
              <a:rPr lang="zh-CN" altLang="en-US" dirty="0"/>
              <a:t>两个大小均为</a:t>
            </a:r>
            <a:r>
              <a:rPr lang="en-US" altLang="zh-CN" dirty="0"/>
              <a:t>2</a:t>
            </a:r>
            <a:r>
              <a:rPr lang="en-US" altLang="zh-CN" baseline="30000" dirty="0"/>
              <a:t>k</a:t>
            </a:r>
            <a:r>
              <a:rPr lang="en-US" altLang="zh-CN" dirty="0"/>
              <a:t>B</a:t>
            </a:r>
            <a:r>
              <a:rPr lang="zh-CN" altLang="en-US" dirty="0"/>
              <a:t>的相邻空闲分区，且后一个分区的起始地址是</a:t>
            </a:r>
            <a:r>
              <a:rPr lang="en-US" altLang="zh-CN" dirty="0"/>
              <a:t>2 </a:t>
            </a:r>
            <a:r>
              <a:rPr lang="en-US" altLang="zh-CN" baseline="30000" dirty="0"/>
              <a:t>k+1</a:t>
            </a:r>
            <a:r>
              <a:rPr lang="en-US" altLang="zh-CN" dirty="0"/>
              <a:t>B</a:t>
            </a:r>
            <a:r>
              <a:rPr lang="zh-CN" altLang="en-US" dirty="0"/>
              <a:t>的倍数</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重定位存储管理方式在整个系统中设置一个重定位寄存器，当程序执行时，是由相对地址与重定位寄存器中的（  ）相加得到物理地址来访问内存。</a:t>
            </a:r>
            <a:endParaRPr lang="en-US" altLang="zh-CN" dirty="0"/>
          </a:p>
          <a:p>
            <a:pPr lvl="1"/>
            <a:r>
              <a:rPr lang="en-US" altLang="zh-CN" dirty="0"/>
              <a:t>A</a:t>
            </a:r>
            <a:r>
              <a:rPr lang="zh-CN" altLang="en-US" dirty="0"/>
              <a:t>）物理地址   </a:t>
            </a:r>
            <a:r>
              <a:rPr lang="en-US" altLang="zh-CN" dirty="0"/>
              <a:t>B</a:t>
            </a:r>
            <a:r>
              <a:rPr lang="zh-CN" altLang="en-US" dirty="0"/>
              <a:t>）有效地址   </a:t>
            </a:r>
            <a:r>
              <a:rPr lang="en-US" altLang="zh-CN" dirty="0"/>
              <a:t>C</a:t>
            </a:r>
            <a:r>
              <a:rPr lang="zh-CN" altLang="en-US" dirty="0"/>
              <a:t>）间接地址   </a:t>
            </a:r>
            <a:r>
              <a:rPr lang="en-US" altLang="zh-CN" dirty="0"/>
              <a:t>D</a:t>
            </a:r>
            <a:r>
              <a:rPr lang="zh-CN" altLang="en-US" dirty="0"/>
              <a:t>）起始地址</a:t>
            </a:r>
            <a:endParaRPr lang="en-US" altLang="zh-CN" dirty="0"/>
          </a:p>
          <a:p>
            <a:pPr lvl="1"/>
            <a:r>
              <a:rPr lang="zh-CN" altLang="en-US" dirty="0"/>
              <a:t>答案：</a:t>
            </a:r>
            <a:r>
              <a:rPr lang="en-US" altLang="zh-CN" dirty="0"/>
              <a:t>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对换空间管理的目标是（  ）</a:t>
            </a:r>
            <a:endParaRPr lang="en-US" altLang="zh-CN" dirty="0"/>
          </a:p>
          <a:p>
            <a:pPr lvl="1"/>
            <a:r>
              <a:rPr lang="en-US" altLang="zh-CN" dirty="0"/>
              <a:t>A </a:t>
            </a:r>
            <a:r>
              <a:rPr lang="zh-CN" altLang="en-US" dirty="0"/>
              <a:t>提高系统吞吐量    </a:t>
            </a:r>
            <a:r>
              <a:rPr lang="en-US" altLang="zh-CN" dirty="0"/>
              <a:t>B </a:t>
            </a:r>
            <a:r>
              <a:rPr lang="zh-CN" altLang="en-US" dirty="0"/>
              <a:t>提高空间利用率</a:t>
            </a:r>
            <a:endParaRPr lang="en-US" altLang="zh-CN" dirty="0"/>
          </a:p>
          <a:p>
            <a:pPr lvl="1"/>
            <a:r>
              <a:rPr lang="en-US" altLang="zh-CN" dirty="0"/>
              <a:t>C </a:t>
            </a:r>
            <a:r>
              <a:rPr lang="zh-CN" altLang="en-US" dirty="0"/>
              <a:t>提高换入换出速度      </a:t>
            </a:r>
            <a:r>
              <a:rPr lang="en-US" altLang="zh-CN" dirty="0"/>
              <a:t>D </a:t>
            </a:r>
            <a:r>
              <a:rPr lang="zh-CN" altLang="en-US" dirty="0"/>
              <a:t>降低存储费用</a:t>
            </a:r>
            <a:endParaRPr lang="en-US" altLang="zh-CN" dirty="0"/>
          </a:p>
          <a:p>
            <a:pPr lvl="1"/>
            <a:r>
              <a:rPr lang="zh-CN" altLang="en-US" dirty="0"/>
              <a:t>答案：</a:t>
            </a:r>
            <a:r>
              <a:rPr lang="en-US" altLang="zh-CN" dirty="0"/>
              <a:t>C</a:t>
            </a:r>
            <a:endParaRPr lang="en-US" altLang="zh-CN" dirty="0"/>
          </a:p>
          <a:p>
            <a:r>
              <a:rPr lang="zh-CN" altLang="en-US" dirty="0"/>
              <a:t>进程被换出时，（  ）将被换出到外存</a:t>
            </a:r>
            <a:endParaRPr lang="en-US" altLang="zh-CN" dirty="0"/>
          </a:p>
          <a:p>
            <a:pPr lvl="1"/>
            <a:r>
              <a:rPr lang="en-US" altLang="zh-CN" dirty="0"/>
              <a:t>A PCB</a:t>
            </a:r>
            <a:r>
              <a:rPr lang="zh-CN" altLang="en-US" dirty="0"/>
              <a:t>、代码段和数据段      </a:t>
            </a:r>
            <a:r>
              <a:rPr lang="en-US" altLang="zh-CN" dirty="0"/>
              <a:t>B </a:t>
            </a:r>
            <a:r>
              <a:rPr lang="zh-CN" altLang="en-US" dirty="0"/>
              <a:t>非共享的程序段和数据段</a:t>
            </a:r>
            <a:endParaRPr lang="en-US" altLang="zh-CN" dirty="0"/>
          </a:p>
          <a:p>
            <a:pPr lvl="1"/>
            <a:r>
              <a:rPr lang="en-US" altLang="zh-CN" dirty="0"/>
              <a:t>C  </a:t>
            </a:r>
            <a:r>
              <a:rPr lang="zh-CN" altLang="en-US" dirty="0"/>
              <a:t>代码段和数据段               </a:t>
            </a:r>
            <a:r>
              <a:rPr lang="en-US" altLang="zh-CN" dirty="0"/>
              <a:t>D PCB</a:t>
            </a:r>
            <a:r>
              <a:rPr lang="zh-CN" altLang="en-US" dirty="0"/>
              <a:t>、非共享程序段和数据段</a:t>
            </a:r>
            <a:endParaRPr lang="en-US" altLang="zh-CN" dirty="0"/>
          </a:p>
          <a:p>
            <a:pPr lvl="1"/>
            <a:r>
              <a:rPr lang="zh-CN" altLang="en-US" dirty="0"/>
              <a:t>答案：</a:t>
            </a:r>
            <a:r>
              <a:rPr lang="en-US" altLang="zh-CN" dirty="0"/>
              <a:t>B</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多选：（   ）存储管理方式仅存在内零头</a:t>
            </a:r>
            <a:endParaRPr lang="en-US" altLang="zh-CN" dirty="0"/>
          </a:p>
          <a:p>
            <a:pPr lvl="1"/>
            <a:r>
              <a:rPr lang="en-US" altLang="zh-CN" dirty="0"/>
              <a:t>A</a:t>
            </a:r>
            <a:r>
              <a:rPr lang="zh-CN" altLang="en-US" dirty="0"/>
              <a:t>）固定分区   </a:t>
            </a:r>
            <a:r>
              <a:rPr lang="en-US" altLang="zh-CN" dirty="0"/>
              <a:t>B</a:t>
            </a:r>
            <a:r>
              <a:rPr lang="zh-CN" altLang="en-US" dirty="0"/>
              <a:t>）动态分区    </a:t>
            </a:r>
            <a:r>
              <a:rPr lang="en-US" altLang="zh-CN" dirty="0"/>
              <a:t>C</a:t>
            </a:r>
            <a:r>
              <a:rPr lang="zh-CN" altLang="en-US" dirty="0"/>
              <a:t>）分页       </a:t>
            </a:r>
            <a:r>
              <a:rPr lang="en-US" altLang="zh-CN" dirty="0"/>
              <a:t>D)</a:t>
            </a:r>
            <a:r>
              <a:rPr lang="zh-CN" altLang="en-US" dirty="0"/>
              <a:t>分段</a:t>
            </a:r>
            <a:endParaRPr lang="en-US" altLang="zh-CN" dirty="0"/>
          </a:p>
          <a:p>
            <a:pPr lvl="1"/>
            <a:r>
              <a:rPr lang="zh-CN" altLang="en-US" dirty="0"/>
              <a:t>答案： </a:t>
            </a:r>
            <a:r>
              <a:rPr lang="en-US" altLang="zh-CN" dirty="0"/>
              <a:t>A C</a:t>
            </a:r>
            <a:endParaRPr lang="en-US" altLang="zh-CN" dirty="0"/>
          </a:p>
          <a:p>
            <a:r>
              <a:rPr lang="zh-CN" altLang="en-US" dirty="0"/>
              <a:t>引入分页存储管理方式的动因是</a:t>
            </a:r>
            <a:r>
              <a:rPr lang="zh-CN" altLang="en-US" dirty="0">
                <a:sym typeface="Wingdings" panose="05000000000000000000" pitchFamily="2" charset="2"/>
              </a:rPr>
              <a:t>（   ）</a:t>
            </a:r>
            <a:endParaRPr lang="en-US" altLang="zh-CN" dirty="0">
              <a:sym typeface="Wingdings" panose="05000000000000000000" pitchFamily="2" charset="2"/>
            </a:endParaRPr>
          </a:p>
          <a:p>
            <a:pPr lvl="1"/>
            <a:r>
              <a:rPr lang="en-US" altLang="zh-CN" dirty="0">
                <a:sym typeface="Wingdings" panose="05000000000000000000" pitchFamily="2" charset="2"/>
              </a:rPr>
              <a:t>A </a:t>
            </a:r>
            <a:r>
              <a:rPr lang="zh-CN" altLang="en-US" dirty="0">
                <a:sym typeface="Wingdings" panose="05000000000000000000" pitchFamily="2" charset="2"/>
              </a:rPr>
              <a:t>提升空间利用率    </a:t>
            </a:r>
            <a:r>
              <a:rPr lang="en-US" altLang="zh-CN" dirty="0">
                <a:sym typeface="Wingdings" panose="05000000000000000000" pitchFamily="2" charset="2"/>
              </a:rPr>
              <a:t>B</a:t>
            </a:r>
            <a:r>
              <a:rPr lang="zh-CN" altLang="en-US" dirty="0">
                <a:sym typeface="Wingdings" panose="05000000000000000000" pitchFamily="2" charset="2"/>
              </a:rPr>
              <a:t>方便用户编程    </a:t>
            </a:r>
            <a:endParaRPr lang="en-US" altLang="zh-CN" dirty="0">
              <a:sym typeface="Wingdings" panose="05000000000000000000" pitchFamily="2" charset="2"/>
            </a:endParaRPr>
          </a:p>
          <a:p>
            <a:pPr lvl="1"/>
            <a:r>
              <a:rPr lang="en-US" altLang="zh-CN" dirty="0">
                <a:sym typeface="Wingdings" panose="05000000000000000000" pitchFamily="2" charset="2"/>
              </a:rPr>
              <a:t>C </a:t>
            </a:r>
            <a:r>
              <a:rPr lang="zh-CN" altLang="en-US" dirty="0">
                <a:sym typeface="Wingdings" panose="05000000000000000000" pitchFamily="2" charset="2"/>
              </a:rPr>
              <a:t>扩充存储空间        </a:t>
            </a:r>
            <a:r>
              <a:rPr lang="en-US" altLang="zh-CN" dirty="0">
                <a:sym typeface="Wingdings" panose="05000000000000000000" pitchFamily="2" charset="2"/>
              </a:rPr>
              <a:t>D </a:t>
            </a:r>
            <a:r>
              <a:rPr lang="zh-CN" altLang="en-US" dirty="0">
                <a:sym typeface="Wingdings" panose="05000000000000000000" pitchFamily="2" charset="2"/>
              </a:rPr>
              <a:t>提升访问速度</a:t>
            </a:r>
            <a:endParaRPr lang="en-US" altLang="zh-CN" dirty="0">
              <a:sym typeface="Wingdings" panose="05000000000000000000" pitchFamily="2" charset="2"/>
            </a:endParaRPr>
          </a:p>
          <a:p>
            <a:pPr lvl="1"/>
            <a:r>
              <a:rPr lang="zh-CN" altLang="en-US" dirty="0">
                <a:sym typeface="Wingdings" panose="05000000000000000000" pitchFamily="2" charset="2"/>
              </a:rPr>
              <a:t>答案：</a:t>
            </a:r>
            <a:r>
              <a:rPr lang="en-US" altLang="zh-CN" dirty="0">
                <a:sym typeface="Wingdings" panose="05000000000000000000" pitchFamily="2" charset="2"/>
              </a:rPr>
              <a:t>A</a:t>
            </a:r>
            <a:endParaRPr lang="en-US" altLang="zh-CN" dirty="0">
              <a:sym typeface="Wingdings" panose="05000000000000000000" pitchFamily="2" charset="2"/>
            </a:endParaRPr>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35"/>
          <p:cNvSpPr>
            <a:spLocks noChangeArrowheads="1"/>
          </p:cNvSpPr>
          <p:nvPr/>
        </p:nvSpPr>
        <p:spPr bwMode="auto">
          <a:xfrm>
            <a:off x="2952750" y="2773364"/>
            <a:ext cx="6427788"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273" tIns="43636" rIns="87273" bIns="43636">
            <a:spAutoFit/>
          </a:bodyPr>
          <a:lstStyle>
            <a:lvl1pPr defTabSz="873125">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defTabSz="873125">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defTabSz="873125">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r>
              <a:rPr lang="en-US" altLang="zh-CN" sz="2800" b="1">
                <a:solidFill>
                  <a:srgbClr val="000000"/>
                </a:solidFill>
              </a:rPr>
              <a:t>(357101)</a:t>
            </a:r>
            <a:r>
              <a:rPr lang="en-US" altLang="zh-CN" sz="2800" b="1" baseline="-25000">
                <a:solidFill>
                  <a:srgbClr val="000000"/>
                </a:solidFill>
              </a:rPr>
              <a:t>8</a:t>
            </a:r>
            <a:r>
              <a:rPr lang="zh-CN" altLang="en-US" sz="2800" b="1">
                <a:solidFill>
                  <a:srgbClr val="000000"/>
                </a:solidFill>
              </a:rPr>
              <a:t>＝</a:t>
            </a:r>
            <a:r>
              <a:rPr lang="en-US" altLang="zh-CN" sz="2800" b="1">
                <a:solidFill>
                  <a:srgbClr val="000000"/>
                </a:solidFill>
              </a:rPr>
              <a:t>(011,101,111,001,000,001)</a:t>
            </a:r>
            <a:r>
              <a:rPr lang="en-US" altLang="zh-CN" sz="2800" b="1" baseline="-25000">
                <a:solidFill>
                  <a:srgbClr val="000000"/>
                </a:solidFill>
              </a:rPr>
              <a:t>2</a:t>
            </a:r>
            <a:endParaRPr lang="en-US" altLang="zh-CN" sz="2800" b="1" baseline="-25000">
              <a:solidFill>
                <a:srgbClr val="000000"/>
              </a:solidFill>
            </a:endParaRPr>
          </a:p>
          <a:p>
            <a:pPr>
              <a:spcBef>
                <a:spcPct val="0"/>
              </a:spcBef>
              <a:buClrTx/>
              <a:buNone/>
              <a:defRPr/>
            </a:pPr>
            <a:r>
              <a:rPr lang="en-US" altLang="zh-CN" sz="2800" b="1" baseline="-25000">
                <a:solidFill>
                  <a:srgbClr val="000000"/>
                </a:solidFill>
              </a:rPr>
              <a:t>                        </a:t>
            </a:r>
            <a:endParaRPr lang="en-US" altLang="zh-CN" sz="2800" b="1" baseline="-25000">
              <a:solidFill>
                <a:srgbClr val="000000"/>
              </a:solidFill>
            </a:endParaRPr>
          </a:p>
          <a:p>
            <a:pPr>
              <a:spcBef>
                <a:spcPct val="0"/>
              </a:spcBef>
              <a:buClrTx/>
              <a:buNone/>
              <a:defRPr/>
            </a:pPr>
            <a:r>
              <a:rPr lang="en-US" altLang="zh-CN" sz="2800" b="1" baseline="-25000">
                <a:solidFill>
                  <a:srgbClr val="000000"/>
                </a:solidFill>
              </a:rPr>
              <a:t>                         </a:t>
            </a:r>
            <a:r>
              <a:rPr lang="zh-CN" altLang="en-US" sz="2800" b="1">
                <a:solidFill>
                  <a:srgbClr val="000000"/>
                </a:solidFill>
              </a:rPr>
              <a:t>＝</a:t>
            </a:r>
            <a:r>
              <a:rPr lang="en-US" altLang="zh-CN" sz="2800" b="1">
                <a:solidFill>
                  <a:srgbClr val="000000"/>
                </a:solidFill>
              </a:rPr>
              <a:t>(01,110,1111,001,000,001)</a:t>
            </a:r>
            <a:r>
              <a:rPr lang="en-US" altLang="zh-CN" sz="2800" b="1" baseline="-25000">
                <a:solidFill>
                  <a:srgbClr val="000000"/>
                </a:solidFill>
              </a:rPr>
              <a:t>2</a:t>
            </a:r>
            <a:endParaRPr lang="en-US" altLang="zh-CN" sz="2800" b="1" baseline="-25000">
              <a:solidFill>
                <a:srgbClr val="000000"/>
              </a:solidFill>
            </a:endParaRPr>
          </a:p>
        </p:txBody>
      </p:sp>
      <p:sp>
        <p:nvSpPr>
          <p:cNvPr id="186371" name="Text Box 21"/>
          <p:cNvSpPr txBox="1">
            <a:spLocks noChangeArrowheads="1"/>
          </p:cNvSpPr>
          <p:nvPr/>
        </p:nvSpPr>
        <p:spPr bwMode="auto">
          <a:xfrm>
            <a:off x="2362201" y="939801"/>
            <a:ext cx="7174961" cy="51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273" tIns="43636" rIns="87273" bIns="43636">
            <a:spAutoFit/>
          </a:bodyPr>
          <a:lstStyle>
            <a:lvl1pPr defTabSz="873125">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defTabSz="873125">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defTabSz="873125">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r>
              <a:rPr lang="zh-CN" altLang="en-US" sz="2800" b="1" dirty="0">
                <a:solidFill>
                  <a:srgbClr val="FF0000"/>
                </a:solidFill>
                <a:latin typeface="微软雅黑" panose="020B0503020204020204" charset="-122"/>
                <a:ea typeface="微软雅黑" panose="020B0503020204020204" charset="-122"/>
              </a:rPr>
              <a:t>例：</a:t>
            </a:r>
            <a:r>
              <a:rPr lang="zh-CN" altLang="en-US" sz="2800" b="1" dirty="0">
                <a:solidFill>
                  <a:srgbClr val="000000"/>
                </a:solidFill>
                <a:latin typeface="微软雅黑" panose="020B0503020204020204" charset="-122"/>
                <a:ea typeface="微软雅黑" panose="020B0503020204020204" charset="-122"/>
              </a:rPr>
              <a:t>设虚地址为</a:t>
            </a:r>
            <a:r>
              <a:rPr lang="en-US" altLang="zh-CN" sz="2800" b="1" dirty="0">
                <a:solidFill>
                  <a:srgbClr val="000000"/>
                </a:solidFill>
                <a:latin typeface="微软雅黑" panose="020B0503020204020204" charset="-122"/>
                <a:ea typeface="微软雅黑" panose="020B0503020204020204" charset="-122"/>
              </a:rPr>
              <a:t>(357101)</a:t>
            </a:r>
            <a:r>
              <a:rPr lang="en-US" altLang="zh-CN" sz="2800" b="1" baseline="-25000" dirty="0">
                <a:solidFill>
                  <a:srgbClr val="000000"/>
                </a:solidFill>
                <a:latin typeface="微软雅黑" panose="020B0503020204020204" charset="-122"/>
                <a:ea typeface="微软雅黑" panose="020B0503020204020204" charset="-122"/>
              </a:rPr>
              <a:t>8</a:t>
            </a:r>
            <a:r>
              <a:rPr lang="en-US" altLang="zh-CN" sz="2800" b="1" dirty="0">
                <a:solidFill>
                  <a:srgbClr val="000000"/>
                </a:solidFill>
                <a:latin typeface="微软雅黑" panose="020B0503020204020204" charset="-122"/>
                <a:ea typeface="微软雅黑" panose="020B0503020204020204" charset="-122"/>
              </a:rPr>
              <a:t> </a:t>
            </a:r>
            <a:r>
              <a:rPr lang="zh-CN" altLang="en-US" sz="2800" b="1" dirty="0">
                <a:solidFill>
                  <a:srgbClr val="000000"/>
                </a:solidFill>
                <a:latin typeface="微软雅黑" panose="020B0503020204020204" charset="-122"/>
                <a:ea typeface="微软雅黑" panose="020B0503020204020204" charset="-122"/>
              </a:rPr>
              <a:t>每一块为</a:t>
            </a:r>
            <a:r>
              <a:rPr lang="en-US" altLang="zh-CN" sz="2800" b="1" dirty="0">
                <a:solidFill>
                  <a:srgbClr val="000000"/>
                </a:solidFill>
                <a:latin typeface="微软雅黑" panose="020B0503020204020204" charset="-122"/>
                <a:ea typeface="微软雅黑" panose="020B0503020204020204" charset="-122"/>
              </a:rPr>
              <a:t>1K</a:t>
            </a:r>
            <a:r>
              <a:rPr lang="zh-CN" altLang="en-US" sz="2800" b="1" dirty="0">
                <a:solidFill>
                  <a:srgbClr val="000000"/>
                </a:solidFill>
                <a:latin typeface="微软雅黑" panose="020B0503020204020204" charset="-122"/>
                <a:ea typeface="微软雅黑" panose="020B0503020204020204" charset="-122"/>
              </a:rPr>
              <a:t>字节</a:t>
            </a:r>
            <a:endParaRPr lang="zh-CN" altLang="en-US" sz="2800" b="1" dirty="0">
              <a:solidFill>
                <a:srgbClr val="000000"/>
              </a:solidFill>
              <a:latin typeface="微软雅黑" panose="020B0503020204020204" charset="-122"/>
              <a:ea typeface="微软雅黑" panose="020B0503020204020204" charset="-122"/>
            </a:endParaRPr>
          </a:p>
        </p:txBody>
      </p:sp>
      <p:sp>
        <p:nvSpPr>
          <p:cNvPr id="118788" name="Text Box 22"/>
          <p:cNvSpPr txBox="1">
            <a:spLocks noChangeArrowheads="1"/>
          </p:cNvSpPr>
          <p:nvPr/>
        </p:nvSpPr>
        <p:spPr bwMode="auto">
          <a:xfrm>
            <a:off x="3733800" y="1905001"/>
            <a:ext cx="4308792" cy="51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273" tIns="43636" rIns="87273" bIns="43636">
            <a:spAutoFit/>
          </a:bodyPr>
          <a:lstStyle>
            <a:lvl1pPr defTabSz="873125">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defTabSz="873125">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defTabSz="873125">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r>
              <a:rPr lang="zh-CN" altLang="en-US" sz="2800" b="1" dirty="0">
                <a:solidFill>
                  <a:srgbClr val="000000"/>
                </a:solidFill>
                <a:latin typeface="微软雅黑" panose="020B0503020204020204" charset="-122"/>
                <a:ea typeface="微软雅黑" panose="020B0503020204020204" charset="-122"/>
              </a:rPr>
              <a:t>块（页）的大小：</a:t>
            </a:r>
            <a:r>
              <a:rPr lang="en-US" altLang="zh-CN" sz="2800" b="1" dirty="0">
                <a:solidFill>
                  <a:srgbClr val="000000"/>
                </a:solidFill>
                <a:latin typeface="微软雅黑" panose="020B0503020204020204" charset="-122"/>
                <a:ea typeface="微软雅黑" panose="020B0503020204020204" charset="-122"/>
              </a:rPr>
              <a:t>1K=2</a:t>
            </a:r>
            <a:r>
              <a:rPr lang="en-US" altLang="zh-CN" sz="2800" b="1" baseline="30000" dirty="0">
                <a:solidFill>
                  <a:srgbClr val="000000"/>
                </a:solidFill>
                <a:latin typeface="微软雅黑" panose="020B0503020204020204" charset="-122"/>
                <a:ea typeface="微软雅黑" panose="020B0503020204020204" charset="-122"/>
              </a:rPr>
              <a:t>10</a:t>
            </a:r>
            <a:endParaRPr lang="en-US" altLang="zh-CN" sz="2800" b="1" baseline="30000" dirty="0">
              <a:solidFill>
                <a:srgbClr val="000000"/>
              </a:solidFill>
              <a:latin typeface="微软雅黑" panose="020B0503020204020204" charset="-122"/>
              <a:ea typeface="微软雅黑" panose="020B0503020204020204" charset="-122"/>
            </a:endParaRPr>
          </a:p>
        </p:txBody>
      </p:sp>
      <p:sp>
        <p:nvSpPr>
          <p:cNvPr id="118789" name="Line 24"/>
          <p:cNvSpPr>
            <a:spLocks noChangeShapeType="1"/>
          </p:cNvSpPr>
          <p:nvPr/>
        </p:nvSpPr>
        <p:spPr bwMode="auto">
          <a:xfrm>
            <a:off x="6507480" y="2514600"/>
            <a:ext cx="0" cy="1905000"/>
          </a:xfrm>
          <a:prstGeom prst="line">
            <a:avLst/>
          </a:prstGeom>
          <a:noFill/>
          <a:ln w="28575">
            <a:solidFill>
              <a:srgbClr val="FF0000"/>
            </a:solidFill>
            <a:prstDash val="dash"/>
            <a:round/>
          </a:ln>
          <a:extLst>
            <a:ext uri="{909E8E84-426E-40DD-AFC4-6F175D3DCCD1}">
              <a14:hiddenFill xmlns:a14="http://schemas.microsoft.com/office/drawing/2010/main">
                <a:noFill/>
              </a14:hiddenFill>
            </a:ext>
          </a:extLst>
        </p:spPr>
        <p:txBody>
          <a:bodyPr wrap="none" anchor="ctr"/>
          <a:lstStyle/>
          <a:p>
            <a:pPr>
              <a:defRPr/>
            </a:pPr>
            <a:endParaRPr lang="zh-CN" altLang="en-US">
              <a:solidFill>
                <a:prstClr val="black"/>
              </a:solidFill>
              <a:latin typeface="Arial" panose="020B0604020202020204"/>
              <a:ea typeface="黑体" panose="02010609060101010101" pitchFamily="2" charset="-122"/>
            </a:endParaRPr>
          </a:p>
        </p:txBody>
      </p:sp>
      <p:sp>
        <p:nvSpPr>
          <p:cNvPr id="118790" name="Text Box 32"/>
          <p:cNvSpPr txBox="1">
            <a:spLocks noChangeArrowheads="1"/>
          </p:cNvSpPr>
          <p:nvPr/>
        </p:nvSpPr>
        <p:spPr bwMode="auto">
          <a:xfrm>
            <a:off x="4978400" y="3962401"/>
            <a:ext cx="3318136" cy="51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273" tIns="43636" rIns="87273" bIns="43636">
            <a:spAutoFit/>
          </a:bodyPr>
          <a:lstStyle>
            <a:lvl1pPr defTabSz="600075">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defTabSz="600075">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defTabSz="600075">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600075">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600075">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60007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60007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60007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60007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r>
              <a:rPr lang="en-US" altLang="zh-CN" sz="2800" b="1" dirty="0">
                <a:solidFill>
                  <a:srgbClr val="000000"/>
                </a:solidFill>
              </a:rPr>
              <a:t>1    6     7  1   1   0    1</a:t>
            </a:r>
            <a:endParaRPr lang="en-US" altLang="zh-CN" sz="2800" b="1" dirty="0">
              <a:solidFill>
                <a:srgbClr val="000000"/>
              </a:solidFill>
            </a:endParaRPr>
          </a:p>
        </p:txBody>
      </p:sp>
      <p:sp>
        <p:nvSpPr>
          <p:cNvPr id="118791" name="Text Box 33"/>
          <p:cNvSpPr txBox="1">
            <a:spLocks noChangeArrowheads="1"/>
          </p:cNvSpPr>
          <p:nvPr/>
        </p:nvSpPr>
        <p:spPr bwMode="auto">
          <a:xfrm>
            <a:off x="3149600" y="4713087"/>
            <a:ext cx="6527800" cy="51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273" tIns="43636" rIns="87273" bIns="43636">
            <a:spAutoFit/>
          </a:bodyPr>
          <a:lstStyle>
            <a:lvl1pPr defTabSz="873125">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defTabSz="873125">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defTabSz="873125">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r>
              <a:rPr lang="zh-CN" altLang="en-US" sz="2800" b="1" dirty="0">
                <a:solidFill>
                  <a:srgbClr val="000000"/>
                </a:solidFill>
              </a:rPr>
              <a:t>位移量为</a:t>
            </a:r>
            <a:r>
              <a:rPr lang="en-US" altLang="zh-CN" sz="2800" b="1" dirty="0">
                <a:solidFill>
                  <a:srgbClr val="000000"/>
                </a:solidFill>
              </a:rPr>
              <a:t>(1101)</a:t>
            </a:r>
            <a:r>
              <a:rPr lang="en-US" altLang="zh-CN" sz="2800" b="1" baseline="-25000" dirty="0">
                <a:solidFill>
                  <a:srgbClr val="000000"/>
                </a:solidFill>
              </a:rPr>
              <a:t>8</a:t>
            </a:r>
            <a:r>
              <a:rPr lang="en-US" altLang="zh-CN" sz="2800" b="1" dirty="0">
                <a:solidFill>
                  <a:srgbClr val="000000"/>
                </a:solidFill>
              </a:rPr>
              <a:t>,          </a:t>
            </a:r>
            <a:r>
              <a:rPr lang="zh-CN" altLang="en-US" sz="2800" b="1" dirty="0">
                <a:solidFill>
                  <a:srgbClr val="000000"/>
                </a:solidFill>
              </a:rPr>
              <a:t>页号为</a:t>
            </a:r>
            <a:r>
              <a:rPr lang="en-US" altLang="zh-CN" sz="2800" b="1" dirty="0">
                <a:solidFill>
                  <a:srgbClr val="000000"/>
                </a:solidFill>
              </a:rPr>
              <a:t>(167)</a:t>
            </a:r>
            <a:r>
              <a:rPr lang="en-US" altLang="zh-CN" sz="2800" b="1" baseline="-25000" dirty="0">
                <a:solidFill>
                  <a:srgbClr val="000000"/>
                </a:solidFill>
              </a:rPr>
              <a:t>8</a:t>
            </a:r>
            <a:endParaRPr lang="en-US" altLang="zh-CN" sz="2800" b="1" dirty="0">
              <a:solidFill>
                <a:srgbClr val="000000"/>
              </a:solidFill>
            </a:endParaRPr>
          </a:p>
        </p:txBody>
      </p:sp>
      <p:sp>
        <p:nvSpPr>
          <p:cNvPr id="118792" name="Text Box 34"/>
          <p:cNvSpPr txBox="1">
            <a:spLocks noChangeArrowheads="1"/>
          </p:cNvSpPr>
          <p:nvPr/>
        </p:nvSpPr>
        <p:spPr bwMode="auto">
          <a:xfrm>
            <a:off x="2590801" y="5643721"/>
            <a:ext cx="6942455" cy="94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87273" tIns="43636" rIns="87273" bIns="43636">
            <a:spAutoFit/>
          </a:bodyPr>
          <a:lstStyle>
            <a:lvl1pPr defTabSz="873125">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defTabSz="873125">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defTabSz="873125">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873125">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873125"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r>
              <a:rPr lang="zh-CN" altLang="en-US" sz="2800" b="1" dirty="0">
                <a:solidFill>
                  <a:srgbClr val="000000"/>
                </a:solidFill>
                <a:latin typeface="微软雅黑" panose="020B0503020204020204" charset="-122"/>
                <a:ea typeface="微软雅黑" panose="020B0503020204020204" charset="-122"/>
              </a:rPr>
              <a:t>块号由页表指定，位移量在变换过程中不变</a:t>
            </a:r>
            <a:endParaRPr lang="zh-CN" altLang="en-US" sz="2800" b="1" dirty="0">
              <a:solidFill>
                <a:srgbClr val="000000"/>
              </a:solidFill>
              <a:latin typeface="微软雅黑" panose="020B0503020204020204" charset="-122"/>
              <a:ea typeface="微软雅黑" panose="020B0503020204020204" charset="-122"/>
            </a:endParaRPr>
          </a:p>
          <a:p>
            <a:pPr>
              <a:spcBef>
                <a:spcPct val="0"/>
              </a:spcBef>
              <a:buClrTx/>
              <a:buNone/>
              <a:defRPr/>
            </a:pPr>
            <a:r>
              <a:rPr lang="zh-CN" altLang="en-US" sz="2800" b="1" dirty="0">
                <a:solidFill>
                  <a:srgbClr val="000000"/>
                </a:solidFill>
                <a:latin typeface="微软雅黑" panose="020B0503020204020204" charset="-122"/>
                <a:ea typeface="微软雅黑" panose="020B0503020204020204" charset="-122"/>
              </a:rPr>
              <a:t>（考试可能考类似的）</a:t>
            </a:r>
            <a:endParaRPr lang="zh-CN" altLang="en-US" sz="2800" b="1" dirty="0">
              <a:solidFill>
                <a:srgbClr val="000000"/>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8788"/>
                                        </p:tgtEl>
                                        <p:attrNameLst>
                                          <p:attrName>style.visibility</p:attrName>
                                        </p:attrNameLst>
                                      </p:cBhvr>
                                      <p:to>
                                        <p:strVal val="visible"/>
                                      </p:to>
                                    </p:set>
                                    <p:animEffect transition="in" filter="fade">
                                      <p:cBhvr>
                                        <p:cTn id="7" dur="500"/>
                                        <p:tgtEl>
                                          <p:spTgt spid="11878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8786"/>
                                        </p:tgtEl>
                                        <p:attrNameLst>
                                          <p:attrName>style.visibility</p:attrName>
                                        </p:attrNameLst>
                                      </p:cBhvr>
                                      <p:to>
                                        <p:strVal val="visible"/>
                                      </p:to>
                                    </p:set>
                                    <p:animEffect transition="in" filter="fade">
                                      <p:cBhvr>
                                        <p:cTn id="12" dur="500"/>
                                        <p:tgtEl>
                                          <p:spTgt spid="11878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8790"/>
                                        </p:tgtEl>
                                        <p:attrNameLst>
                                          <p:attrName>style.visibility</p:attrName>
                                        </p:attrNameLst>
                                      </p:cBhvr>
                                      <p:to>
                                        <p:strVal val="visible"/>
                                      </p:to>
                                    </p:set>
                                    <p:animEffect transition="in" filter="fade">
                                      <p:cBhvr>
                                        <p:cTn id="15" dur="500"/>
                                        <p:tgtEl>
                                          <p:spTgt spid="118790"/>
                                        </p:tgtEl>
                                      </p:cBhvr>
                                    </p:animEffect>
                                  </p:childTnLst>
                                </p:cTn>
                              </p:par>
                              <p:par>
                                <p:cTn id="16" presetID="10" presetClass="entr" presetSubtype="0" fill="hold" nodeType="withEffect">
                                  <p:stCondLst>
                                    <p:cond delay="0"/>
                                  </p:stCondLst>
                                  <p:childTnLst>
                                    <p:set>
                                      <p:cBhvr>
                                        <p:cTn id="17" dur="1" fill="hold">
                                          <p:stCondLst>
                                            <p:cond delay="0"/>
                                          </p:stCondLst>
                                        </p:cTn>
                                        <p:tgtEl>
                                          <p:spTgt spid="118789"/>
                                        </p:tgtEl>
                                        <p:attrNameLst>
                                          <p:attrName>style.visibility</p:attrName>
                                        </p:attrNameLst>
                                      </p:cBhvr>
                                      <p:to>
                                        <p:strVal val="visible"/>
                                      </p:to>
                                    </p:set>
                                    <p:animEffect transition="in" filter="fade">
                                      <p:cBhvr>
                                        <p:cTn id="18" dur="500"/>
                                        <p:tgtEl>
                                          <p:spTgt spid="11878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8791"/>
                                        </p:tgtEl>
                                        <p:attrNameLst>
                                          <p:attrName>style.visibility</p:attrName>
                                        </p:attrNameLst>
                                      </p:cBhvr>
                                      <p:to>
                                        <p:strVal val="visible"/>
                                      </p:to>
                                    </p:set>
                                    <p:animEffect transition="in" filter="fade">
                                      <p:cBhvr>
                                        <p:cTn id="23" dur="500"/>
                                        <p:tgtEl>
                                          <p:spTgt spid="11879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8792"/>
                                        </p:tgtEl>
                                        <p:attrNameLst>
                                          <p:attrName>style.visibility</p:attrName>
                                        </p:attrNameLst>
                                      </p:cBhvr>
                                      <p:to>
                                        <p:strVal val="visible"/>
                                      </p:to>
                                    </p:set>
                                    <p:animEffect transition="in" filter="fade">
                                      <p:cBhvr>
                                        <p:cTn id="28" dur="500"/>
                                        <p:tgtEl>
                                          <p:spTgt spid="118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p:bldP spid="118788" grpId="0"/>
      <p:bldP spid="118790" grpId="0"/>
      <p:bldP spid="118791" grpId="0"/>
      <p:bldP spid="118792"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某系统采用页式存储管理，拥有逻辑空间</a:t>
            </a:r>
            <a:r>
              <a:rPr lang="en-US" altLang="zh-CN" dirty="0"/>
              <a:t>32</a:t>
            </a:r>
            <a:r>
              <a:rPr lang="zh-CN" altLang="en-US" dirty="0"/>
              <a:t>页，每页</a:t>
            </a:r>
            <a:r>
              <a:rPr lang="en-US" altLang="zh-CN" dirty="0"/>
              <a:t>2KB</a:t>
            </a:r>
            <a:r>
              <a:rPr lang="zh-CN" altLang="en-US" dirty="0"/>
              <a:t>，拥有物理空间</a:t>
            </a:r>
            <a:r>
              <a:rPr lang="en-US" altLang="zh-CN" dirty="0"/>
              <a:t>1MB</a:t>
            </a:r>
            <a:r>
              <a:rPr lang="zh-CN" altLang="en-US" dirty="0"/>
              <a:t>。</a:t>
            </a:r>
            <a:endParaRPr lang="en-US" altLang="zh-CN" dirty="0"/>
          </a:p>
          <a:p>
            <a:pPr lvl="1"/>
            <a:r>
              <a:rPr lang="zh-CN" altLang="en-US" dirty="0"/>
              <a:t>写出逻辑地址的格式  页号</a:t>
            </a:r>
            <a:r>
              <a:rPr lang="en-US" altLang="zh-CN" dirty="0"/>
              <a:t>5</a:t>
            </a:r>
            <a:r>
              <a:rPr lang="zh-CN" altLang="en-US" dirty="0"/>
              <a:t>位 页内地址</a:t>
            </a:r>
            <a:r>
              <a:rPr lang="en-US" altLang="zh-CN" dirty="0"/>
              <a:t>11</a:t>
            </a:r>
            <a:r>
              <a:rPr lang="zh-CN" altLang="en-US" dirty="0"/>
              <a:t>位</a:t>
            </a:r>
            <a:endParaRPr lang="en-US" altLang="zh-CN" dirty="0"/>
          </a:p>
          <a:p>
            <a:pPr lvl="1"/>
            <a:r>
              <a:rPr lang="zh-CN" altLang="en-US" dirty="0"/>
              <a:t>若不考虑访问权限等，进程的页表有多少项？每项至少有多少位？</a:t>
            </a:r>
            <a:endParaRPr lang="zh-CN" altLang="en-US" dirty="0"/>
          </a:p>
          <a:p>
            <a:pPr lvl="1"/>
            <a:r>
              <a:rPr lang="en-US" altLang="zh-CN" dirty="0"/>
              <a:t>32</a:t>
            </a:r>
            <a:r>
              <a:rPr lang="zh-CN" altLang="en-US" dirty="0"/>
              <a:t>项   页号</a:t>
            </a:r>
            <a:r>
              <a:rPr lang="en-US" altLang="zh-CN" dirty="0"/>
              <a:t>5</a:t>
            </a:r>
            <a:r>
              <a:rPr lang="zh-CN" altLang="en-US" dirty="0"/>
              <a:t>位 块号</a:t>
            </a:r>
            <a:r>
              <a:rPr lang="en-US" altLang="zh-CN" dirty="0"/>
              <a:t>=1MB/2KB=9</a:t>
            </a:r>
            <a:r>
              <a:rPr lang="zh-CN" altLang="en-US" dirty="0"/>
              <a:t>位 共</a:t>
            </a:r>
            <a:r>
              <a:rPr lang="en-US" altLang="zh-CN" dirty="0"/>
              <a:t>14</a:t>
            </a:r>
            <a:r>
              <a:rPr lang="zh-CN" altLang="en-US" dirty="0"/>
              <a:t>位</a:t>
            </a:r>
            <a:endParaRPr lang="en-US" altLang="zh-CN" dirty="0"/>
          </a:p>
          <a:p>
            <a:pPr lvl="1"/>
            <a:r>
              <a:rPr lang="zh-CN" altLang="en-US" dirty="0"/>
              <a:t>如果物理空间减半，页表结构应相应做怎样的改变？</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50000"/>
              </a:lnSpc>
              <a:buClrTx/>
              <a:buNone/>
              <a:defRPr/>
            </a:pPr>
            <a:r>
              <a:rPr lang="zh-CN" altLang="en-US" sz="3200" dirty="0">
                <a:solidFill>
                  <a:srgbClr val="FF0000"/>
                </a:solidFill>
                <a:latin typeface="微软雅黑" panose="020B0503020204020204" charset="-122"/>
                <a:ea typeface="微软雅黑" panose="020B0503020204020204" charset="-122"/>
              </a:rPr>
              <a:t>例</a:t>
            </a:r>
            <a:r>
              <a:rPr lang="en-US" altLang="zh-CN" sz="3200" dirty="0">
                <a:solidFill>
                  <a:srgbClr val="FF0000"/>
                </a:solidFill>
                <a:latin typeface="微软雅黑" panose="020B0503020204020204" charset="-122"/>
                <a:ea typeface="微软雅黑" panose="020B0503020204020204" charset="-122"/>
              </a:rPr>
              <a:t>1</a:t>
            </a:r>
            <a:r>
              <a:rPr lang="zh-CN" altLang="en-US" sz="3200" dirty="0">
                <a:solidFill>
                  <a:srgbClr val="FF0000"/>
                </a:solidFill>
                <a:latin typeface="微软雅黑" panose="020B0503020204020204" charset="-122"/>
                <a:ea typeface="微软雅黑" panose="020B0503020204020204" charset="-122"/>
              </a:rPr>
              <a:t>：</a:t>
            </a:r>
            <a:r>
              <a:rPr lang="zh-CN" altLang="en-US" sz="3200" dirty="0">
                <a:solidFill>
                  <a:srgbClr val="000000"/>
                </a:solidFill>
                <a:latin typeface="微软雅黑" panose="020B0503020204020204" charset="-122"/>
                <a:ea typeface="微软雅黑" panose="020B0503020204020204" charset="-122"/>
              </a:rPr>
              <a:t>某采用分页存储管理的系统中，物理地址占</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20</a:t>
            </a:r>
            <a:r>
              <a:rPr lang="zh-CN" altLang="en-US" sz="3200" dirty="0">
                <a:solidFill>
                  <a:srgbClr val="000000"/>
                </a:solidFill>
                <a:latin typeface="微软雅黑" panose="020B0503020204020204" charset="-122"/>
                <a:ea typeface="微软雅黑" panose="020B0503020204020204" charset="-122"/>
              </a:rPr>
              <a:t>位，逻辑地址中页号占</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6</a:t>
            </a:r>
            <a:r>
              <a:rPr lang="zh-CN" altLang="en-US" sz="3200" dirty="0">
                <a:solidFill>
                  <a:srgbClr val="000000"/>
                </a:solidFill>
                <a:latin typeface="微软雅黑" panose="020B0503020204020204" charset="-122"/>
                <a:ea typeface="微软雅黑" panose="020B0503020204020204" charset="-122"/>
              </a:rPr>
              <a:t>位，页面大小为</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1KB</a:t>
            </a:r>
            <a:r>
              <a:rPr lang="zh-CN" altLang="en-US" sz="3200" dirty="0">
                <a:solidFill>
                  <a:srgbClr val="000000"/>
                </a:solidFill>
                <a:latin typeface="微软雅黑" panose="020B0503020204020204" charset="-122"/>
                <a:ea typeface="微软雅黑" panose="020B0503020204020204" charset="-122"/>
              </a:rPr>
              <a:t>，问：</a:t>
            </a:r>
            <a:endParaRPr lang="zh-CN" altLang="en-US" sz="32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nSpc>
                <a:spcPct val="150000"/>
              </a:lnSpc>
              <a:buClrTx/>
              <a:buNone/>
              <a:defRPr/>
            </a:pPr>
            <a:r>
              <a:rPr lang="zh-CN" altLang="en-US" sz="3200" dirty="0">
                <a:solidFill>
                  <a:srgbClr val="000000"/>
                </a:solidFill>
                <a:latin typeface="微软雅黑" panose="020B0503020204020204" charset="-122"/>
                <a:ea typeface="微软雅黑" panose="020B0503020204020204" charset="-122"/>
              </a:rPr>
              <a:t>     ⑴该系统的内存空间大小为多少？每个存储块的大小为多少？逻辑地址共几位？</a:t>
            </a:r>
            <a:r>
              <a:rPr lang="zh-CN" altLang="en-US" sz="3200" dirty="0">
                <a:solidFill>
                  <a:srgbClr val="FF0000"/>
                </a:solidFill>
                <a:latin typeface="微软雅黑" panose="020B0503020204020204" charset="-122"/>
                <a:ea typeface="微软雅黑" panose="020B0503020204020204" charset="-122"/>
              </a:rPr>
              <a:t>每个作业的最大长度为多少？</a:t>
            </a:r>
            <a:endParaRPr lang="zh-CN" altLang="en-US" sz="32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nSpc>
                <a:spcPct val="150000"/>
              </a:lnSpc>
              <a:buClrTx/>
              <a:buNone/>
              <a:defRPr/>
            </a:pPr>
            <a:r>
              <a:rPr lang="zh-CN" altLang="en-US" sz="3200" dirty="0">
                <a:solidFill>
                  <a:srgbClr val="000000"/>
                </a:solidFill>
                <a:latin typeface="微软雅黑" panose="020B0503020204020204" charset="-122"/>
                <a:ea typeface="微软雅黑" panose="020B0503020204020204" charset="-122"/>
              </a:rPr>
              <a:t>     ⑵若第</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0</a:t>
            </a:r>
            <a:r>
              <a:rPr lang="zh-CN" altLang="en-US" sz="3200" dirty="0">
                <a:solidFill>
                  <a:srgbClr val="000000"/>
                </a:solidFill>
                <a:latin typeface="微软雅黑" panose="020B0503020204020204" charset="-122"/>
                <a:ea typeface="微软雅黑" panose="020B0503020204020204" charset="-122"/>
              </a:rPr>
              <a:t>、</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1</a:t>
            </a:r>
            <a:r>
              <a:rPr lang="zh-CN" altLang="en-US" sz="3200" dirty="0">
                <a:solidFill>
                  <a:srgbClr val="000000"/>
                </a:solidFill>
                <a:latin typeface="微软雅黑" panose="020B0503020204020204" charset="-122"/>
                <a:ea typeface="微软雅黑" panose="020B0503020204020204" charset="-122"/>
              </a:rPr>
              <a:t>、</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2</a:t>
            </a:r>
            <a:r>
              <a:rPr lang="zh-CN" altLang="en-US" sz="3200" dirty="0">
                <a:solidFill>
                  <a:srgbClr val="000000"/>
                </a:solidFill>
                <a:latin typeface="微软雅黑" panose="020B0503020204020204" charset="-122"/>
                <a:ea typeface="微软雅黑" panose="020B0503020204020204" charset="-122"/>
              </a:rPr>
              <a:t>页分别放在第</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3</a:t>
            </a:r>
            <a:r>
              <a:rPr lang="zh-CN" altLang="en-US" sz="3200" dirty="0">
                <a:solidFill>
                  <a:srgbClr val="000000"/>
                </a:solidFill>
                <a:latin typeface="微软雅黑" panose="020B0503020204020204" charset="-122"/>
                <a:ea typeface="微软雅黑" panose="020B0503020204020204" charset="-122"/>
              </a:rPr>
              <a:t>、</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7</a:t>
            </a:r>
            <a:r>
              <a:rPr lang="zh-CN" altLang="en-US" sz="3200" dirty="0">
                <a:solidFill>
                  <a:srgbClr val="000000"/>
                </a:solidFill>
                <a:latin typeface="微软雅黑" panose="020B0503020204020204" charset="-122"/>
                <a:ea typeface="微软雅黑" panose="020B0503020204020204" charset="-122"/>
              </a:rPr>
              <a:t>、</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9</a:t>
            </a:r>
            <a:r>
              <a:rPr lang="zh-CN" altLang="en-US" sz="3200" dirty="0">
                <a:solidFill>
                  <a:srgbClr val="000000"/>
                </a:solidFill>
                <a:latin typeface="微软雅黑" panose="020B0503020204020204" charset="-122"/>
                <a:ea typeface="微软雅黑" panose="020B0503020204020204" charset="-122"/>
              </a:rPr>
              <a:t>存储块中，则逻辑地址</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0420H</a:t>
            </a:r>
            <a:r>
              <a:rPr lang="zh-CN" altLang="en-US" sz="3200" dirty="0">
                <a:solidFill>
                  <a:srgbClr val="000000"/>
                </a:solidFill>
                <a:latin typeface="微软雅黑" panose="020B0503020204020204" charset="-122"/>
                <a:ea typeface="微软雅黑" panose="020B0503020204020204" charset="-122"/>
              </a:rPr>
              <a:t>对应的物理地址是多少？</a:t>
            </a:r>
            <a:endParaRPr lang="zh-CN" altLang="en-US" sz="3200" dirty="0">
              <a:solidFill>
                <a:srgbClr val="000000"/>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7821" y="1439937"/>
            <a:ext cx="10770648" cy="5157643"/>
          </a:xfrm>
        </p:spPr>
        <p:txBody>
          <a:bodyPr/>
          <a:lstStyle/>
          <a:p>
            <a:pPr>
              <a:lnSpc>
                <a:spcPct val="120000"/>
              </a:lnSpc>
              <a:spcBef>
                <a:spcPct val="50000"/>
              </a:spcBef>
              <a:buClrTx/>
              <a:buNone/>
              <a:defRPr/>
            </a:pPr>
            <a:r>
              <a:rPr lang="en-US" altLang="zh-CN" sz="2800" dirty="0">
                <a:solidFill>
                  <a:srgbClr val="000000"/>
                </a:solidFill>
                <a:latin typeface="微软雅黑" panose="020B0503020204020204" charset="-122"/>
                <a:ea typeface="微软雅黑" panose="020B0503020204020204" charset="-122"/>
              </a:rPr>
              <a:t> </a:t>
            </a:r>
            <a:r>
              <a:rPr lang="zh-CN" altLang="en-US" sz="2800" dirty="0">
                <a:solidFill>
                  <a:srgbClr val="000000"/>
                </a:solidFill>
                <a:latin typeface="微软雅黑" panose="020B0503020204020204" charset="-122"/>
                <a:ea typeface="微软雅黑" panose="020B0503020204020204" charset="-122"/>
              </a:rPr>
              <a:t>在分页存储管理系统中，根据题意：</a:t>
            </a:r>
            <a:endParaRPr lang="zh-CN" altLang="en-US" sz="28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nSpc>
                <a:spcPct val="120000"/>
              </a:lnSpc>
              <a:spcBef>
                <a:spcPct val="50000"/>
              </a:spcBef>
              <a:buClrTx/>
              <a:buNone/>
              <a:defRPr/>
            </a:pPr>
            <a:r>
              <a:rPr lang="zh-CN" altLang="en-US" sz="2800" dirty="0">
                <a:solidFill>
                  <a:srgbClr val="000000"/>
                </a:solidFill>
                <a:latin typeface="微软雅黑" panose="020B0503020204020204" charset="-122"/>
                <a:ea typeface="微软雅黑" panose="020B0503020204020204" charset="-122"/>
              </a:rPr>
              <a:t>    ⑴物理地址占</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20</a:t>
            </a:r>
            <a:r>
              <a:rPr lang="zh-CN" altLang="en-US" sz="2800" dirty="0">
                <a:solidFill>
                  <a:srgbClr val="000000"/>
                </a:solidFill>
                <a:latin typeface="微软雅黑" panose="020B0503020204020204" charset="-122"/>
                <a:ea typeface="微软雅黑" panose="020B0503020204020204" charset="-122"/>
              </a:rPr>
              <a:t>位，所以该系统的内存空间大小为：</a:t>
            </a:r>
            <a:r>
              <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rPr>
              <a:t>2</a:t>
            </a:r>
            <a:r>
              <a:rPr lang="en-US" altLang="zh-CN" sz="2800" baseline="30000" dirty="0">
                <a:solidFill>
                  <a:srgbClr val="FF0000"/>
                </a:solidFill>
                <a:latin typeface="微软雅黑" panose="020B0503020204020204" charset="-122"/>
                <a:ea typeface="微软雅黑" panose="020B0503020204020204" charset="-122"/>
                <a:cs typeface="Times New Roman" panose="02020603050405020304" pitchFamily="18" charset="0"/>
              </a:rPr>
              <a:t>20</a:t>
            </a:r>
            <a:r>
              <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rPr>
              <a:t>=1MB</a:t>
            </a:r>
            <a:endPar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endParaRPr>
          </a:p>
          <a:p>
            <a:pPr algn="just">
              <a:lnSpc>
                <a:spcPct val="120000"/>
              </a:lnSpc>
              <a:spcBef>
                <a:spcPct val="50000"/>
              </a:spcBef>
              <a:buClrTx/>
              <a:buNone/>
              <a:defRPr/>
            </a:pPr>
            <a:r>
              <a:rPr lang="en-US" altLang="zh-CN" sz="2800" dirty="0">
                <a:solidFill>
                  <a:srgbClr val="000000"/>
                </a:solidFill>
                <a:latin typeface="微软雅黑" panose="020B0503020204020204" charset="-122"/>
                <a:ea typeface="微软雅黑" panose="020B0503020204020204" charset="-122"/>
              </a:rPr>
              <a:t>   </a:t>
            </a:r>
            <a:r>
              <a:rPr lang="zh-CN" altLang="en-US" sz="2800" dirty="0">
                <a:solidFill>
                  <a:srgbClr val="000000"/>
                </a:solidFill>
                <a:latin typeface="微软雅黑" panose="020B0503020204020204" charset="-122"/>
                <a:ea typeface="微软雅黑" panose="020B0503020204020204" charset="-122"/>
              </a:rPr>
              <a:t>存储块的大小与页面大小相同，而页面大小为</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1KB</a:t>
            </a:r>
            <a:r>
              <a:rPr lang="zh-CN" altLang="en-US" sz="2800" dirty="0">
                <a:solidFill>
                  <a:srgbClr val="000000"/>
                </a:solidFill>
                <a:latin typeface="微软雅黑" panose="020B0503020204020204" charset="-122"/>
                <a:ea typeface="微软雅黑" panose="020B0503020204020204" charset="-122"/>
              </a:rPr>
              <a:t>，因此存储块的大小为：</a:t>
            </a:r>
            <a:r>
              <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rPr>
              <a:t>1KB</a:t>
            </a:r>
            <a:endPar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endParaRPr>
          </a:p>
          <a:p>
            <a:pPr algn="just">
              <a:lnSpc>
                <a:spcPct val="120000"/>
              </a:lnSpc>
              <a:spcBef>
                <a:spcPct val="50000"/>
              </a:spcBef>
              <a:buClrTx/>
              <a:buNone/>
              <a:defRPr/>
            </a:pPr>
            <a:r>
              <a:rPr lang="en-US" altLang="zh-CN" sz="2800" dirty="0">
                <a:solidFill>
                  <a:srgbClr val="000000"/>
                </a:solidFill>
                <a:latin typeface="微软雅黑" panose="020B0503020204020204" charset="-122"/>
                <a:ea typeface="微软雅黑" panose="020B0503020204020204" charset="-122"/>
              </a:rPr>
              <a:t>   </a:t>
            </a:r>
            <a:r>
              <a:rPr lang="zh-CN" altLang="en-US" sz="2800" dirty="0">
                <a:solidFill>
                  <a:srgbClr val="000000"/>
                </a:solidFill>
                <a:latin typeface="微软雅黑" panose="020B0503020204020204" charset="-122"/>
                <a:ea typeface="微软雅黑" panose="020B0503020204020204" charset="-122"/>
              </a:rPr>
              <a:t>由于页面大小为</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1KB</a:t>
            </a:r>
            <a:r>
              <a:rPr lang="zh-CN" altLang="en-US" sz="2800" dirty="0">
                <a:solidFill>
                  <a:srgbClr val="000000"/>
                </a:solidFill>
                <a:latin typeface="微软雅黑" panose="020B0503020204020204" charset="-122"/>
                <a:ea typeface="微软雅黑" panose="020B0503020204020204" charset="-122"/>
              </a:rPr>
              <a:t>，占</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10</a:t>
            </a:r>
            <a:r>
              <a:rPr lang="zh-CN" altLang="en-US" sz="2800" dirty="0">
                <a:solidFill>
                  <a:srgbClr val="000000"/>
                </a:solidFill>
                <a:latin typeface="微软雅黑" panose="020B0503020204020204" charset="-122"/>
                <a:ea typeface="微软雅黑" panose="020B0503020204020204" charset="-122"/>
              </a:rPr>
              <a:t>位，而页号占</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6</a:t>
            </a:r>
            <a:r>
              <a:rPr lang="zh-CN" altLang="en-US" sz="2800" dirty="0">
                <a:solidFill>
                  <a:srgbClr val="000000"/>
                </a:solidFill>
                <a:latin typeface="微软雅黑" panose="020B0503020204020204" charset="-122"/>
                <a:ea typeface="微软雅黑" panose="020B0503020204020204" charset="-122"/>
              </a:rPr>
              <a:t>位，</a:t>
            </a:r>
            <a:endParaRPr lang="zh-CN" altLang="en-US" sz="28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gn="just">
              <a:lnSpc>
                <a:spcPct val="120000"/>
              </a:lnSpc>
              <a:spcBef>
                <a:spcPct val="50000"/>
              </a:spcBef>
              <a:buClrTx/>
              <a:buNone/>
              <a:defRPr/>
            </a:pPr>
            <a:r>
              <a:rPr lang="zh-CN" altLang="en-US" sz="2800" dirty="0">
                <a:solidFill>
                  <a:srgbClr val="000000"/>
                </a:solidFill>
                <a:latin typeface="微软雅黑" panose="020B0503020204020204" charset="-122"/>
                <a:ea typeface="微软雅黑" panose="020B0503020204020204" charset="-122"/>
              </a:rPr>
              <a:t>   因此逻辑地址共</a:t>
            </a:r>
            <a:r>
              <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rPr>
              <a:t>16</a:t>
            </a:r>
            <a:r>
              <a:rPr lang="zh-CN" altLang="en-US" sz="2800" dirty="0">
                <a:solidFill>
                  <a:srgbClr val="FF0000"/>
                </a:solidFill>
                <a:latin typeface="微软雅黑" panose="020B0503020204020204" charset="-122"/>
                <a:ea typeface="微软雅黑" panose="020B0503020204020204" charset="-122"/>
              </a:rPr>
              <a:t>位</a:t>
            </a:r>
            <a:r>
              <a:rPr lang="zh-CN" altLang="en-US" sz="2800" dirty="0">
                <a:solidFill>
                  <a:srgbClr val="000000"/>
                </a:solidFill>
                <a:latin typeface="微软雅黑" panose="020B0503020204020204" charset="-122"/>
                <a:ea typeface="微软雅黑" panose="020B0503020204020204" charset="-122"/>
              </a:rPr>
              <a:t>，</a:t>
            </a:r>
            <a:endParaRPr lang="zh-CN" altLang="en-US" sz="28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gn="just">
              <a:lnSpc>
                <a:spcPct val="120000"/>
              </a:lnSpc>
              <a:spcBef>
                <a:spcPct val="50000"/>
              </a:spcBef>
              <a:buClrTx/>
              <a:buNone/>
              <a:defRPr/>
            </a:pPr>
            <a:r>
              <a:rPr lang="zh-CN" altLang="en-US" sz="2800" dirty="0">
                <a:solidFill>
                  <a:srgbClr val="000000"/>
                </a:solidFill>
                <a:latin typeface="微软雅黑" panose="020B0503020204020204" charset="-122"/>
                <a:ea typeface="微软雅黑" panose="020B0503020204020204" charset="-122"/>
              </a:rPr>
              <a:t>   从而该系统中每个作业的最大长度为：</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2</a:t>
            </a:r>
            <a:r>
              <a:rPr lang="en-US" altLang="zh-CN" sz="2800" baseline="30000" dirty="0">
                <a:solidFill>
                  <a:srgbClr val="000000"/>
                </a:solidFill>
                <a:latin typeface="微软雅黑" panose="020B0503020204020204" charset="-122"/>
                <a:ea typeface="微软雅黑" panose="020B0503020204020204" charset="-122"/>
                <a:cs typeface="Times New Roman" panose="02020603050405020304" pitchFamily="18" charset="0"/>
              </a:rPr>
              <a:t>16</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a:t>
            </a:r>
            <a:r>
              <a:rPr lang="en-US" altLang="zh-CN" sz="2800" dirty="0">
                <a:solidFill>
                  <a:srgbClr val="FF0000"/>
                </a:solidFill>
                <a:latin typeface="微软雅黑" panose="020B0503020204020204" charset="-122"/>
                <a:ea typeface="微软雅黑" panose="020B0503020204020204" charset="-122"/>
                <a:cs typeface="Times New Roman" panose="02020603050405020304" pitchFamily="18" charset="0"/>
              </a:rPr>
              <a:t>64KB</a:t>
            </a:r>
            <a:endParaRPr lang="zh-CN" altLang="en-US" sz="2800" dirty="0"/>
          </a:p>
        </p:txBody>
      </p:sp>
      <p:sp>
        <p:nvSpPr>
          <p:cNvPr id="2" name="标题 1"/>
          <p:cNvSpPr>
            <a:spLocks noGrp="1"/>
          </p:cNvSpPr>
          <p:nvPr>
            <p:ph type="title"/>
          </p:nvPr>
        </p:nvSpPr>
        <p:spPr>
          <a:xfrm>
            <a:off x="838200" y="283845"/>
            <a:ext cx="10515600" cy="1325563"/>
          </a:xfrm>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Text Box 2"/>
          <p:cNvSpPr txBox="1">
            <a:spLocks noChangeArrowheads="1"/>
          </p:cNvSpPr>
          <p:nvPr/>
        </p:nvSpPr>
        <p:spPr bwMode="auto">
          <a:xfrm>
            <a:off x="2133600" y="685801"/>
            <a:ext cx="822960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0000"/>
              </a:lnSpc>
              <a:spcBef>
                <a:spcPct val="10000"/>
              </a:spcBef>
              <a:buClrTx/>
              <a:buNone/>
              <a:defRPr/>
            </a:pPr>
            <a:r>
              <a:rPr lang="en-US" altLang="zh-CN" sz="2800" dirty="0">
                <a:solidFill>
                  <a:srgbClr val="000000"/>
                </a:solidFill>
                <a:latin typeface="微软雅黑" panose="020B0503020204020204" charset="-122"/>
                <a:ea typeface="微软雅黑" panose="020B0503020204020204" charset="-122"/>
              </a:rPr>
              <a:t>  </a:t>
            </a:r>
            <a:endParaRPr lang="zh-CN" altLang="en-US" sz="2800" b="1" dirty="0">
              <a:solidFill>
                <a:srgbClr val="000000"/>
              </a:solidFill>
              <a:latin typeface="微软雅黑" panose="020B0503020204020204" charset="-122"/>
              <a:ea typeface="微软雅黑" panose="020B0503020204020204" charset="-122"/>
            </a:endParaRPr>
          </a:p>
        </p:txBody>
      </p:sp>
      <p:sp>
        <p:nvSpPr>
          <p:cNvPr id="5" name="内容占位符 4"/>
          <p:cNvSpPr>
            <a:spLocks noGrp="1"/>
          </p:cNvSpPr>
          <p:nvPr>
            <p:ph idx="1"/>
          </p:nvPr>
        </p:nvSpPr>
        <p:spPr/>
        <p:txBody>
          <a:bodyPr/>
          <a:lstStyle/>
          <a:p>
            <a:pPr algn="just">
              <a:lnSpc>
                <a:spcPct val="120000"/>
              </a:lnSpc>
              <a:spcBef>
                <a:spcPct val="10000"/>
              </a:spcBef>
              <a:buClrTx/>
              <a:buNone/>
              <a:defRPr/>
            </a:pPr>
            <a:r>
              <a:rPr lang="en-US" altLang="zh-CN" sz="3200" dirty="0">
                <a:solidFill>
                  <a:srgbClr val="000000"/>
                </a:solidFill>
                <a:latin typeface="微软雅黑" panose="020B0503020204020204" charset="-122"/>
                <a:ea typeface="微软雅黑" panose="020B0503020204020204" charset="-122"/>
              </a:rPr>
              <a:t>⑵</a:t>
            </a:r>
            <a:r>
              <a:rPr lang="zh-CN" altLang="en-US" sz="3200" dirty="0">
                <a:solidFill>
                  <a:srgbClr val="000000"/>
                </a:solidFill>
                <a:latin typeface="微软雅黑" panose="020B0503020204020204" charset="-122"/>
                <a:ea typeface="微软雅黑" panose="020B0503020204020204" charset="-122"/>
              </a:rPr>
              <a:t>将页面转换成</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16</a:t>
            </a:r>
            <a:r>
              <a:rPr lang="zh-CN" altLang="en-US" sz="3200" dirty="0">
                <a:solidFill>
                  <a:srgbClr val="000000"/>
                </a:solidFill>
                <a:latin typeface="微软雅黑" panose="020B0503020204020204" charset="-122"/>
                <a:ea typeface="微软雅黑" panose="020B0503020204020204" charset="-122"/>
              </a:rPr>
              <a:t>进制表示：</a:t>
            </a:r>
            <a:endParaRPr lang="zh-CN" altLang="en-US" sz="32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gn="just">
              <a:lnSpc>
                <a:spcPct val="120000"/>
              </a:lnSpc>
              <a:spcBef>
                <a:spcPct val="10000"/>
              </a:spcBef>
              <a:buClrTx/>
              <a:buNone/>
              <a:defRPr/>
            </a:pPr>
            <a:r>
              <a:rPr lang="zh-CN" altLang="en-US" sz="3200" dirty="0">
                <a:solidFill>
                  <a:srgbClr val="000000"/>
                </a:solidFill>
                <a:latin typeface="微软雅黑" panose="020B0503020204020204" charset="-122"/>
                <a:ea typeface="微软雅黑" panose="020B0503020204020204" charset="-122"/>
              </a:rPr>
              <a:t>     页面大小：</a:t>
            </a:r>
            <a:r>
              <a:rPr lang="en-US" altLang="zh-CN" sz="3200" dirty="0">
                <a:solidFill>
                  <a:srgbClr val="000000"/>
                </a:solidFill>
                <a:latin typeface="微软雅黑" panose="020B0503020204020204" charset="-122"/>
                <a:ea typeface="微软雅黑" panose="020B0503020204020204" charset="-122"/>
                <a:cs typeface="Times New Roman" panose="02020603050405020304" pitchFamily="18" charset="0"/>
              </a:rPr>
              <a:t>1K=0400H </a:t>
            </a:r>
            <a:r>
              <a:rPr lang="zh-CN" altLang="en-US" sz="3200" dirty="0">
                <a:solidFill>
                  <a:srgbClr val="000000"/>
                </a:solidFill>
                <a:latin typeface="微软雅黑" panose="020B0503020204020204" charset="-122"/>
                <a:ea typeface="微软雅黑" panose="020B0503020204020204" charset="-122"/>
                <a:cs typeface="Times New Roman" panose="02020603050405020304" pitchFamily="18" charset="0"/>
              </a:rPr>
              <a:t>。                                     </a:t>
            </a:r>
            <a:endParaRPr lang="zh-CN" altLang="en-US" sz="3200" dirty="0">
              <a:solidFill>
                <a:srgbClr val="000000"/>
              </a:solidFill>
              <a:latin typeface="微软雅黑" panose="020B0503020204020204" charset="-122"/>
              <a:ea typeface="微软雅黑" panose="020B0503020204020204" charset="-122"/>
              <a:cs typeface="Times New Roman" panose="02020603050405020304" pitchFamily="18" charset="0"/>
            </a:endParaRPr>
          </a:p>
          <a:p>
            <a:pPr algn="just">
              <a:lnSpc>
                <a:spcPct val="120000"/>
              </a:lnSpc>
              <a:spcBef>
                <a:spcPct val="10000"/>
              </a:spcBef>
              <a:buClrTx/>
              <a:buNone/>
              <a:defRPr/>
            </a:pPr>
            <a:r>
              <a:rPr lang="zh-CN" altLang="en-US" sz="3200" dirty="0">
                <a:solidFill>
                  <a:srgbClr val="000000"/>
                </a:solidFill>
                <a:latin typeface="微软雅黑" panose="020B0503020204020204" charset="-122"/>
                <a:ea typeface="微软雅黑" panose="020B0503020204020204" charset="-122"/>
                <a:cs typeface="Times New Roman" panose="02020603050405020304" pitchFamily="18" charset="0"/>
              </a:rPr>
              <a:t>     </a:t>
            </a:r>
            <a:r>
              <a:rPr lang="zh-CN" altLang="en-US" sz="3200" dirty="0">
                <a:solidFill>
                  <a:srgbClr val="000000"/>
                </a:solidFill>
                <a:latin typeface="微软雅黑" panose="020B0503020204020204" charset="-122"/>
                <a:ea typeface="微软雅黑" panose="020B0503020204020204" charset="-122"/>
              </a:rPr>
              <a:t>因为</a:t>
            </a:r>
            <a:r>
              <a:rPr lang="en-US" altLang="zh-CN" sz="3200" dirty="0">
                <a:solidFill>
                  <a:srgbClr val="000000"/>
                </a:solidFill>
                <a:latin typeface="微软雅黑" panose="020B0503020204020204" charset="-122"/>
                <a:ea typeface="微软雅黑" panose="020B0503020204020204" charset="-122"/>
              </a:rPr>
              <a:t>0400H&lt;=0420H&lt;07FFH</a:t>
            </a:r>
            <a:r>
              <a:rPr lang="zh-CN" altLang="en-US" sz="3200" dirty="0">
                <a:solidFill>
                  <a:srgbClr val="000000"/>
                </a:solidFill>
                <a:latin typeface="微软雅黑" panose="020B0503020204020204" charset="-122"/>
                <a:ea typeface="微软雅黑" panose="020B0503020204020204" charset="-122"/>
              </a:rPr>
              <a:t>，所以在</a:t>
            </a:r>
            <a:r>
              <a:rPr lang="en-US" altLang="zh-CN" sz="3200" b="1" dirty="0">
                <a:solidFill>
                  <a:srgbClr val="000000"/>
                </a:solidFill>
                <a:latin typeface="微软雅黑" panose="020B0503020204020204" charset="-122"/>
                <a:ea typeface="微软雅黑" panose="020B0503020204020204" charset="-122"/>
              </a:rPr>
              <a:t>1</a:t>
            </a:r>
            <a:r>
              <a:rPr lang="zh-CN" altLang="en-US" sz="3200" b="1" dirty="0">
                <a:solidFill>
                  <a:srgbClr val="000000"/>
                </a:solidFill>
                <a:latin typeface="微软雅黑" panose="020B0503020204020204" charset="-122"/>
                <a:ea typeface="微软雅黑" panose="020B0503020204020204" charset="-122"/>
              </a:rPr>
              <a:t>号</a:t>
            </a:r>
            <a:r>
              <a:rPr lang="zh-CN" altLang="en-US" sz="3200" dirty="0">
                <a:solidFill>
                  <a:srgbClr val="000000"/>
                </a:solidFill>
                <a:latin typeface="微软雅黑" panose="020B0503020204020204" charset="-122"/>
                <a:ea typeface="微软雅黑" panose="020B0503020204020204" charset="-122"/>
              </a:rPr>
              <a:t>页面内，其页内位移量为：</a:t>
            </a:r>
            <a:r>
              <a:rPr lang="en-US" altLang="zh-CN" sz="3200" b="1" dirty="0">
                <a:solidFill>
                  <a:srgbClr val="FF0000"/>
                </a:solidFill>
                <a:latin typeface="微软雅黑" panose="020B0503020204020204" charset="-122"/>
                <a:ea typeface="微软雅黑" panose="020B0503020204020204" charset="-122"/>
              </a:rPr>
              <a:t>0420H-0400H=20H</a:t>
            </a:r>
            <a:r>
              <a:rPr lang="zh-CN" altLang="en-US" sz="3200" dirty="0">
                <a:solidFill>
                  <a:srgbClr val="000000"/>
                </a:solidFill>
                <a:latin typeface="微软雅黑" panose="020B0503020204020204" charset="-122"/>
                <a:ea typeface="微软雅黑" panose="020B0503020204020204" charset="-122"/>
              </a:rPr>
              <a:t>；而</a:t>
            </a:r>
            <a:r>
              <a:rPr lang="en-US" altLang="zh-CN" sz="3200" b="1" dirty="0">
                <a:solidFill>
                  <a:srgbClr val="000000"/>
                </a:solidFill>
                <a:latin typeface="微软雅黑" panose="020B0503020204020204" charset="-122"/>
                <a:ea typeface="微软雅黑" panose="020B0503020204020204" charset="-122"/>
              </a:rPr>
              <a:t>1</a:t>
            </a:r>
            <a:r>
              <a:rPr lang="zh-CN" altLang="en-US" sz="3200" b="1" dirty="0">
                <a:solidFill>
                  <a:srgbClr val="000000"/>
                </a:solidFill>
                <a:latin typeface="微软雅黑" panose="020B0503020204020204" charset="-122"/>
                <a:ea typeface="微软雅黑" panose="020B0503020204020204" charset="-122"/>
              </a:rPr>
              <a:t>号</a:t>
            </a:r>
            <a:r>
              <a:rPr lang="zh-CN" altLang="en-US" sz="3200" dirty="0">
                <a:solidFill>
                  <a:srgbClr val="000000"/>
                </a:solidFill>
                <a:latin typeface="微软雅黑" panose="020B0503020204020204" charset="-122"/>
                <a:ea typeface="微软雅黑" panose="020B0503020204020204" charset="-122"/>
              </a:rPr>
              <a:t>页面对应</a:t>
            </a:r>
            <a:r>
              <a:rPr lang="en-US" altLang="zh-CN" sz="3200" b="1" dirty="0">
                <a:solidFill>
                  <a:srgbClr val="000000"/>
                </a:solidFill>
                <a:latin typeface="微软雅黑" panose="020B0503020204020204" charset="-122"/>
                <a:ea typeface="微软雅黑" panose="020B0503020204020204" charset="-122"/>
              </a:rPr>
              <a:t>7</a:t>
            </a:r>
            <a:r>
              <a:rPr lang="zh-CN" altLang="en-US" sz="3200" b="1" dirty="0">
                <a:solidFill>
                  <a:srgbClr val="000000"/>
                </a:solidFill>
                <a:latin typeface="微软雅黑" panose="020B0503020204020204" charset="-122"/>
                <a:ea typeface="微软雅黑" panose="020B0503020204020204" charset="-122"/>
              </a:rPr>
              <a:t>号</a:t>
            </a:r>
            <a:r>
              <a:rPr lang="zh-CN" altLang="en-US" sz="3200" dirty="0">
                <a:solidFill>
                  <a:srgbClr val="000000"/>
                </a:solidFill>
                <a:latin typeface="微软雅黑" panose="020B0503020204020204" charset="-122"/>
                <a:ea typeface="微软雅黑" panose="020B0503020204020204" charset="-122"/>
              </a:rPr>
              <a:t>物理块，所以物理地址为：</a:t>
            </a:r>
            <a:r>
              <a:rPr lang="en-US" altLang="zh-CN" sz="3200" b="1" dirty="0">
                <a:solidFill>
                  <a:srgbClr val="FF0000"/>
                </a:solidFill>
                <a:latin typeface="微软雅黑" panose="020B0503020204020204" charset="-122"/>
                <a:ea typeface="微软雅黑" panose="020B0503020204020204" charset="-122"/>
              </a:rPr>
              <a:t>7×0400H +20H=1C20H</a:t>
            </a:r>
            <a:r>
              <a:rPr lang="zh-CN" altLang="en-US" sz="3200" b="1" dirty="0">
                <a:solidFill>
                  <a:srgbClr val="000000"/>
                </a:solidFill>
                <a:latin typeface="微软雅黑" panose="020B0503020204020204" charset="-122"/>
                <a:ea typeface="微软雅黑" panose="020B0503020204020204" charset="-122"/>
              </a:rPr>
              <a:t>。</a:t>
            </a:r>
            <a:endParaRPr lang="zh-CN" altLang="en-US" sz="3200" b="1" dirty="0">
              <a:solidFill>
                <a:srgbClr val="000000"/>
              </a:solidFill>
              <a:latin typeface="微软雅黑" panose="020B0503020204020204" charset="-122"/>
              <a:ea typeface="微软雅黑" panose="020B0503020204020204" charset="-122"/>
            </a:endParaRPr>
          </a:p>
          <a:p>
            <a:pPr algn="just">
              <a:lnSpc>
                <a:spcPct val="120000"/>
              </a:lnSpc>
              <a:spcBef>
                <a:spcPct val="10000"/>
              </a:spcBef>
              <a:buClrTx/>
              <a:buNone/>
              <a:defRPr/>
            </a:pPr>
            <a:endParaRPr lang="zh-CN" altLang="en-US" sz="3200" b="1" dirty="0">
              <a:solidFill>
                <a:srgbClr val="000000"/>
              </a:solidFill>
              <a:latin typeface="微软雅黑" panose="020B0503020204020204" charset="-122"/>
              <a:ea typeface="微软雅黑" panose="020B0503020204020204" charset="-122"/>
            </a:endParaRPr>
          </a:p>
          <a:p>
            <a:pPr algn="just">
              <a:lnSpc>
                <a:spcPct val="120000"/>
              </a:lnSpc>
              <a:spcBef>
                <a:spcPct val="10000"/>
              </a:spcBef>
              <a:buClrTx/>
              <a:buNone/>
              <a:defRPr/>
            </a:pPr>
            <a:r>
              <a:rPr lang="zh-CN" altLang="en-US" sz="3200" b="1" dirty="0">
                <a:solidFill>
                  <a:srgbClr val="FF0000"/>
                </a:solidFill>
                <a:latin typeface="微软雅黑" panose="020B0503020204020204" charset="-122"/>
                <a:ea typeface="微软雅黑" panose="020B0503020204020204" charset="-122"/>
              </a:rPr>
              <a:t>或者 化为二进制 用页号位数和页内地址位数分割</a:t>
            </a:r>
            <a:endParaRPr lang="zh-CN" altLang="en-US" sz="3200" b="1" dirty="0">
              <a:solidFill>
                <a:srgbClr val="FF0000"/>
              </a:solidFill>
              <a:latin typeface="微软雅黑" panose="020B0503020204020204" charset="-122"/>
              <a:ea typeface="微软雅黑" panose="020B0503020204020204" charset="-122"/>
            </a:endParaRPr>
          </a:p>
        </p:txBody>
      </p:sp>
      <p:sp>
        <p:nvSpPr>
          <p:cNvPr id="4" name="标题 3"/>
          <p:cNvSpPr>
            <a:spLocks noGrp="1"/>
          </p:cNvSpPr>
          <p:nvPr>
            <p:ph type="title"/>
          </p:nvPr>
        </p:nvSpPr>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8162">
                                            <p:txEl>
                                              <p:pRg st="0" end="0"/>
                                            </p:txEl>
                                          </p:spTgt>
                                        </p:tgtEl>
                                        <p:attrNameLst>
                                          <p:attrName>style.visibility</p:attrName>
                                        </p:attrNameLst>
                                      </p:cBhvr>
                                      <p:to>
                                        <p:strVal val="visible"/>
                                      </p:to>
                                    </p:set>
                                    <p:animEffect transition="in" filter="box(in)">
                                      <p:cBhvr>
                                        <p:cTn id="7" dur="500"/>
                                        <p:tgtEl>
                                          <p:spTgt spid="34816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62" grpId="0" autoUpdateAnimBg="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97166" y="1350894"/>
            <a:ext cx="10770648" cy="5157643"/>
          </a:xfrm>
        </p:spPr>
        <p:txBody>
          <a:bodyPr/>
          <a:lstStyle/>
          <a:p>
            <a:pPr>
              <a:lnSpc>
                <a:spcPct val="150000"/>
              </a:lnSpc>
            </a:pPr>
            <a:r>
              <a:rPr lang="zh-CN" altLang="en-US" sz="3200" dirty="0">
                <a:solidFill>
                  <a:srgbClr val="FF0000"/>
                </a:solidFill>
                <a:latin typeface="微软雅黑" panose="020B0503020204020204" charset="-122"/>
                <a:ea typeface="微软雅黑" panose="020B0503020204020204" charset="-122"/>
              </a:rPr>
              <a:t>例</a:t>
            </a:r>
            <a:r>
              <a:rPr lang="en-US" altLang="zh-CN" sz="3200" dirty="0">
                <a:solidFill>
                  <a:srgbClr val="FF0000"/>
                </a:solidFill>
                <a:latin typeface="微软雅黑" panose="020B0503020204020204" charset="-122"/>
                <a:ea typeface="微软雅黑" panose="020B0503020204020204" charset="-122"/>
              </a:rPr>
              <a:t>2</a:t>
            </a:r>
            <a:r>
              <a:rPr lang="zh-CN" altLang="en-US" sz="3200" dirty="0">
                <a:solidFill>
                  <a:srgbClr val="FF0000"/>
                </a:solidFill>
                <a:latin typeface="微软雅黑" panose="020B0503020204020204" charset="-122"/>
                <a:ea typeface="微软雅黑" panose="020B0503020204020204" charset="-122"/>
              </a:rPr>
              <a:t>：</a:t>
            </a:r>
            <a:endParaRPr lang="en-US" altLang="zh-CN" sz="3200" dirty="0">
              <a:solidFill>
                <a:srgbClr val="FF0000"/>
              </a:solidFill>
              <a:latin typeface="微软雅黑" panose="020B0503020204020204" charset="-122"/>
              <a:ea typeface="微软雅黑" panose="020B0503020204020204" charset="-122"/>
            </a:endParaRPr>
          </a:p>
          <a:p>
            <a:pPr lvl="1">
              <a:lnSpc>
                <a:spcPct val="150000"/>
              </a:lnSpc>
            </a:pPr>
            <a:r>
              <a:rPr lang="zh-CN" altLang="en-US" dirty="0">
                <a:solidFill>
                  <a:srgbClr val="000000"/>
                </a:solidFill>
                <a:latin typeface="微软雅黑" panose="020B0503020204020204" charset="-122"/>
                <a:ea typeface="微软雅黑" panose="020B0503020204020204" charset="-122"/>
              </a:rPr>
              <a:t>在分页存储系统中地址结构的长度为</a:t>
            </a:r>
            <a:r>
              <a:rPr lang="en-US" altLang="zh-CN" dirty="0">
                <a:solidFill>
                  <a:srgbClr val="000000"/>
                </a:solidFill>
                <a:latin typeface="微软雅黑" panose="020B0503020204020204" charset="-122"/>
                <a:ea typeface="微软雅黑" panose="020B0503020204020204" charset="-122"/>
              </a:rPr>
              <a:t>20</a:t>
            </a:r>
            <a:r>
              <a:rPr lang="zh-CN" altLang="en-US" dirty="0">
                <a:solidFill>
                  <a:srgbClr val="000000"/>
                </a:solidFill>
                <a:latin typeface="微软雅黑" panose="020B0503020204020204" charset="-122"/>
                <a:ea typeface="微软雅黑" panose="020B0503020204020204" charset="-122"/>
              </a:rPr>
              <a:t>位，页面大小为</a:t>
            </a:r>
            <a:r>
              <a:rPr lang="en-US" altLang="zh-CN" dirty="0">
                <a:solidFill>
                  <a:srgbClr val="000000"/>
                </a:solidFill>
                <a:latin typeface="微软雅黑" panose="020B0503020204020204" charset="-122"/>
                <a:ea typeface="微软雅黑" panose="020B0503020204020204" charset="-122"/>
              </a:rPr>
              <a:t>2K</a:t>
            </a:r>
            <a:r>
              <a:rPr lang="zh-CN" altLang="en-US" dirty="0">
                <a:solidFill>
                  <a:srgbClr val="000000"/>
                </a:solidFill>
                <a:latin typeface="微软雅黑" panose="020B0503020204020204" charset="-122"/>
                <a:ea typeface="微软雅黑" panose="020B0503020204020204" charset="-122"/>
              </a:rPr>
              <a:t>，作业地址空间为</a:t>
            </a:r>
            <a:r>
              <a:rPr lang="en-US" altLang="zh-CN" dirty="0">
                <a:solidFill>
                  <a:srgbClr val="000000"/>
                </a:solidFill>
                <a:latin typeface="微软雅黑" panose="020B0503020204020204" charset="-122"/>
                <a:ea typeface="微软雅黑" panose="020B0503020204020204" charset="-122"/>
              </a:rPr>
              <a:t>8K</a:t>
            </a:r>
            <a:r>
              <a:rPr lang="zh-CN" altLang="en-US" dirty="0">
                <a:solidFill>
                  <a:srgbClr val="000000"/>
                </a:solidFill>
                <a:latin typeface="微软雅黑" panose="020B0503020204020204" charset="-122"/>
                <a:ea typeface="微软雅黑" panose="020B0503020204020204" charset="-122"/>
              </a:rPr>
              <a:t>，该作业各页依次存放在</a:t>
            </a:r>
            <a:r>
              <a:rPr lang="en-US" altLang="zh-CN" dirty="0">
                <a:solidFill>
                  <a:srgbClr val="000000"/>
                </a:solidFill>
                <a:latin typeface="微软雅黑" panose="020B0503020204020204" charset="-122"/>
                <a:ea typeface="微软雅黑" panose="020B0503020204020204" charset="-122"/>
              </a:rPr>
              <a:t>1</a:t>
            </a:r>
            <a:r>
              <a:rPr lang="zh-CN" altLang="en-US" dirty="0">
                <a:solidFill>
                  <a:srgbClr val="000000"/>
                </a:solidFill>
                <a:latin typeface="微软雅黑" panose="020B0503020204020204" charset="-122"/>
                <a:ea typeface="微软雅黑" panose="020B0503020204020204" charset="-122"/>
              </a:rPr>
              <a:t>，</a:t>
            </a:r>
            <a:r>
              <a:rPr lang="en-US" altLang="zh-CN" dirty="0">
                <a:solidFill>
                  <a:srgbClr val="000000"/>
                </a:solidFill>
                <a:latin typeface="微软雅黑" panose="020B0503020204020204" charset="-122"/>
                <a:ea typeface="微软雅黑" panose="020B0503020204020204" charset="-122"/>
              </a:rPr>
              <a:t>3</a:t>
            </a:r>
            <a:r>
              <a:rPr lang="zh-CN" altLang="en-US" dirty="0">
                <a:solidFill>
                  <a:srgbClr val="000000"/>
                </a:solidFill>
                <a:latin typeface="微软雅黑" panose="020B0503020204020204" charset="-122"/>
                <a:ea typeface="微软雅黑" panose="020B0503020204020204" charset="-122"/>
              </a:rPr>
              <a:t>，</a:t>
            </a:r>
            <a:r>
              <a:rPr lang="en-US" altLang="zh-CN" dirty="0">
                <a:solidFill>
                  <a:srgbClr val="000000"/>
                </a:solidFill>
                <a:latin typeface="微软雅黑" panose="020B0503020204020204" charset="-122"/>
                <a:ea typeface="微软雅黑" panose="020B0503020204020204" charset="-122"/>
              </a:rPr>
              <a:t>6</a:t>
            </a:r>
            <a:r>
              <a:rPr lang="zh-CN" altLang="en-US" dirty="0">
                <a:solidFill>
                  <a:srgbClr val="000000"/>
                </a:solidFill>
                <a:latin typeface="微软雅黑" panose="020B0503020204020204" charset="-122"/>
                <a:ea typeface="微软雅黑" panose="020B0503020204020204" charset="-122"/>
              </a:rPr>
              <a:t>，</a:t>
            </a:r>
            <a:r>
              <a:rPr lang="en-US" altLang="zh-CN" dirty="0">
                <a:solidFill>
                  <a:srgbClr val="000000"/>
                </a:solidFill>
                <a:latin typeface="微软雅黑" panose="020B0503020204020204" charset="-122"/>
                <a:ea typeface="微软雅黑" panose="020B0503020204020204" charset="-122"/>
              </a:rPr>
              <a:t>7</a:t>
            </a:r>
            <a:r>
              <a:rPr lang="zh-CN" altLang="en-US" dirty="0">
                <a:solidFill>
                  <a:srgbClr val="000000"/>
                </a:solidFill>
                <a:latin typeface="微软雅黑" panose="020B0503020204020204" charset="-122"/>
                <a:ea typeface="微软雅黑" panose="020B0503020204020204" charset="-122"/>
              </a:rPr>
              <a:t>号物理块中，相对地址</a:t>
            </a:r>
            <a:r>
              <a:rPr lang="en-US" altLang="zh-CN" dirty="0">
                <a:solidFill>
                  <a:srgbClr val="000000"/>
                </a:solidFill>
                <a:latin typeface="微软雅黑" panose="020B0503020204020204" charset="-122"/>
                <a:ea typeface="微软雅黑" panose="020B0503020204020204" charset="-122"/>
              </a:rPr>
              <a:t>4000</a:t>
            </a:r>
            <a:r>
              <a:rPr lang="zh-CN" altLang="en-US" dirty="0">
                <a:solidFill>
                  <a:srgbClr val="000000"/>
                </a:solidFill>
                <a:latin typeface="微软雅黑" panose="020B0503020204020204" charset="-122"/>
                <a:ea typeface="微软雅黑" panose="020B0503020204020204" charset="-122"/>
              </a:rPr>
              <a:t>处有一条指令  </a:t>
            </a:r>
            <a:r>
              <a:rPr lang="en-US" altLang="zh-CN" dirty="0">
                <a:solidFill>
                  <a:srgbClr val="000000"/>
                </a:solidFill>
                <a:latin typeface="微软雅黑" panose="020B0503020204020204" charset="-122"/>
                <a:ea typeface="微软雅黑" panose="020B0503020204020204" charset="-122"/>
              </a:rPr>
              <a:t>Store  l</a:t>
            </a:r>
            <a:r>
              <a:rPr lang="zh-CN" altLang="en-US" dirty="0">
                <a:solidFill>
                  <a:srgbClr val="000000"/>
                </a:solidFill>
                <a:latin typeface="微软雅黑" panose="020B0503020204020204" charset="-122"/>
                <a:ea typeface="微软雅黑" panose="020B0503020204020204" charset="-122"/>
              </a:rPr>
              <a:t>，</a:t>
            </a:r>
            <a:r>
              <a:rPr lang="en-US" altLang="zh-CN" dirty="0">
                <a:solidFill>
                  <a:srgbClr val="000000"/>
                </a:solidFill>
                <a:latin typeface="微软雅黑" panose="020B0503020204020204" charset="-122"/>
                <a:ea typeface="微软雅黑" panose="020B0503020204020204" charset="-122"/>
              </a:rPr>
              <a:t>2500</a:t>
            </a:r>
            <a:r>
              <a:rPr lang="zh-CN" altLang="en-US" dirty="0">
                <a:solidFill>
                  <a:srgbClr val="000000"/>
                </a:solidFill>
                <a:latin typeface="微软雅黑" panose="020B0503020204020204" charset="-122"/>
                <a:ea typeface="微软雅黑" panose="020B0503020204020204" charset="-122"/>
              </a:rPr>
              <a:t>，请给出该作业的页表，并分别指出该指令所在页号和对应的物理单元及数据存放所在的页号和物理单元。 </a:t>
            </a:r>
            <a:endParaRPr lang="zh-CN" altLang="en-US" dirty="0">
              <a:solidFill>
                <a:srgbClr val="000000"/>
              </a:solidFill>
              <a:latin typeface="微软雅黑" panose="020B0503020204020204" charset="-122"/>
              <a:ea typeface="微软雅黑" panose="020B0503020204020204" charset="-122"/>
            </a:endParaRPr>
          </a:p>
        </p:txBody>
      </p:sp>
      <p:sp>
        <p:nvSpPr>
          <p:cNvPr id="2" name="标题 1"/>
          <p:cNvSpPr>
            <a:spLocks noGrp="1"/>
          </p:cNvSpPr>
          <p:nvPr>
            <p:ph type="title"/>
          </p:nvPr>
        </p:nvSpPr>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97166" y="1330425"/>
            <a:ext cx="10770648" cy="5157643"/>
          </a:xfrm>
        </p:spPr>
        <p:txBody>
          <a:bodyPr/>
          <a:lstStyle/>
          <a:p>
            <a:pPr>
              <a:lnSpc>
                <a:spcPct val="130000"/>
              </a:lnSpc>
              <a:spcBef>
                <a:spcPct val="0"/>
              </a:spcBef>
              <a:buClrTx/>
              <a:defRPr/>
            </a:pPr>
            <a:r>
              <a:rPr lang="zh-CN" altLang="en-US" sz="2800" dirty="0">
                <a:solidFill>
                  <a:srgbClr val="000000"/>
                </a:solidFill>
                <a:latin typeface="微软雅黑" panose="020B0503020204020204" charset="-122"/>
                <a:ea typeface="微软雅黑" panose="020B0503020204020204" charset="-122"/>
              </a:rPr>
              <a:t>由题意，页面大小为</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2K</a:t>
            </a:r>
            <a:r>
              <a:rPr lang="zh-CN" altLang="en-US" sz="2800" dirty="0">
                <a:solidFill>
                  <a:srgbClr val="000000"/>
                </a:solidFill>
                <a:latin typeface="微软雅黑" panose="020B0503020204020204" charset="-122"/>
                <a:ea typeface="微软雅黑" panose="020B0503020204020204" charset="-122"/>
              </a:rPr>
              <a:t>，该作业的地址空间为</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8K</a:t>
            </a:r>
            <a:r>
              <a:rPr lang="zh-CN" altLang="en-US" sz="2800" dirty="0">
                <a:solidFill>
                  <a:srgbClr val="000000"/>
                </a:solidFill>
                <a:latin typeface="微软雅黑" panose="020B0503020204020204" charset="-122"/>
                <a:ea typeface="微软雅黑" panose="020B0503020204020204" charset="-122"/>
              </a:rPr>
              <a:t>，</a:t>
            </a:r>
            <a:endParaRPr lang="en-US" altLang="zh-CN" sz="2800" dirty="0">
              <a:solidFill>
                <a:srgbClr val="000000"/>
              </a:solidFill>
              <a:latin typeface="微软雅黑" panose="020B0503020204020204" charset="-122"/>
              <a:ea typeface="微软雅黑" panose="020B0503020204020204" charset="-122"/>
            </a:endParaRPr>
          </a:p>
          <a:p>
            <a:pPr>
              <a:lnSpc>
                <a:spcPct val="130000"/>
              </a:lnSpc>
              <a:spcBef>
                <a:spcPct val="0"/>
              </a:spcBef>
              <a:buClrTx/>
              <a:defRPr/>
            </a:pPr>
            <a:r>
              <a:rPr lang="zh-CN" altLang="en-US" sz="2800" dirty="0">
                <a:solidFill>
                  <a:srgbClr val="000000"/>
                </a:solidFill>
                <a:latin typeface="微软雅黑" panose="020B0503020204020204" charset="-122"/>
                <a:ea typeface="微软雅黑" panose="020B0503020204020204" charset="-122"/>
              </a:rPr>
              <a:t>因此该作业有</a:t>
            </a:r>
            <a:r>
              <a:rPr lang="en-US" altLang="zh-CN" sz="2800" dirty="0">
                <a:solidFill>
                  <a:srgbClr val="000000"/>
                </a:solidFill>
                <a:latin typeface="微软雅黑" panose="020B0503020204020204" charset="-122"/>
                <a:ea typeface="微软雅黑" panose="020B0503020204020204" charset="-122"/>
                <a:cs typeface="Times New Roman" panose="02020603050405020304" pitchFamily="18" charset="0"/>
              </a:rPr>
              <a:t>4</a:t>
            </a:r>
            <a:r>
              <a:rPr lang="zh-CN" altLang="en-US" sz="2800" dirty="0">
                <a:solidFill>
                  <a:srgbClr val="000000"/>
                </a:solidFill>
                <a:latin typeface="微软雅黑" panose="020B0503020204020204" charset="-122"/>
                <a:ea typeface="微软雅黑" panose="020B0503020204020204" charset="-122"/>
              </a:rPr>
              <a:t>页，其页表为：</a:t>
            </a:r>
            <a:endParaRPr lang="en-US" altLang="zh-CN" sz="2800" dirty="0">
              <a:solidFill>
                <a:srgbClr val="000000"/>
              </a:solidFill>
              <a:latin typeface="微软雅黑" panose="020B0503020204020204" charset="-122"/>
              <a:ea typeface="微软雅黑" panose="020B0503020204020204" charset="-122"/>
            </a:endParaRPr>
          </a:p>
          <a:p>
            <a:pPr>
              <a:lnSpc>
                <a:spcPct val="130000"/>
              </a:lnSpc>
              <a:spcBef>
                <a:spcPct val="0"/>
              </a:spcBef>
              <a:buClrTx/>
              <a:defRPr/>
            </a:pPr>
            <a:endParaRPr lang="en-US" altLang="zh-CN" sz="2800" dirty="0">
              <a:solidFill>
                <a:srgbClr val="000000"/>
              </a:solidFill>
              <a:latin typeface="微软雅黑" panose="020B0503020204020204" charset="-122"/>
              <a:ea typeface="微软雅黑" panose="020B0503020204020204" charset="-122"/>
            </a:endParaRPr>
          </a:p>
          <a:p>
            <a:pPr lvl="1">
              <a:lnSpc>
                <a:spcPct val="130000"/>
              </a:lnSpc>
              <a:spcBef>
                <a:spcPct val="0"/>
              </a:spcBef>
              <a:buClrTx/>
              <a:defRPr/>
            </a:pPr>
            <a:r>
              <a:rPr lang="zh-CN" altLang="en-US" sz="2400" dirty="0">
                <a:solidFill>
                  <a:srgbClr val="000000"/>
                </a:solidFill>
                <a:latin typeface="微软雅黑" panose="020B0503020204020204" charset="-122"/>
                <a:ea typeface="微软雅黑" panose="020B0503020204020204" charset="-122"/>
              </a:rPr>
              <a:t>因为</a:t>
            </a:r>
            <a:r>
              <a:rPr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rPr>
              <a:t>2K&lt;=4000&lt;4K-1</a:t>
            </a:r>
            <a:r>
              <a:rPr lang="zh-CN" altLang="en-US" sz="2400" dirty="0">
                <a:solidFill>
                  <a:srgbClr val="000000"/>
                </a:solidFill>
                <a:latin typeface="微软雅黑" panose="020B0503020204020204" charset="-122"/>
                <a:ea typeface="微软雅黑" panose="020B0503020204020204" charset="-122"/>
              </a:rPr>
              <a:t>，所以指令在</a:t>
            </a:r>
            <a:r>
              <a:rPr lang="en-US" altLang="zh-CN" sz="2400" b="1" dirty="0">
                <a:solidFill>
                  <a:srgbClr val="000000"/>
                </a:solidFill>
                <a:latin typeface="微软雅黑" panose="020B0503020204020204" charset="-122"/>
                <a:ea typeface="微软雅黑" panose="020B0503020204020204" charset="-122"/>
                <a:cs typeface="Times New Roman" panose="02020603050405020304" pitchFamily="18" charset="0"/>
              </a:rPr>
              <a:t>1</a:t>
            </a:r>
            <a:r>
              <a:rPr lang="zh-CN" altLang="en-US" sz="2400" b="1" dirty="0">
                <a:solidFill>
                  <a:srgbClr val="000000"/>
                </a:solidFill>
                <a:latin typeface="微软雅黑" panose="020B0503020204020204" charset="-122"/>
                <a:ea typeface="微软雅黑" panose="020B0503020204020204" charset="-122"/>
              </a:rPr>
              <a:t>号</a:t>
            </a:r>
            <a:r>
              <a:rPr lang="zh-CN" altLang="en-US" sz="2400" dirty="0">
                <a:solidFill>
                  <a:srgbClr val="000000"/>
                </a:solidFill>
                <a:latin typeface="微软雅黑" panose="020B0503020204020204" charset="-122"/>
                <a:ea typeface="微软雅黑" panose="020B0503020204020204" charset="-122"/>
              </a:rPr>
              <a:t>页面内，其页内位移量为：</a:t>
            </a:r>
            <a:r>
              <a:rPr lang="en-US" altLang="zh-CN" sz="2400" b="1" dirty="0">
                <a:solidFill>
                  <a:srgbClr val="FF0000"/>
                </a:solidFill>
                <a:latin typeface="微软雅黑" panose="020B0503020204020204" charset="-122"/>
                <a:ea typeface="微软雅黑" panose="020B0503020204020204" charset="-122"/>
                <a:cs typeface="Times New Roman" panose="02020603050405020304" pitchFamily="18" charset="0"/>
              </a:rPr>
              <a:t>4000-2K=1952</a:t>
            </a:r>
            <a:r>
              <a:rPr lang="zh-CN" altLang="en-US" sz="2400" dirty="0">
                <a:solidFill>
                  <a:srgbClr val="FF0000"/>
                </a:solidFill>
                <a:latin typeface="微软雅黑" panose="020B0503020204020204" charset="-122"/>
                <a:ea typeface="微软雅黑" panose="020B0503020204020204" charset="-122"/>
              </a:rPr>
              <a:t>；</a:t>
            </a:r>
            <a:endParaRPr lang="zh-CN" altLang="en-US" sz="2400" dirty="0">
              <a:solidFill>
                <a:srgbClr val="FF0000"/>
              </a:solidFill>
              <a:latin typeface="微软雅黑" panose="020B0503020204020204" charset="-122"/>
              <a:ea typeface="微软雅黑" panose="020B0503020204020204" charset="-122"/>
            </a:endParaRPr>
          </a:p>
          <a:p>
            <a:pPr lvl="1" algn="just">
              <a:lnSpc>
                <a:spcPct val="130000"/>
              </a:lnSpc>
              <a:spcBef>
                <a:spcPct val="0"/>
              </a:spcBef>
              <a:buClrTx/>
              <a:defRPr/>
            </a:pPr>
            <a:r>
              <a:rPr lang="zh-CN" altLang="en-US" sz="2400" dirty="0">
                <a:solidFill>
                  <a:srgbClr val="000000"/>
                </a:solidFill>
                <a:latin typeface="微软雅黑" panose="020B0503020204020204" charset="-122"/>
                <a:ea typeface="微软雅黑" panose="020B0503020204020204" charset="-122"/>
              </a:rPr>
              <a:t>又</a:t>
            </a:r>
            <a:r>
              <a:rPr lang="en-US" altLang="zh-CN" sz="2400" dirty="0">
                <a:solidFill>
                  <a:srgbClr val="000000"/>
                </a:solidFill>
                <a:latin typeface="微软雅黑" panose="020B0503020204020204" charset="-122"/>
                <a:ea typeface="微软雅黑" panose="020B0503020204020204" charset="-122"/>
                <a:cs typeface="Times New Roman" panose="02020603050405020304" pitchFamily="18" charset="0"/>
              </a:rPr>
              <a:t>2K&lt;=2500&lt;4K-1</a:t>
            </a:r>
            <a:r>
              <a:rPr lang="zh-CN" altLang="en-US" sz="2400" dirty="0">
                <a:solidFill>
                  <a:srgbClr val="000000"/>
                </a:solidFill>
                <a:latin typeface="微软雅黑" panose="020B0503020204020204" charset="-122"/>
                <a:ea typeface="微软雅黑" panose="020B0503020204020204" charset="-122"/>
              </a:rPr>
              <a:t>，所以数据也在</a:t>
            </a:r>
            <a:r>
              <a:rPr lang="en-US" altLang="zh-CN" sz="2400" b="1" dirty="0">
                <a:solidFill>
                  <a:srgbClr val="000000"/>
                </a:solidFill>
                <a:latin typeface="微软雅黑" panose="020B0503020204020204" charset="-122"/>
                <a:ea typeface="微软雅黑" panose="020B0503020204020204" charset="-122"/>
                <a:cs typeface="Times New Roman" panose="02020603050405020304" pitchFamily="18" charset="0"/>
              </a:rPr>
              <a:t>1</a:t>
            </a:r>
            <a:r>
              <a:rPr lang="zh-CN" altLang="en-US" sz="2400" b="1" dirty="0">
                <a:solidFill>
                  <a:srgbClr val="000000"/>
                </a:solidFill>
                <a:latin typeface="微软雅黑" panose="020B0503020204020204" charset="-122"/>
                <a:ea typeface="微软雅黑" panose="020B0503020204020204" charset="-122"/>
              </a:rPr>
              <a:t>号</a:t>
            </a:r>
            <a:r>
              <a:rPr lang="zh-CN" altLang="en-US" sz="2400" dirty="0">
                <a:solidFill>
                  <a:srgbClr val="000000"/>
                </a:solidFill>
                <a:latin typeface="微软雅黑" panose="020B0503020204020204" charset="-122"/>
                <a:ea typeface="微软雅黑" panose="020B0503020204020204" charset="-122"/>
              </a:rPr>
              <a:t>页面内，其页内位移量为：</a:t>
            </a:r>
            <a:r>
              <a:rPr lang="en-US" altLang="zh-CN" sz="2400" b="1" dirty="0">
                <a:solidFill>
                  <a:srgbClr val="FF0000"/>
                </a:solidFill>
                <a:latin typeface="微软雅黑" panose="020B0503020204020204" charset="-122"/>
                <a:ea typeface="微软雅黑" panose="020B0503020204020204" charset="-122"/>
                <a:cs typeface="Times New Roman" panose="02020603050405020304" pitchFamily="18" charset="0"/>
              </a:rPr>
              <a:t>2500-2K=452</a:t>
            </a:r>
            <a:r>
              <a:rPr lang="zh-CN" altLang="en-US" sz="2400" dirty="0">
                <a:solidFill>
                  <a:srgbClr val="FF0000"/>
                </a:solidFill>
                <a:latin typeface="微软雅黑" panose="020B0503020204020204" charset="-122"/>
                <a:ea typeface="微软雅黑" panose="020B0503020204020204" charset="-122"/>
              </a:rPr>
              <a:t>。</a:t>
            </a:r>
            <a:endParaRPr lang="zh-CN" altLang="en-US" sz="2400" dirty="0">
              <a:solidFill>
                <a:srgbClr val="FF0000"/>
              </a:solidFill>
              <a:latin typeface="微软雅黑" panose="020B0503020204020204" charset="-122"/>
              <a:ea typeface="微软雅黑" panose="020B0503020204020204" charset="-122"/>
            </a:endParaRPr>
          </a:p>
          <a:p>
            <a:pPr lvl="1" algn="just">
              <a:lnSpc>
                <a:spcPct val="130000"/>
              </a:lnSpc>
              <a:spcBef>
                <a:spcPct val="0"/>
              </a:spcBef>
              <a:buClrTx/>
              <a:defRPr/>
            </a:pPr>
            <a:r>
              <a:rPr lang="zh-CN" altLang="en-US" sz="2400" dirty="0">
                <a:solidFill>
                  <a:srgbClr val="000000"/>
                </a:solidFill>
                <a:latin typeface="微软雅黑" panose="020B0503020204020204" charset="-122"/>
                <a:ea typeface="微软雅黑" panose="020B0503020204020204" charset="-122"/>
              </a:rPr>
              <a:t>由页表知</a:t>
            </a:r>
            <a:r>
              <a:rPr lang="en-US" altLang="zh-CN" sz="2400" b="1" dirty="0">
                <a:solidFill>
                  <a:srgbClr val="000000"/>
                </a:solidFill>
                <a:latin typeface="微软雅黑" panose="020B0503020204020204" charset="-122"/>
                <a:ea typeface="微软雅黑" panose="020B0503020204020204" charset="-122"/>
                <a:cs typeface="Times New Roman" panose="02020603050405020304" pitchFamily="18" charset="0"/>
              </a:rPr>
              <a:t>1</a:t>
            </a:r>
            <a:r>
              <a:rPr lang="zh-CN" altLang="en-US" sz="2400" b="1" dirty="0">
                <a:solidFill>
                  <a:srgbClr val="000000"/>
                </a:solidFill>
                <a:latin typeface="微软雅黑" panose="020B0503020204020204" charset="-122"/>
                <a:ea typeface="微软雅黑" panose="020B0503020204020204" charset="-122"/>
              </a:rPr>
              <a:t>号</a:t>
            </a:r>
            <a:r>
              <a:rPr lang="zh-CN" altLang="en-US" sz="2400" dirty="0">
                <a:solidFill>
                  <a:srgbClr val="000000"/>
                </a:solidFill>
                <a:latin typeface="微软雅黑" panose="020B0503020204020204" charset="-122"/>
                <a:ea typeface="微软雅黑" panose="020B0503020204020204" charset="-122"/>
              </a:rPr>
              <a:t>页面对应存储空间的</a:t>
            </a:r>
            <a:r>
              <a:rPr lang="en-US" altLang="zh-CN" sz="2400" b="1" dirty="0">
                <a:solidFill>
                  <a:srgbClr val="000000"/>
                </a:solidFill>
                <a:latin typeface="微软雅黑" panose="020B0503020204020204" charset="-122"/>
                <a:ea typeface="微软雅黑" panose="020B0503020204020204" charset="-122"/>
                <a:cs typeface="Times New Roman" panose="02020603050405020304" pitchFamily="18" charset="0"/>
              </a:rPr>
              <a:t>3</a:t>
            </a:r>
            <a:r>
              <a:rPr lang="zh-CN" altLang="en-US" sz="2400" b="1" dirty="0">
                <a:solidFill>
                  <a:srgbClr val="000000"/>
                </a:solidFill>
                <a:latin typeface="微软雅黑" panose="020B0503020204020204" charset="-122"/>
                <a:ea typeface="微软雅黑" panose="020B0503020204020204" charset="-122"/>
              </a:rPr>
              <a:t>号</a:t>
            </a:r>
            <a:r>
              <a:rPr lang="zh-CN" altLang="en-US" sz="2400" dirty="0">
                <a:solidFill>
                  <a:srgbClr val="000000"/>
                </a:solidFill>
                <a:latin typeface="微软雅黑" panose="020B0503020204020204" charset="-122"/>
                <a:ea typeface="微软雅黑" panose="020B0503020204020204" charset="-122"/>
              </a:rPr>
              <a:t>物理块，故数据和指令均存放在</a:t>
            </a:r>
            <a:r>
              <a:rPr lang="en-US" altLang="zh-CN" sz="2400" b="1" dirty="0">
                <a:solidFill>
                  <a:srgbClr val="000000"/>
                </a:solidFill>
                <a:latin typeface="微软雅黑" panose="020B0503020204020204" charset="-122"/>
                <a:ea typeface="微软雅黑" panose="020B0503020204020204" charset="-122"/>
                <a:cs typeface="Times New Roman" panose="02020603050405020304" pitchFamily="18" charset="0"/>
              </a:rPr>
              <a:t>3</a:t>
            </a:r>
            <a:r>
              <a:rPr lang="zh-CN" altLang="en-US" sz="2400" b="1" dirty="0">
                <a:solidFill>
                  <a:srgbClr val="000000"/>
                </a:solidFill>
                <a:latin typeface="微软雅黑" panose="020B0503020204020204" charset="-122"/>
                <a:ea typeface="微软雅黑" panose="020B0503020204020204" charset="-122"/>
              </a:rPr>
              <a:t>号</a:t>
            </a:r>
            <a:r>
              <a:rPr lang="zh-CN" altLang="en-US" sz="2400" dirty="0">
                <a:solidFill>
                  <a:srgbClr val="000000"/>
                </a:solidFill>
                <a:latin typeface="微软雅黑" panose="020B0503020204020204" charset="-122"/>
                <a:ea typeface="微软雅黑" panose="020B0503020204020204" charset="-122"/>
              </a:rPr>
              <a:t>物理块内，指令存放的物理单元为：</a:t>
            </a:r>
            <a:r>
              <a:rPr lang="en-US" altLang="zh-CN" sz="2400" b="1" dirty="0">
                <a:solidFill>
                  <a:srgbClr val="FF0000"/>
                </a:solidFill>
                <a:latin typeface="微软雅黑" panose="020B0503020204020204" charset="-122"/>
                <a:ea typeface="微软雅黑" panose="020B0503020204020204" charset="-122"/>
                <a:cs typeface="Times New Roman" panose="02020603050405020304" pitchFamily="18" charset="0"/>
              </a:rPr>
              <a:t>3</a:t>
            </a:r>
            <a:r>
              <a:rPr lang="en-US" altLang="zh-CN" sz="2400" b="1" dirty="0">
                <a:solidFill>
                  <a:srgbClr val="FF0000"/>
                </a:solidFill>
                <a:latin typeface="微软雅黑" panose="020B0503020204020204" charset="-122"/>
                <a:ea typeface="微软雅黑" panose="020B0503020204020204" charset="-122"/>
              </a:rPr>
              <a:t>×</a:t>
            </a:r>
            <a:r>
              <a:rPr lang="en-US" altLang="zh-CN" sz="2400" b="1" dirty="0">
                <a:solidFill>
                  <a:srgbClr val="FF0000"/>
                </a:solidFill>
                <a:latin typeface="微软雅黑" panose="020B0503020204020204" charset="-122"/>
                <a:ea typeface="微软雅黑" panose="020B0503020204020204" charset="-122"/>
                <a:cs typeface="Times New Roman" panose="02020603050405020304" pitchFamily="18" charset="0"/>
              </a:rPr>
              <a:t>2K+1952=8096</a:t>
            </a:r>
            <a:r>
              <a:rPr lang="zh-CN" altLang="en-US" sz="2400" b="1" dirty="0">
                <a:solidFill>
                  <a:srgbClr val="000000"/>
                </a:solidFill>
                <a:latin typeface="微软雅黑" panose="020B0503020204020204" charset="-122"/>
                <a:ea typeface="微软雅黑" panose="020B0503020204020204" charset="-122"/>
              </a:rPr>
              <a:t>；</a:t>
            </a:r>
            <a:r>
              <a:rPr lang="zh-CN" altLang="en-US" sz="2400" dirty="0">
                <a:solidFill>
                  <a:srgbClr val="000000"/>
                </a:solidFill>
                <a:latin typeface="微软雅黑" panose="020B0503020204020204" charset="-122"/>
                <a:ea typeface="微软雅黑" panose="020B0503020204020204" charset="-122"/>
              </a:rPr>
              <a:t>数据存放的物理单元为：</a:t>
            </a:r>
            <a:r>
              <a:rPr lang="en-US" altLang="zh-CN" sz="2400" b="1" dirty="0">
                <a:solidFill>
                  <a:srgbClr val="FF0000"/>
                </a:solidFill>
                <a:latin typeface="微软雅黑" panose="020B0503020204020204" charset="-122"/>
                <a:ea typeface="微软雅黑" panose="020B0503020204020204" charset="-122"/>
                <a:cs typeface="Times New Roman" panose="02020603050405020304" pitchFamily="18" charset="0"/>
              </a:rPr>
              <a:t>3</a:t>
            </a:r>
            <a:r>
              <a:rPr lang="en-US" altLang="zh-CN" sz="2400" b="1" dirty="0">
                <a:solidFill>
                  <a:srgbClr val="FF0000"/>
                </a:solidFill>
                <a:latin typeface="微软雅黑" panose="020B0503020204020204" charset="-122"/>
                <a:ea typeface="微软雅黑" panose="020B0503020204020204" charset="-122"/>
              </a:rPr>
              <a:t>×</a:t>
            </a:r>
            <a:r>
              <a:rPr lang="en-US" altLang="zh-CN" sz="2400" b="1" dirty="0">
                <a:solidFill>
                  <a:srgbClr val="FF0000"/>
                </a:solidFill>
                <a:latin typeface="微软雅黑" panose="020B0503020204020204" charset="-122"/>
                <a:ea typeface="微软雅黑" panose="020B0503020204020204" charset="-122"/>
                <a:cs typeface="Times New Roman" panose="02020603050405020304" pitchFamily="18" charset="0"/>
              </a:rPr>
              <a:t>2K+452=6596</a:t>
            </a:r>
            <a:r>
              <a:rPr lang="zh-CN" altLang="en-US" sz="2400" b="1" dirty="0">
                <a:solidFill>
                  <a:srgbClr val="000000"/>
                </a:solidFill>
                <a:latin typeface="微软雅黑" panose="020B0503020204020204" charset="-122"/>
                <a:ea typeface="微软雅黑" panose="020B0503020204020204" charset="-122"/>
              </a:rPr>
              <a:t>。     </a:t>
            </a:r>
            <a:endParaRPr lang="zh-CN" altLang="en-US" sz="2400" dirty="0">
              <a:solidFill>
                <a:srgbClr val="000000"/>
              </a:solidFill>
              <a:latin typeface="微软雅黑" panose="020B0503020204020204" charset="-122"/>
              <a:ea typeface="微软雅黑" panose="020B0503020204020204" charset="-122"/>
            </a:endParaRPr>
          </a:p>
          <a:p>
            <a:endParaRPr lang="zh-CN" altLang="en-US" sz="2800" dirty="0"/>
          </a:p>
        </p:txBody>
      </p:sp>
      <p:sp>
        <p:nvSpPr>
          <p:cNvPr id="197634" name="Text Box 2"/>
          <p:cNvSpPr txBox="1">
            <a:spLocks noChangeArrowheads="1"/>
          </p:cNvSpPr>
          <p:nvPr/>
        </p:nvSpPr>
        <p:spPr bwMode="auto">
          <a:xfrm>
            <a:off x="1828800" y="533401"/>
            <a:ext cx="8534400" cy="597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0"/>
              </a:spcBef>
              <a:buClrTx/>
              <a:buNone/>
              <a:defRPr/>
            </a:pPr>
            <a:r>
              <a:rPr lang="en-US" altLang="zh-CN" sz="2800" dirty="0">
                <a:solidFill>
                  <a:srgbClr val="000000"/>
                </a:solidFill>
                <a:latin typeface="微软雅黑" panose="020B0503020204020204" charset="-122"/>
                <a:ea typeface="微软雅黑" panose="020B0503020204020204" charset="-122"/>
              </a:rPr>
              <a:t>        </a:t>
            </a:r>
            <a:endParaRPr lang="zh-CN" altLang="en-US" sz="2800" dirty="0">
              <a:solidFill>
                <a:srgbClr val="000000"/>
              </a:solidFill>
              <a:latin typeface="微软雅黑" panose="020B0503020204020204" charset="-122"/>
              <a:ea typeface="微软雅黑" panose="020B0503020204020204" charset="-122"/>
            </a:endParaRPr>
          </a:p>
        </p:txBody>
      </p:sp>
      <p:graphicFrame>
        <p:nvGraphicFramePr>
          <p:cNvPr id="349307" name="Group 123"/>
          <p:cNvGraphicFramePr>
            <a:graphicFrameLocks noGrp="1"/>
          </p:cNvGraphicFramePr>
          <p:nvPr/>
        </p:nvGraphicFramePr>
        <p:xfrm>
          <a:off x="9702831" y="1475809"/>
          <a:ext cx="914400" cy="1220788"/>
        </p:xfrm>
        <a:graphic>
          <a:graphicData uri="http://schemas.openxmlformats.org/drawingml/2006/table">
            <a:tbl>
              <a:tblPr/>
              <a:tblGrid>
                <a:gridCol w="457200"/>
                <a:gridCol w="457200"/>
              </a:tblGrid>
              <a:tr h="250825">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06388">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50825">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1"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eaLnBrk="0" hangingPunct="0">
                        <a:spcBef>
                          <a:spcPct val="20000"/>
                        </a:spcBef>
                        <a:buClr>
                          <a:srgbClr val="7030A0"/>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buClr>
                          <a:srgbClr val="7030A0"/>
                        </a:buClr>
                        <a:buFont typeface="Wingdings" panose="05000000000000000000" pitchFamily="2" charset="2"/>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buClr>
                          <a:srgbClr val="7030A0"/>
                        </a:buClr>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a:t>
                      </a:r>
                      <a:endParaRPr kumimoji="1"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标题 1"/>
          <p:cNvSpPr>
            <a:spLocks noGrp="1"/>
          </p:cNvSpPr>
          <p:nvPr>
            <p:ph type="title"/>
          </p:nvPr>
        </p:nvSpPr>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49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Text Box 2"/>
          <p:cNvSpPr txBox="1">
            <a:spLocks noChangeArrowheads="1"/>
          </p:cNvSpPr>
          <p:nvPr/>
        </p:nvSpPr>
        <p:spPr bwMode="auto">
          <a:xfrm>
            <a:off x="471951" y="260351"/>
            <a:ext cx="10913787"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None/>
              <a:defRPr/>
            </a:pPr>
            <a:r>
              <a:rPr kumimoji="0" lang="zh-CN" altLang="en-US" b="1" dirty="0">
                <a:solidFill>
                  <a:srgbClr val="9454C3"/>
                </a:solidFill>
                <a:latin typeface="微软雅黑" panose="020B0503020204020204" charset="-122"/>
                <a:ea typeface="微软雅黑" panose="020B0503020204020204" charset="-122"/>
              </a:rPr>
              <a:t>例</a:t>
            </a:r>
            <a:r>
              <a:rPr kumimoji="0" lang="en-US" altLang="zh-CN" b="1" dirty="0">
                <a:solidFill>
                  <a:srgbClr val="9454C3"/>
                </a:solidFill>
                <a:latin typeface="微软雅黑" panose="020B0503020204020204" charset="-122"/>
                <a:ea typeface="微软雅黑" panose="020B0503020204020204" charset="-122"/>
              </a:rPr>
              <a:t>3</a:t>
            </a:r>
            <a:r>
              <a:rPr kumimoji="0" lang="zh-CN" altLang="en-US" b="1" dirty="0">
                <a:solidFill>
                  <a:srgbClr val="9454C3"/>
                </a:solidFill>
                <a:latin typeface="微软雅黑" panose="020B0503020204020204" charset="-122"/>
                <a:ea typeface="微软雅黑" panose="020B0503020204020204" charset="-122"/>
              </a:rPr>
              <a:t>：</a:t>
            </a:r>
            <a:r>
              <a:rPr kumimoji="0" lang="zh-CN" altLang="en-US" sz="2800" b="1" dirty="0">
                <a:solidFill>
                  <a:prstClr val="black"/>
                </a:solidFill>
                <a:latin typeface="微软雅黑" panose="020B0503020204020204" charset="-122"/>
                <a:ea typeface="微软雅黑" panose="020B0503020204020204" charset="-122"/>
              </a:rPr>
              <a:t>在采用页式存储管理的系统中，作业</a:t>
            </a:r>
            <a:r>
              <a:rPr kumimoji="0" lang="en-US" altLang="zh-CN" sz="2800" b="1" dirty="0">
                <a:solidFill>
                  <a:prstClr val="black"/>
                </a:solidFill>
                <a:latin typeface="微软雅黑" panose="020B0503020204020204" charset="-122"/>
                <a:ea typeface="微软雅黑" panose="020B0503020204020204" charset="-122"/>
              </a:rPr>
              <a:t>J</a:t>
            </a:r>
            <a:r>
              <a:rPr kumimoji="0" lang="zh-CN" altLang="en-US" sz="2800" b="1" dirty="0">
                <a:solidFill>
                  <a:prstClr val="black"/>
                </a:solidFill>
                <a:latin typeface="微软雅黑" panose="020B0503020204020204" charset="-122"/>
                <a:ea typeface="微软雅黑" panose="020B0503020204020204" charset="-122"/>
              </a:rPr>
              <a:t>的逻辑空间为</a:t>
            </a:r>
            <a:r>
              <a:rPr kumimoji="0" lang="en-US" altLang="zh-CN" sz="2800" b="1" dirty="0">
                <a:solidFill>
                  <a:prstClr val="black"/>
                </a:solidFill>
                <a:latin typeface="微软雅黑" panose="020B0503020204020204" charset="-122"/>
                <a:ea typeface="微软雅黑" panose="020B0503020204020204" charset="-122"/>
              </a:rPr>
              <a:t>4</a:t>
            </a:r>
            <a:r>
              <a:rPr kumimoji="0" lang="zh-CN" altLang="en-US" sz="2800" b="1" dirty="0">
                <a:solidFill>
                  <a:prstClr val="black"/>
                </a:solidFill>
                <a:latin typeface="微软雅黑" panose="020B0503020204020204" charset="-122"/>
                <a:ea typeface="微软雅黑" panose="020B0503020204020204" charset="-122"/>
              </a:rPr>
              <a:t>页（每页</a:t>
            </a:r>
            <a:r>
              <a:rPr kumimoji="0" lang="en-US" altLang="zh-CN" sz="2800" b="1" dirty="0">
                <a:solidFill>
                  <a:prstClr val="black"/>
                </a:solidFill>
                <a:latin typeface="微软雅黑" panose="020B0503020204020204" charset="-122"/>
                <a:ea typeface="微软雅黑" panose="020B0503020204020204" charset="-122"/>
              </a:rPr>
              <a:t>2048</a:t>
            </a:r>
            <a:r>
              <a:rPr kumimoji="0" lang="zh-CN" altLang="en-US" sz="2800" b="1" dirty="0">
                <a:solidFill>
                  <a:prstClr val="black"/>
                </a:solidFill>
                <a:latin typeface="微软雅黑" panose="020B0503020204020204" charset="-122"/>
                <a:ea typeface="微软雅黑" panose="020B0503020204020204" charset="-122"/>
              </a:rPr>
              <a:t>字节），且已知该作业的页表为：</a:t>
            </a:r>
            <a:endParaRPr kumimoji="0" lang="zh-CN" altLang="en-US" sz="2800" b="1" dirty="0">
              <a:solidFill>
                <a:prstClr val="black"/>
              </a:solidFill>
              <a:latin typeface="微软雅黑" panose="020B0503020204020204" charset="-122"/>
              <a:ea typeface="微软雅黑" panose="020B0503020204020204" charset="-122"/>
            </a:endParaRPr>
          </a:p>
        </p:txBody>
      </p:sp>
      <p:grpSp>
        <p:nvGrpSpPr>
          <p:cNvPr id="198659" name="Group 3"/>
          <p:cNvGrpSpPr/>
          <p:nvPr/>
        </p:nvGrpSpPr>
        <p:grpSpPr bwMode="auto">
          <a:xfrm>
            <a:off x="2063751" y="1412875"/>
            <a:ext cx="4392613" cy="2032000"/>
            <a:chOff x="476" y="935"/>
            <a:chExt cx="2767" cy="1280"/>
          </a:xfrm>
        </p:grpSpPr>
        <p:grpSp>
          <p:nvGrpSpPr>
            <p:cNvPr id="198706" name="Group 4"/>
            <p:cNvGrpSpPr/>
            <p:nvPr/>
          </p:nvGrpSpPr>
          <p:grpSpPr bwMode="auto">
            <a:xfrm>
              <a:off x="476" y="981"/>
              <a:ext cx="2767" cy="1224"/>
              <a:chOff x="476" y="981"/>
              <a:chExt cx="4944" cy="1224"/>
            </a:xfrm>
          </p:grpSpPr>
          <p:sp>
            <p:nvSpPr>
              <p:cNvPr id="198716" name="Line 6"/>
              <p:cNvSpPr>
                <a:spLocks noChangeShapeType="1"/>
              </p:cNvSpPr>
              <p:nvPr/>
            </p:nvSpPr>
            <p:spPr bwMode="auto">
              <a:xfrm>
                <a:off x="476" y="1253"/>
                <a:ext cx="49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17" name="Line 7"/>
              <p:cNvSpPr>
                <a:spLocks noChangeShapeType="1"/>
              </p:cNvSpPr>
              <p:nvPr/>
            </p:nvSpPr>
            <p:spPr bwMode="auto">
              <a:xfrm>
                <a:off x="476" y="1592"/>
                <a:ext cx="49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18" name="Line 8"/>
              <p:cNvSpPr>
                <a:spLocks noChangeShapeType="1"/>
              </p:cNvSpPr>
              <p:nvPr/>
            </p:nvSpPr>
            <p:spPr bwMode="auto">
              <a:xfrm>
                <a:off x="476" y="1888"/>
                <a:ext cx="49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19" name="Line 9"/>
              <p:cNvSpPr>
                <a:spLocks noChangeShapeType="1"/>
              </p:cNvSpPr>
              <p:nvPr/>
            </p:nvSpPr>
            <p:spPr bwMode="auto">
              <a:xfrm>
                <a:off x="2880" y="981"/>
                <a:ext cx="0" cy="122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endParaRPr lang="zh-CN" altLang="en-US">
                  <a:solidFill>
                    <a:prstClr val="black"/>
                  </a:solidFill>
                  <a:latin typeface="Arial" panose="020B0604020202020204"/>
                  <a:ea typeface="黑体" panose="02010609060101010101" pitchFamily="2" charset="-122"/>
                </a:endParaRPr>
              </a:p>
            </p:txBody>
          </p:sp>
        </p:grpSp>
        <p:sp>
          <p:nvSpPr>
            <p:cNvPr id="198707" name="Text Box 10"/>
            <p:cNvSpPr txBox="1">
              <a:spLocks noChangeArrowheads="1"/>
            </p:cNvSpPr>
            <p:nvPr/>
          </p:nvSpPr>
          <p:spPr bwMode="auto">
            <a:xfrm>
              <a:off x="930" y="93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0</a:t>
              </a:r>
              <a:endParaRPr kumimoji="0" lang="en-US" altLang="zh-CN" sz="2800">
                <a:solidFill>
                  <a:prstClr val="black"/>
                </a:solidFill>
              </a:endParaRPr>
            </a:p>
          </p:txBody>
        </p:sp>
        <p:sp>
          <p:nvSpPr>
            <p:cNvPr id="198708" name="Text Box 11"/>
            <p:cNvSpPr txBox="1">
              <a:spLocks noChangeArrowheads="1"/>
            </p:cNvSpPr>
            <p:nvPr/>
          </p:nvSpPr>
          <p:spPr bwMode="auto">
            <a:xfrm>
              <a:off x="2381" y="93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2</a:t>
              </a:r>
              <a:endParaRPr kumimoji="0" lang="en-US" altLang="zh-CN" sz="2800">
                <a:solidFill>
                  <a:prstClr val="black"/>
                </a:solidFill>
              </a:endParaRPr>
            </a:p>
          </p:txBody>
        </p:sp>
        <p:sp>
          <p:nvSpPr>
            <p:cNvPr id="198709" name="Text Box 12"/>
            <p:cNvSpPr txBox="1">
              <a:spLocks noChangeArrowheads="1"/>
            </p:cNvSpPr>
            <p:nvPr/>
          </p:nvSpPr>
          <p:spPr bwMode="auto">
            <a:xfrm>
              <a:off x="884" y="12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1</a:t>
              </a:r>
              <a:endParaRPr kumimoji="0" lang="en-US" altLang="zh-CN" sz="2800">
                <a:solidFill>
                  <a:prstClr val="black"/>
                </a:solidFill>
              </a:endParaRPr>
            </a:p>
          </p:txBody>
        </p:sp>
        <p:sp>
          <p:nvSpPr>
            <p:cNvPr id="198710" name="Text Box 13"/>
            <p:cNvSpPr txBox="1">
              <a:spLocks noChangeArrowheads="1"/>
            </p:cNvSpPr>
            <p:nvPr/>
          </p:nvSpPr>
          <p:spPr bwMode="auto">
            <a:xfrm>
              <a:off x="930" y="157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2</a:t>
              </a:r>
              <a:endParaRPr kumimoji="0" lang="en-US" altLang="zh-CN" sz="2800">
                <a:solidFill>
                  <a:prstClr val="black"/>
                </a:solidFill>
              </a:endParaRPr>
            </a:p>
          </p:txBody>
        </p:sp>
        <p:sp>
          <p:nvSpPr>
            <p:cNvPr id="198711" name="Text Box 14"/>
            <p:cNvSpPr txBox="1">
              <a:spLocks noChangeArrowheads="1"/>
            </p:cNvSpPr>
            <p:nvPr/>
          </p:nvSpPr>
          <p:spPr bwMode="auto">
            <a:xfrm>
              <a:off x="930" y="18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3</a:t>
              </a:r>
              <a:endParaRPr kumimoji="0" lang="en-US" altLang="zh-CN" sz="2800">
                <a:solidFill>
                  <a:prstClr val="black"/>
                </a:solidFill>
              </a:endParaRPr>
            </a:p>
          </p:txBody>
        </p:sp>
        <p:sp>
          <p:nvSpPr>
            <p:cNvPr id="198712" name="Text Box 15"/>
            <p:cNvSpPr txBox="1">
              <a:spLocks noChangeArrowheads="1"/>
            </p:cNvSpPr>
            <p:nvPr/>
          </p:nvSpPr>
          <p:spPr bwMode="auto">
            <a:xfrm>
              <a:off x="2426" y="1253"/>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4</a:t>
              </a:r>
              <a:endParaRPr kumimoji="0" lang="en-US" altLang="zh-CN" sz="2800">
                <a:solidFill>
                  <a:prstClr val="black"/>
                </a:solidFill>
              </a:endParaRPr>
            </a:p>
          </p:txBody>
        </p:sp>
        <p:sp>
          <p:nvSpPr>
            <p:cNvPr id="198713" name="Text Box 16"/>
            <p:cNvSpPr txBox="1">
              <a:spLocks noChangeArrowheads="1"/>
            </p:cNvSpPr>
            <p:nvPr/>
          </p:nvSpPr>
          <p:spPr bwMode="auto">
            <a:xfrm>
              <a:off x="2426" y="1570"/>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6</a:t>
              </a:r>
              <a:endParaRPr kumimoji="0" lang="en-US" altLang="zh-CN" sz="2800">
                <a:solidFill>
                  <a:prstClr val="black"/>
                </a:solidFill>
              </a:endParaRPr>
            </a:p>
          </p:txBody>
        </p:sp>
        <p:sp>
          <p:nvSpPr>
            <p:cNvPr id="198714" name="Text Box 17"/>
            <p:cNvSpPr txBox="1">
              <a:spLocks noChangeArrowheads="1"/>
            </p:cNvSpPr>
            <p:nvPr/>
          </p:nvSpPr>
          <p:spPr bwMode="auto">
            <a:xfrm>
              <a:off x="2426" y="1888"/>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en-US" altLang="zh-CN" sz="2800">
                  <a:solidFill>
                    <a:prstClr val="black"/>
                  </a:solidFill>
                </a:rPr>
                <a:t>8</a:t>
              </a:r>
              <a:endParaRPr kumimoji="0" lang="en-US" altLang="zh-CN" sz="2800">
                <a:solidFill>
                  <a:prstClr val="black"/>
                </a:solidFill>
              </a:endParaRPr>
            </a:p>
          </p:txBody>
        </p:sp>
      </p:grpSp>
      <p:sp>
        <p:nvSpPr>
          <p:cNvPr id="198674" name="Text Box 18"/>
          <p:cNvSpPr txBox="1">
            <a:spLocks noChangeArrowheads="1"/>
          </p:cNvSpPr>
          <p:nvPr/>
        </p:nvSpPr>
        <p:spPr bwMode="auto">
          <a:xfrm>
            <a:off x="7275871" y="925974"/>
            <a:ext cx="420734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None/>
              <a:defRPr/>
            </a:pPr>
            <a:r>
              <a:rPr kumimoji="0" lang="zh-CN" altLang="en-US" sz="2800" b="1" dirty="0">
                <a:solidFill>
                  <a:prstClr val="black"/>
                </a:solidFill>
              </a:rPr>
              <a:t>试借助地址变换图</a:t>
            </a:r>
            <a:r>
              <a:rPr kumimoji="0" lang="en-US" altLang="zh-CN" sz="2800" b="1" dirty="0">
                <a:solidFill>
                  <a:prstClr val="black"/>
                </a:solidFill>
              </a:rPr>
              <a:t>(</a:t>
            </a:r>
            <a:r>
              <a:rPr kumimoji="0" lang="zh-CN" altLang="en-US" sz="2800" b="1" dirty="0">
                <a:solidFill>
                  <a:prstClr val="black"/>
                </a:solidFill>
              </a:rPr>
              <a:t>要求画出</a:t>
            </a:r>
            <a:r>
              <a:rPr kumimoji="0" lang="en-US" altLang="zh-CN" sz="2800" b="1" dirty="0">
                <a:solidFill>
                  <a:prstClr val="black"/>
                </a:solidFill>
              </a:rPr>
              <a:t>)</a:t>
            </a:r>
            <a:r>
              <a:rPr kumimoji="0" lang="zh-CN" altLang="en-US" sz="2800" b="1" dirty="0">
                <a:solidFill>
                  <a:prstClr val="black"/>
                </a:solidFill>
              </a:rPr>
              <a:t>求出有效逻辑地址</a:t>
            </a:r>
            <a:r>
              <a:rPr kumimoji="0" lang="en-US" altLang="zh-CN" sz="2800" b="1" dirty="0">
                <a:solidFill>
                  <a:prstClr val="black"/>
                </a:solidFill>
              </a:rPr>
              <a:t>4865</a:t>
            </a:r>
            <a:r>
              <a:rPr kumimoji="0" lang="zh-CN" altLang="en-US" sz="2800" b="1" dirty="0">
                <a:solidFill>
                  <a:prstClr val="black"/>
                </a:solidFill>
              </a:rPr>
              <a:t>对应的物理地址。</a:t>
            </a:r>
            <a:endParaRPr kumimoji="0" lang="zh-CN" altLang="en-US" sz="2800" b="1" dirty="0">
              <a:solidFill>
                <a:prstClr val="black"/>
              </a:solidFill>
            </a:endParaRPr>
          </a:p>
        </p:txBody>
      </p:sp>
      <p:sp>
        <p:nvSpPr>
          <p:cNvPr id="198675" name="Text Box 19"/>
          <p:cNvSpPr txBox="1">
            <a:spLocks noChangeArrowheads="1"/>
          </p:cNvSpPr>
          <p:nvPr/>
        </p:nvSpPr>
        <p:spPr bwMode="auto">
          <a:xfrm>
            <a:off x="816085" y="3573463"/>
            <a:ext cx="10569659" cy="2462213"/>
          </a:xfrm>
          <a:prstGeom prst="rect">
            <a:avLst/>
          </a:prstGeom>
          <a:noFill/>
          <a:ln w="38100">
            <a:solidFill>
              <a:srgbClr val="80008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lvl="1">
              <a:spcBef>
                <a:spcPct val="50000"/>
              </a:spcBef>
              <a:buClrTx/>
              <a:buNone/>
              <a:defRPr/>
            </a:pPr>
            <a:r>
              <a:rPr kumimoji="0" lang="zh-CN" altLang="en-US" b="1">
                <a:solidFill>
                  <a:srgbClr val="990099"/>
                </a:solidFill>
                <a:latin typeface="楷体" panose="02010609060101010101" pitchFamily="49" charset="-122"/>
                <a:ea typeface="楷体" panose="02010609060101010101" pitchFamily="49" charset="-122"/>
              </a:rPr>
              <a:t>分析</a:t>
            </a:r>
            <a:r>
              <a:rPr kumimoji="0" lang="zh-CN" altLang="en-US" b="1">
                <a:solidFill>
                  <a:prstClr val="black"/>
                </a:solidFill>
                <a:latin typeface="楷体" panose="02010609060101010101" pitchFamily="49" charset="-122"/>
                <a:ea typeface="楷体" panose="02010609060101010101" pitchFamily="49" charset="-122"/>
              </a:rPr>
              <a:t>：系统采用每页</a:t>
            </a:r>
            <a:r>
              <a:rPr kumimoji="0" lang="en-US" altLang="zh-CN" b="1">
                <a:solidFill>
                  <a:prstClr val="black"/>
                </a:solidFill>
                <a:latin typeface="楷体" panose="02010609060101010101" pitchFamily="49" charset="-122"/>
                <a:ea typeface="楷体" panose="02010609060101010101" pitchFamily="49" charset="-122"/>
              </a:rPr>
              <a:t>2048</a:t>
            </a:r>
            <a:r>
              <a:rPr kumimoji="0" lang="zh-CN" altLang="en-US" b="1">
                <a:solidFill>
                  <a:prstClr val="black"/>
                </a:solidFill>
                <a:latin typeface="楷体" panose="02010609060101010101" pitchFamily="49" charset="-122"/>
                <a:ea typeface="楷体" panose="02010609060101010101" pitchFamily="49" charset="-122"/>
              </a:rPr>
              <a:t>字节，即页内地址为</a:t>
            </a:r>
            <a:r>
              <a:rPr kumimoji="0" lang="en-US" altLang="zh-CN" b="1">
                <a:solidFill>
                  <a:prstClr val="black"/>
                </a:solidFill>
                <a:latin typeface="楷体" panose="02010609060101010101" pitchFamily="49" charset="-122"/>
                <a:ea typeface="楷体" panose="02010609060101010101" pitchFamily="49" charset="-122"/>
              </a:rPr>
              <a:t>11</a:t>
            </a:r>
            <a:r>
              <a:rPr kumimoji="0" lang="zh-CN" altLang="en-US" b="1">
                <a:solidFill>
                  <a:prstClr val="black"/>
                </a:solidFill>
                <a:latin typeface="楷体" panose="02010609060101010101" pitchFamily="49" charset="-122"/>
                <a:ea typeface="楷体" panose="02010609060101010101" pitchFamily="49" charset="-122"/>
              </a:rPr>
              <a:t>位。这样首先从逻辑地址中转换出页号和页内偏移，即</a:t>
            </a:r>
            <a:r>
              <a:rPr kumimoji="0" lang="en-US" altLang="zh-CN" b="1">
                <a:solidFill>
                  <a:prstClr val="black"/>
                </a:solidFill>
                <a:latin typeface="楷体" panose="02010609060101010101" pitchFamily="49" charset="-122"/>
                <a:ea typeface="楷体" panose="02010609060101010101" pitchFamily="49" charset="-122"/>
              </a:rPr>
              <a:t>4865</a:t>
            </a:r>
            <a:r>
              <a:rPr kumimoji="0" lang="zh-CN" altLang="en-US" b="1">
                <a:solidFill>
                  <a:prstClr val="black"/>
                </a:solidFill>
                <a:latin typeface="楷体" panose="02010609060101010101" pitchFamily="49" charset="-122"/>
                <a:ea typeface="楷体" panose="02010609060101010101" pitchFamily="49" charset="-122"/>
              </a:rPr>
              <a:t>对应页号为：</a:t>
            </a:r>
            <a:r>
              <a:rPr kumimoji="0" lang="en-US" altLang="zh-CN" b="1">
                <a:solidFill>
                  <a:prstClr val="black"/>
                </a:solidFill>
                <a:latin typeface="楷体" panose="02010609060101010101" pitchFamily="49" charset="-122"/>
                <a:ea typeface="楷体" panose="02010609060101010101" pitchFamily="49" charset="-122"/>
              </a:rPr>
              <a:t>INT(4865/2048)=2;</a:t>
            </a:r>
            <a:r>
              <a:rPr kumimoji="0" lang="zh-CN" altLang="en-US" b="1">
                <a:solidFill>
                  <a:prstClr val="black"/>
                </a:solidFill>
                <a:latin typeface="楷体" panose="02010609060101010101" pitchFamily="49" charset="-122"/>
                <a:ea typeface="楷体" panose="02010609060101010101" pitchFamily="49" charset="-122"/>
              </a:rPr>
              <a:t>页内偏移为：</a:t>
            </a:r>
            <a:r>
              <a:rPr kumimoji="0" lang="en-US" altLang="zh-CN" b="1">
                <a:solidFill>
                  <a:prstClr val="black"/>
                </a:solidFill>
                <a:latin typeface="楷体" panose="02010609060101010101" pitchFamily="49" charset="-122"/>
                <a:ea typeface="楷体" panose="02010609060101010101" pitchFamily="49" charset="-122"/>
              </a:rPr>
              <a:t>4865 Mod 2048=769</a:t>
            </a:r>
            <a:endParaRPr kumimoji="0" lang="en-US" altLang="zh-CN" b="1">
              <a:solidFill>
                <a:prstClr val="black"/>
              </a:solidFill>
              <a:latin typeface="楷体" panose="02010609060101010101" pitchFamily="49" charset="-122"/>
              <a:ea typeface="楷体" panose="02010609060101010101" pitchFamily="49" charset="-122"/>
            </a:endParaRPr>
          </a:p>
          <a:p>
            <a:pPr lvl="1">
              <a:spcBef>
                <a:spcPct val="50000"/>
              </a:spcBef>
              <a:buClrTx/>
              <a:buNone/>
              <a:defRPr/>
            </a:pPr>
            <a:r>
              <a:rPr kumimoji="0" lang="zh-CN" altLang="en-US" b="1">
                <a:solidFill>
                  <a:prstClr val="black"/>
                </a:solidFill>
                <a:latin typeface="楷体" panose="02010609060101010101" pitchFamily="49" charset="-122"/>
                <a:ea typeface="楷体" panose="02010609060101010101" pitchFamily="49" charset="-122"/>
              </a:rPr>
              <a:t>对应块号为</a:t>
            </a:r>
            <a:r>
              <a:rPr kumimoji="0" lang="en-US" altLang="zh-CN" b="1">
                <a:solidFill>
                  <a:prstClr val="black"/>
                </a:solidFill>
                <a:latin typeface="楷体" panose="02010609060101010101" pitchFamily="49" charset="-122"/>
                <a:ea typeface="楷体" panose="02010609060101010101" pitchFamily="49" charset="-122"/>
              </a:rPr>
              <a:t>6</a:t>
            </a:r>
            <a:r>
              <a:rPr kumimoji="0" lang="zh-CN" altLang="en-US" b="1">
                <a:solidFill>
                  <a:prstClr val="black"/>
                </a:solidFill>
                <a:latin typeface="楷体" panose="02010609060101010101" pitchFamily="49" charset="-122"/>
                <a:ea typeface="楷体" panose="02010609060101010101" pitchFamily="49" charset="-122"/>
              </a:rPr>
              <a:t>，每块大小和页大小相同，则物理地址</a:t>
            </a:r>
            <a:r>
              <a:rPr kumimoji="0" lang="en-US" altLang="zh-CN" b="1">
                <a:solidFill>
                  <a:prstClr val="black"/>
                </a:solidFill>
                <a:latin typeface="楷体" panose="02010609060101010101" pitchFamily="49" charset="-122"/>
                <a:ea typeface="楷体" panose="02010609060101010101" pitchFamily="49" charset="-122"/>
              </a:rPr>
              <a:t>=6*2048+769=13057</a:t>
            </a:r>
            <a:endParaRPr kumimoji="0" lang="en-US" altLang="zh-CN" b="1">
              <a:solidFill>
                <a:prstClr val="black"/>
              </a:solidFill>
              <a:latin typeface="楷体" panose="02010609060101010101" pitchFamily="49" charset="-122"/>
              <a:ea typeface="楷体" panose="02010609060101010101" pitchFamily="49" charset="-122"/>
            </a:endParaRPr>
          </a:p>
        </p:txBody>
      </p:sp>
      <p:grpSp>
        <p:nvGrpSpPr>
          <p:cNvPr id="198676" name="Group 20"/>
          <p:cNvGrpSpPr/>
          <p:nvPr/>
        </p:nvGrpSpPr>
        <p:grpSpPr bwMode="auto">
          <a:xfrm>
            <a:off x="471951" y="1752140"/>
            <a:ext cx="9144000" cy="4968875"/>
            <a:chOff x="249" y="2387"/>
            <a:chExt cx="5760" cy="3130"/>
          </a:xfrm>
        </p:grpSpPr>
        <p:grpSp>
          <p:nvGrpSpPr>
            <p:cNvPr id="198663" name="Group 21"/>
            <p:cNvGrpSpPr/>
            <p:nvPr/>
          </p:nvGrpSpPr>
          <p:grpSpPr bwMode="auto">
            <a:xfrm>
              <a:off x="249" y="2387"/>
              <a:ext cx="5760" cy="3130"/>
              <a:chOff x="0" y="1026"/>
              <a:chExt cx="5760" cy="3130"/>
            </a:xfrm>
          </p:grpSpPr>
          <p:sp>
            <p:nvSpPr>
              <p:cNvPr id="198665" name="Rectangle 22"/>
              <p:cNvSpPr>
                <a:spLocks noChangeArrowheads="1"/>
              </p:cNvSpPr>
              <p:nvPr/>
            </p:nvSpPr>
            <p:spPr bwMode="auto">
              <a:xfrm>
                <a:off x="0" y="2489"/>
                <a:ext cx="5760" cy="233"/>
              </a:xfrm>
              <a:prstGeom prst="rect">
                <a:avLst/>
              </a:prstGeom>
              <a:gradFill rotWithShape="1">
                <a:gsLst>
                  <a:gs pos="0">
                    <a:srgbClr val="FFCCFF"/>
                  </a:gs>
                  <a:gs pos="100000">
                    <a:schemeClr val="bg1"/>
                  </a:gs>
                </a:gsLst>
                <a:lin ang="27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endParaRPr kumimoji="0" lang="zh-CN" altLang="en-US" sz="1800">
                  <a:solidFill>
                    <a:prstClr val="black"/>
                  </a:solidFill>
                  <a:latin typeface="Arial" panose="020B0604020202020204" pitchFamily="34" charset="0"/>
                </a:endParaRPr>
              </a:p>
            </p:txBody>
          </p:sp>
          <p:grpSp>
            <p:nvGrpSpPr>
              <p:cNvPr id="198666" name="Group 23"/>
              <p:cNvGrpSpPr/>
              <p:nvPr/>
            </p:nvGrpSpPr>
            <p:grpSpPr bwMode="auto">
              <a:xfrm>
                <a:off x="340" y="1026"/>
                <a:ext cx="5420" cy="3130"/>
                <a:chOff x="2160" y="1284"/>
                <a:chExt cx="9720" cy="6084"/>
              </a:xfrm>
            </p:grpSpPr>
            <p:sp>
              <p:nvSpPr>
                <p:cNvPr id="198667" name="Line 24"/>
                <p:cNvSpPr>
                  <a:spLocks noChangeShapeType="1"/>
                </p:cNvSpPr>
                <p:nvPr/>
              </p:nvSpPr>
              <p:spPr bwMode="auto">
                <a:xfrm>
                  <a:off x="5040" y="5028"/>
                  <a:ext cx="36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668" name="Line 25"/>
                <p:cNvSpPr>
                  <a:spLocks noChangeShapeType="1"/>
                </p:cNvSpPr>
                <p:nvPr/>
              </p:nvSpPr>
              <p:spPr bwMode="auto">
                <a:xfrm>
                  <a:off x="7740" y="2532"/>
                  <a:ext cx="0" cy="218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nvGrpSpPr>
                <p:cNvPr id="198669" name="Group 26"/>
                <p:cNvGrpSpPr/>
                <p:nvPr/>
              </p:nvGrpSpPr>
              <p:grpSpPr bwMode="auto">
                <a:xfrm>
                  <a:off x="2160" y="1284"/>
                  <a:ext cx="9720" cy="6084"/>
                  <a:chOff x="2160" y="1284"/>
                  <a:chExt cx="9720" cy="6084"/>
                </a:xfrm>
              </p:grpSpPr>
              <p:grpSp>
                <p:nvGrpSpPr>
                  <p:cNvPr id="198670" name="Group 27"/>
                  <p:cNvGrpSpPr/>
                  <p:nvPr/>
                </p:nvGrpSpPr>
                <p:grpSpPr bwMode="auto">
                  <a:xfrm>
                    <a:off x="3780" y="3468"/>
                    <a:ext cx="1260" cy="2496"/>
                    <a:chOff x="3780" y="3468"/>
                    <a:chExt cx="1260" cy="2496"/>
                  </a:xfrm>
                </p:grpSpPr>
                <p:sp>
                  <p:nvSpPr>
                    <p:cNvPr id="198701" name="Text Box 28"/>
                    <p:cNvSpPr txBox="1">
                      <a:spLocks noChangeArrowheads="1"/>
                    </p:cNvSpPr>
                    <p:nvPr/>
                  </p:nvSpPr>
                  <p:spPr bwMode="auto">
                    <a:xfrm>
                      <a:off x="3780" y="3468"/>
                      <a:ext cx="1260" cy="2496"/>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en-US" altLang="zh-CN" sz="1800" b="1">
                          <a:solidFill>
                            <a:prstClr val="black"/>
                          </a:solidFill>
                        </a:rPr>
                        <a:t>0     2</a:t>
                      </a:r>
                      <a:endParaRPr kumimoji="0" lang="en-US" altLang="zh-CN" sz="1800" b="1">
                        <a:solidFill>
                          <a:prstClr val="black"/>
                        </a:solidFill>
                      </a:endParaRPr>
                    </a:p>
                    <a:p>
                      <a:pPr algn="just">
                        <a:spcBef>
                          <a:spcPct val="50000"/>
                        </a:spcBef>
                        <a:buClrTx/>
                        <a:buNone/>
                        <a:defRPr/>
                      </a:pPr>
                      <a:r>
                        <a:rPr kumimoji="0" lang="en-US" altLang="zh-CN" sz="1800" b="1">
                          <a:solidFill>
                            <a:prstClr val="black"/>
                          </a:solidFill>
                        </a:rPr>
                        <a:t>1     4</a:t>
                      </a:r>
                      <a:endParaRPr kumimoji="0" lang="en-US" altLang="zh-CN" sz="1800" b="1">
                        <a:solidFill>
                          <a:prstClr val="black"/>
                        </a:solidFill>
                      </a:endParaRPr>
                    </a:p>
                    <a:p>
                      <a:pPr algn="just">
                        <a:spcBef>
                          <a:spcPct val="50000"/>
                        </a:spcBef>
                        <a:buClrTx/>
                        <a:buNone/>
                        <a:defRPr/>
                      </a:pPr>
                      <a:endParaRPr kumimoji="0" lang="en-US" altLang="zh-CN" sz="1800" b="1">
                        <a:solidFill>
                          <a:prstClr val="black"/>
                        </a:solidFill>
                      </a:endParaRPr>
                    </a:p>
                    <a:p>
                      <a:pPr algn="just">
                        <a:spcBef>
                          <a:spcPct val="50000"/>
                        </a:spcBef>
                        <a:buClrTx/>
                        <a:buNone/>
                        <a:defRPr/>
                      </a:pPr>
                      <a:r>
                        <a:rPr kumimoji="0" lang="en-US" altLang="zh-CN" sz="1800" b="1">
                          <a:solidFill>
                            <a:prstClr val="black"/>
                          </a:solidFill>
                        </a:rPr>
                        <a:t>2     6</a:t>
                      </a:r>
                      <a:endParaRPr kumimoji="0" lang="en-US" altLang="zh-CN" sz="1800" b="1">
                        <a:solidFill>
                          <a:prstClr val="black"/>
                        </a:solidFill>
                      </a:endParaRPr>
                    </a:p>
                    <a:p>
                      <a:pPr algn="just">
                        <a:spcBef>
                          <a:spcPct val="50000"/>
                        </a:spcBef>
                        <a:buClrTx/>
                        <a:buNone/>
                        <a:defRPr/>
                      </a:pPr>
                      <a:r>
                        <a:rPr kumimoji="0" lang="en-US" altLang="zh-CN" sz="1800" b="1">
                          <a:solidFill>
                            <a:prstClr val="black"/>
                          </a:solidFill>
                        </a:rPr>
                        <a:t>3      8</a:t>
                      </a:r>
                      <a:endParaRPr kumimoji="0" lang="en-US" altLang="zh-CN" sz="1800" b="1">
                        <a:solidFill>
                          <a:prstClr val="black"/>
                        </a:solidFill>
                      </a:endParaRPr>
                    </a:p>
                  </p:txBody>
                </p:sp>
                <p:sp>
                  <p:nvSpPr>
                    <p:cNvPr id="198702" name="Line 29"/>
                    <p:cNvSpPr>
                      <a:spLocks noChangeShapeType="1"/>
                    </p:cNvSpPr>
                    <p:nvPr/>
                  </p:nvSpPr>
                  <p:spPr bwMode="auto">
                    <a:xfrm>
                      <a:off x="4320" y="3468"/>
                      <a:ext cx="0" cy="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03" name="Line 30"/>
                    <p:cNvSpPr>
                      <a:spLocks noChangeShapeType="1"/>
                    </p:cNvSpPr>
                    <p:nvPr/>
                  </p:nvSpPr>
                  <p:spPr bwMode="auto">
                    <a:xfrm>
                      <a:off x="3780" y="4092"/>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04" name="Line 31"/>
                    <p:cNvSpPr>
                      <a:spLocks noChangeShapeType="1"/>
                    </p:cNvSpPr>
                    <p:nvPr/>
                  </p:nvSpPr>
                  <p:spPr bwMode="auto">
                    <a:xfrm>
                      <a:off x="3780" y="4716"/>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05" name="Line 32"/>
                    <p:cNvSpPr>
                      <a:spLocks noChangeShapeType="1"/>
                    </p:cNvSpPr>
                    <p:nvPr/>
                  </p:nvSpPr>
                  <p:spPr bwMode="auto">
                    <a:xfrm>
                      <a:off x="3780" y="5340"/>
                      <a:ext cx="12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grpSp>
                <p:nvGrpSpPr>
                  <p:cNvPr id="198671" name="Group 33"/>
                  <p:cNvGrpSpPr/>
                  <p:nvPr/>
                </p:nvGrpSpPr>
                <p:grpSpPr bwMode="auto">
                  <a:xfrm>
                    <a:off x="2160" y="1908"/>
                    <a:ext cx="2340" cy="1560"/>
                    <a:chOff x="2160" y="1908"/>
                    <a:chExt cx="2340" cy="1560"/>
                  </a:xfrm>
                </p:grpSpPr>
                <p:sp>
                  <p:nvSpPr>
                    <p:cNvPr id="198697" name="Text Box 34"/>
                    <p:cNvSpPr txBox="1">
                      <a:spLocks noChangeArrowheads="1"/>
                    </p:cNvSpPr>
                    <p:nvPr/>
                  </p:nvSpPr>
                  <p:spPr bwMode="auto">
                    <a:xfrm>
                      <a:off x="2160" y="1908"/>
                      <a:ext cx="2340" cy="780"/>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en-US" altLang="zh-CN" sz="1800" b="1" dirty="0">
                          <a:solidFill>
                            <a:prstClr val="black"/>
                          </a:solidFill>
                        </a:rPr>
                        <a:t>  </a:t>
                      </a:r>
                      <a:r>
                        <a:rPr kumimoji="0" lang="zh-CN" altLang="en-US" sz="1800" b="1" dirty="0">
                          <a:solidFill>
                            <a:prstClr val="black"/>
                          </a:solidFill>
                        </a:rPr>
                        <a:t>页表地址</a:t>
                      </a:r>
                      <a:endParaRPr kumimoji="0" lang="zh-CN" altLang="en-US" sz="1800" b="1" dirty="0">
                        <a:solidFill>
                          <a:prstClr val="black"/>
                        </a:solidFill>
                      </a:endParaRPr>
                    </a:p>
                  </p:txBody>
                </p:sp>
                <p:grpSp>
                  <p:nvGrpSpPr>
                    <p:cNvPr id="198698" name="Group 35"/>
                    <p:cNvGrpSpPr/>
                    <p:nvPr/>
                  </p:nvGrpSpPr>
                  <p:grpSpPr bwMode="auto">
                    <a:xfrm>
                      <a:off x="3060" y="2688"/>
                      <a:ext cx="720" cy="780"/>
                      <a:chOff x="3060" y="2688"/>
                      <a:chExt cx="720" cy="780"/>
                    </a:xfrm>
                  </p:grpSpPr>
                  <p:sp>
                    <p:nvSpPr>
                      <p:cNvPr id="198699" name="Line 36"/>
                      <p:cNvSpPr>
                        <a:spLocks noChangeShapeType="1"/>
                      </p:cNvSpPr>
                      <p:nvPr/>
                    </p:nvSpPr>
                    <p:spPr bwMode="auto">
                      <a:xfrm>
                        <a:off x="3060" y="2688"/>
                        <a:ext cx="0" cy="78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700" name="Line 37"/>
                      <p:cNvSpPr>
                        <a:spLocks noChangeShapeType="1"/>
                      </p:cNvSpPr>
                      <p:nvPr/>
                    </p:nvSpPr>
                    <p:spPr bwMode="auto">
                      <a:xfrm>
                        <a:off x="3060" y="3468"/>
                        <a:ext cx="72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grpSp>
              <p:grpSp>
                <p:nvGrpSpPr>
                  <p:cNvPr id="198672" name="Group 38"/>
                  <p:cNvGrpSpPr/>
                  <p:nvPr/>
                </p:nvGrpSpPr>
                <p:grpSpPr bwMode="auto">
                  <a:xfrm>
                    <a:off x="5220" y="1284"/>
                    <a:ext cx="6660" cy="1248"/>
                    <a:chOff x="5220" y="1284"/>
                    <a:chExt cx="6660" cy="1248"/>
                  </a:xfrm>
                </p:grpSpPr>
                <p:grpSp>
                  <p:nvGrpSpPr>
                    <p:cNvPr id="198691" name="Group 39"/>
                    <p:cNvGrpSpPr/>
                    <p:nvPr/>
                  </p:nvGrpSpPr>
                  <p:grpSpPr bwMode="auto">
                    <a:xfrm>
                      <a:off x="5400" y="1908"/>
                      <a:ext cx="3780" cy="624"/>
                      <a:chOff x="5400" y="1908"/>
                      <a:chExt cx="3780" cy="624"/>
                    </a:xfrm>
                  </p:grpSpPr>
                  <p:sp>
                    <p:nvSpPr>
                      <p:cNvPr id="198695" name="Text Box 40"/>
                      <p:cNvSpPr txBox="1">
                        <a:spLocks noChangeArrowheads="1"/>
                      </p:cNvSpPr>
                      <p:nvPr/>
                    </p:nvSpPr>
                    <p:spPr bwMode="auto">
                      <a:xfrm>
                        <a:off x="5400" y="1908"/>
                        <a:ext cx="3780" cy="624"/>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en-US" altLang="zh-CN" sz="1800" b="1">
                            <a:solidFill>
                              <a:prstClr val="black"/>
                            </a:solidFill>
                          </a:rPr>
                          <a:t> 2             769</a:t>
                        </a:r>
                        <a:endParaRPr kumimoji="0" lang="en-US" altLang="zh-CN" sz="1800" b="1">
                          <a:solidFill>
                            <a:prstClr val="black"/>
                          </a:solidFill>
                        </a:endParaRPr>
                      </a:p>
                    </p:txBody>
                  </p:sp>
                  <p:sp>
                    <p:nvSpPr>
                      <p:cNvPr id="198696" name="Line 41"/>
                      <p:cNvSpPr>
                        <a:spLocks noChangeShapeType="1"/>
                      </p:cNvSpPr>
                      <p:nvPr/>
                    </p:nvSpPr>
                    <p:spPr bwMode="auto">
                      <a:xfrm>
                        <a:off x="6300" y="1908"/>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sp>
                  <p:nvSpPr>
                    <p:cNvPr id="198692" name="Text Box 42"/>
                    <p:cNvSpPr txBox="1">
                      <a:spLocks noChangeArrowheads="1"/>
                    </p:cNvSpPr>
                    <p:nvPr/>
                  </p:nvSpPr>
                  <p:spPr bwMode="auto">
                    <a:xfrm>
                      <a:off x="5220" y="1284"/>
                      <a:ext cx="1440" cy="624"/>
                    </a:xfrm>
                    <a:prstGeom prst="rect">
                      <a:avLst/>
                    </a:prstGeom>
                    <a:noFill/>
                    <a:ln>
                      <a:noFill/>
                    </a:ln>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a:solidFill>
                            <a:prstClr val="black"/>
                          </a:solidFill>
                        </a:rPr>
                        <a:t>页号</a:t>
                      </a:r>
                      <a:endParaRPr kumimoji="0" lang="zh-CN" altLang="en-US" sz="1800" b="1">
                        <a:solidFill>
                          <a:prstClr val="black"/>
                        </a:solidFill>
                      </a:endParaRPr>
                    </a:p>
                  </p:txBody>
                </p:sp>
                <p:sp>
                  <p:nvSpPr>
                    <p:cNvPr id="198693" name="Text Box 43"/>
                    <p:cNvSpPr txBox="1">
                      <a:spLocks noChangeArrowheads="1"/>
                    </p:cNvSpPr>
                    <p:nvPr/>
                  </p:nvSpPr>
                  <p:spPr bwMode="auto">
                    <a:xfrm>
                      <a:off x="6840" y="1284"/>
                      <a:ext cx="234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a:solidFill>
                            <a:prstClr val="black"/>
                          </a:solidFill>
                        </a:rPr>
                        <a:t>页内偏移</a:t>
                      </a:r>
                      <a:endParaRPr kumimoji="0" lang="zh-CN" altLang="en-US" sz="1800" b="1">
                        <a:solidFill>
                          <a:prstClr val="black"/>
                        </a:solidFill>
                      </a:endParaRPr>
                    </a:p>
                  </p:txBody>
                </p:sp>
                <p:sp>
                  <p:nvSpPr>
                    <p:cNvPr id="198694" name="Text Box 44"/>
                    <p:cNvSpPr txBox="1">
                      <a:spLocks noChangeArrowheads="1"/>
                    </p:cNvSpPr>
                    <p:nvPr/>
                  </p:nvSpPr>
                  <p:spPr bwMode="auto">
                    <a:xfrm>
                      <a:off x="9180" y="1908"/>
                      <a:ext cx="270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a:solidFill>
                            <a:prstClr val="black"/>
                          </a:solidFill>
                        </a:rPr>
                        <a:t>逻辑地址</a:t>
                      </a:r>
                      <a:r>
                        <a:rPr kumimoji="0" lang="en-US" altLang="zh-CN" sz="1800" b="1">
                          <a:solidFill>
                            <a:prstClr val="black"/>
                          </a:solidFill>
                        </a:rPr>
                        <a:t>4865</a:t>
                      </a:r>
                      <a:endParaRPr kumimoji="0" lang="en-US" altLang="zh-CN" sz="1800" b="1">
                        <a:solidFill>
                          <a:prstClr val="black"/>
                        </a:solidFill>
                      </a:endParaRPr>
                    </a:p>
                  </p:txBody>
                </p:sp>
              </p:grpSp>
              <p:grpSp>
                <p:nvGrpSpPr>
                  <p:cNvPr id="198673" name="Group 45"/>
                  <p:cNvGrpSpPr/>
                  <p:nvPr/>
                </p:nvGrpSpPr>
                <p:grpSpPr bwMode="auto">
                  <a:xfrm>
                    <a:off x="2700" y="2532"/>
                    <a:ext cx="3060" cy="2340"/>
                    <a:chOff x="2700" y="2532"/>
                    <a:chExt cx="3060" cy="2340"/>
                  </a:xfrm>
                </p:grpSpPr>
                <p:sp>
                  <p:nvSpPr>
                    <p:cNvPr id="198687" name="Line 46"/>
                    <p:cNvSpPr>
                      <a:spLocks noChangeShapeType="1"/>
                    </p:cNvSpPr>
                    <p:nvPr/>
                  </p:nvSpPr>
                  <p:spPr bwMode="auto">
                    <a:xfrm>
                      <a:off x="5760" y="2532"/>
                      <a:ext cx="0" cy="46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688" name="Line 47"/>
                    <p:cNvSpPr>
                      <a:spLocks noChangeShapeType="1"/>
                    </p:cNvSpPr>
                    <p:nvPr/>
                  </p:nvSpPr>
                  <p:spPr bwMode="auto">
                    <a:xfrm>
                      <a:off x="2700" y="3000"/>
                      <a:ext cx="306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689" name="Line 48"/>
                    <p:cNvSpPr>
                      <a:spLocks noChangeShapeType="1"/>
                    </p:cNvSpPr>
                    <p:nvPr/>
                  </p:nvSpPr>
                  <p:spPr bwMode="auto">
                    <a:xfrm>
                      <a:off x="2700" y="3000"/>
                      <a:ext cx="0" cy="187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690" name="Line 49"/>
                    <p:cNvSpPr>
                      <a:spLocks noChangeShapeType="1"/>
                    </p:cNvSpPr>
                    <p:nvPr/>
                  </p:nvSpPr>
                  <p:spPr bwMode="auto">
                    <a:xfrm>
                      <a:off x="2700" y="4872"/>
                      <a:ext cx="10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sp>
                <p:nvSpPr>
                  <p:cNvPr id="2" name="Text Box 50"/>
                  <p:cNvSpPr txBox="1">
                    <a:spLocks noChangeArrowheads="1"/>
                  </p:cNvSpPr>
                  <p:nvPr/>
                </p:nvSpPr>
                <p:spPr bwMode="auto">
                  <a:xfrm>
                    <a:off x="4500" y="5964"/>
                    <a:ext cx="270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a:solidFill>
                          <a:prstClr val="black"/>
                        </a:solidFill>
                      </a:rPr>
                      <a:t>物理地址</a:t>
                    </a:r>
                    <a:r>
                      <a:rPr kumimoji="0" lang="en-US" altLang="zh-CN" sz="1800" b="1">
                        <a:solidFill>
                          <a:prstClr val="black"/>
                        </a:solidFill>
                      </a:rPr>
                      <a:t>13057</a:t>
                    </a:r>
                    <a:endParaRPr kumimoji="0" lang="en-US" altLang="zh-CN" sz="1800" b="1">
                      <a:solidFill>
                        <a:prstClr val="black"/>
                      </a:solidFill>
                    </a:endParaRPr>
                  </a:p>
                </p:txBody>
              </p:sp>
              <p:grpSp>
                <p:nvGrpSpPr>
                  <p:cNvPr id="3" name="Group 51"/>
                  <p:cNvGrpSpPr/>
                  <p:nvPr/>
                </p:nvGrpSpPr>
                <p:grpSpPr bwMode="auto">
                  <a:xfrm>
                    <a:off x="5400" y="4103"/>
                    <a:ext cx="3820" cy="3265"/>
                    <a:chOff x="5400" y="4103"/>
                    <a:chExt cx="3820" cy="3265"/>
                  </a:xfrm>
                </p:grpSpPr>
                <p:grpSp>
                  <p:nvGrpSpPr>
                    <p:cNvPr id="4" name="Group 52"/>
                    <p:cNvGrpSpPr/>
                    <p:nvPr/>
                  </p:nvGrpSpPr>
                  <p:grpSpPr bwMode="auto">
                    <a:xfrm>
                      <a:off x="5400" y="4716"/>
                      <a:ext cx="3780" cy="624"/>
                      <a:chOff x="5400" y="1908"/>
                      <a:chExt cx="3780" cy="624"/>
                    </a:xfrm>
                  </p:grpSpPr>
                  <p:sp>
                    <p:nvSpPr>
                      <p:cNvPr id="198685" name="Text Box 53"/>
                      <p:cNvSpPr txBox="1">
                        <a:spLocks noChangeArrowheads="1"/>
                      </p:cNvSpPr>
                      <p:nvPr/>
                    </p:nvSpPr>
                    <p:spPr bwMode="auto">
                      <a:xfrm>
                        <a:off x="5400" y="1908"/>
                        <a:ext cx="3780" cy="624"/>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en-US" altLang="zh-CN" sz="1800" b="1">
                            <a:solidFill>
                              <a:prstClr val="black"/>
                            </a:solidFill>
                          </a:rPr>
                          <a:t>  6          769</a:t>
                        </a:r>
                        <a:endParaRPr kumimoji="0" lang="en-US" altLang="zh-CN" sz="1800" b="1">
                          <a:solidFill>
                            <a:prstClr val="black"/>
                          </a:solidFill>
                        </a:endParaRPr>
                      </a:p>
                    </p:txBody>
                  </p:sp>
                  <p:sp>
                    <p:nvSpPr>
                      <p:cNvPr id="198686" name="Line 54"/>
                      <p:cNvSpPr>
                        <a:spLocks noChangeShapeType="1"/>
                      </p:cNvSpPr>
                      <p:nvPr/>
                    </p:nvSpPr>
                    <p:spPr bwMode="auto">
                      <a:xfrm>
                        <a:off x="6300" y="1908"/>
                        <a:ext cx="0" cy="6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sp>
                  <p:nvSpPr>
                    <p:cNvPr id="198677" name="Text Box 55"/>
                    <p:cNvSpPr txBox="1">
                      <a:spLocks noChangeArrowheads="1"/>
                    </p:cNvSpPr>
                    <p:nvPr/>
                  </p:nvSpPr>
                  <p:spPr bwMode="auto">
                    <a:xfrm>
                      <a:off x="5493" y="4103"/>
                      <a:ext cx="144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a:solidFill>
                            <a:prstClr val="black"/>
                          </a:solidFill>
                        </a:rPr>
                        <a:t>块号</a:t>
                      </a:r>
                      <a:endParaRPr kumimoji="0" lang="zh-CN" altLang="en-US" sz="1800" b="1">
                        <a:solidFill>
                          <a:prstClr val="black"/>
                        </a:solidFill>
                      </a:endParaRPr>
                    </a:p>
                  </p:txBody>
                </p:sp>
                <p:sp>
                  <p:nvSpPr>
                    <p:cNvPr id="198678" name="Text Box 56"/>
                    <p:cNvSpPr txBox="1">
                      <a:spLocks noChangeArrowheads="1"/>
                    </p:cNvSpPr>
                    <p:nvPr/>
                  </p:nvSpPr>
                  <p:spPr bwMode="auto">
                    <a:xfrm>
                      <a:off x="6880" y="4103"/>
                      <a:ext cx="2340"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dirty="0">
                          <a:solidFill>
                            <a:prstClr val="black"/>
                          </a:solidFill>
                        </a:rPr>
                        <a:t>块内偏移</a:t>
                      </a:r>
                      <a:endParaRPr kumimoji="0" lang="zh-CN" altLang="en-US" sz="1800" b="1" dirty="0">
                        <a:solidFill>
                          <a:prstClr val="black"/>
                        </a:solidFill>
                      </a:endParaRPr>
                    </a:p>
                  </p:txBody>
                </p:sp>
                <p:grpSp>
                  <p:nvGrpSpPr>
                    <p:cNvPr id="198679" name="Group 57"/>
                    <p:cNvGrpSpPr/>
                    <p:nvPr/>
                  </p:nvGrpSpPr>
                  <p:grpSpPr bwMode="auto">
                    <a:xfrm>
                      <a:off x="5400" y="5340"/>
                      <a:ext cx="3780" cy="2028"/>
                      <a:chOff x="5400" y="5340"/>
                      <a:chExt cx="3780" cy="2028"/>
                    </a:xfrm>
                  </p:grpSpPr>
                  <p:sp>
                    <p:nvSpPr>
                      <p:cNvPr id="198680" name="Text Box 58"/>
                      <p:cNvSpPr txBox="1">
                        <a:spLocks noChangeArrowheads="1"/>
                      </p:cNvSpPr>
                      <p:nvPr/>
                    </p:nvSpPr>
                    <p:spPr bwMode="auto">
                      <a:xfrm>
                        <a:off x="7740" y="6432"/>
                        <a:ext cx="1440" cy="936"/>
                      </a:xfrm>
                      <a:prstGeom prst="rect">
                        <a:avLst/>
                      </a:prstGeom>
                      <a:solidFill>
                        <a:srgbClr val="FFFFFF"/>
                      </a:solidFill>
                      <a:ln w="9525">
                        <a:solidFill>
                          <a:srgbClr val="000000"/>
                        </a:solidFill>
                        <a:miter lim="800000"/>
                      </a:ln>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None/>
                          <a:defRPr/>
                        </a:pPr>
                        <a:r>
                          <a:rPr kumimoji="0" lang="zh-CN" altLang="en-US" sz="1800" b="1">
                            <a:solidFill>
                              <a:prstClr val="black"/>
                            </a:solidFill>
                          </a:rPr>
                          <a:t>主存</a:t>
                        </a:r>
                        <a:endParaRPr kumimoji="0" lang="zh-CN" altLang="en-US" sz="1800" b="1">
                          <a:solidFill>
                            <a:prstClr val="black"/>
                          </a:solidFill>
                        </a:endParaRPr>
                      </a:p>
                    </p:txBody>
                  </p:sp>
                  <p:grpSp>
                    <p:nvGrpSpPr>
                      <p:cNvPr id="198681" name="Group 59"/>
                      <p:cNvGrpSpPr/>
                      <p:nvPr/>
                    </p:nvGrpSpPr>
                    <p:grpSpPr bwMode="auto">
                      <a:xfrm>
                        <a:off x="5400" y="5340"/>
                        <a:ext cx="3780" cy="1404"/>
                        <a:chOff x="5400" y="5340"/>
                        <a:chExt cx="3780" cy="1404"/>
                      </a:xfrm>
                    </p:grpSpPr>
                    <p:sp>
                      <p:nvSpPr>
                        <p:cNvPr id="198682" name="AutoShape 60"/>
                        <p:cNvSpPr/>
                        <p:nvPr/>
                      </p:nvSpPr>
                      <p:spPr bwMode="auto">
                        <a:xfrm rot="-5400000">
                          <a:off x="7056" y="3684"/>
                          <a:ext cx="468" cy="3780"/>
                        </a:xfrm>
                        <a:prstGeom prst="leftBrace">
                          <a:avLst>
                            <a:gd name="adj1" fmla="val 67308"/>
                            <a:gd name="adj2" fmla="val 47324"/>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None/>
                            <a:defRPr/>
                          </a:pPr>
                          <a:endParaRPr kumimoji="0" lang="zh-CN" altLang="en-US" sz="1800">
                            <a:solidFill>
                              <a:prstClr val="black"/>
                            </a:solidFill>
                            <a:latin typeface="Arial" panose="020B0604020202020204" pitchFamily="34" charset="0"/>
                          </a:endParaRPr>
                        </a:p>
                      </p:txBody>
                    </p:sp>
                    <p:sp>
                      <p:nvSpPr>
                        <p:cNvPr id="198683" name="Line 61"/>
                        <p:cNvSpPr>
                          <a:spLocks noChangeShapeType="1"/>
                        </p:cNvSpPr>
                        <p:nvPr/>
                      </p:nvSpPr>
                      <p:spPr bwMode="auto">
                        <a:xfrm>
                          <a:off x="7200" y="5808"/>
                          <a:ext cx="0" cy="93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sp>
                      <p:nvSpPr>
                        <p:cNvPr id="198684" name="Line 62"/>
                        <p:cNvSpPr>
                          <a:spLocks noChangeShapeType="1"/>
                        </p:cNvSpPr>
                        <p:nvPr/>
                      </p:nvSpPr>
                      <p:spPr bwMode="auto">
                        <a:xfrm>
                          <a:off x="7200" y="6744"/>
                          <a:ext cx="5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a:defRPr/>
                          </a:pPr>
                          <a:endParaRPr lang="zh-CN" altLang="en-US">
                            <a:solidFill>
                              <a:prstClr val="black"/>
                            </a:solidFill>
                            <a:latin typeface="Arial" panose="020B0604020202020204"/>
                            <a:ea typeface="黑体" panose="02010609060101010101" pitchFamily="2" charset="-122"/>
                          </a:endParaRPr>
                        </a:p>
                      </p:txBody>
                    </p:sp>
                  </p:grpSp>
                </p:grpSp>
              </p:grpSp>
            </p:grpSp>
          </p:grpSp>
        </p:grpSp>
        <p:sp>
          <p:nvSpPr>
            <p:cNvPr id="198664" name="Text Box 63"/>
            <p:cNvSpPr txBox="1">
              <a:spLocks noChangeArrowheads="1"/>
            </p:cNvSpPr>
            <p:nvPr/>
          </p:nvSpPr>
          <p:spPr bwMode="auto">
            <a:xfrm>
              <a:off x="748" y="2387"/>
              <a:ext cx="92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rgbClr val="7030A0"/>
                </a:buClr>
                <a:buFont typeface="Wingdings" panose="05000000000000000000" pitchFamily="2" charset="2"/>
                <a:buChar char="u"/>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7030A0"/>
                </a:buClr>
                <a:buFont typeface="Wingdings" panose="05000000000000000000" pitchFamily="2" charset="2"/>
                <a:buChar char="l"/>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7030A0"/>
                </a:buClr>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None/>
                <a:defRPr/>
              </a:pPr>
              <a:r>
                <a:rPr kumimoji="0" lang="zh-CN" altLang="en-US" sz="2000" b="1">
                  <a:solidFill>
                    <a:prstClr val="black"/>
                  </a:solidFill>
                </a:rPr>
                <a:t>页表寄存器</a:t>
              </a:r>
              <a:endParaRPr kumimoji="0" lang="zh-CN" altLang="en-US" sz="2000" b="1">
                <a:solidFill>
                  <a:prstClr val="black"/>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86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98674"/>
                                        </p:tgtEl>
                                        <p:attrNameLst>
                                          <p:attrName>style.visibility</p:attrName>
                                        </p:attrNameLst>
                                      </p:cBhvr>
                                      <p:to>
                                        <p:strVal val="visible"/>
                                      </p:to>
                                    </p:set>
                                    <p:animEffect transition="in" filter="dissolve">
                                      <p:cBhvr>
                                        <p:cTn id="15" dur="500"/>
                                        <p:tgtEl>
                                          <p:spTgt spid="19867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19867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198675"/>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98659"/>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98676"/>
                                        </p:tgtEl>
                                        <p:attrNameLst>
                                          <p:attrName>style.visibility</p:attrName>
                                        </p:attrNameLst>
                                      </p:cBhvr>
                                      <p:to>
                                        <p:strVal val="visible"/>
                                      </p:to>
                                    </p:set>
                                    <p:animEffect transition="in" filter="dissolve">
                                      <p:cBhvr>
                                        <p:cTn id="32" dur="500"/>
                                        <p:tgtEl>
                                          <p:spTgt spid="19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8" grpId="0" bldLvl="0" animBg="1"/>
      <p:bldP spid="198674" grpId="0" bldLvl="0" animBg="1"/>
      <p:bldP spid="198675" grpId="0" bldLvl="0" animBg="1"/>
      <p:bldP spid="198675" grpId="1"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课堂作业</a:t>
            </a:r>
            <a:endParaRPr lang="zh-CN" altLang="en-US" dirty="0"/>
          </a:p>
        </p:txBody>
      </p:sp>
      <p:sp>
        <p:nvSpPr>
          <p:cNvPr id="7" name="内容占位符 6"/>
          <p:cNvSpPr>
            <a:spLocks noGrp="1"/>
          </p:cNvSpPr>
          <p:nvPr>
            <p:ph idx="1"/>
          </p:nvPr>
        </p:nvSpPr>
        <p:spPr/>
        <p:txBody>
          <a:bodyPr/>
          <a:lstStyle/>
          <a:p>
            <a:r>
              <a:rPr lang="zh-CN" altLang="en-US" dirty="0"/>
              <a:t>作业</a:t>
            </a:r>
            <a:r>
              <a:rPr lang="en-US" altLang="zh-CN" dirty="0"/>
              <a:t>1</a:t>
            </a:r>
            <a:r>
              <a:rPr lang="zh-CN" altLang="en-US" dirty="0"/>
              <a:t>：</a:t>
            </a:r>
            <a:r>
              <a:rPr lang="zh-CN" altLang="zh-CN" dirty="0"/>
              <a:t>某虚拟存储器的用户空间共有</a:t>
            </a:r>
            <a:r>
              <a:rPr lang="en-US" altLang="zh-CN" dirty="0"/>
              <a:t>64</a:t>
            </a:r>
            <a:r>
              <a:rPr lang="zh-CN" altLang="zh-CN" dirty="0"/>
              <a:t>个页面，每页</a:t>
            </a:r>
            <a:r>
              <a:rPr lang="en-US" altLang="zh-CN" dirty="0"/>
              <a:t>1KB</a:t>
            </a:r>
            <a:r>
              <a:rPr lang="zh-CN" altLang="zh-CN" dirty="0"/>
              <a:t>，主存</a:t>
            </a:r>
            <a:r>
              <a:rPr lang="en-US" altLang="zh-CN" dirty="0"/>
              <a:t>32KB</a:t>
            </a:r>
            <a:r>
              <a:rPr lang="zh-CN" altLang="zh-CN" dirty="0"/>
              <a:t>。将某时刻系统为进程的第</a:t>
            </a:r>
            <a:r>
              <a:rPr lang="en-US" altLang="zh-CN" dirty="0"/>
              <a:t>0</a:t>
            </a:r>
            <a:r>
              <a:rPr lang="zh-CN" altLang="zh-CN" dirty="0"/>
              <a:t>、</a:t>
            </a:r>
            <a:r>
              <a:rPr lang="en-US" altLang="zh-CN" dirty="0"/>
              <a:t>1</a:t>
            </a:r>
            <a:r>
              <a:rPr lang="zh-CN" altLang="zh-CN" dirty="0"/>
              <a:t>、</a:t>
            </a:r>
            <a:r>
              <a:rPr lang="en-US" altLang="zh-CN" dirty="0"/>
              <a:t>2</a:t>
            </a:r>
            <a:r>
              <a:rPr lang="zh-CN" altLang="zh-CN" dirty="0"/>
              <a:t>、</a:t>
            </a:r>
            <a:r>
              <a:rPr lang="en-US" altLang="zh-CN" dirty="0"/>
              <a:t>3</a:t>
            </a:r>
            <a:r>
              <a:rPr lang="zh-CN" altLang="zh-CN" dirty="0"/>
              <a:t>页分配的物理块号为</a:t>
            </a:r>
            <a:r>
              <a:rPr lang="en-US" altLang="zh-CN" dirty="0"/>
              <a:t>12</a:t>
            </a:r>
            <a:r>
              <a:rPr lang="zh-CN" altLang="zh-CN" dirty="0"/>
              <a:t>、</a:t>
            </a:r>
            <a:r>
              <a:rPr lang="en-US" altLang="zh-CN" dirty="0"/>
              <a:t>20</a:t>
            </a:r>
            <a:r>
              <a:rPr lang="zh-CN" altLang="zh-CN" dirty="0"/>
              <a:t>、</a:t>
            </a:r>
            <a:r>
              <a:rPr lang="en-US" altLang="zh-CN" dirty="0"/>
              <a:t>1</a:t>
            </a:r>
            <a:r>
              <a:rPr lang="zh-CN" altLang="zh-CN" dirty="0"/>
              <a:t>、</a:t>
            </a:r>
            <a:r>
              <a:rPr lang="en-US" altLang="zh-CN" dirty="0"/>
              <a:t>8</a:t>
            </a:r>
            <a:r>
              <a:rPr lang="zh-CN" altLang="zh-CN" dirty="0"/>
              <a:t>，而该进程的共有</a:t>
            </a:r>
            <a:r>
              <a:rPr lang="en-US" altLang="zh-CN" dirty="0"/>
              <a:t>6</a:t>
            </a:r>
            <a:r>
              <a:rPr lang="zh-CN" altLang="zh-CN" dirty="0"/>
              <a:t>个页面，试给出访问</a:t>
            </a:r>
            <a:r>
              <a:rPr lang="en-US" altLang="zh-CN" dirty="0"/>
              <a:t>10</a:t>
            </a:r>
            <a:r>
              <a:rPr lang="zh-CN" altLang="zh-CN" dirty="0"/>
              <a:t>进制虚拟地址</a:t>
            </a:r>
            <a:r>
              <a:rPr lang="en-US" altLang="zh-CN" dirty="0"/>
              <a:t>2652</a:t>
            </a:r>
            <a:r>
              <a:rPr lang="zh-CN" altLang="zh-CN" dirty="0"/>
              <a:t>、</a:t>
            </a:r>
            <a:r>
              <a:rPr lang="en-US" altLang="zh-CN" dirty="0"/>
              <a:t>4156</a:t>
            </a:r>
            <a:r>
              <a:rPr lang="zh-CN" altLang="zh-CN" dirty="0"/>
              <a:t>和</a:t>
            </a:r>
            <a:r>
              <a:rPr lang="en-US" altLang="zh-CN" dirty="0"/>
              <a:t>6748</a:t>
            </a:r>
            <a:r>
              <a:rPr lang="zh-CN" altLang="zh-CN" dirty="0"/>
              <a:t>的地址转换过程。</a:t>
            </a:r>
            <a:endParaRPr lang="en-US" altLang="zh-CN" dirty="0"/>
          </a:p>
          <a:p>
            <a:r>
              <a:rPr lang="zh-CN" altLang="en-US" dirty="0"/>
              <a:t>作业</a:t>
            </a:r>
            <a:r>
              <a:rPr lang="en-US" altLang="zh-CN" dirty="0"/>
              <a:t>2</a:t>
            </a:r>
            <a:r>
              <a:rPr lang="zh-CN" altLang="en-US" dirty="0"/>
              <a:t>：</a:t>
            </a:r>
            <a:r>
              <a:rPr lang="zh-CN" altLang="zh-CN" dirty="0"/>
              <a:t>主存储器容量为</a:t>
            </a:r>
            <a:r>
              <a:rPr lang="en-US" altLang="zh-CN" dirty="0"/>
              <a:t>8MB</a:t>
            </a:r>
            <a:r>
              <a:rPr lang="zh-CN" altLang="zh-CN" dirty="0"/>
              <a:t>，虚存容量为</a:t>
            </a:r>
            <a:r>
              <a:rPr lang="en-US" altLang="zh-CN" dirty="0"/>
              <a:t>2GB</a:t>
            </a:r>
            <a:r>
              <a:rPr lang="zh-CN" altLang="zh-CN" dirty="0"/>
              <a:t>，虚地址和物理地址各为多少位</a:t>
            </a:r>
            <a:r>
              <a:rPr lang="en-US" altLang="zh-CN" dirty="0"/>
              <a:t>?</a:t>
            </a:r>
            <a:r>
              <a:rPr lang="zh-CN" altLang="zh-CN" dirty="0"/>
              <a:t>根据寻址方式计算出来的有效地址是虚拟地址还是物理地址</a:t>
            </a:r>
            <a:r>
              <a:rPr lang="en-US" altLang="zh-CN" dirty="0"/>
              <a:t>?</a:t>
            </a:r>
            <a:r>
              <a:rPr lang="zh-CN" altLang="zh-CN" dirty="0"/>
              <a:t>如果页面大小为</a:t>
            </a:r>
            <a:r>
              <a:rPr lang="en-US" altLang="zh-CN" dirty="0"/>
              <a:t>4kB</a:t>
            </a:r>
            <a:r>
              <a:rPr lang="zh-CN" altLang="zh-CN" dirty="0"/>
              <a:t>，</a:t>
            </a:r>
            <a:r>
              <a:rPr lang="zh-CN" altLang="en-US" dirty="0"/>
              <a:t>虚地址的结构是什么？进程</a:t>
            </a:r>
            <a:r>
              <a:rPr lang="zh-CN" altLang="zh-CN" dirty="0"/>
              <a:t>页表</a:t>
            </a:r>
            <a:r>
              <a:rPr lang="zh-CN" altLang="en-US" dirty="0"/>
              <a:t>的</a:t>
            </a:r>
            <a:r>
              <a:rPr lang="zh-CN" altLang="zh-CN" dirty="0"/>
              <a:t>长度是多少</a:t>
            </a:r>
            <a:r>
              <a:rPr lang="en-US" altLang="zh-CN" dirty="0"/>
              <a:t>? </a:t>
            </a:r>
            <a:endParaRPr lang="en-US" altLang="zh-CN" dirty="0"/>
          </a:p>
          <a:p>
            <a:r>
              <a:rPr lang="en-US" altLang="zh-CN" dirty="0"/>
              <a:t>23</a:t>
            </a:r>
            <a:r>
              <a:rPr lang="zh-CN" altLang="en-US" dirty="0"/>
              <a:t>位 </a:t>
            </a:r>
            <a:r>
              <a:rPr lang="en-US" altLang="zh-CN" dirty="0"/>
              <a:t>31</a:t>
            </a:r>
            <a:r>
              <a:rPr lang="zh-CN" altLang="en-US" dirty="0"/>
              <a:t>位 是物理地址 </a:t>
            </a:r>
            <a:r>
              <a:rPr lang="en-US" altLang="zh-CN" dirty="0"/>
              <a:t>19+12 2</a:t>
            </a:r>
            <a:r>
              <a:rPr lang="zh-CN" altLang="en-US" dirty="0"/>
              <a:t>的</a:t>
            </a:r>
            <a:r>
              <a:rPr lang="en-US" altLang="zh-CN" dirty="0"/>
              <a:t>19</a:t>
            </a:r>
            <a:r>
              <a:rPr lang="zh-CN" altLang="en-US" dirty="0"/>
              <a:t>次方</a:t>
            </a:r>
            <a:r>
              <a:rPr lang="en-US" altLang="zh-CN" dirty="0"/>
              <a:t>=512k</a:t>
            </a:r>
            <a:r>
              <a:rPr lang="zh-CN" altLang="en-US" dirty="0"/>
              <a:t>项</a:t>
            </a:r>
            <a:endParaRPr lang="en-US" altLang="zh-CN" dirty="0"/>
          </a:p>
          <a:p>
            <a:endParaRPr lang="zh-CN"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idx="1"/>
          </p:nvPr>
        </p:nvSpPr>
        <p:spPr/>
        <p:txBody>
          <a:bodyPr/>
          <a:lstStyle/>
          <a:p>
            <a:pPr eaLnBrk="1" hangingPunct="1">
              <a:buFont typeface="Wingdings" panose="05000000000000000000" pitchFamily="2" charset="2"/>
              <a:buNone/>
            </a:pPr>
            <a:r>
              <a:rPr lang="en-US" altLang="zh-CN" sz="2400">
                <a:latin typeface="楷体_GB2312" pitchFamily="49" charset="-122"/>
                <a:ea typeface="楷体_GB2312" pitchFamily="49" charset="-122"/>
              </a:rPr>
              <a:t> </a:t>
            </a:r>
            <a:r>
              <a:rPr lang="zh-CN" altLang="en-US" b="1">
                <a:latin typeface="楷体_GB2312" pitchFamily="49" charset="-122"/>
                <a:ea typeface="楷体_GB2312" pitchFamily="49" charset="-122"/>
              </a:rPr>
              <a:t>例：有一页式系统，其页表存放在主存中：</a:t>
            </a:r>
            <a:endParaRPr lang="zh-CN" altLang="en-US" b="1">
              <a:latin typeface="楷体_GB2312" pitchFamily="49" charset="-122"/>
              <a:ea typeface="楷体_GB2312" pitchFamily="49" charset="-122"/>
            </a:endParaRPr>
          </a:p>
          <a:p>
            <a:pPr eaLnBrk="1" hangingPunct="1">
              <a:buFont typeface="Wingdings" panose="05000000000000000000" pitchFamily="2" charset="2"/>
              <a:buChar char=" "/>
            </a:pPr>
            <a:endParaRPr lang="zh-CN" altLang="en-US" b="1">
              <a:latin typeface="楷体_GB2312" pitchFamily="49" charset="-122"/>
              <a:ea typeface="楷体_GB2312" pitchFamily="49" charset="-122"/>
            </a:endParaRPr>
          </a:p>
          <a:p>
            <a:pPr eaLnBrk="1" hangingPunct="1">
              <a:buFont typeface="Wingdings" panose="05000000000000000000" pitchFamily="2" charset="2"/>
              <a:buChar char=" "/>
            </a:pPr>
            <a:r>
              <a:rPr lang="zh-CN" altLang="en-US" b="1">
                <a:latin typeface="楷体_GB2312" pitchFamily="49" charset="-122"/>
                <a:ea typeface="楷体_GB2312" pitchFamily="49" charset="-122"/>
              </a:rPr>
              <a:t>①如果对主存的一次存取需要</a:t>
            </a:r>
            <a:r>
              <a:rPr lang="en-US" altLang="zh-CN" b="1">
                <a:latin typeface="楷体_GB2312" pitchFamily="49" charset="-122"/>
                <a:ea typeface="楷体_GB2312" pitchFamily="49" charset="-122"/>
              </a:rPr>
              <a:t>1.5 </a:t>
            </a:r>
            <a:r>
              <a:rPr lang="en-US" altLang="zh-CN" b="1">
                <a:latin typeface="楷体_GB2312" pitchFamily="49" charset="-122"/>
                <a:ea typeface="楷体_GB2312" pitchFamily="49" charset="-122"/>
                <a:cs typeface="Courier New" panose="02070309020205020404" pitchFamily="49" charset="0"/>
              </a:rPr>
              <a:t>μs,</a:t>
            </a:r>
            <a:r>
              <a:rPr lang="zh-CN" altLang="en-US" b="1">
                <a:latin typeface="楷体_GB2312" pitchFamily="49" charset="-122"/>
                <a:ea typeface="楷体_GB2312" pitchFamily="49" charset="-122"/>
              </a:rPr>
              <a:t>试问实现一次页面访问的存取时间是多少</a:t>
            </a:r>
            <a:r>
              <a:rPr lang="en-US" altLang="zh-CN" b="1">
                <a:latin typeface="楷体_GB2312" pitchFamily="49" charset="-122"/>
                <a:ea typeface="楷体_GB2312" pitchFamily="49" charset="-122"/>
              </a:rPr>
              <a:t>?</a:t>
            </a:r>
            <a:endParaRPr lang="en-US" altLang="zh-CN" b="1">
              <a:latin typeface="楷体_GB2312" pitchFamily="49" charset="-122"/>
              <a:ea typeface="楷体_GB2312" pitchFamily="49" charset="-122"/>
            </a:endParaRPr>
          </a:p>
          <a:p>
            <a:pPr eaLnBrk="1" hangingPunct="1">
              <a:buFont typeface="Wingdings" panose="05000000000000000000" pitchFamily="2" charset="2"/>
              <a:buChar char=" "/>
            </a:pPr>
            <a:endParaRPr lang="en-US" altLang="zh-CN" b="1">
              <a:latin typeface="楷体_GB2312" pitchFamily="49" charset="-122"/>
              <a:ea typeface="楷体_GB2312" pitchFamily="49" charset="-122"/>
            </a:endParaRPr>
          </a:p>
          <a:p>
            <a:pPr eaLnBrk="1" hangingPunct="1">
              <a:buFont typeface="Wingdings" panose="05000000000000000000" pitchFamily="2" charset="2"/>
              <a:buChar char=" "/>
            </a:pPr>
            <a:r>
              <a:rPr lang="en-US" altLang="zh-CN" b="1">
                <a:latin typeface="楷体_GB2312" pitchFamily="49" charset="-122"/>
                <a:ea typeface="楷体_GB2312" pitchFamily="49" charset="-122"/>
              </a:rPr>
              <a:t>②</a:t>
            </a:r>
            <a:r>
              <a:rPr lang="zh-CN" altLang="en-US" b="1">
                <a:latin typeface="楷体_GB2312" pitchFamily="49" charset="-122"/>
                <a:ea typeface="楷体_GB2312" pitchFamily="49" charset="-122"/>
              </a:rPr>
              <a:t>如果系统加有快表</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平均命中率为</a:t>
            </a:r>
            <a:r>
              <a:rPr lang="en-US" altLang="zh-CN" b="1">
                <a:latin typeface="楷体_GB2312" pitchFamily="49" charset="-122"/>
                <a:ea typeface="楷体_GB2312" pitchFamily="49" charset="-122"/>
              </a:rPr>
              <a:t>85%,</a:t>
            </a:r>
            <a:r>
              <a:rPr lang="zh-CN" altLang="en-US" b="1">
                <a:latin typeface="楷体_GB2312" pitchFamily="49" charset="-122"/>
                <a:ea typeface="楷体_GB2312" pitchFamily="49" charset="-122"/>
              </a:rPr>
              <a:t>当页表项在快表中时</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其查找时间忽略为</a:t>
            </a:r>
            <a:r>
              <a:rPr lang="en-US" altLang="zh-CN" b="1">
                <a:latin typeface="楷体_GB2312" pitchFamily="49" charset="-122"/>
                <a:ea typeface="楷体_GB2312" pitchFamily="49" charset="-122"/>
              </a:rPr>
              <a:t>0,  </a:t>
            </a:r>
            <a:r>
              <a:rPr lang="zh-CN" altLang="en-US" b="1">
                <a:latin typeface="楷体_GB2312" pitchFamily="49" charset="-122"/>
                <a:ea typeface="楷体_GB2312" pitchFamily="49" charset="-122"/>
              </a:rPr>
              <a:t>试问此时的存取时间是多少</a:t>
            </a:r>
            <a:r>
              <a:rPr lang="en-US" altLang="zh-CN" b="1">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sp>
        <p:nvSpPr>
          <p:cNvPr id="2" name="标题 1"/>
          <p:cNvSpPr>
            <a:spLocks noGrp="1"/>
          </p:cNvSpPr>
          <p:nvPr>
            <p:ph type="title"/>
          </p:nvPr>
        </p:nvSpPr>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idx="1"/>
          </p:nvPr>
        </p:nvSpPr>
        <p:spPr/>
        <p:txBody>
          <a:bodyPr/>
          <a:lstStyle/>
          <a:p>
            <a:pPr eaLnBrk="1" hangingPunct="1">
              <a:lnSpc>
                <a:spcPct val="150000"/>
              </a:lnSpc>
              <a:buFont typeface="Wingdings" panose="05000000000000000000" pitchFamily="2" charset="2"/>
              <a:buNone/>
            </a:pPr>
            <a:r>
              <a:rPr lang="zh-CN" altLang="en-US" sz="2400" b="1">
                <a:latin typeface="楷体_GB2312" pitchFamily="49" charset="-122"/>
                <a:ea typeface="楷体_GB2312" pitchFamily="49" charset="-122"/>
              </a:rPr>
              <a:t>答：若页表存放在主存中，则要实现一次页面访问需两次访问主存：一次是访问页表，确定所存取页面的物理地址（称为定位）。第二次才根据该地址存取页面数据。</a:t>
            </a:r>
            <a:endParaRPr lang="zh-CN" altLang="en-US" sz="2400" b="1">
              <a:latin typeface="楷体_GB2312" pitchFamily="49" charset="-122"/>
              <a:ea typeface="楷体_GB2312" pitchFamily="49" charset="-122"/>
            </a:endParaRPr>
          </a:p>
          <a:p>
            <a:pPr eaLnBrk="1" hangingPunct="1">
              <a:lnSpc>
                <a:spcPct val="150000"/>
              </a:lnSpc>
              <a:buFont typeface="Wingdings" panose="05000000000000000000" pitchFamily="2" charset="2"/>
              <a:buChar char=" "/>
            </a:pPr>
            <a:r>
              <a:rPr lang="zh-CN" altLang="en-US" sz="2400" b="1">
                <a:latin typeface="楷体_GB2312" pitchFamily="49" charset="-122"/>
                <a:ea typeface="楷体_GB2312" pitchFamily="49" charset="-122"/>
              </a:rPr>
              <a:t>■页表在主存的存取访问时间</a:t>
            </a:r>
            <a:endParaRPr lang="zh-CN" altLang="en-US" sz="2400" b="1">
              <a:latin typeface="楷体_GB2312" pitchFamily="49" charset="-122"/>
              <a:ea typeface="楷体_GB2312" pitchFamily="49" charset="-122"/>
            </a:endParaRPr>
          </a:p>
          <a:p>
            <a:pPr eaLnBrk="1" hangingPunct="1">
              <a:lnSpc>
                <a:spcPct val="150000"/>
              </a:lnSpc>
              <a:buFont typeface="Wingdings" panose="05000000000000000000" pitchFamily="2" charset="2"/>
              <a:buChar char=" "/>
            </a:pPr>
            <a:r>
              <a:rPr lang="zh-CN" altLang="en-US" sz="2400" b="1">
                <a:latin typeface="楷体_GB2312" pitchFamily="49" charset="-122"/>
                <a:ea typeface="楷体_GB2312" pitchFamily="49" charset="-122"/>
              </a:rPr>
              <a:t>   </a:t>
            </a:r>
            <a:r>
              <a:rPr lang="en-US" altLang="zh-CN" sz="2400" b="1">
                <a:latin typeface="楷体_GB2312" pitchFamily="49" charset="-122"/>
                <a:ea typeface="楷体_GB2312" pitchFamily="49" charset="-122"/>
              </a:rPr>
              <a:t>=1.5*2=3(</a:t>
            </a:r>
            <a:r>
              <a:rPr lang="en-US" altLang="zh-CN" sz="2400" b="1">
                <a:latin typeface="楷体_GB2312" pitchFamily="49" charset="-122"/>
                <a:ea typeface="楷体_GB2312" pitchFamily="49" charset="-122"/>
                <a:cs typeface="Courier New" panose="02070309020205020404" pitchFamily="49" charset="0"/>
              </a:rPr>
              <a:t>μs</a:t>
            </a:r>
            <a:r>
              <a:rPr lang="en-US" altLang="zh-CN" sz="2400" b="1">
                <a:latin typeface="楷体_GB2312" pitchFamily="49" charset="-122"/>
                <a:ea typeface="楷体_GB2312" pitchFamily="49" charset="-122"/>
              </a:rPr>
              <a:t>)</a:t>
            </a:r>
            <a:endParaRPr lang="en-US" altLang="zh-CN" sz="2400" b="1">
              <a:latin typeface="楷体_GB2312" pitchFamily="49" charset="-122"/>
              <a:ea typeface="楷体_GB2312" pitchFamily="49" charset="-122"/>
            </a:endParaRPr>
          </a:p>
          <a:p>
            <a:pPr eaLnBrk="1" hangingPunct="1">
              <a:lnSpc>
                <a:spcPct val="150000"/>
              </a:lnSpc>
              <a:buFont typeface="Wingdings" panose="05000000000000000000" pitchFamily="2" charset="2"/>
              <a:buChar char=" "/>
            </a:pPr>
            <a:r>
              <a:rPr lang="en-US" altLang="zh-CN" sz="2400" b="1">
                <a:latin typeface="楷体_GB2312" pitchFamily="49" charset="-122"/>
                <a:ea typeface="楷体_GB2312" pitchFamily="49" charset="-122"/>
              </a:rPr>
              <a:t>■</a:t>
            </a:r>
            <a:r>
              <a:rPr lang="zh-CN" altLang="en-US" sz="2400" b="1">
                <a:latin typeface="楷体_GB2312" pitchFamily="49" charset="-122"/>
                <a:ea typeface="楷体_GB2312" pitchFamily="49" charset="-122"/>
              </a:rPr>
              <a:t>增加快表后的存取访问时间</a:t>
            </a:r>
            <a:endParaRPr lang="zh-CN" altLang="en-US" sz="2400" b="1">
              <a:latin typeface="楷体_GB2312" pitchFamily="49" charset="-122"/>
              <a:ea typeface="楷体_GB2312" pitchFamily="49" charset="-122"/>
            </a:endParaRPr>
          </a:p>
          <a:p>
            <a:pPr eaLnBrk="1" hangingPunct="1">
              <a:lnSpc>
                <a:spcPct val="150000"/>
              </a:lnSpc>
              <a:buFont typeface="Wingdings" panose="05000000000000000000" pitchFamily="2" charset="2"/>
              <a:buChar char=" "/>
            </a:pPr>
            <a:r>
              <a:rPr lang="zh-CN" altLang="en-US" sz="2400" b="1">
                <a:latin typeface="楷体_GB2312" pitchFamily="49" charset="-122"/>
                <a:ea typeface="楷体_GB2312" pitchFamily="49" charset="-122"/>
              </a:rPr>
              <a:t>   </a:t>
            </a:r>
            <a:r>
              <a:rPr lang="en-US" altLang="zh-CN" sz="2400" b="1">
                <a:latin typeface="楷体_GB2312" pitchFamily="49" charset="-122"/>
                <a:ea typeface="楷体_GB2312" pitchFamily="49" charset="-122"/>
              </a:rPr>
              <a:t>=0.85*1.5+(1-0.85)*2*1.5=1.725(μs)</a:t>
            </a:r>
            <a:endParaRPr lang="en-US" altLang="zh-CN" sz="2400" b="1">
              <a:latin typeface="楷体_GB2312" pitchFamily="49" charset="-122"/>
              <a:ea typeface="楷体_GB2312" pitchFamily="49" charset="-122"/>
            </a:endParaRPr>
          </a:p>
          <a:p>
            <a:pPr eaLnBrk="1" hangingPunct="1">
              <a:lnSpc>
                <a:spcPct val="150000"/>
              </a:lnSpc>
            </a:pPr>
            <a:endParaRPr lang="en-US" altLang="zh-CN" sz="2400">
              <a:latin typeface="楷体_GB2312" pitchFamily="49" charset="-122"/>
              <a:ea typeface="楷体_GB2312" pitchFamily="49" charset="-122"/>
            </a:endParaRPr>
          </a:p>
        </p:txBody>
      </p:sp>
      <p:sp>
        <p:nvSpPr>
          <p:cNvPr id="2" name="标题 1"/>
          <p:cNvSpPr>
            <a:spLocks noGrp="1"/>
          </p:cNvSpPr>
          <p:nvPr>
            <p:ph type="title"/>
          </p:nvPr>
        </p:nvSpPr>
        <p:spPr/>
        <p:txBody>
          <a:bodyPr/>
          <a:lstStyle/>
          <a:p>
            <a:r>
              <a:rPr lang="zh-CN" altLang="en-US" dirty="0"/>
              <a:t>例题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pPr>
              <a:spcBef>
                <a:spcPts val="1200"/>
              </a:spcBef>
            </a:pPr>
            <a:r>
              <a:rPr lang="zh-CN" altLang="en-US" sz="2800" dirty="0"/>
              <a:t>某系统的虚拟地址为</a:t>
            </a:r>
            <a:r>
              <a:rPr lang="en-US" altLang="zh-CN" sz="2800" dirty="0"/>
              <a:t>32</a:t>
            </a:r>
            <a:r>
              <a:rPr lang="zh-CN" altLang="en-US" sz="2800" dirty="0"/>
              <a:t>位，采用</a:t>
            </a:r>
            <a:r>
              <a:rPr lang="en-US" altLang="zh-CN" sz="2800" dirty="0"/>
              <a:t>16KB</a:t>
            </a:r>
            <a:r>
              <a:rPr lang="zh-CN" altLang="en-US" sz="2800" dirty="0"/>
              <a:t>作为页大小，拟采用两级页表，则的页内地址位数为：</a:t>
            </a:r>
            <a:endParaRPr lang="en-US" altLang="zh-CN" sz="2800" dirty="0"/>
          </a:p>
          <a:p>
            <a:pPr lvl="1"/>
            <a:r>
              <a:rPr lang="en-US" altLang="zh-CN" sz="2400" dirty="0"/>
              <a:t>A</a:t>
            </a:r>
            <a:r>
              <a:rPr lang="zh-CN" altLang="en-US" sz="2400" dirty="0"/>
              <a:t>）</a:t>
            </a:r>
            <a:r>
              <a:rPr lang="en-US" altLang="zh-CN" sz="2400" dirty="0"/>
              <a:t>11     B</a:t>
            </a:r>
            <a:r>
              <a:rPr lang="zh-CN" altLang="en-US" sz="2400" dirty="0"/>
              <a:t>）</a:t>
            </a:r>
            <a:r>
              <a:rPr lang="en-US" altLang="zh-CN" sz="2400" dirty="0"/>
              <a:t>12     C</a:t>
            </a:r>
            <a:r>
              <a:rPr lang="zh-CN" altLang="en-US" sz="2400" dirty="0"/>
              <a:t>）</a:t>
            </a:r>
            <a:r>
              <a:rPr lang="en-US" altLang="zh-CN" sz="2400" dirty="0"/>
              <a:t>13      D</a:t>
            </a:r>
            <a:r>
              <a:rPr lang="zh-CN" altLang="en-US" sz="2400" dirty="0"/>
              <a:t>）</a:t>
            </a:r>
            <a:r>
              <a:rPr lang="en-US" altLang="zh-CN" sz="2400" dirty="0"/>
              <a:t>14</a:t>
            </a:r>
            <a:endParaRPr lang="en-US" altLang="zh-CN" sz="2400" dirty="0"/>
          </a:p>
          <a:p>
            <a:pPr lvl="1"/>
            <a:r>
              <a:rPr lang="zh-CN" altLang="en-US" sz="2400" dirty="0"/>
              <a:t>答案：</a:t>
            </a:r>
            <a:r>
              <a:rPr lang="en-US" altLang="zh-CN" sz="2400" dirty="0"/>
              <a:t>14</a:t>
            </a:r>
            <a:endParaRPr lang="en-US" altLang="zh-CN" sz="2400" dirty="0"/>
          </a:p>
          <a:p>
            <a:pPr>
              <a:spcBef>
                <a:spcPts val="1200"/>
              </a:spcBef>
            </a:pPr>
            <a:r>
              <a:rPr lang="zh-CN" altLang="en-US" sz="2800" dirty="0"/>
              <a:t>若设页表项长度为</a:t>
            </a:r>
            <a:r>
              <a:rPr lang="en-US" altLang="zh-CN" sz="2800" dirty="0"/>
              <a:t>4</a:t>
            </a:r>
            <a:r>
              <a:rPr lang="zh-CN" altLang="en-US" sz="2800" dirty="0"/>
              <a:t>字节，则外层页内地址位数应为：</a:t>
            </a:r>
            <a:endParaRPr lang="en-US" altLang="zh-CN" sz="2800" dirty="0"/>
          </a:p>
          <a:p>
            <a:pPr lvl="1"/>
            <a:r>
              <a:rPr lang="en-US" altLang="zh-CN" sz="2400" dirty="0"/>
              <a:t>A</a:t>
            </a:r>
            <a:r>
              <a:rPr lang="zh-CN" altLang="en-US" sz="2400" dirty="0"/>
              <a:t>）</a:t>
            </a:r>
            <a:r>
              <a:rPr lang="en-US" altLang="zh-CN" sz="2400" dirty="0"/>
              <a:t>10    B</a:t>
            </a:r>
            <a:r>
              <a:rPr lang="zh-CN" altLang="en-US" sz="2400" dirty="0"/>
              <a:t>）</a:t>
            </a:r>
            <a:r>
              <a:rPr lang="en-US" altLang="zh-CN" sz="2400" dirty="0"/>
              <a:t>11      C</a:t>
            </a:r>
            <a:r>
              <a:rPr lang="zh-CN" altLang="en-US" sz="2400" dirty="0"/>
              <a:t>）</a:t>
            </a:r>
            <a:r>
              <a:rPr lang="en-US" altLang="zh-CN" sz="2400" dirty="0"/>
              <a:t>12      D</a:t>
            </a:r>
            <a:r>
              <a:rPr lang="zh-CN" altLang="en-US" sz="2400" dirty="0"/>
              <a:t>）</a:t>
            </a:r>
            <a:r>
              <a:rPr lang="en-US" altLang="zh-CN" sz="2400" dirty="0"/>
              <a:t>13</a:t>
            </a:r>
            <a:endParaRPr lang="en-US" altLang="zh-CN" sz="2400" dirty="0"/>
          </a:p>
          <a:p>
            <a:pPr lvl="1"/>
            <a:r>
              <a:rPr lang="zh-CN" altLang="en-US" sz="2400" dirty="0"/>
              <a:t>答案：</a:t>
            </a:r>
            <a:r>
              <a:rPr lang="en-US" altLang="zh-CN" sz="2400" dirty="0"/>
              <a:t>12  </a:t>
            </a:r>
            <a:r>
              <a:rPr lang="en-US" altLang="zh-CN" sz="2400" dirty="0">
                <a:solidFill>
                  <a:srgbClr val="FF0000"/>
                </a:solidFill>
              </a:rPr>
              <a:t>16KB/4B=2</a:t>
            </a:r>
            <a:r>
              <a:rPr lang="zh-CN" altLang="en-US" sz="2400" dirty="0">
                <a:solidFill>
                  <a:srgbClr val="FF0000"/>
                </a:solidFill>
              </a:rPr>
              <a:t>的</a:t>
            </a:r>
            <a:r>
              <a:rPr lang="en-US" altLang="zh-CN" sz="2400" dirty="0">
                <a:solidFill>
                  <a:srgbClr val="FF0000"/>
                </a:solidFill>
              </a:rPr>
              <a:t>12</a:t>
            </a:r>
            <a:r>
              <a:rPr lang="zh-CN" altLang="en-US" sz="2400" dirty="0">
                <a:solidFill>
                  <a:srgbClr val="FF0000"/>
                </a:solidFill>
              </a:rPr>
              <a:t>次方 用页大小</a:t>
            </a:r>
            <a:r>
              <a:rPr lang="en-US" altLang="zh-CN" sz="2400" dirty="0">
                <a:solidFill>
                  <a:srgbClr val="FF0000"/>
                </a:solidFill>
              </a:rPr>
              <a:t>/</a:t>
            </a:r>
            <a:r>
              <a:rPr lang="zh-CN" altLang="en-US" sz="2400" dirty="0">
                <a:solidFill>
                  <a:srgbClr val="FF0000"/>
                </a:solidFill>
              </a:rPr>
              <a:t>项大小</a:t>
            </a:r>
            <a:r>
              <a:rPr lang="en-US" altLang="zh-CN" sz="2400" dirty="0">
                <a:solidFill>
                  <a:srgbClr val="FF0000"/>
                </a:solidFill>
              </a:rPr>
              <a:t>=</a:t>
            </a:r>
            <a:r>
              <a:rPr lang="zh-CN" altLang="en-US" sz="2400" dirty="0">
                <a:solidFill>
                  <a:srgbClr val="FF0000"/>
                </a:solidFill>
              </a:rPr>
              <a:t>每页项数</a:t>
            </a:r>
            <a:r>
              <a:rPr lang="en-US" altLang="zh-CN" sz="2400" dirty="0">
                <a:solidFill>
                  <a:srgbClr val="FF0000"/>
                </a:solidFill>
              </a:rPr>
              <a:t>-&gt;</a:t>
            </a:r>
            <a:r>
              <a:rPr lang="zh-CN" altLang="en-US" sz="2400" dirty="0">
                <a:solidFill>
                  <a:srgbClr val="FF0000"/>
                </a:solidFill>
              </a:rPr>
              <a:t>地址位数</a:t>
            </a:r>
            <a:endParaRPr lang="en-US" altLang="zh-CN" sz="2400" dirty="0"/>
          </a:p>
          <a:p>
            <a:pPr>
              <a:spcBef>
                <a:spcPts val="1200"/>
              </a:spcBef>
            </a:pPr>
            <a:r>
              <a:rPr lang="zh-CN" altLang="en-US" sz="2800" dirty="0"/>
              <a:t>接上题，则外层页号长度应为：</a:t>
            </a:r>
            <a:endParaRPr lang="en-US" altLang="zh-CN" sz="2800" dirty="0"/>
          </a:p>
          <a:p>
            <a:pPr lvl="1"/>
            <a:r>
              <a:rPr lang="en-US" altLang="zh-CN" sz="2400" dirty="0"/>
              <a:t>A</a:t>
            </a:r>
            <a:r>
              <a:rPr lang="zh-CN" altLang="en-US" sz="2400" dirty="0"/>
              <a:t>）</a:t>
            </a:r>
            <a:r>
              <a:rPr lang="en-US" altLang="zh-CN" sz="2400" dirty="0"/>
              <a:t>4       B)5       C</a:t>
            </a:r>
            <a:r>
              <a:rPr lang="zh-CN" altLang="en-US" sz="2400" dirty="0"/>
              <a:t>）</a:t>
            </a:r>
            <a:r>
              <a:rPr lang="en-US" altLang="zh-CN" sz="2400" dirty="0"/>
              <a:t>6         D</a:t>
            </a:r>
            <a:r>
              <a:rPr lang="zh-CN" altLang="en-US" sz="2400" dirty="0"/>
              <a:t>）</a:t>
            </a:r>
            <a:r>
              <a:rPr lang="en-US" altLang="zh-CN" sz="2400" dirty="0"/>
              <a:t>7</a:t>
            </a:r>
            <a:endParaRPr lang="en-US" altLang="zh-CN" sz="2400" dirty="0"/>
          </a:p>
          <a:p>
            <a:pPr lvl="1"/>
            <a:r>
              <a:rPr lang="zh-CN" altLang="en-US" sz="2400" dirty="0"/>
              <a:t>答案：</a:t>
            </a:r>
            <a:r>
              <a:rPr lang="en-US" altLang="zh-CN" sz="2400" dirty="0"/>
              <a:t>C     </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小测试题</a:t>
            </a:r>
            <a:endParaRPr lang="zh-CN" altLang="en-US" dirty="0"/>
          </a:p>
        </p:txBody>
      </p:sp>
      <p:sp>
        <p:nvSpPr>
          <p:cNvPr id="3" name="内容占位符 2"/>
          <p:cNvSpPr>
            <a:spLocks noGrp="1"/>
          </p:cNvSpPr>
          <p:nvPr>
            <p:ph idx="1"/>
          </p:nvPr>
        </p:nvSpPr>
        <p:spPr/>
        <p:txBody>
          <a:bodyPr/>
          <a:lstStyle/>
          <a:p>
            <a:r>
              <a:rPr lang="zh-CN" altLang="en-US" dirty="0"/>
              <a:t>已知某系统页大小为</a:t>
            </a:r>
            <a:r>
              <a:rPr lang="en-US" altLang="zh-CN" dirty="0"/>
              <a:t>8KB</a:t>
            </a:r>
            <a:r>
              <a:rPr lang="zh-CN" altLang="en-US" dirty="0"/>
              <a:t>，每个页表项为</a:t>
            </a:r>
            <a:r>
              <a:rPr lang="en-US" altLang="zh-CN" dirty="0"/>
              <a:t>8</a:t>
            </a:r>
            <a:r>
              <a:rPr lang="zh-CN" altLang="en-US" dirty="0"/>
              <a:t>字节，进程的逻辑地址为</a:t>
            </a:r>
            <a:r>
              <a:rPr lang="en-US" altLang="zh-CN" dirty="0"/>
              <a:t>64</a:t>
            </a:r>
            <a:r>
              <a:rPr lang="zh-CN" altLang="en-US" dirty="0"/>
              <a:t>位，若限定最高层页表只占</a:t>
            </a:r>
            <a:r>
              <a:rPr lang="en-US" altLang="zh-CN" dirty="0"/>
              <a:t>1</a:t>
            </a:r>
            <a:r>
              <a:rPr lang="zh-CN" altLang="en-US" dirty="0"/>
              <a:t>页，则需要采用几级页表策略？</a:t>
            </a:r>
            <a:endParaRPr lang="en-US" altLang="zh-CN" dirty="0"/>
          </a:p>
          <a:p>
            <a:pPr lvl="1"/>
            <a:r>
              <a:rPr lang="zh-CN" altLang="en-US" dirty="0"/>
              <a:t>逻辑空间的总页面数为</a:t>
            </a:r>
            <a:r>
              <a:rPr lang="en-US" altLang="zh-CN" dirty="0"/>
              <a:t>2</a:t>
            </a:r>
            <a:r>
              <a:rPr lang="en-US" altLang="zh-CN" baseline="30000" dirty="0"/>
              <a:t>64</a:t>
            </a:r>
            <a:r>
              <a:rPr lang="en-US" altLang="zh-CN" dirty="0"/>
              <a:t>/2</a:t>
            </a:r>
            <a:r>
              <a:rPr lang="en-US" altLang="zh-CN" baseline="30000" dirty="0"/>
              <a:t>13</a:t>
            </a:r>
            <a:r>
              <a:rPr lang="zh-CN" altLang="en-US" dirty="0"/>
              <a:t>，即</a:t>
            </a:r>
            <a:r>
              <a:rPr lang="en-US" altLang="zh-CN" dirty="0"/>
              <a:t>2</a:t>
            </a:r>
            <a:r>
              <a:rPr lang="zh-CN" altLang="en-US" dirty="0"/>
              <a:t>的</a:t>
            </a:r>
            <a:r>
              <a:rPr lang="en-US" altLang="zh-CN" dirty="0"/>
              <a:t>51</a:t>
            </a:r>
            <a:r>
              <a:rPr lang="zh-CN" altLang="en-US" dirty="0"/>
              <a:t>次幂个。每个也可以放</a:t>
            </a:r>
            <a:r>
              <a:rPr lang="en-US" altLang="zh-CN" dirty="0"/>
              <a:t>8K/8</a:t>
            </a:r>
            <a:r>
              <a:rPr lang="zh-CN" altLang="en-US" dirty="0"/>
              <a:t>个也表项项，即</a:t>
            </a:r>
            <a:r>
              <a:rPr lang="en-US" altLang="zh-CN" dirty="0"/>
              <a:t>1K</a:t>
            </a:r>
            <a:r>
              <a:rPr lang="zh-CN" altLang="en-US" dirty="0"/>
              <a:t>个项，即</a:t>
            </a:r>
            <a:r>
              <a:rPr lang="en-US" altLang="zh-CN" dirty="0"/>
              <a:t>2</a:t>
            </a:r>
            <a:r>
              <a:rPr lang="zh-CN" altLang="en-US" dirty="0"/>
              <a:t>的</a:t>
            </a:r>
            <a:r>
              <a:rPr lang="en-US" altLang="zh-CN" dirty="0"/>
              <a:t>10</a:t>
            </a:r>
            <a:r>
              <a:rPr lang="zh-CN" altLang="en-US" dirty="0"/>
              <a:t>次幂个项。显然，一级只能将页表项数缩小为</a:t>
            </a:r>
            <a:r>
              <a:rPr lang="en-US" altLang="zh-CN" dirty="0"/>
              <a:t>1/1024</a:t>
            </a:r>
            <a:r>
              <a:rPr lang="zh-CN" altLang="en-US" dirty="0"/>
              <a:t>，因此每级的页表项数是：两级时为</a:t>
            </a:r>
            <a:r>
              <a:rPr lang="en-US" altLang="zh-CN" dirty="0"/>
              <a:t>2</a:t>
            </a:r>
            <a:r>
              <a:rPr lang="zh-CN" altLang="en-US" dirty="0"/>
              <a:t>的</a:t>
            </a:r>
            <a:r>
              <a:rPr lang="en-US" altLang="zh-CN" dirty="0"/>
              <a:t>41</a:t>
            </a:r>
            <a:r>
              <a:rPr lang="zh-CN" altLang="en-US" dirty="0"/>
              <a:t>次幂，三级时为</a:t>
            </a:r>
            <a:r>
              <a:rPr lang="en-US" altLang="zh-CN" dirty="0"/>
              <a:t>2</a:t>
            </a:r>
            <a:r>
              <a:rPr lang="zh-CN" altLang="en-US" dirty="0"/>
              <a:t>的</a:t>
            </a:r>
            <a:r>
              <a:rPr lang="en-US" altLang="zh-CN" dirty="0"/>
              <a:t>31</a:t>
            </a:r>
            <a:r>
              <a:rPr lang="zh-CN" altLang="en-US" dirty="0"/>
              <a:t>次幂，</a:t>
            </a:r>
            <a:r>
              <a:rPr lang="en-US" altLang="zh-CN" dirty="0"/>
              <a:t>4</a:t>
            </a:r>
            <a:r>
              <a:rPr lang="zh-CN" altLang="en-US" dirty="0"/>
              <a:t>级时为</a:t>
            </a:r>
            <a:r>
              <a:rPr lang="en-US" altLang="zh-CN" dirty="0"/>
              <a:t>21</a:t>
            </a:r>
            <a:r>
              <a:rPr lang="zh-CN" altLang="en-US" dirty="0"/>
              <a:t>次幂，</a:t>
            </a:r>
            <a:r>
              <a:rPr lang="en-US" altLang="zh-CN" dirty="0"/>
              <a:t>5</a:t>
            </a:r>
            <a:r>
              <a:rPr lang="zh-CN" altLang="en-US" dirty="0"/>
              <a:t>级时为</a:t>
            </a:r>
            <a:r>
              <a:rPr lang="en-US" altLang="zh-CN" dirty="0"/>
              <a:t>11</a:t>
            </a:r>
            <a:r>
              <a:rPr lang="zh-CN" altLang="en-US" dirty="0"/>
              <a:t>次幂，仍然需要两个页面来存储，因此再增加一级，即需要</a:t>
            </a:r>
            <a:r>
              <a:rPr lang="en-US" altLang="zh-CN" dirty="0"/>
              <a:t>6</a:t>
            </a:r>
            <a:r>
              <a:rPr lang="zh-CN" altLang="en-US" dirty="0"/>
              <a:t>级页表。</a:t>
            </a:r>
            <a:r>
              <a:rPr lang="en-US" altLang="zh-CN" dirty="0"/>
              <a:t> </a:t>
            </a:r>
            <a:endParaRPr lang="en-US" altLang="zh-CN" dirty="0"/>
          </a:p>
          <a:p>
            <a:r>
              <a:rPr lang="zh-CN" altLang="en-US" dirty="0"/>
              <a:t>思考，如果每个页表项为</a:t>
            </a:r>
            <a:r>
              <a:rPr lang="en-US" altLang="zh-CN" dirty="0"/>
              <a:t>4</a:t>
            </a:r>
            <a:r>
              <a:rPr lang="zh-CN" altLang="en-US"/>
              <a:t>字节，答案应该是什么？</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可适应大物理内存，也适应大虚拟内存的解决大页表的存储和访问效率的方法是：</a:t>
            </a:r>
            <a:endParaRPr lang="en-US" altLang="zh-CN" dirty="0"/>
          </a:p>
          <a:p>
            <a:pPr lvl="1"/>
            <a:r>
              <a:rPr lang="en-US" altLang="zh-CN" dirty="0"/>
              <a:t>A</a:t>
            </a:r>
            <a:r>
              <a:rPr lang="zh-CN" altLang="en-US" dirty="0"/>
              <a:t>）多级页表   </a:t>
            </a:r>
            <a:r>
              <a:rPr lang="en-US" altLang="zh-CN" dirty="0"/>
              <a:t>B</a:t>
            </a:r>
            <a:r>
              <a:rPr lang="zh-CN" altLang="en-US" dirty="0"/>
              <a:t>）虚拟页表     </a:t>
            </a:r>
            <a:r>
              <a:rPr lang="en-US" altLang="zh-CN" dirty="0"/>
              <a:t>C</a:t>
            </a:r>
            <a:r>
              <a:rPr lang="zh-CN" altLang="en-US" dirty="0"/>
              <a:t>）反置页表      </a:t>
            </a:r>
            <a:r>
              <a:rPr lang="en-US" altLang="zh-CN" dirty="0"/>
              <a:t>D</a:t>
            </a:r>
            <a:r>
              <a:rPr lang="zh-CN" altLang="en-US" dirty="0"/>
              <a:t>）快表</a:t>
            </a:r>
            <a:endParaRPr lang="en-US" altLang="zh-CN" dirty="0"/>
          </a:p>
          <a:p>
            <a:pPr lvl="1"/>
            <a:r>
              <a:rPr lang="zh-CN" altLang="en-US" dirty="0"/>
              <a:t>答案：</a:t>
            </a:r>
            <a:r>
              <a:rPr lang="en-US" altLang="zh-CN" dirty="0"/>
              <a:t>A B D</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7" name="Rectangle 3"/>
          <p:cNvSpPr>
            <a:spLocks noGrp="1" noChangeArrowheads="1"/>
          </p:cNvSpPr>
          <p:nvPr>
            <p:ph idx="1"/>
          </p:nvPr>
        </p:nvSpPr>
        <p:spPr/>
        <p:txBody>
          <a:bodyPr/>
          <a:lstStyle/>
          <a:p>
            <a:pPr>
              <a:lnSpc>
                <a:spcPct val="115000"/>
              </a:lnSpc>
              <a:defRPr/>
            </a:pPr>
            <a:r>
              <a:rPr lang="zh-CN" altLang="en-US" sz="2800" dirty="0">
                <a:cs typeface="Verdana" panose="020B0604030504040204" pitchFamily="34" charset="0"/>
              </a:rPr>
              <a:t>一个多用户系统可接纳</a:t>
            </a:r>
            <a:r>
              <a:rPr lang="zh-CN" altLang="en-US" sz="2800" dirty="0">
                <a:solidFill>
                  <a:srgbClr val="000099"/>
                </a:solidFill>
                <a:cs typeface="Verdana" panose="020B0604030504040204" pitchFamily="34" charset="0"/>
              </a:rPr>
              <a:t>40个用户</a:t>
            </a:r>
            <a:r>
              <a:rPr lang="zh-CN" altLang="en-US" sz="2800" dirty="0">
                <a:cs typeface="Verdana" panose="020B0604030504040204" pitchFamily="34" charset="0"/>
              </a:rPr>
              <a:t>，它</a:t>
            </a:r>
            <a:r>
              <a:rPr lang="en-US" altLang="zh-CN" sz="2800" dirty="0" err="1">
                <a:cs typeface="Verdana" panose="020B0604030504040204" pitchFamily="34" charset="0"/>
              </a:rPr>
              <a:t>们都执行一个文本编辑程序</a:t>
            </a:r>
            <a:r>
              <a:rPr lang="en-US" altLang="zh-CN" sz="2800" dirty="0">
                <a:cs typeface="Verdana" panose="020B0604030504040204" pitchFamily="34" charset="0"/>
              </a:rPr>
              <a:t>(</a:t>
            </a:r>
            <a:r>
              <a:rPr lang="zh-CN" altLang="zh-CN" sz="2800" dirty="0">
                <a:cs typeface="Verdana" panose="020B0604030504040204" pitchFamily="34" charset="0"/>
              </a:rPr>
              <a:t>ED</a:t>
            </a:r>
            <a:r>
              <a:rPr lang="en-US" altLang="zh-CN" sz="2800" dirty="0"/>
              <a:t>)</a:t>
            </a:r>
            <a:r>
              <a:rPr lang="zh-CN" altLang="zh-CN" sz="2800" dirty="0"/>
              <a:t>，ED</a:t>
            </a:r>
            <a:r>
              <a:rPr lang="zh-CN" altLang="en-US" sz="2800" dirty="0"/>
              <a:t>代码共</a:t>
            </a:r>
            <a:r>
              <a:rPr lang="zh-CN" altLang="en-US" sz="2800" dirty="0">
                <a:solidFill>
                  <a:srgbClr val="000099"/>
                </a:solidFill>
              </a:rPr>
              <a:t>160</a:t>
            </a:r>
            <a:r>
              <a:rPr lang="zh-CN" altLang="zh-CN" sz="2800" dirty="0">
                <a:solidFill>
                  <a:srgbClr val="000099"/>
                </a:solidFill>
              </a:rPr>
              <a:t>K</a:t>
            </a:r>
            <a:r>
              <a:rPr lang="zh-CN" altLang="zh-CN" sz="2800" dirty="0"/>
              <a:t>，</a:t>
            </a:r>
            <a:r>
              <a:rPr lang="zh-CN" altLang="en-US" sz="2800" dirty="0"/>
              <a:t>每个用户还有</a:t>
            </a:r>
            <a:r>
              <a:rPr lang="zh-CN" altLang="en-US" sz="2800" dirty="0">
                <a:solidFill>
                  <a:srgbClr val="000099"/>
                </a:solidFill>
              </a:rPr>
              <a:t>40</a:t>
            </a:r>
            <a:r>
              <a:rPr lang="zh-CN" altLang="zh-CN" sz="2800" dirty="0">
                <a:solidFill>
                  <a:srgbClr val="000099"/>
                </a:solidFill>
              </a:rPr>
              <a:t>K</a:t>
            </a:r>
            <a:r>
              <a:rPr lang="zh-CN" altLang="en-US" sz="2800" dirty="0"/>
              <a:t>的数据区</a:t>
            </a:r>
            <a:r>
              <a:rPr lang="en-US" altLang="zh-CN" sz="2800" dirty="0"/>
              <a:t>(DA)</a:t>
            </a:r>
            <a:r>
              <a:rPr lang="zh-CN" altLang="en-US" sz="2800" dirty="0"/>
              <a:t>。</a:t>
            </a:r>
            <a:endParaRPr lang="zh-CN" altLang="en-US" sz="2800" dirty="0"/>
          </a:p>
          <a:p>
            <a:pPr lvl="1">
              <a:lnSpc>
                <a:spcPct val="115000"/>
              </a:lnSpc>
              <a:defRPr/>
            </a:pPr>
            <a:r>
              <a:rPr lang="zh-CN" altLang="en-US" b="1" dirty="0"/>
              <a:t>不采用信息共享时需占用的内存空间？</a:t>
            </a:r>
            <a:endParaRPr lang="zh-CN" altLang="en-US" b="1" dirty="0"/>
          </a:p>
          <a:p>
            <a:pPr lvl="1">
              <a:lnSpc>
                <a:spcPct val="115000"/>
              </a:lnSpc>
              <a:buFont typeface="Wingdings" panose="05000000000000000000" pitchFamily="2" charset="2"/>
              <a:buNone/>
              <a:defRPr/>
            </a:pPr>
            <a:r>
              <a:rPr lang="zh-CN" altLang="en-US" b="1" dirty="0">
                <a:solidFill>
                  <a:srgbClr val="006600"/>
                </a:solidFill>
                <a:effectLst>
                  <a:outerShdw blurRad="38100" dist="38100" dir="2700000" algn="tl">
                    <a:srgbClr val="C0C0C0"/>
                  </a:outerShdw>
                </a:effectLst>
              </a:rPr>
              <a:t>  </a:t>
            </a:r>
            <a:r>
              <a:rPr lang="en-US" altLang="zh-CN" b="1" dirty="0">
                <a:solidFill>
                  <a:srgbClr val="006600"/>
                </a:solidFill>
                <a:effectLst>
                  <a:outerShdw blurRad="38100" dist="38100" dir="2700000" algn="tl">
                    <a:srgbClr val="C0C0C0"/>
                  </a:outerShdw>
                </a:effectLst>
              </a:rPr>
              <a:t>( 160K + 40K ) * 40 = 8000K</a:t>
            </a:r>
            <a:endParaRPr lang="en-US" altLang="zh-CN" b="1" dirty="0">
              <a:solidFill>
                <a:srgbClr val="006600"/>
              </a:solidFill>
              <a:effectLst>
                <a:outerShdw blurRad="38100" dist="38100" dir="2700000" algn="tl">
                  <a:srgbClr val="C0C0C0"/>
                </a:outerShdw>
              </a:effectLst>
            </a:endParaRPr>
          </a:p>
          <a:p>
            <a:pPr lvl="1">
              <a:lnSpc>
                <a:spcPct val="115000"/>
              </a:lnSpc>
              <a:defRPr/>
            </a:pPr>
            <a:r>
              <a:rPr lang="zh-CN" altLang="en-US" b="1" dirty="0"/>
              <a:t>采用信息共享（</a:t>
            </a:r>
            <a:r>
              <a:rPr lang="zh-CN" altLang="en-US" b="1" dirty="0">
                <a:solidFill>
                  <a:srgbClr val="000099"/>
                </a:solidFill>
              </a:rPr>
              <a:t>若</a:t>
            </a:r>
            <a:r>
              <a:rPr lang="en-US" altLang="zh-CN" b="1" dirty="0">
                <a:solidFill>
                  <a:srgbClr val="000099"/>
                </a:solidFill>
              </a:rPr>
              <a:t>ED</a:t>
            </a:r>
            <a:r>
              <a:rPr lang="zh-CN" altLang="en-US" b="1" dirty="0">
                <a:solidFill>
                  <a:srgbClr val="000099"/>
                </a:solidFill>
              </a:rPr>
              <a:t>可共享</a:t>
            </a:r>
            <a:r>
              <a:rPr lang="zh-CN" altLang="en-US" b="1" dirty="0"/>
              <a:t>）后占用的内存空间？</a:t>
            </a:r>
            <a:endParaRPr lang="zh-CN" altLang="en-US" b="1" dirty="0">
              <a:solidFill>
                <a:srgbClr val="006600"/>
              </a:solidFill>
              <a:effectLst>
                <a:outerShdw blurRad="38100" dist="38100" dir="2700000" algn="tl">
                  <a:srgbClr val="C0C0C0"/>
                </a:outerShdw>
              </a:effectLst>
            </a:endParaRPr>
          </a:p>
          <a:p>
            <a:pPr lvl="2">
              <a:lnSpc>
                <a:spcPct val="115000"/>
              </a:lnSpc>
              <a:buFont typeface="Wingdings" panose="05000000000000000000" pitchFamily="2" charset="2"/>
              <a:buNone/>
              <a:defRPr/>
            </a:pPr>
            <a:r>
              <a:rPr lang="zh-CN" altLang="en-US" dirty="0">
                <a:solidFill>
                  <a:srgbClr val="006600"/>
                </a:solidFill>
                <a:effectLst>
                  <a:outerShdw blurRad="38100" dist="38100" dir="2700000" algn="tl">
                    <a:srgbClr val="C0C0C0"/>
                  </a:outerShdw>
                </a:effectLst>
              </a:rPr>
              <a:t> </a:t>
            </a:r>
            <a:r>
              <a:rPr lang="en-US" altLang="zh-CN" dirty="0">
                <a:solidFill>
                  <a:srgbClr val="006600"/>
                </a:solidFill>
                <a:effectLst>
                  <a:outerShdw blurRad="38100" dist="38100" dir="2700000" algn="tl">
                    <a:srgbClr val="C0C0C0"/>
                  </a:outerShdw>
                </a:effectLst>
              </a:rPr>
              <a:t>160K + 40K * 40 = 1760K</a:t>
            </a:r>
            <a:endParaRPr lang="en-US" altLang="zh-CN" dirty="0">
              <a:solidFill>
                <a:srgbClr val="006600"/>
              </a:solidFill>
              <a:effectLst>
                <a:outerShdw blurRad="38100" dist="38100" dir="2700000" algn="tl">
                  <a:srgbClr val="C0C0C0"/>
                </a:outerShdw>
              </a:effectLst>
            </a:endParaRPr>
          </a:p>
        </p:txBody>
      </p:sp>
      <p:sp>
        <p:nvSpPr>
          <p:cNvPr id="248834" name="Rectangle 2"/>
          <p:cNvSpPr>
            <a:spLocks noGrp="1" noChangeArrowheads="1"/>
          </p:cNvSpPr>
          <p:nvPr>
            <p:ph type="title"/>
          </p:nvPr>
        </p:nvSpPr>
        <p:spPr/>
        <p:txBody>
          <a:bodyPr/>
          <a:lstStyle/>
          <a:p>
            <a:r>
              <a:rPr lang="zh-CN" altLang="en-US" sz="3600"/>
              <a:t>例：</a:t>
            </a:r>
            <a:endParaRPr lang="zh-CN" altLang="en-US" sz="36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引入分段存储管理的原因不包括（    ）：</a:t>
            </a:r>
            <a:endParaRPr lang="en-US" altLang="zh-CN" dirty="0"/>
          </a:p>
          <a:p>
            <a:pPr lvl="1"/>
            <a:r>
              <a:rPr lang="en-US" altLang="zh-CN" dirty="0"/>
              <a:t>A</a:t>
            </a:r>
            <a:r>
              <a:rPr lang="zh-CN" altLang="en-US" dirty="0"/>
              <a:t>）方便编程      </a:t>
            </a:r>
            <a:r>
              <a:rPr lang="en-US" altLang="zh-CN" dirty="0"/>
              <a:t>		B</a:t>
            </a:r>
            <a:r>
              <a:rPr lang="zh-CN" altLang="en-US" dirty="0"/>
              <a:t>）方便共享和保护 </a:t>
            </a:r>
            <a:endParaRPr lang="en-US" altLang="zh-CN" dirty="0"/>
          </a:p>
          <a:p>
            <a:pPr lvl="1"/>
            <a:r>
              <a:rPr lang="en-US" altLang="zh-CN" dirty="0"/>
              <a:t>C</a:t>
            </a:r>
            <a:r>
              <a:rPr lang="zh-CN" altLang="en-US" dirty="0"/>
              <a:t>）便于实现动态增长和动态链接      </a:t>
            </a:r>
            <a:r>
              <a:rPr lang="en-US" altLang="zh-CN" dirty="0"/>
              <a:t>D</a:t>
            </a:r>
            <a:r>
              <a:rPr lang="zh-CN" altLang="en-US" dirty="0"/>
              <a:t>）提升内存利用率</a:t>
            </a:r>
            <a:endParaRPr lang="en-US" altLang="zh-CN" dirty="0"/>
          </a:p>
          <a:p>
            <a:pPr lvl="1"/>
            <a:r>
              <a:rPr lang="zh-CN" altLang="en-US" dirty="0"/>
              <a:t>答案：</a:t>
            </a:r>
            <a:r>
              <a:rPr lang="en-US" altLang="zh-CN" dirty="0"/>
              <a:t>D</a:t>
            </a:r>
            <a:endParaRPr lang="en-US" altLang="zh-CN" dirty="0"/>
          </a:p>
          <a:p>
            <a:r>
              <a:rPr lang="zh-CN" altLang="en-US" dirty="0"/>
              <a:t>某系统逻辑地址长度为</a:t>
            </a:r>
            <a:r>
              <a:rPr lang="en-US" altLang="zh-CN" dirty="0"/>
              <a:t>48</a:t>
            </a:r>
            <a:r>
              <a:rPr lang="zh-CN" altLang="en-US" dirty="0"/>
              <a:t>位，段号长度为</a:t>
            </a:r>
            <a:r>
              <a:rPr lang="en-US" altLang="zh-CN" dirty="0"/>
              <a:t>16</a:t>
            </a:r>
            <a:r>
              <a:rPr lang="zh-CN" altLang="en-US" dirty="0"/>
              <a:t>位，段内地址最大为：</a:t>
            </a:r>
            <a:endParaRPr lang="en-US" altLang="zh-CN" dirty="0"/>
          </a:p>
          <a:p>
            <a:pPr lvl="1"/>
            <a:r>
              <a:rPr lang="en-US" altLang="zh-CN" dirty="0"/>
              <a:t>A</a:t>
            </a:r>
            <a:r>
              <a:rPr lang="zh-CN" altLang="en-US" dirty="0"/>
              <a:t>）</a:t>
            </a:r>
            <a:r>
              <a:rPr lang="en-US" altLang="zh-CN" dirty="0"/>
              <a:t>2^32        B</a:t>
            </a:r>
            <a:r>
              <a:rPr lang="zh-CN" altLang="en-US" dirty="0"/>
              <a:t>）</a:t>
            </a:r>
            <a:r>
              <a:rPr lang="en-US" altLang="zh-CN" dirty="0"/>
              <a:t>2^48         C) 2^16        D)2^24</a:t>
            </a:r>
            <a:endParaRPr lang="en-US" altLang="zh-CN" dirty="0"/>
          </a:p>
          <a:p>
            <a:pPr lvl="1"/>
            <a:r>
              <a:rPr lang="zh-CN" altLang="en-US" dirty="0"/>
              <a:t>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r>
              <a:rPr lang="en-US" altLang="zh-CN" dirty="0"/>
              <a:t>(</a:t>
            </a:r>
            <a:r>
              <a:rPr lang="zh-CN" altLang="en-US" dirty="0"/>
              <a:t>会考 选择或问答</a:t>
            </a:r>
            <a:r>
              <a:rPr lang="en-US" altLang="zh-CN" dirty="0"/>
              <a:t>)</a:t>
            </a:r>
            <a:endParaRPr lang="en-US" altLang="zh-CN" dirty="0"/>
          </a:p>
        </p:txBody>
      </p:sp>
      <p:sp>
        <p:nvSpPr>
          <p:cNvPr id="3" name="内容占位符 2"/>
          <p:cNvSpPr>
            <a:spLocks noGrp="1"/>
          </p:cNvSpPr>
          <p:nvPr>
            <p:ph idx="1"/>
          </p:nvPr>
        </p:nvSpPr>
        <p:spPr/>
        <p:txBody>
          <a:bodyPr/>
          <a:lstStyle/>
          <a:p>
            <a:r>
              <a:rPr lang="en-US" altLang="zh-CN" sz="2800" dirty="0"/>
              <a:t>1</a:t>
            </a:r>
            <a:r>
              <a:rPr lang="zh-CN" altLang="en-US" sz="2800" dirty="0"/>
              <a:t>．</a:t>
            </a:r>
            <a:r>
              <a:rPr lang="en-US" altLang="zh-CN" sz="2800" dirty="0"/>
              <a:t>(      )</a:t>
            </a:r>
            <a:r>
              <a:rPr lang="zh-CN" altLang="en-US" sz="2800" dirty="0"/>
              <a:t>存储管理方式提供二维地址结构。</a:t>
            </a:r>
            <a:endParaRPr lang="zh-CN" altLang="en-US" sz="2800" dirty="0"/>
          </a:p>
          <a:p>
            <a:pPr lvl="1"/>
            <a:r>
              <a:rPr lang="en-US" altLang="zh-CN" sz="2400" dirty="0"/>
              <a:t>A.</a:t>
            </a:r>
            <a:r>
              <a:rPr lang="zh-CN" altLang="en-US" sz="2400" dirty="0"/>
              <a:t>固定分区 </a:t>
            </a:r>
            <a:r>
              <a:rPr lang="en-US" altLang="zh-CN" sz="2400" dirty="0"/>
              <a:t>	B</a:t>
            </a:r>
            <a:r>
              <a:rPr lang="zh-CN" altLang="en-US" sz="2400" dirty="0"/>
              <a:t>．分页 </a:t>
            </a:r>
            <a:r>
              <a:rPr lang="en-US" altLang="zh-CN" sz="2400" dirty="0"/>
              <a:t>	C</a:t>
            </a:r>
            <a:r>
              <a:rPr lang="zh-CN" altLang="en-US" sz="2400" dirty="0"/>
              <a:t>．分段 </a:t>
            </a:r>
            <a:r>
              <a:rPr lang="en-US" altLang="zh-CN" sz="2400" dirty="0"/>
              <a:t>	D. </a:t>
            </a:r>
            <a:r>
              <a:rPr lang="zh-CN" altLang="en-US" sz="2400" dirty="0"/>
              <a:t>可变分区</a:t>
            </a:r>
            <a:endParaRPr lang="zh-CN" altLang="en-US" sz="2400" dirty="0"/>
          </a:p>
          <a:p>
            <a:pPr lvl="1"/>
            <a:r>
              <a:rPr lang="zh-CN" altLang="en-US" sz="2400" dirty="0"/>
              <a:t>答案：</a:t>
            </a:r>
            <a:r>
              <a:rPr lang="en-US" altLang="zh-CN" sz="2400" dirty="0"/>
              <a:t>C</a:t>
            </a:r>
            <a:endParaRPr lang="en-US" altLang="zh-CN" sz="2400" dirty="0"/>
          </a:p>
          <a:p>
            <a:r>
              <a:rPr lang="en-US" altLang="zh-CN" sz="2800" dirty="0"/>
              <a:t>2</a:t>
            </a:r>
            <a:r>
              <a:rPr lang="zh-CN" altLang="en-US" sz="2800" dirty="0"/>
              <a:t>．</a:t>
            </a:r>
            <a:r>
              <a:rPr lang="en-US" altLang="zh-CN" sz="2800" dirty="0"/>
              <a:t>(      )</a:t>
            </a:r>
            <a:r>
              <a:rPr lang="zh-CN" altLang="en-US" sz="2800" dirty="0"/>
              <a:t>存储管理方式提供一维地址空间。</a:t>
            </a:r>
            <a:endParaRPr lang="zh-CN" altLang="en-US" sz="2800" dirty="0"/>
          </a:p>
          <a:p>
            <a:pPr lvl="1"/>
            <a:r>
              <a:rPr lang="en-US" altLang="zh-CN" sz="2400" dirty="0"/>
              <a:t>A.</a:t>
            </a:r>
            <a:r>
              <a:rPr lang="zh-CN" altLang="en-US" sz="2400" dirty="0"/>
              <a:t>固定分区 </a:t>
            </a:r>
            <a:r>
              <a:rPr lang="en-US" altLang="zh-CN" sz="2400" dirty="0"/>
              <a:t>	B</a:t>
            </a:r>
            <a:r>
              <a:rPr lang="zh-CN" altLang="en-US" sz="2400" dirty="0"/>
              <a:t>．分段 </a:t>
            </a:r>
            <a:r>
              <a:rPr lang="en-US" altLang="zh-CN" sz="2400" dirty="0"/>
              <a:t>	C.</a:t>
            </a:r>
            <a:r>
              <a:rPr lang="zh-CN" altLang="en-US" sz="2400" dirty="0"/>
              <a:t>分页 </a:t>
            </a:r>
            <a:r>
              <a:rPr lang="en-US" altLang="zh-CN" sz="2400" dirty="0"/>
              <a:t>	D.</a:t>
            </a:r>
            <a:r>
              <a:rPr lang="zh-CN" altLang="en-US" sz="2400" dirty="0"/>
              <a:t>段页式</a:t>
            </a:r>
            <a:endParaRPr lang="zh-CN" altLang="en-US" sz="2400" dirty="0"/>
          </a:p>
          <a:p>
            <a:pPr lvl="1"/>
            <a:r>
              <a:rPr lang="zh-CN" altLang="en-US" sz="2400" dirty="0"/>
              <a:t>答案：</a:t>
            </a:r>
            <a:r>
              <a:rPr lang="en-US" altLang="zh-CN" sz="2400" dirty="0"/>
              <a:t>A  C</a:t>
            </a:r>
            <a:endParaRPr lang="en-US" altLang="zh-CN" sz="2400" dirty="0"/>
          </a:p>
          <a:p>
            <a:r>
              <a:rPr lang="en-US" altLang="zh-CN" sz="2800" dirty="0"/>
              <a:t>3</a:t>
            </a:r>
            <a:r>
              <a:rPr lang="zh-CN" altLang="en-US" sz="2800" dirty="0"/>
              <a:t>）下面那些不是分段和分页的差别（    ）：</a:t>
            </a:r>
            <a:endParaRPr lang="en-US" altLang="zh-CN" sz="2800" dirty="0"/>
          </a:p>
          <a:p>
            <a:pPr lvl="1"/>
            <a:r>
              <a:rPr lang="en-US" altLang="zh-CN" sz="2400" dirty="0"/>
              <a:t>A</a:t>
            </a:r>
            <a:r>
              <a:rPr lang="zh-CN" altLang="en-US" sz="2400" dirty="0"/>
              <a:t>）地址空间    </a:t>
            </a:r>
            <a:r>
              <a:rPr lang="en-US" altLang="zh-CN" sz="2400" dirty="0"/>
              <a:t>B</a:t>
            </a:r>
            <a:r>
              <a:rPr lang="zh-CN" altLang="en-US" sz="2400" dirty="0"/>
              <a:t>）目的和含义    </a:t>
            </a:r>
            <a:r>
              <a:rPr lang="en-US" altLang="zh-CN" sz="2400" dirty="0"/>
              <a:t>C</a:t>
            </a:r>
            <a:r>
              <a:rPr lang="zh-CN" altLang="en-US" sz="2400" dirty="0"/>
              <a:t>）支持离散分配  </a:t>
            </a:r>
            <a:endParaRPr lang="en-US" altLang="zh-CN" sz="2400" dirty="0"/>
          </a:p>
          <a:p>
            <a:pPr lvl="1"/>
            <a:r>
              <a:rPr lang="en-US" altLang="zh-CN" sz="2400" dirty="0"/>
              <a:t>D)</a:t>
            </a:r>
            <a:r>
              <a:rPr lang="zh-CN" altLang="en-US" sz="2400" dirty="0"/>
              <a:t>分配单元的大小和变化   </a:t>
            </a:r>
            <a:r>
              <a:rPr lang="en-US" altLang="zh-CN" sz="2400" dirty="0"/>
              <a:t>E</a:t>
            </a:r>
            <a:r>
              <a:rPr lang="zh-CN" altLang="en-US" sz="2400" dirty="0"/>
              <a:t>）共享和保护的实现方便性</a:t>
            </a:r>
            <a:endParaRPr lang="en-US" altLang="zh-CN" sz="2400" dirty="0"/>
          </a:p>
          <a:p>
            <a:pPr lvl="1"/>
            <a:r>
              <a:rPr lang="zh-CN" altLang="en-US" sz="2400" dirty="0"/>
              <a:t>答案：</a:t>
            </a:r>
            <a:r>
              <a:rPr lang="en-US" altLang="zh-CN" sz="2400" dirty="0"/>
              <a:t>C </a:t>
            </a:r>
            <a:r>
              <a:rPr lang="zh-CN" altLang="en-US" sz="2400" dirty="0"/>
              <a:t>都是离散 分段比分页离散度低</a:t>
            </a:r>
            <a:endParaRPr lang="zh-CN" altLang="en-US" sz="2400" dirty="0"/>
          </a:p>
          <a:p>
            <a:pPr lvl="1"/>
            <a:r>
              <a:rPr lang="zh-CN" altLang="en-US" sz="2400" dirty="0"/>
              <a:t>例</a:t>
            </a:r>
            <a:r>
              <a:rPr lang="en-US" altLang="zh-CN" sz="2400" dirty="0"/>
              <a:t>11 </a:t>
            </a:r>
            <a:r>
              <a:rPr lang="zh-CN" altLang="en-US" sz="2400" dirty="0"/>
              <a:t>考填空题 例</a:t>
            </a:r>
            <a:r>
              <a:rPr lang="en-US" altLang="zh-CN" sz="2400" dirty="0"/>
              <a:t>12</a:t>
            </a:r>
            <a:r>
              <a:rPr lang="zh-CN" altLang="en-US" sz="2400" dirty="0"/>
              <a:t>、</a:t>
            </a:r>
            <a:r>
              <a:rPr lang="en-US" altLang="zh-CN" sz="2400" dirty="0"/>
              <a:t>13</a:t>
            </a: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710676" y="747252"/>
            <a:ext cx="10770648" cy="5387849"/>
          </a:xfrm>
        </p:spPr>
        <p:txBody>
          <a:bodyPr/>
          <a:lstStyle/>
          <a:p>
            <a:pPr>
              <a:spcBef>
                <a:spcPts val="1200"/>
              </a:spcBef>
            </a:pPr>
            <a:r>
              <a:rPr lang="zh-CN" altLang="en-US" dirty="0"/>
              <a:t>虚拟存储技术是</a:t>
            </a:r>
            <a:r>
              <a:rPr lang="en-US" altLang="zh-CN" dirty="0"/>
              <a:t>(  )</a:t>
            </a:r>
            <a:r>
              <a:rPr lang="zh-CN" altLang="en-US" dirty="0"/>
              <a:t>。</a:t>
            </a:r>
            <a:endParaRPr lang="zh-CN" altLang="en-US" dirty="0"/>
          </a:p>
          <a:p>
            <a:pPr lvl="1"/>
            <a:r>
              <a:rPr lang="en-US" altLang="zh-CN" dirty="0"/>
              <a:t>A</a:t>
            </a:r>
            <a:r>
              <a:rPr lang="zh-CN" altLang="en-US" dirty="0"/>
              <a:t>．补充内存物理空间的技术      </a:t>
            </a:r>
            <a:r>
              <a:rPr lang="en-US" altLang="zh-CN" dirty="0"/>
              <a:t>B</a:t>
            </a:r>
            <a:r>
              <a:rPr lang="zh-CN" altLang="en-US" dirty="0"/>
              <a:t>．补充相对地址空间的技术</a:t>
            </a:r>
            <a:endParaRPr lang="zh-CN" altLang="en-US" dirty="0"/>
          </a:p>
          <a:p>
            <a:pPr lvl="1"/>
            <a:r>
              <a:rPr lang="en-US" altLang="zh-CN" dirty="0"/>
              <a:t>C</a:t>
            </a:r>
            <a:r>
              <a:rPr lang="zh-CN" altLang="en-US" dirty="0"/>
              <a:t>．扩充外存空间技术     </a:t>
            </a:r>
            <a:r>
              <a:rPr lang="en-US" altLang="zh-CN" dirty="0"/>
              <a:t>D. </a:t>
            </a:r>
            <a:r>
              <a:rPr lang="zh-CN" altLang="en-US" dirty="0"/>
              <a:t>扩充输人输出缓冲区的技术</a:t>
            </a:r>
            <a:endParaRPr lang="zh-CN" altLang="en-US" dirty="0"/>
          </a:p>
          <a:p>
            <a:pPr lvl="1"/>
            <a:r>
              <a:rPr lang="zh-CN" altLang="en-US" dirty="0"/>
              <a:t>答案：</a:t>
            </a:r>
            <a:r>
              <a:rPr lang="en-US" altLang="zh-CN" dirty="0"/>
              <a:t>B</a:t>
            </a:r>
            <a:endParaRPr lang="en-US" altLang="zh-CN" dirty="0"/>
          </a:p>
          <a:p>
            <a:pPr>
              <a:spcBef>
                <a:spcPts val="1200"/>
              </a:spcBef>
            </a:pPr>
            <a:r>
              <a:rPr lang="zh-CN" altLang="en-US" dirty="0"/>
              <a:t>虚拟存储技术能够实现的原理是（  ）：</a:t>
            </a:r>
            <a:endParaRPr lang="zh-CN" altLang="en-US" dirty="0"/>
          </a:p>
          <a:p>
            <a:pPr lvl="1"/>
            <a:r>
              <a:rPr lang="en-US" altLang="zh-CN" dirty="0"/>
              <a:t>A.</a:t>
            </a:r>
            <a:r>
              <a:rPr lang="zh-CN" altLang="en-US" dirty="0"/>
              <a:t>局部性原理    </a:t>
            </a:r>
            <a:r>
              <a:rPr lang="en-US" altLang="zh-CN" dirty="0"/>
              <a:t>B.</a:t>
            </a:r>
            <a:r>
              <a:rPr lang="zh-CN" altLang="en-US" dirty="0"/>
              <a:t>二八原理   </a:t>
            </a:r>
            <a:r>
              <a:rPr lang="en-US" altLang="zh-CN" dirty="0"/>
              <a:t>C.</a:t>
            </a:r>
            <a:r>
              <a:rPr lang="zh-CN" altLang="en-US" dirty="0"/>
              <a:t>帕金森原理   </a:t>
            </a:r>
            <a:r>
              <a:rPr lang="en-US" altLang="zh-CN" dirty="0"/>
              <a:t>D.</a:t>
            </a:r>
            <a:r>
              <a:rPr lang="zh-CN" altLang="en-US" dirty="0"/>
              <a:t>天平原理</a:t>
            </a:r>
            <a:endParaRPr lang="zh-CN" altLang="en-US" dirty="0"/>
          </a:p>
          <a:p>
            <a:pPr lvl="1"/>
            <a:r>
              <a:rPr lang="zh-CN" altLang="en-US" dirty="0"/>
              <a:t>答案：</a:t>
            </a:r>
            <a:r>
              <a:rPr lang="en-US" altLang="zh-CN" dirty="0"/>
              <a:t>A</a:t>
            </a:r>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pPr>
              <a:spcBef>
                <a:spcPts val="600"/>
              </a:spcBef>
            </a:pPr>
            <a:r>
              <a:rPr lang="zh-CN" altLang="en-US" sz="2800" dirty="0"/>
              <a:t>虚拟存储系统能够得到一个容量很大的虚拟空间，但其大小有一定的范围，它受到</a:t>
            </a:r>
            <a:r>
              <a:rPr lang="en-US" altLang="zh-CN" sz="2800" dirty="0"/>
              <a:t>( )</a:t>
            </a:r>
            <a:r>
              <a:rPr lang="zh-CN" altLang="en-US" sz="2800" dirty="0"/>
              <a:t>的限制。</a:t>
            </a:r>
            <a:endParaRPr lang="zh-CN" altLang="en-US" sz="2800" dirty="0"/>
          </a:p>
          <a:p>
            <a:pPr lvl="1">
              <a:spcBef>
                <a:spcPts val="600"/>
              </a:spcBef>
            </a:pPr>
            <a:r>
              <a:rPr lang="en-US" altLang="zh-CN" sz="2400" dirty="0"/>
              <a:t>A.</a:t>
            </a:r>
            <a:r>
              <a:rPr lang="zh-CN" altLang="en-US" sz="2400" dirty="0"/>
              <a:t>内存容量不足      </a:t>
            </a:r>
            <a:r>
              <a:rPr lang="en-US" altLang="zh-CN" sz="2400" dirty="0"/>
              <a:t>B.</a:t>
            </a:r>
            <a:r>
              <a:rPr lang="zh-CN" altLang="en-US" sz="2400" dirty="0"/>
              <a:t>外存空间</a:t>
            </a:r>
            <a:r>
              <a:rPr lang="en-US" altLang="zh-CN" sz="2400" dirty="0"/>
              <a:t>,CPU</a:t>
            </a:r>
            <a:r>
              <a:rPr lang="zh-CN" altLang="en-US" sz="2400" dirty="0"/>
              <a:t>地址表示范围 </a:t>
            </a:r>
            <a:endParaRPr lang="zh-CN" altLang="en-US" sz="2400" dirty="0"/>
          </a:p>
          <a:p>
            <a:pPr lvl="1">
              <a:spcBef>
                <a:spcPts val="600"/>
              </a:spcBef>
            </a:pPr>
            <a:r>
              <a:rPr lang="en-US" altLang="zh-CN" sz="2400" dirty="0"/>
              <a:t>C.</a:t>
            </a:r>
            <a:r>
              <a:rPr lang="zh-CN" altLang="en-US" sz="2400" dirty="0"/>
              <a:t>交换信息的大小   </a:t>
            </a:r>
            <a:r>
              <a:rPr lang="en-US" altLang="zh-CN" sz="2400" dirty="0"/>
              <a:t>D.CPU</a:t>
            </a:r>
            <a:r>
              <a:rPr lang="zh-CN" altLang="en-US" sz="2400" dirty="0"/>
              <a:t>时钟频率</a:t>
            </a:r>
            <a:endParaRPr lang="zh-CN" altLang="en-US" sz="2400" dirty="0"/>
          </a:p>
          <a:p>
            <a:pPr lvl="1">
              <a:spcBef>
                <a:spcPts val="600"/>
              </a:spcBef>
            </a:pPr>
            <a:r>
              <a:rPr lang="zh-CN" altLang="en-US" sz="2400" dirty="0"/>
              <a:t>答案：</a:t>
            </a:r>
            <a:r>
              <a:rPr lang="en-US" altLang="zh-CN" sz="2400" dirty="0"/>
              <a:t>B</a:t>
            </a:r>
            <a:endParaRPr lang="zh-CN" altLang="en-US" sz="2400" dirty="0"/>
          </a:p>
          <a:p>
            <a:r>
              <a:rPr lang="zh-CN" altLang="en-US" dirty="0"/>
              <a:t>实现虚拟存储需要的硬软件需求不包含（   ）</a:t>
            </a:r>
            <a:endParaRPr lang="en-US" altLang="zh-CN" dirty="0"/>
          </a:p>
          <a:p>
            <a:pPr lvl="1"/>
            <a:r>
              <a:rPr lang="en-US" altLang="zh-CN" dirty="0"/>
              <a:t>A</a:t>
            </a:r>
            <a:r>
              <a:rPr lang="zh-CN" altLang="en-US" dirty="0"/>
              <a:t>）请求分页的页表机制</a:t>
            </a:r>
            <a:endParaRPr lang="en-US" altLang="zh-CN" dirty="0"/>
          </a:p>
          <a:p>
            <a:pPr lvl="1"/>
            <a:r>
              <a:rPr lang="en-US" altLang="zh-CN" dirty="0"/>
              <a:t>B</a:t>
            </a:r>
            <a:r>
              <a:rPr lang="zh-CN" altLang="en-US" dirty="0"/>
              <a:t>）缺页中断机构      </a:t>
            </a:r>
            <a:r>
              <a:rPr lang="en-US" altLang="zh-CN" dirty="0"/>
              <a:t>C</a:t>
            </a:r>
            <a:r>
              <a:rPr lang="zh-CN" altLang="en-US" dirty="0"/>
              <a:t>）地址变换机构</a:t>
            </a:r>
            <a:endParaRPr lang="en-US" altLang="zh-CN" dirty="0"/>
          </a:p>
          <a:p>
            <a:pPr lvl="1"/>
            <a:r>
              <a:rPr lang="en-US" altLang="zh-CN" dirty="0"/>
              <a:t>D</a:t>
            </a:r>
            <a:r>
              <a:rPr lang="zh-CN" altLang="en-US" dirty="0"/>
              <a:t>）请求调页机制     </a:t>
            </a:r>
            <a:r>
              <a:rPr lang="en-US" altLang="zh-CN" dirty="0"/>
              <a:t>E</a:t>
            </a:r>
            <a:r>
              <a:rPr lang="zh-CN" altLang="en-US" dirty="0"/>
              <a:t>）多级页表</a:t>
            </a:r>
            <a:endParaRPr lang="en-US" altLang="zh-CN" dirty="0"/>
          </a:p>
          <a:p>
            <a:pPr lvl="1"/>
            <a:r>
              <a:rPr lang="zh-CN" altLang="en-US" dirty="0"/>
              <a:t>答案：</a:t>
            </a:r>
            <a:r>
              <a:rPr lang="en-US" altLang="zh-CN" dirty="0"/>
              <a:t>E</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pPr>
              <a:spcBef>
                <a:spcPts val="600"/>
              </a:spcBef>
            </a:pPr>
            <a:r>
              <a:rPr lang="zh-CN" altLang="en-US" sz="2800" dirty="0"/>
              <a:t>在虚拟页式存储管理中，由于所需页不在内存，则发生缺页中断，缺页中断属于</a:t>
            </a:r>
            <a:r>
              <a:rPr lang="en-US" altLang="zh-CN" sz="2800" dirty="0"/>
              <a:t>( )</a:t>
            </a:r>
            <a:endParaRPr lang="en-US" altLang="zh-CN" sz="2800" dirty="0"/>
          </a:p>
          <a:p>
            <a:pPr lvl="1">
              <a:spcBef>
                <a:spcPts val="600"/>
              </a:spcBef>
            </a:pPr>
            <a:r>
              <a:rPr lang="en-US" altLang="zh-CN" sz="2400" dirty="0"/>
              <a:t>A.</a:t>
            </a:r>
            <a:r>
              <a:rPr lang="zh-CN" altLang="en-US" sz="2400" dirty="0"/>
              <a:t>硬件中断    </a:t>
            </a:r>
            <a:r>
              <a:rPr lang="en-US" altLang="zh-CN" sz="2400" dirty="0"/>
              <a:t>B</a:t>
            </a:r>
            <a:r>
              <a:rPr lang="zh-CN" altLang="en-US" sz="2400" dirty="0"/>
              <a:t>．时钟中断    </a:t>
            </a:r>
            <a:r>
              <a:rPr lang="en-US" altLang="zh-CN" sz="2400" dirty="0"/>
              <a:t>C</a:t>
            </a:r>
            <a:r>
              <a:rPr lang="zh-CN" altLang="en-US" sz="2400" dirty="0"/>
              <a:t>．程序性中断     </a:t>
            </a:r>
            <a:r>
              <a:rPr lang="en-US" altLang="zh-CN" sz="2400" dirty="0"/>
              <a:t>D</a:t>
            </a:r>
            <a:r>
              <a:rPr lang="zh-CN" altLang="en-US" sz="2400" dirty="0"/>
              <a:t>．</a:t>
            </a:r>
            <a:r>
              <a:rPr lang="en-US" altLang="zh-CN" sz="2400" dirty="0"/>
              <a:t>I</a:t>
            </a:r>
            <a:r>
              <a:rPr lang="zh-CN" altLang="en-US" sz="2400" dirty="0"/>
              <a:t>／</a:t>
            </a:r>
            <a:r>
              <a:rPr lang="en-US" altLang="zh-CN" sz="2400" dirty="0"/>
              <a:t>O</a:t>
            </a:r>
            <a:r>
              <a:rPr lang="zh-CN" altLang="en-US" sz="2400" dirty="0"/>
              <a:t>中断</a:t>
            </a:r>
            <a:endParaRPr lang="zh-CN" altLang="en-US" sz="2400" dirty="0"/>
          </a:p>
          <a:p>
            <a:pPr lvl="1">
              <a:spcBef>
                <a:spcPts val="600"/>
              </a:spcBef>
            </a:pPr>
            <a:r>
              <a:rPr lang="zh-CN" altLang="en-US" sz="2400" dirty="0"/>
              <a:t>答案：</a:t>
            </a:r>
            <a:r>
              <a:rPr lang="en-US" altLang="zh-CN" sz="2400" dirty="0"/>
              <a:t>C</a:t>
            </a:r>
            <a:endParaRPr lang="en-US" altLang="zh-CN" sz="2400" dirty="0"/>
          </a:p>
          <a:p>
            <a:pPr lvl="1">
              <a:spcBef>
                <a:spcPts val="600"/>
              </a:spcBef>
            </a:pPr>
            <a:endParaRPr lang="en-US" altLang="zh-CN" sz="2400" dirty="0"/>
          </a:p>
          <a:p>
            <a:pPr>
              <a:spcBef>
                <a:spcPts val="600"/>
              </a:spcBef>
            </a:pPr>
            <a:r>
              <a:rPr lang="zh-CN" altLang="en-US" sz="2800" dirty="0"/>
              <a:t>某请求分页系统的指令只支持单内存地址，寻址可以采用间址选择，则一条指令执行中最多可产生（）次缺页中断</a:t>
            </a:r>
            <a:endParaRPr lang="zh-CN" altLang="en-US" sz="2800" dirty="0"/>
          </a:p>
          <a:p>
            <a:pPr lvl="1">
              <a:spcBef>
                <a:spcPts val="600"/>
              </a:spcBef>
            </a:pPr>
            <a:r>
              <a:rPr lang="en-US" altLang="zh-CN" sz="2400" dirty="0"/>
              <a:t>A.4      B.5      C.6      D.7</a:t>
            </a:r>
            <a:endParaRPr lang="en-US" altLang="zh-CN" sz="2400" dirty="0"/>
          </a:p>
          <a:p>
            <a:pPr lvl="1">
              <a:spcBef>
                <a:spcPts val="600"/>
              </a:spcBef>
            </a:pPr>
            <a:r>
              <a:rPr lang="zh-CN" altLang="en-US" sz="2400" dirty="0"/>
              <a:t>答案：</a:t>
            </a:r>
            <a:r>
              <a:rPr lang="en-US" altLang="zh-CN" sz="2400" dirty="0"/>
              <a:t>C</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请求页式管理中缺页中断率与进程所分得的内存页面数、</a:t>
            </a:r>
            <a:r>
              <a:rPr lang="en-US" altLang="zh-CN" dirty="0"/>
              <a:t>( )</a:t>
            </a:r>
            <a:r>
              <a:rPr lang="zh-CN" altLang="en-US" dirty="0"/>
              <a:t>和进程页面流的走向等因素有关。</a:t>
            </a:r>
            <a:endParaRPr lang="zh-CN" altLang="en-US" dirty="0"/>
          </a:p>
          <a:p>
            <a:pPr lvl="1"/>
            <a:r>
              <a:rPr lang="en-US" altLang="zh-CN" dirty="0"/>
              <a:t>A. </a:t>
            </a:r>
            <a:r>
              <a:rPr lang="zh-CN" altLang="en-US" dirty="0"/>
              <a:t>页表的位置  </a:t>
            </a:r>
            <a:r>
              <a:rPr lang="en-US" altLang="zh-CN" dirty="0"/>
              <a:t>B</a:t>
            </a:r>
            <a:r>
              <a:rPr lang="zh-CN" altLang="en-US" dirty="0"/>
              <a:t>．置换算法   </a:t>
            </a:r>
            <a:r>
              <a:rPr lang="en-US" altLang="zh-CN" dirty="0"/>
              <a:t>C. </a:t>
            </a:r>
            <a:r>
              <a:rPr lang="zh-CN" altLang="en-US" dirty="0"/>
              <a:t>页面的大小 </a:t>
            </a:r>
            <a:r>
              <a:rPr lang="en-US" altLang="zh-CN" dirty="0"/>
              <a:t>D</a:t>
            </a:r>
            <a:r>
              <a:rPr lang="zh-CN" altLang="en-US" dirty="0"/>
              <a:t>．进程调度算法</a:t>
            </a:r>
            <a:endParaRPr lang="zh-CN" altLang="en-US" dirty="0"/>
          </a:p>
          <a:p>
            <a:pPr lvl="1"/>
            <a:r>
              <a:rPr lang="zh-CN" altLang="en-US" dirty="0"/>
              <a:t>答案：</a:t>
            </a:r>
            <a:r>
              <a:rPr lang="en-US" altLang="zh-CN" dirty="0"/>
              <a:t>B</a:t>
            </a:r>
            <a:endParaRPr lang="en-US" altLang="zh-CN" dirty="0"/>
          </a:p>
          <a:p>
            <a:r>
              <a:rPr lang="zh-CN" altLang="en-US" dirty="0"/>
              <a:t>没有抖动问题的物理块分配策略是（  ）</a:t>
            </a:r>
            <a:endParaRPr lang="zh-CN" altLang="en-US" dirty="0"/>
          </a:p>
          <a:p>
            <a:pPr lvl="1"/>
            <a:r>
              <a:rPr lang="en-US" altLang="zh-CN" dirty="0"/>
              <a:t>A.</a:t>
            </a:r>
            <a:r>
              <a:rPr lang="zh-CN" altLang="en-US" dirty="0"/>
              <a:t>固定分配局部置换   </a:t>
            </a:r>
            <a:r>
              <a:rPr lang="en-US" altLang="zh-CN" dirty="0"/>
              <a:t>B.</a:t>
            </a:r>
            <a:r>
              <a:rPr lang="zh-CN" altLang="en-US" dirty="0"/>
              <a:t>可变分配全局置换  </a:t>
            </a:r>
            <a:endParaRPr lang="en-US" altLang="zh-CN" dirty="0"/>
          </a:p>
          <a:p>
            <a:pPr lvl="1"/>
            <a:r>
              <a:rPr lang="en-US" altLang="zh-CN" dirty="0"/>
              <a:t>C.</a:t>
            </a:r>
            <a:r>
              <a:rPr lang="zh-CN" altLang="en-US" dirty="0"/>
              <a:t>可变分配局部置换   </a:t>
            </a:r>
            <a:r>
              <a:rPr lang="en-US" altLang="zh-CN" dirty="0"/>
              <a:t>D.</a:t>
            </a:r>
            <a:r>
              <a:rPr lang="zh-CN" altLang="en-US" dirty="0"/>
              <a:t>固定分配全局置换</a:t>
            </a:r>
            <a:endParaRPr lang="zh-CN" altLang="en-US" dirty="0"/>
          </a:p>
          <a:p>
            <a:pPr lvl="1"/>
            <a:r>
              <a:rPr lang="zh-CN" altLang="en-US" dirty="0"/>
              <a:t>答案：</a:t>
            </a:r>
            <a:r>
              <a:rPr lang="en-US" altLang="zh-CN" dirty="0"/>
              <a:t>A 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下列描述中错误的一项是（   ）。</a:t>
            </a:r>
            <a:endParaRPr lang="en-US" altLang="zh-CN" dirty="0"/>
          </a:p>
          <a:p>
            <a:pPr lvl="1"/>
            <a:r>
              <a:rPr lang="en-US" altLang="zh-CN" dirty="0"/>
              <a:t>A.</a:t>
            </a:r>
            <a:r>
              <a:rPr lang="zh-CN" altLang="en-US" dirty="0"/>
              <a:t>预调页总比请求调页高效。</a:t>
            </a:r>
            <a:endParaRPr lang="zh-CN" altLang="en-US" dirty="0"/>
          </a:p>
          <a:p>
            <a:pPr lvl="1"/>
            <a:r>
              <a:rPr lang="en-US" altLang="zh-CN" dirty="0"/>
              <a:t>B.</a:t>
            </a:r>
            <a:r>
              <a:rPr lang="zh-CN" altLang="en-US" dirty="0"/>
              <a:t>请求调页在缺页中断时执行</a:t>
            </a:r>
            <a:endParaRPr lang="zh-CN" altLang="en-US" dirty="0"/>
          </a:p>
          <a:p>
            <a:pPr lvl="1"/>
            <a:r>
              <a:rPr lang="en-US" altLang="zh-CN" dirty="0" err="1"/>
              <a:t>C.Unix</a:t>
            </a:r>
            <a:r>
              <a:rPr lang="zh-CN" altLang="en-US" dirty="0"/>
              <a:t>系统中未曾访问过的程序页面从对换区调入</a:t>
            </a:r>
            <a:endParaRPr lang="zh-CN" altLang="en-US" dirty="0"/>
          </a:p>
          <a:p>
            <a:pPr lvl="1"/>
            <a:r>
              <a:rPr lang="en-US" altLang="zh-CN" dirty="0"/>
              <a:t>D.</a:t>
            </a:r>
            <a:r>
              <a:rPr lang="zh-CN" altLang="en-US" dirty="0"/>
              <a:t>页面调入对程序员是透明的</a:t>
            </a:r>
            <a:endParaRPr lang="en-US" altLang="zh-CN" dirty="0"/>
          </a:p>
          <a:p>
            <a:pPr lvl="1"/>
            <a:r>
              <a:rPr lang="zh-CN" altLang="en-US"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p:cNvSpPr>
            <a:spLocks noGrp="1" noRot="1" noChangeArrowheads="1"/>
          </p:cNvSpPr>
          <p:nvPr>
            <p:ph idx="1"/>
          </p:nvPr>
        </p:nvSpPr>
        <p:spPr/>
        <p:txBody>
          <a:bodyPr/>
          <a:lstStyle/>
          <a:p>
            <a:pPr>
              <a:spcBef>
                <a:spcPts val="600"/>
              </a:spcBef>
            </a:pPr>
            <a:r>
              <a:rPr lang="zh-CN" altLang="en-US" sz="2400" dirty="0">
                <a:latin typeface="+mj-ea"/>
                <a:ea typeface="+mj-ea"/>
              </a:rPr>
              <a:t>假定系统为某进程分配了三个物理块， 并考虑有以下的页面访问序列：</a:t>
            </a:r>
            <a:endParaRPr lang="zh-CN" altLang="en-US" sz="2400" dirty="0">
              <a:latin typeface="+mj-ea"/>
              <a:ea typeface="+mj-ea"/>
            </a:endParaRPr>
          </a:p>
          <a:p>
            <a:pPr>
              <a:spcBef>
                <a:spcPts val="600"/>
              </a:spcBef>
            </a:pPr>
            <a:r>
              <a:rPr lang="en-US" altLang="zh-CN" sz="2400" dirty="0">
                <a:latin typeface="+mj-ea"/>
                <a:ea typeface="+mj-ea"/>
              </a:rPr>
              <a:t>7</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1</a:t>
            </a:r>
            <a:r>
              <a:rPr lang="zh-CN" altLang="en-US" sz="2400" dirty="0">
                <a:latin typeface="+mj-ea"/>
                <a:ea typeface="+mj-ea"/>
              </a:rPr>
              <a:t>，</a:t>
            </a:r>
            <a:r>
              <a:rPr lang="en-US" altLang="zh-CN" sz="2400" dirty="0">
                <a:latin typeface="+mj-ea"/>
                <a:ea typeface="+mj-ea"/>
              </a:rPr>
              <a:t>2</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3</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4</a:t>
            </a:r>
            <a:r>
              <a:rPr lang="zh-CN" altLang="en-US" sz="2400" dirty="0">
                <a:latin typeface="+mj-ea"/>
                <a:ea typeface="+mj-ea"/>
              </a:rPr>
              <a:t>，</a:t>
            </a:r>
            <a:r>
              <a:rPr lang="en-US" altLang="zh-CN" sz="2400" dirty="0">
                <a:latin typeface="+mj-ea"/>
                <a:ea typeface="+mj-ea"/>
              </a:rPr>
              <a:t>2</a:t>
            </a:r>
            <a:r>
              <a:rPr lang="zh-CN" altLang="en-US" sz="2400" dirty="0">
                <a:latin typeface="+mj-ea"/>
                <a:ea typeface="+mj-ea"/>
              </a:rPr>
              <a:t>，</a:t>
            </a:r>
            <a:r>
              <a:rPr lang="en-US" altLang="zh-CN" sz="2400" dirty="0">
                <a:latin typeface="+mj-ea"/>
                <a:ea typeface="+mj-ea"/>
              </a:rPr>
              <a:t>3</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3</a:t>
            </a:r>
            <a:r>
              <a:rPr lang="zh-CN" altLang="en-US" sz="2400" dirty="0">
                <a:latin typeface="+mj-ea"/>
                <a:ea typeface="+mj-ea"/>
              </a:rPr>
              <a:t>，</a:t>
            </a:r>
            <a:r>
              <a:rPr lang="en-US" altLang="zh-CN" sz="2400" dirty="0">
                <a:latin typeface="+mj-ea"/>
                <a:ea typeface="+mj-ea"/>
              </a:rPr>
              <a:t>2</a:t>
            </a:r>
            <a:r>
              <a:rPr lang="zh-CN" altLang="en-US" sz="2400" dirty="0">
                <a:latin typeface="+mj-ea"/>
                <a:ea typeface="+mj-ea"/>
              </a:rPr>
              <a:t>，</a:t>
            </a:r>
            <a:r>
              <a:rPr lang="en-US" altLang="zh-CN" sz="2400" dirty="0">
                <a:latin typeface="+mj-ea"/>
                <a:ea typeface="+mj-ea"/>
              </a:rPr>
              <a:t>1</a:t>
            </a:r>
            <a:r>
              <a:rPr lang="zh-CN" altLang="en-US" sz="2400" dirty="0">
                <a:latin typeface="+mj-ea"/>
                <a:ea typeface="+mj-ea"/>
              </a:rPr>
              <a:t>，</a:t>
            </a:r>
            <a:r>
              <a:rPr lang="en-US" altLang="zh-CN" sz="2400" dirty="0">
                <a:latin typeface="+mj-ea"/>
                <a:ea typeface="+mj-ea"/>
              </a:rPr>
              <a:t>2</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1</a:t>
            </a:r>
            <a:r>
              <a:rPr lang="zh-CN" altLang="en-US" sz="2400" dirty="0">
                <a:latin typeface="+mj-ea"/>
                <a:ea typeface="+mj-ea"/>
              </a:rPr>
              <a:t>，</a:t>
            </a:r>
            <a:r>
              <a:rPr lang="en-US" altLang="zh-CN" sz="2400" dirty="0">
                <a:latin typeface="+mj-ea"/>
                <a:ea typeface="+mj-ea"/>
              </a:rPr>
              <a:t>7</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1</a:t>
            </a:r>
            <a:endParaRPr lang="en-US" altLang="zh-CN" sz="2400" dirty="0">
              <a:latin typeface="+mj-ea"/>
              <a:ea typeface="+mj-ea"/>
            </a:endParaRPr>
          </a:p>
          <a:p>
            <a:pPr>
              <a:spcBef>
                <a:spcPts val="600"/>
              </a:spcBef>
            </a:pPr>
            <a:r>
              <a:rPr lang="zh-CN" altLang="en-US" sz="2400" dirty="0">
                <a:latin typeface="+mj-ea"/>
                <a:ea typeface="+mj-ea"/>
              </a:rPr>
              <a:t>进程运行时， 先将</a:t>
            </a:r>
            <a:r>
              <a:rPr lang="en-US" altLang="zh-CN" sz="2400" dirty="0">
                <a:latin typeface="+mj-ea"/>
                <a:ea typeface="+mj-ea"/>
              </a:rPr>
              <a:t>7</a:t>
            </a:r>
            <a:r>
              <a:rPr lang="zh-CN" altLang="en-US" sz="2400" dirty="0">
                <a:latin typeface="+mj-ea"/>
                <a:ea typeface="+mj-ea"/>
              </a:rPr>
              <a:t>，</a:t>
            </a:r>
            <a:r>
              <a:rPr lang="en-US" altLang="zh-CN" sz="2400" dirty="0">
                <a:latin typeface="+mj-ea"/>
                <a:ea typeface="+mj-ea"/>
              </a:rPr>
              <a:t>0</a:t>
            </a:r>
            <a:r>
              <a:rPr lang="zh-CN" altLang="en-US" sz="2400" dirty="0">
                <a:latin typeface="+mj-ea"/>
                <a:ea typeface="+mj-ea"/>
              </a:rPr>
              <a:t>，</a:t>
            </a:r>
            <a:r>
              <a:rPr lang="en-US" altLang="zh-CN" sz="2400" dirty="0">
                <a:latin typeface="+mj-ea"/>
                <a:ea typeface="+mj-ea"/>
              </a:rPr>
              <a:t>1</a:t>
            </a:r>
            <a:r>
              <a:rPr lang="zh-CN" altLang="en-US" sz="2400" dirty="0">
                <a:latin typeface="+mj-ea"/>
                <a:ea typeface="+mj-ea"/>
              </a:rPr>
              <a:t>三个页面装入内存。 </a:t>
            </a:r>
            <a:endParaRPr lang="en-US" altLang="zh-CN" sz="2400" dirty="0">
              <a:latin typeface="+mj-ea"/>
              <a:ea typeface="+mj-ea"/>
            </a:endParaRPr>
          </a:p>
          <a:p>
            <a:pPr>
              <a:spcBef>
                <a:spcPts val="600"/>
              </a:spcBef>
            </a:pPr>
            <a:r>
              <a:rPr lang="zh-CN" altLang="en-US" sz="2400" dirty="0">
                <a:latin typeface="+mj-ea"/>
                <a:ea typeface="+mj-ea"/>
              </a:rPr>
              <a:t>以后，当进程要访问页面</a:t>
            </a:r>
            <a:r>
              <a:rPr lang="en-US" altLang="zh-CN" sz="2400" dirty="0">
                <a:latin typeface="+mj-ea"/>
                <a:ea typeface="+mj-ea"/>
              </a:rPr>
              <a:t>2</a:t>
            </a:r>
            <a:r>
              <a:rPr lang="zh-CN" altLang="en-US" sz="2400" dirty="0">
                <a:latin typeface="+mj-ea"/>
                <a:ea typeface="+mj-ea"/>
              </a:rPr>
              <a:t>时， 将会产生缺页中断。此时</a:t>
            </a:r>
            <a:r>
              <a:rPr lang="en-US" altLang="zh-CN" sz="2400" dirty="0">
                <a:latin typeface="+mj-ea"/>
                <a:ea typeface="+mj-ea"/>
              </a:rPr>
              <a:t>OS</a:t>
            </a:r>
            <a:r>
              <a:rPr lang="zh-CN" altLang="en-US" sz="2400" dirty="0">
                <a:latin typeface="+mj-ea"/>
                <a:ea typeface="+mj-ea"/>
              </a:rPr>
              <a:t>根据最佳置换算法， 将选择页面</a:t>
            </a:r>
            <a:r>
              <a:rPr lang="en-US" altLang="zh-CN" sz="2400" dirty="0">
                <a:latin typeface="+mj-ea"/>
                <a:ea typeface="+mj-ea"/>
              </a:rPr>
              <a:t>7</a:t>
            </a:r>
            <a:r>
              <a:rPr lang="zh-CN" altLang="en-US" sz="2400" dirty="0">
                <a:latin typeface="+mj-ea"/>
                <a:ea typeface="+mj-ea"/>
              </a:rPr>
              <a:t>予以淘汰。</a:t>
            </a:r>
            <a:r>
              <a:rPr lang="zh-CN" altLang="en-US" sz="2000" dirty="0">
                <a:latin typeface="+mj-ea"/>
                <a:ea typeface="+mj-ea"/>
              </a:rPr>
              <a:t> （若题干说，开始时页框为空，则计算其缺页率）</a:t>
            </a:r>
            <a:endParaRPr lang="zh-CN" altLang="en-US" sz="2000" dirty="0">
              <a:latin typeface="+mj-ea"/>
              <a:ea typeface="+mj-ea"/>
            </a:endParaRPr>
          </a:p>
        </p:txBody>
      </p:sp>
      <p:sp>
        <p:nvSpPr>
          <p:cNvPr id="524290" name="Rectangle 2"/>
          <p:cNvSpPr>
            <a:spLocks noGrp="1" noRot="1" noChangeArrowheads="1"/>
          </p:cNvSpPr>
          <p:nvPr>
            <p:ph type="title"/>
          </p:nvPr>
        </p:nvSpPr>
        <p:spPr/>
        <p:txBody>
          <a:bodyPr/>
          <a:lstStyle/>
          <a:p>
            <a:pPr eaLnBrk="1" hangingPunct="1">
              <a:defRPr/>
            </a:pPr>
            <a:r>
              <a:rPr lang="zh-CN" altLang="en-US" dirty="0">
                <a:solidFill>
                  <a:schemeClr val="tx1"/>
                </a:solidFill>
              </a:rPr>
              <a:t>举例</a:t>
            </a:r>
            <a:r>
              <a:rPr lang="en-US" altLang="zh-CN" dirty="0">
                <a:solidFill>
                  <a:schemeClr val="tx1"/>
                </a:solidFill>
              </a:rPr>
              <a:t>:</a:t>
            </a:r>
            <a:endParaRPr lang="en-US" altLang="zh-CN" dirty="0">
              <a:solidFill>
                <a:schemeClr val="tx1"/>
              </a:solidFill>
            </a:endParaRPr>
          </a:p>
        </p:txBody>
      </p:sp>
      <p:pic>
        <p:nvPicPr>
          <p:cNvPr id="14029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95466" y="3848561"/>
            <a:ext cx="9144000" cy="269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5" name="Rectangle 3"/>
          <p:cNvSpPr>
            <a:spLocks noGrp="1" noRot="1" noChangeArrowheads="1"/>
          </p:cNvSpPr>
          <p:nvPr>
            <p:ph idx="1"/>
          </p:nvPr>
        </p:nvSpPr>
        <p:spPr/>
        <p:txBody>
          <a:bodyPr/>
          <a:lstStyle/>
          <a:p>
            <a:r>
              <a:rPr lang="zh-CN" altLang="en-US"/>
              <a:t>该算法总是</a:t>
            </a:r>
            <a:r>
              <a:rPr lang="zh-CN" altLang="en-US" b="1">
                <a:solidFill>
                  <a:srgbClr val="FF0000"/>
                </a:solidFill>
              </a:rPr>
              <a:t>淘汰最先进入内存的页面</a:t>
            </a:r>
            <a:r>
              <a:rPr lang="zh-CN" altLang="en-US"/>
              <a:t>，即选择在内存中驻留时间最久的页面予以淘汰 </a:t>
            </a:r>
            <a:r>
              <a:rPr lang="en-US" altLang="zh-CN"/>
              <a:t>.</a:t>
            </a:r>
            <a:endParaRPr lang="en-US" altLang="zh-CN"/>
          </a:p>
        </p:txBody>
      </p:sp>
      <p:sp>
        <p:nvSpPr>
          <p:cNvPr id="525318" name="Rectangle 6"/>
          <p:cNvSpPr>
            <a:spLocks noGrp="1" noRot="1" noChangeArrowheads="1"/>
          </p:cNvSpPr>
          <p:nvPr>
            <p:ph type="title"/>
          </p:nvPr>
        </p:nvSpPr>
        <p:spPr/>
        <p:txBody>
          <a:bodyPr/>
          <a:lstStyle/>
          <a:p>
            <a:pPr eaLnBrk="1" hangingPunct="1">
              <a:defRPr/>
            </a:pPr>
            <a:r>
              <a:rPr lang="en-US" altLang="zh-CN" dirty="0">
                <a:solidFill>
                  <a:schemeClr val="tx1"/>
                </a:solidFill>
              </a:rPr>
              <a:t>2</a:t>
            </a:r>
            <a:r>
              <a:rPr lang="zh-CN" altLang="en-US" dirty="0">
                <a:solidFill>
                  <a:schemeClr val="tx1"/>
                </a:solidFill>
              </a:rPr>
              <a:t>）．先进先出（</a:t>
            </a:r>
            <a:r>
              <a:rPr lang="en-US" altLang="zh-CN" dirty="0">
                <a:solidFill>
                  <a:schemeClr val="tx1"/>
                </a:solidFill>
              </a:rPr>
              <a:t>FIFO</a:t>
            </a:r>
            <a:r>
              <a:rPr lang="zh-CN" altLang="en-US" dirty="0">
                <a:solidFill>
                  <a:schemeClr val="tx1"/>
                </a:solidFill>
              </a:rPr>
              <a:t>）页面置换算法</a:t>
            </a:r>
            <a:endParaRPr lang="zh-CN" altLang="en-US" dirty="0">
              <a:solidFill>
                <a:schemeClr val="tx1"/>
              </a:solidFill>
            </a:endParaRPr>
          </a:p>
        </p:txBody>
      </p:sp>
      <p:sp>
        <p:nvSpPr>
          <p:cNvPr id="141317" name="Rectangle 8"/>
          <p:cNvSpPr>
            <a:spLocks noChangeArrowheads="1"/>
          </p:cNvSpPr>
          <p:nvPr/>
        </p:nvSpPr>
        <p:spPr bwMode="auto">
          <a:xfrm>
            <a:off x="1524000" y="2949222"/>
            <a:ext cx="9144000" cy="2590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3200" b="1">
              <a:latin typeface="Tahoma" panose="020B0604030504040204" pitchFamily="34" charset="0"/>
            </a:endParaRPr>
          </a:p>
        </p:txBody>
      </p:sp>
      <p:graphicFrame>
        <p:nvGraphicFramePr>
          <p:cNvPr id="12290" name="Object 9"/>
          <p:cNvGraphicFramePr>
            <a:graphicFrameLocks noChangeAspect="1"/>
          </p:cNvGraphicFramePr>
          <p:nvPr/>
        </p:nvGraphicFramePr>
        <p:xfrm>
          <a:off x="1524000" y="2949222"/>
          <a:ext cx="9144000" cy="2459038"/>
        </p:xfrm>
        <a:graphic>
          <a:graphicData uri="http://schemas.openxmlformats.org/presentationml/2006/ole">
            <mc:AlternateContent xmlns:mc="http://schemas.openxmlformats.org/markup-compatibility/2006">
              <mc:Choice xmlns:v="urn:schemas-microsoft-com:vml" Requires="v">
                <p:oleObj spid="_x0000_s5176" name="Visio" r:id="rId1" imgW="3437890" imgH="920115" progId="Visio.Drawing.11">
                  <p:embed/>
                </p:oleObj>
              </mc:Choice>
              <mc:Fallback>
                <p:oleObj name="Visio" r:id="rId1" imgW="3437890" imgH="920115" progId="Visio.Drawing.11">
                  <p:embed/>
                  <p:pic>
                    <p:nvPicPr>
                      <p:cNvPr id="0" name="Object 9"/>
                      <p:cNvPicPr>
                        <a:picLocks noChangeAspect="1" noChangeArrowheads="1"/>
                      </p:cNvPicPr>
                      <p:nvPr/>
                    </p:nvPicPr>
                    <p:blipFill>
                      <a:blip r:embed="rId2"/>
                      <a:srcRect/>
                      <a:stretch>
                        <a:fillRect/>
                      </a:stretch>
                    </p:blipFill>
                    <p:spPr bwMode="auto">
                      <a:xfrm>
                        <a:off x="1524000" y="2949222"/>
                        <a:ext cx="9144000" cy="245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1319" name="Rectangle 13"/>
          <p:cNvSpPr>
            <a:spLocks noChangeArrowheads="1"/>
          </p:cNvSpPr>
          <p:nvPr/>
        </p:nvSpPr>
        <p:spPr bwMode="auto">
          <a:xfrm>
            <a:off x="3810001" y="5598730"/>
            <a:ext cx="40511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000" b="1">
                <a:latin typeface="Tahoma" panose="020B0604030504040204" pitchFamily="34" charset="0"/>
              </a:rPr>
              <a:t>图 利用</a:t>
            </a:r>
            <a:r>
              <a:rPr lang="en-US" altLang="zh-CN" sz="2000" b="1">
                <a:latin typeface="Tahoma" panose="020B0604030504040204" pitchFamily="34" charset="0"/>
              </a:rPr>
              <a:t>FIFO</a:t>
            </a:r>
            <a:r>
              <a:rPr lang="zh-CN" altLang="en-US" sz="2000" b="1">
                <a:latin typeface="Tahoma" panose="020B0604030504040204" pitchFamily="34" charset="0"/>
              </a:rPr>
              <a:t>置换算法时的置换图 </a:t>
            </a:r>
            <a:endParaRPr lang="zh-CN" altLang="en-US" sz="2000" b="1">
              <a:latin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 calcmode="lin" valueType="num">
                                      <p:cBhvr additive="base">
                                        <p:cTn id="7" dur="500" fill="hold"/>
                                        <p:tgtEl>
                                          <p:spTgt spid="12290"/>
                                        </p:tgtEl>
                                        <p:attrNameLst>
                                          <p:attrName>ppt_x</p:attrName>
                                        </p:attrNameLst>
                                      </p:cBhvr>
                                      <p:tavLst>
                                        <p:tav tm="0">
                                          <p:val>
                                            <p:strVal val="#ppt_x"/>
                                          </p:val>
                                        </p:tav>
                                        <p:tav tm="100000">
                                          <p:val>
                                            <p:strVal val="#ppt_x"/>
                                          </p:val>
                                        </p:tav>
                                      </p:tavLst>
                                    </p:anim>
                                    <p:anim calcmode="lin" valueType="num">
                                      <p:cBhvr additive="base">
                                        <p:cTn id="8" dur="500" fill="hold"/>
                                        <p:tgtEl>
                                          <p:spTgt spid="12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Rot="1" noChangeArrowheads="1"/>
          </p:cNvSpPr>
          <p:nvPr>
            <p:ph idx="1"/>
          </p:nvPr>
        </p:nvSpPr>
        <p:spPr/>
        <p:txBody>
          <a:bodyPr/>
          <a:lstStyle/>
          <a:p>
            <a:pPr algn="just"/>
            <a:r>
              <a:rPr lang="en-US" altLang="zh-CN" sz="2400"/>
              <a:t> LRU</a:t>
            </a:r>
            <a:r>
              <a:rPr lang="zh-CN" altLang="en-US" sz="2400"/>
              <a:t>置换算法是选择</a:t>
            </a:r>
            <a:r>
              <a:rPr lang="zh-CN" altLang="en-US" sz="2400">
                <a:solidFill>
                  <a:srgbClr val="FF0000"/>
                </a:solidFill>
              </a:rPr>
              <a:t>最近最久未使用的页面</a:t>
            </a:r>
            <a:r>
              <a:rPr lang="zh-CN" altLang="en-US" sz="2400"/>
              <a:t>予以淘汰。该算法赋予每个页面一个访问字段，用来记录一个页面自上次被访问以来所经历的时间</a:t>
            </a:r>
            <a:r>
              <a:rPr lang="en-US" altLang="zh-CN" sz="2400"/>
              <a:t>t</a:t>
            </a:r>
            <a:r>
              <a:rPr lang="zh-CN" altLang="en-US" sz="2400"/>
              <a:t>，当须淘汰一个页面时，</a:t>
            </a:r>
            <a:r>
              <a:rPr lang="zh-CN" altLang="en-US" sz="2400">
                <a:solidFill>
                  <a:srgbClr val="FF0000"/>
                </a:solidFill>
              </a:rPr>
              <a:t>选择现有页面中其</a:t>
            </a:r>
            <a:r>
              <a:rPr lang="en-US" altLang="zh-CN" sz="2400">
                <a:solidFill>
                  <a:srgbClr val="FF0000"/>
                </a:solidFill>
              </a:rPr>
              <a:t>t</a:t>
            </a:r>
            <a:r>
              <a:rPr lang="zh-CN" altLang="en-US" sz="2400">
                <a:solidFill>
                  <a:srgbClr val="FF0000"/>
                </a:solidFill>
              </a:rPr>
              <a:t>值最大的</a:t>
            </a:r>
            <a:r>
              <a:rPr lang="zh-CN" altLang="en-US" sz="2400"/>
              <a:t>，即最近最久未使用的页面予以淘汰。</a:t>
            </a:r>
            <a:endParaRPr lang="zh-CN" altLang="en-US" sz="2400"/>
          </a:p>
        </p:txBody>
      </p:sp>
      <p:sp>
        <p:nvSpPr>
          <p:cNvPr id="526341" name="Rectangle 5"/>
          <p:cNvSpPr>
            <a:spLocks noGrp="1" noRot="1" noChangeArrowheads="1"/>
          </p:cNvSpPr>
          <p:nvPr>
            <p:ph type="title"/>
          </p:nvPr>
        </p:nvSpPr>
        <p:spPr/>
        <p:txBody>
          <a:bodyPr/>
          <a:lstStyle/>
          <a:p>
            <a:pPr eaLnBrk="1" hangingPunct="1">
              <a:defRPr/>
            </a:pPr>
            <a:r>
              <a:rPr lang="en-US" altLang="zh-CN" dirty="0">
                <a:solidFill>
                  <a:schemeClr val="tx1"/>
                </a:solidFill>
              </a:rPr>
              <a:t>3</a:t>
            </a:r>
            <a:r>
              <a:rPr lang="zh-CN" altLang="en-US" dirty="0">
                <a:solidFill>
                  <a:schemeClr val="tx1"/>
                </a:solidFill>
              </a:rPr>
              <a:t>）</a:t>
            </a:r>
            <a:r>
              <a:rPr lang="en-US" altLang="zh-CN" dirty="0">
                <a:solidFill>
                  <a:schemeClr val="tx1"/>
                </a:solidFill>
              </a:rPr>
              <a:t>.</a:t>
            </a:r>
            <a:r>
              <a:rPr lang="zh-CN" altLang="en-US" dirty="0">
                <a:solidFill>
                  <a:schemeClr val="tx1"/>
                </a:solidFill>
              </a:rPr>
              <a:t>最近最久未使用（</a:t>
            </a:r>
            <a:r>
              <a:rPr lang="en-US" altLang="zh-CN" dirty="0">
                <a:solidFill>
                  <a:schemeClr val="tx1"/>
                </a:solidFill>
              </a:rPr>
              <a:t>LRU</a:t>
            </a:r>
            <a:r>
              <a:rPr lang="zh-CN" altLang="en-US" dirty="0">
                <a:solidFill>
                  <a:schemeClr val="tx1"/>
                </a:solidFill>
              </a:rPr>
              <a:t>）置换算法</a:t>
            </a:r>
            <a:endParaRPr lang="zh-CN" altLang="en-US" dirty="0">
              <a:solidFill>
                <a:schemeClr val="tx1"/>
              </a:solidFill>
            </a:endParaRPr>
          </a:p>
        </p:txBody>
      </p:sp>
      <p:sp>
        <p:nvSpPr>
          <p:cNvPr id="142340" name="Rectangle 6"/>
          <p:cNvSpPr>
            <a:spLocks noChangeArrowheads="1"/>
          </p:cNvSpPr>
          <p:nvPr/>
        </p:nvSpPr>
        <p:spPr bwMode="auto">
          <a:xfrm>
            <a:off x="1524000" y="3429000"/>
            <a:ext cx="9144000" cy="2514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3200">
              <a:latin typeface="Tahoma" panose="020B0604030504040204" pitchFamily="34" charset="0"/>
            </a:endParaRPr>
          </a:p>
        </p:txBody>
      </p:sp>
      <p:graphicFrame>
        <p:nvGraphicFramePr>
          <p:cNvPr id="13314" name="Object 7"/>
          <p:cNvGraphicFramePr>
            <a:graphicFrameLocks noChangeAspect="1"/>
          </p:cNvGraphicFramePr>
          <p:nvPr/>
        </p:nvGraphicFramePr>
        <p:xfrm>
          <a:off x="1524000" y="3438526"/>
          <a:ext cx="9144000" cy="2581275"/>
        </p:xfrm>
        <a:graphic>
          <a:graphicData uri="http://schemas.openxmlformats.org/presentationml/2006/ole">
            <mc:AlternateContent xmlns:mc="http://schemas.openxmlformats.org/markup-compatibility/2006">
              <mc:Choice xmlns:v="urn:schemas-microsoft-com:vml" Requires="v">
                <p:oleObj spid="_x0000_s5176" name="Visio" r:id="rId1" imgW="4312920" imgH="1219200" progId="Visio.Drawing.11">
                  <p:embed/>
                </p:oleObj>
              </mc:Choice>
              <mc:Fallback>
                <p:oleObj name="Visio" r:id="rId1" imgW="4312920" imgH="1219200"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438526"/>
                        <a:ext cx="9144000" cy="258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2342" name="Rectangle 8"/>
          <p:cNvSpPr>
            <a:spLocks noChangeArrowheads="1"/>
          </p:cNvSpPr>
          <p:nvPr/>
        </p:nvSpPr>
        <p:spPr bwMode="auto">
          <a:xfrm>
            <a:off x="3733800" y="6003896"/>
            <a:ext cx="44710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000" b="1">
                <a:latin typeface="Tahoma" panose="020B0604030504040204" pitchFamily="34" charset="0"/>
              </a:rPr>
              <a:t>图 利用</a:t>
            </a:r>
            <a:r>
              <a:rPr lang="en-US" altLang="zh-CN" sz="2000" b="1">
                <a:latin typeface="Tahoma" panose="020B0604030504040204" pitchFamily="34" charset="0"/>
              </a:rPr>
              <a:t>LRU</a:t>
            </a:r>
            <a:r>
              <a:rPr lang="zh-CN" altLang="en-US" sz="2000" b="1">
                <a:latin typeface="Tahoma" panose="020B0604030504040204" pitchFamily="34" charset="0"/>
              </a:rPr>
              <a:t>页面置换算法时的置换图 </a:t>
            </a:r>
            <a:endParaRPr lang="zh-CN" altLang="en-US" sz="2000" b="1">
              <a:latin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ppt_x"/>
                                          </p:val>
                                        </p:tav>
                                        <p:tav tm="100000">
                                          <p:val>
                                            <p:strVal val="#ppt_x"/>
                                          </p:val>
                                        </p:tav>
                                      </p:tavLst>
                                    </p:anim>
                                    <p:anim calcmode="lin" valueType="num">
                                      <p:cBhvr additive="base">
                                        <p:cTn id="8"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4252913" y="2400301"/>
            <a:ext cx="9144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3200">
              <a:latin typeface="Tahoma" panose="020B0604030504040204" pitchFamily="34" charset="0"/>
            </a:endParaRPr>
          </a:p>
        </p:txBody>
      </p:sp>
      <p:sp>
        <p:nvSpPr>
          <p:cNvPr id="145411" name="Text Box 5"/>
          <p:cNvSpPr txBox="1">
            <a:spLocks noChangeArrowheads="1"/>
          </p:cNvSpPr>
          <p:nvPr/>
        </p:nvSpPr>
        <p:spPr bwMode="auto">
          <a:xfrm>
            <a:off x="3095625" y="5751512"/>
            <a:ext cx="5729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1" dirty="0"/>
              <a:t>图 某进程具有</a:t>
            </a:r>
            <a:r>
              <a:rPr lang="en-US" altLang="zh-CN" sz="2400" b="1" dirty="0"/>
              <a:t>8</a:t>
            </a:r>
            <a:r>
              <a:rPr lang="zh-CN" altLang="en-US" sz="2400" b="1" dirty="0"/>
              <a:t>个页面时的</a:t>
            </a:r>
            <a:r>
              <a:rPr lang="en-US" altLang="zh-CN" sz="2400" b="1" dirty="0"/>
              <a:t>LRU</a:t>
            </a:r>
            <a:r>
              <a:rPr lang="zh-CN" altLang="en-US" sz="2400" b="1" dirty="0"/>
              <a:t>访问情况 </a:t>
            </a:r>
            <a:endParaRPr lang="zh-CN" altLang="en-US" sz="2400" b="1" dirty="0"/>
          </a:p>
        </p:txBody>
      </p:sp>
      <p:pic>
        <p:nvPicPr>
          <p:cNvPr id="145412" name="Picture 6" descr="未标题-1 拷贝"/>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6844" y="1106487"/>
            <a:ext cx="9144000" cy="464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3"/>
          <p:cNvSpPr>
            <a:spLocks noGrp="1"/>
          </p:cNvSpPr>
          <p:nvPr>
            <p:ph type="title"/>
          </p:nvPr>
        </p:nvSpPr>
        <p:spPr/>
        <p:txBody>
          <a:bodyPr/>
          <a:lstStyle/>
          <a:p>
            <a:r>
              <a:rPr lang="zh-CN" altLang="en-US" dirty="0"/>
              <a:t>寄存器实现</a:t>
            </a:r>
            <a:r>
              <a:rPr lang="en-US" altLang="zh-CN" dirty="0"/>
              <a:t>LRU</a:t>
            </a:r>
            <a:r>
              <a:rPr lang="zh-CN" altLang="en-US" dirty="0"/>
              <a:t>算法示例：</a:t>
            </a:r>
            <a:endParaRPr lang="zh-CN" altLang="en-US" dirty="0"/>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531" name="Picture 4" descr="未命名34"/>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545733" y="1573124"/>
            <a:ext cx="10832207" cy="4172921"/>
          </a:xfrm>
          <a:noFill/>
        </p:spPr>
      </p:pic>
      <p:sp>
        <p:nvSpPr>
          <p:cNvPr id="531458" name="Rectangle 2"/>
          <p:cNvSpPr>
            <a:spLocks noGrp="1" noRot="1" noChangeArrowheads="1"/>
          </p:cNvSpPr>
          <p:nvPr>
            <p:ph type="title"/>
          </p:nvPr>
        </p:nvSpPr>
        <p:spPr/>
        <p:txBody>
          <a:bodyPr/>
          <a:lstStyle/>
          <a:p>
            <a:pPr eaLnBrk="1" hangingPunct="1">
              <a:defRPr/>
            </a:pPr>
            <a:r>
              <a:rPr lang="zh-CN" altLang="en-US"/>
              <a:t>栈实现</a:t>
            </a:r>
            <a:r>
              <a:rPr lang="en-US" altLang="zh-CN"/>
              <a:t>LRU</a:t>
            </a:r>
            <a:r>
              <a:rPr lang="zh-CN" altLang="en-US"/>
              <a:t>举例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531"/>
                                        </p:tgtEl>
                                        <p:attrNameLst>
                                          <p:attrName>style.visibility</p:attrName>
                                        </p:attrNameLst>
                                      </p:cBhvr>
                                      <p:to>
                                        <p:strVal val="visible"/>
                                      </p:to>
                                    </p:set>
                                    <p:anim calcmode="lin" valueType="num">
                                      <p:cBhvr additive="base">
                                        <p:cTn id="7" dur="500" fill="hold"/>
                                        <p:tgtEl>
                                          <p:spTgt spid="150531"/>
                                        </p:tgtEl>
                                        <p:attrNameLst>
                                          <p:attrName>ppt_x</p:attrName>
                                        </p:attrNameLst>
                                      </p:cBhvr>
                                      <p:tavLst>
                                        <p:tav tm="0">
                                          <p:val>
                                            <p:strVal val="#ppt_x"/>
                                          </p:val>
                                        </p:tav>
                                        <p:tav tm="100000">
                                          <p:val>
                                            <p:strVal val="#ppt_x"/>
                                          </p:val>
                                        </p:tav>
                                      </p:tavLst>
                                    </p:anim>
                                    <p:anim calcmode="lin" valueType="num">
                                      <p:cBhvr additive="base">
                                        <p:cTn id="8" dur="500" fill="hold"/>
                                        <p:tgtEl>
                                          <p:spTgt spid="1505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ChangeArrowheads="1"/>
          </p:cNvSpPr>
          <p:nvPr/>
        </p:nvSpPr>
        <p:spPr bwMode="auto">
          <a:xfrm>
            <a:off x="3400425" y="1990726"/>
            <a:ext cx="91440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3200">
              <a:latin typeface="Tahoma" panose="020B0604030504040204" pitchFamily="34" charset="0"/>
            </a:endParaRPr>
          </a:p>
        </p:txBody>
      </p:sp>
      <p:sp>
        <p:nvSpPr>
          <p:cNvPr id="149507" name="Rectangle 5"/>
          <p:cNvSpPr>
            <a:spLocks noChangeArrowheads="1"/>
          </p:cNvSpPr>
          <p:nvPr/>
        </p:nvSpPr>
        <p:spPr bwMode="auto">
          <a:xfrm>
            <a:off x="1631951" y="1027113"/>
            <a:ext cx="8964613" cy="48768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3200">
              <a:latin typeface="Tahoma" panose="020B0604030504040204" pitchFamily="34" charset="0"/>
            </a:endParaRPr>
          </a:p>
        </p:txBody>
      </p:sp>
      <p:graphicFrame>
        <p:nvGraphicFramePr>
          <p:cNvPr id="149508" name="Object 6"/>
          <p:cNvGraphicFramePr>
            <a:graphicFrameLocks noChangeAspect="1"/>
          </p:cNvGraphicFramePr>
          <p:nvPr/>
        </p:nvGraphicFramePr>
        <p:xfrm>
          <a:off x="1936751" y="1484314"/>
          <a:ext cx="8659813" cy="4084637"/>
        </p:xfrm>
        <a:graphic>
          <a:graphicData uri="http://schemas.openxmlformats.org/presentationml/2006/ole">
            <mc:AlternateContent xmlns:mc="http://schemas.openxmlformats.org/markup-compatibility/2006">
              <mc:Choice xmlns:v="urn:schemas-microsoft-com:vml" Requires="v">
                <p:oleObj spid="_x0000_s5176" name="VISIO" r:id="rId1" imgW="4099560" imgH="1828800" progId="Visio.Drawing.4">
                  <p:embed/>
                </p:oleObj>
              </mc:Choice>
              <mc:Fallback>
                <p:oleObj name="VISIO" r:id="rId1" imgW="4099560" imgH="1828800" progId="Visio.Drawing.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751" y="1484314"/>
                        <a:ext cx="8659813" cy="408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标题 3"/>
          <p:cNvSpPr>
            <a:spLocks noGrp="1"/>
          </p:cNvSpPr>
          <p:nvPr>
            <p:ph type="title"/>
          </p:nvPr>
        </p:nvSpPr>
        <p:spPr/>
        <p:txBody>
          <a:bodyPr/>
          <a:lstStyle/>
          <a:p>
            <a:r>
              <a:rPr lang="en-US" altLang="zh-CN" dirty="0"/>
              <a:t>Clock</a:t>
            </a:r>
            <a:r>
              <a:rPr lang="zh-CN" altLang="en-US" dirty="0"/>
              <a:t>算法的流程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86"/>
          <p:cNvSpPr>
            <a:spLocks noChangeArrowheads="1"/>
          </p:cNvSpPr>
          <p:nvPr/>
        </p:nvSpPr>
        <p:spPr bwMode="auto">
          <a:xfrm>
            <a:off x="1693335" y="0"/>
            <a:ext cx="9144000" cy="65532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endParaRPr lang="zh-CN" altLang="en-US" sz="3200">
              <a:solidFill>
                <a:srgbClr val="000000"/>
              </a:solidFill>
              <a:latin typeface="Tahoma" panose="020B0604030504040204" pitchFamily="34" charset="0"/>
            </a:endParaRPr>
          </a:p>
        </p:txBody>
      </p:sp>
      <p:grpSp>
        <p:nvGrpSpPr>
          <p:cNvPr id="2" name="Group 87"/>
          <p:cNvGrpSpPr/>
          <p:nvPr/>
        </p:nvGrpSpPr>
        <p:grpSpPr bwMode="auto">
          <a:xfrm>
            <a:off x="5427135" y="1676400"/>
            <a:ext cx="5791200" cy="5181600"/>
            <a:chOff x="2700" y="6588"/>
            <a:chExt cx="5400" cy="4764"/>
          </a:xfrm>
          <a:noFill/>
        </p:grpSpPr>
        <p:grpSp>
          <p:nvGrpSpPr>
            <p:cNvPr id="3" name="Group 88"/>
            <p:cNvGrpSpPr/>
            <p:nvPr/>
          </p:nvGrpSpPr>
          <p:grpSpPr bwMode="auto">
            <a:xfrm>
              <a:off x="3240" y="6588"/>
              <a:ext cx="4320" cy="4212"/>
              <a:chOff x="3240" y="6276"/>
              <a:chExt cx="4320" cy="4212"/>
            </a:xfrm>
            <a:grpFill/>
          </p:grpSpPr>
          <p:grpSp>
            <p:nvGrpSpPr>
              <p:cNvPr id="4" name="Group 89"/>
              <p:cNvGrpSpPr/>
              <p:nvPr/>
            </p:nvGrpSpPr>
            <p:grpSpPr bwMode="auto">
              <a:xfrm>
                <a:off x="3240" y="6588"/>
                <a:ext cx="4140" cy="3588"/>
                <a:chOff x="3780" y="8772"/>
                <a:chExt cx="4140" cy="3588"/>
              </a:xfrm>
              <a:grpFill/>
            </p:grpSpPr>
            <p:sp>
              <p:nvSpPr>
                <p:cNvPr id="149578" name="AutoShape 90"/>
                <p:cNvSpPr>
                  <a:spLocks noChangeArrowheads="1"/>
                </p:cNvSpPr>
                <p:nvPr/>
              </p:nvSpPr>
              <p:spPr bwMode="auto">
                <a:xfrm>
                  <a:off x="3780" y="8772"/>
                  <a:ext cx="4140" cy="3588"/>
                </a:xfrm>
                <a:custGeom>
                  <a:avLst/>
                  <a:gdLst>
                    <a:gd name="T0" fmla="*/ 2070 w 21600"/>
                    <a:gd name="T1" fmla="*/ 0 h 21600"/>
                    <a:gd name="T2" fmla="*/ 606 w 21600"/>
                    <a:gd name="T3" fmla="*/ 525 h 21600"/>
                    <a:gd name="T4" fmla="*/ 0 w 21600"/>
                    <a:gd name="T5" fmla="*/ 1794 h 21600"/>
                    <a:gd name="T6" fmla="*/ 606 w 21600"/>
                    <a:gd name="T7" fmla="*/ 3063 h 21600"/>
                    <a:gd name="T8" fmla="*/ 2070 w 21600"/>
                    <a:gd name="T9" fmla="*/ 3588 h 21600"/>
                    <a:gd name="T10" fmla="*/ 3534 w 21600"/>
                    <a:gd name="T11" fmla="*/ 3063 h 21600"/>
                    <a:gd name="T12" fmla="*/ 4140 w 21600"/>
                    <a:gd name="T13" fmla="*/ 1794 h 21600"/>
                    <a:gd name="T14" fmla="*/ 3534 w 21600"/>
                    <a:gd name="T15" fmla="*/ 525 h 21600"/>
                    <a:gd name="T16" fmla="*/ 0 60000 65536"/>
                    <a:gd name="T17" fmla="*/ 0 60000 65536"/>
                    <a:gd name="T18" fmla="*/ 0 60000 65536"/>
                    <a:gd name="T19" fmla="*/ 0 60000 65536"/>
                    <a:gd name="T20" fmla="*/ 0 60000 65536"/>
                    <a:gd name="T21" fmla="*/ 0 60000 65536"/>
                    <a:gd name="T22" fmla="*/ 0 60000 65536"/>
                    <a:gd name="T23" fmla="*/ 0 60000 65536"/>
                    <a:gd name="T24" fmla="*/ 3162 w 21600"/>
                    <a:gd name="T25" fmla="*/ 3161 h 21600"/>
                    <a:gd name="T26" fmla="*/ 18438 w 21600"/>
                    <a:gd name="T27" fmla="*/ 18439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528" y="10800"/>
                      </a:moveTo>
                      <a:cubicBezTo>
                        <a:pt x="5528" y="13712"/>
                        <a:pt x="7888" y="16072"/>
                        <a:pt x="10800" y="16072"/>
                      </a:cubicBezTo>
                      <a:cubicBezTo>
                        <a:pt x="13712" y="16072"/>
                        <a:pt x="16072" y="13712"/>
                        <a:pt x="16072" y="10800"/>
                      </a:cubicBezTo>
                      <a:cubicBezTo>
                        <a:pt x="16072" y="7888"/>
                        <a:pt x="13712" y="5528"/>
                        <a:pt x="10800" y="5528"/>
                      </a:cubicBezTo>
                      <a:cubicBezTo>
                        <a:pt x="7888" y="5528"/>
                        <a:pt x="5528" y="7888"/>
                        <a:pt x="5528" y="10800"/>
                      </a:cubicBezTo>
                      <a:close/>
                    </a:path>
                  </a:pathLst>
                </a:custGeom>
                <a:grpFill/>
                <a:ln w="9525">
                  <a:solidFill>
                    <a:srgbClr val="000000"/>
                  </a:solidFill>
                  <a:round/>
                </a:ln>
              </p:spPr>
              <p:txBody>
                <a:bodyPr/>
                <a:lstStyle/>
                <a:p>
                  <a:pPr eaLnBrk="1" hangingPunct="1">
                    <a:defRPr/>
                  </a:pPr>
                  <a:endParaRPr lang="zh-CN" altLang="en-US"/>
                </a:p>
              </p:txBody>
            </p:sp>
            <p:sp>
              <p:nvSpPr>
                <p:cNvPr id="149579" name="Line 91"/>
                <p:cNvSpPr>
                  <a:spLocks noChangeShapeType="1"/>
                </p:cNvSpPr>
                <p:nvPr/>
              </p:nvSpPr>
              <p:spPr bwMode="auto">
                <a:xfrm>
                  <a:off x="5940" y="8772"/>
                  <a:ext cx="0" cy="936"/>
                </a:xfrm>
                <a:prstGeom prst="line">
                  <a:avLst/>
                </a:prstGeom>
                <a:grpFill/>
                <a:ln w="9525">
                  <a:solidFill>
                    <a:srgbClr val="000000"/>
                  </a:solidFill>
                  <a:round/>
                </a:ln>
              </p:spPr>
              <p:txBody>
                <a:bodyPr/>
                <a:lstStyle/>
                <a:p>
                  <a:pPr eaLnBrk="1" hangingPunct="1">
                    <a:defRPr/>
                  </a:pPr>
                  <a:endParaRPr lang="zh-CN" altLang="en-US"/>
                </a:p>
              </p:txBody>
            </p:sp>
            <p:sp>
              <p:nvSpPr>
                <p:cNvPr id="149580" name="Line 92"/>
                <p:cNvSpPr>
                  <a:spLocks noChangeShapeType="1"/>
                </p:cNvSpPr>
                <p:nvPr/>
              </p:nvSpPr>
              <p:spPr bwMode="auto">
                <a:xfrm>
                  <a:off x="6120" y="11424"/>
                  <a:ext cx="0" cy="936"/>
                </a:xfrm>
                <a:prstGeom prst="line">
                  <a:avLst/>
                </a:prstGeom>
                <a:grpFill/>
                <a:ln w="9525">
                  <a:solidFill>
                    <a:srgbClr val="000000"/>
                  </a:solidFill>
                  <a:round/>
                </a:ln>
              </p:spPr>
              <p:txBody>
                <a:bodyPr/>
                <a:lstStyle/>
                <a:p>
                  <a:pPr eaLnBrk="1" hangingPunct="1">
                    <a:defRPr/>
                  </a:pPr>
                  <a:endParaRPr lang="zh-CN" altLang="en-US"/>
                </a:p>
              </p:txBody>
            </p:sp>
            <p:sp>
              <p:nvSpPr>
                <p:cNvPr id="149581" name="Line 93"/>
                <p:cNvSpPr>
                  <a:spLocks noChangeShapeType="1"/>
                </p:cNvSpPr>
                <p:nvPr/>
              </p:nvSpPr>
              <p:spPr bwMode="auto">
                <a:xfrm flipH="1">
                  <a:off x="6480" y="9084"/>
                  <a:ext cx="540" cy="780"/>
                </a:xfrm>
                <a:prstGeom prst="line">
                  <a:avLst/>
                </a:prstGeom>
                <a:grpFill/>
                <a:ln w="9525">
                  <a:solidFill>
                    <a:srgbClr val="000000"/>
                  </a:solidFill>
                  <a:round/>
                </a:ln>
              </p:spPr>
              <p:txBody>
                <a:bodyPr/>
                <a:lstStyle/>
                <a:p>
                  <a:pPr eaLnBrk="1" hangingPunct="1">
                    <a:defRPr/>
                  </a:pPr>
                  <a:endParaRPr lang="zh-CN" altLang="en-US"/>
                </a:p>
              </p:txBody>
            </p:sp>
            <p:sp>
              <p:nvSpPr>
                <p:cNvPr id="149582" name="Line 94"/>
                <p:cNvSpPr>
                  <a:spLocks noChangeShapeType="1"/>
                </p:cNvSpPr>
                <p:nvPr/>
              </p:nvSpPr>
              <p:spPr bwMode="auto">
                <a:xfrm flipH="1">
                  <a:off x="5040" y="11424"/>
                  <a:ext cx="540" cy="780"/>
                </a:xfrm>
                <a:prstGeom prst="line">
                  <a:avLst/>
                </a:prstGeom>
                <a:grpFill/>
                <a:ln w="9525">
                  <a:solidFill>
                    <a:srgbClr val="000000"/>
                  </a:solidFill>
                  <a:round/>
                </a:ln>
              </p:spPr>
              <p:txBody>
                <a:bodyPr/>
                <a:lstStyle/>
                <a:p>
                  <a:pPr eaLnBrk="1" hangingPunct="1">
                    <a:defRPr/>
                  </a:pPr>
                  <a:endParaRPr lang="zh-CN" altLang="en-US"/>
                </a:p>
              </p:txBody>
            </p:sp>
            <p:sp>
              <p:nvSpPr>
                <p:cNvPr id="149583" name="Line 95"/>
                <p:cNvSpPr>
                  <a:spLocks noChangeShapeType="1"/>
                </p:cNvSpPr>
                <p:nvPr/>
              </p:nvSpPr>
              <p:spPr bwMode="auto">
                <a:xfrm>
                  <a:off x="4680" y="9084"/>
                  <a:ext cx="540" cy="780"/>
                </a:xfrm>
                <a:prstGeom prst="line">
                  <a:avLst/>
                </a:prstGeom>
                <a:grpFill/>
                <a:ln w="9525">
                  <a:solidFill>
                    <a:srgbClr val="000000"/>
                  </a:solidFill>
                  <a:round/>
                </a:ln>
              </p:spPr>
              <p:txBody>
                <a:bodyPr/>
                <a:lstStyle/>
                <a:p>
                  <a:pPr eaLnBrk="1" hangingPunct="1">
                    <a:defRPr/>
                  </a:pPr>
                  <a:endParaRPr lang="zh-CN" altLang="en-US"/>
                </a:p>
              </p:txBody>
            </p:sp>
            <p:sp>
              <p:nvSpPr>
                <p:cNvPr id="149584" name="Line 96"/>
                <p:cNvSpPr>
                  <a:spLocks noChangeShapeType="1"/>
                </p:cNvSpPr>
                <p:nvPr/>
              </p:nvSpPr>
              <p:spPr bwMode="auto">
                <a:xfrm flipH="1">
                  <a:off x="6840" y="9864"/>
                  <a:ext cx="900" cy="468"/>
                </a:xfrm>
                <a:prstGeom prst="line">
                  <a:avLst/>
                </a:prstGeom>
                <a:grpFill/>
                <a:ln w="9525">
                  <a:solidFill>
                    <a:srgbClr val="000000"/>
                  </a:solidFill>
                  <a:round/>
                </a:ln>
              </p:spPr>
              <p:txBody>
                <a:bodyPr/>
                <a:lstStyle/>
                <a:p>
                  <a:pPr eaLnBrk="1" hangingPunct="1">
                    <a:defRPr/>
                  </a:pPr>
                  <a:endParaRPr lang="zh-CN" altLang="en-US"/>
                </a:p>
              </p:txBody>
            </p:sp>
            <p:sp>
              <p:nvSpPr>
                <p:cNvPr id="149585" name="Line 97"/>
                <p:cNvSpPr>
                  <a:spLocks noChangeShapeType="1"/>
                </p:cNvSpPr>
                <p:nvPr/>
              </p:nvSpPr>
              <p:spPr bwMode="auto">
                <a:xfrm flipH="1">
                  <a:off x="6840" y="10800"/>
                  <a:ext cx="1080" cy="0"/>
                </a:xfrm>
                <a:prstGeom prst="line">
                  <a:avLst/>
                </a:prstGeom>
                <a:grpFill/>
                <a:ln w="9525">
                  <a:solidFill>
                    <a:srgbClr val="000000"/>
                  </a:solidFill>
                  <a:round/>
                </a:ln>
              </p:spPr>
              <p:txBody>
                <a:bodyPr/>
                <a:lstStyle/>
                <a:p>
                  <a:pPr eaLnBrk="1" hangingPunct="1">
                    <a:defRPr/>
                  </a:pPr>
                  <a:endParaRPr lang="zh-CN" altLang="en-US"/>
                </a:p>
              </p:txBody>
            </p:sp>
            <p:sp>
              <p:nvSpPr>
                <p:cNvPr id="149586" name="Line 98"/>
                <p:cNvSpPr>
                  <a:spLocks noChangeShapeType="1"/>
                </p:cNvSpPr>
                <p:nvPr/>
              </p:nvSpPr>
              <p:spPr bwMode="auto">
                <a:xfrm flipH="1" flipV="1">
                  <a:off x="6480" y="11268"/>
                  <a:ext cx="900" cy="468"/>
                </a:xfrm>
                <a:prstGeom prst="line">
                  <a:avLst/>
                </a:prstGeom>
                <a:grpFill/>
                <a:ln w="9525">
                  <a:solidFill>
                    <a:srgbClr val="000000"/>
                  </a:solidFill>
                  <a:round/>
                </a:ln>
              </p:spPr>
              <p:txBody>
                <a:bodyPr/>
                <a:lstStyle/>
                <a:p>
                  <a:pPr eaLnBrk="1" hangingPunct="1">
                    <a:defRPr/>
                  </a:pPr>
                  <a:endParaRPr lang="zh-CN" altLang="en-US"/>
                </a:p>
              </p:txBody>
            </p:sp>
            <p:sp>
              <p:nvSpPr>
                <p:cNvPr id="149587" name="Line 99"/>
                <p:cNvSpPr>
                  <a:spLocks noChangeShapeType="1"/>
                </p:cNvSpPr>
                <p:nvPr/>
              </p:nvSpPr>
              <p:spPr bwMode="auto">
                <a:xfrm flipH="1">
                  <a:off x="4140" y="11112"/>
                  <a:ext cx="900" cy="468"/>
                </a:xfrm>
                <a:prstGeom prst="line">
                  <a:avLst/>
                </a:prstGeom>
                <a:grpFill/>
                <a:ln w="9525">
                  <a:solidFill>
                    <a:srgbClr val="000000"/>
                  </a:solidFill>
                  <a:round/>
                </a:ln>
              </p:spPr>
              <p:txBody>
                <a:bodyPr/>
                <a:lstStyle/>
                <a:p>
                  <a:pPr eaLnBrk="1" hangingPunct="1">
                    <a:defRPr/>
                  </a:pPr>
                  <a:endParaRPr lang="zh-CN" altLang="en-US"/>
                </a:p>
              </p:txBody>
            </p:sp>
            <p:sp>
              <p:nvSpPr>
                <p:cNvPr id="149588" name="Line 100"/>
                <p:cNvSpPr>
                  <a:spLocks noChangeShapeType="1"/>
                </p:cNvSpPr>
                <p:nvPr/>
              </p:nvSpPr>
              <p:spPr bwMode="auto">
                <a:xfrm flipH="1">
                  <a:off x="3780" y="10644"/>
                  <a:ext cx="1080" cy="156"/>
                </a:xfrm>
                <a:prstGeom prst="line">
                  <a:avLst/>
                </a:prstGeom>
                <a:grpFill/>
                <a:ln w="9525">
                  <a:solidFill>
                    <a:srgbClr val="000000"/>
                  </a:solidFill>
                  <a:round/>
                </a:ln>
              </p:spPr>
              <p:txBody>
                <a:bodyPr/>
                <a:lstStyle/>
                <a:p>
                  <a:pPr eaLnBrk="1" hangingPunct="1">
                    <a:defRPr/>
                  </a:pPr>
                  <a:endParaRPr lang="zh-CN" altLang="en-US"/>
                </a:p>
              </p:txBody>
            </p:sp>
          </p:grpSp>
          <p:grpSp>
            <p:nvGrpSpPr>
              <p:cNvPr id="5" name="Group 101"/>
              <p:cNvGrpSpPr/>
              <p:nvPr/>
            </p:nvGrpSpPr>
            <p:grpSpPr bwMode="auto">
              <a:xfrm>
                <a:off x="3600" y="6744"/>
                <a:ext cx="3780" cy="3432"/>
                <a:chOff x="4140" y="8928"/>
                <a:chExt cx="3780" cy="3432"/>
              </a:xfrm>
              <a:grpFill/>
            </p:grpSpPr>
            <p:sp>
              <p:nvSpPr>
                <p:cNvPr id="149564" name="Text Box 102"/>
                <p:cNvSpPr txBox="1">
                  <a:spLocks noChangeArrowheads="1"/>
                </p:cNvSpPr>
                <p:nvPr/>
              </p:nvSpPr>
              <p:spPr bwMode="auto">
                <a:xfrm>
                  <a:off x="5220" y="8928"/>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65" name="Text Box 103"/>
                <p:cNvSpPr txBox="1">
                  <a:spLocks noChangeArrowheads="1"/>
                </p:cNvSpPr>
                <p:nvPr/>
              </p:nvSpPr>
              <p:spPr bwMode="auto">
                <a:xfrm>
                  <a:off x="6120" y="8928"/>
                  <a:ext cx="72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123</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66" name="Text Box 104"/>
                <p:cNvSpPr txBox="1">
                  <a:spLocks noChangeArrowheads="1"/>
                </p:cNvSpPr>
                <p:nvPr/>
              </p:nvSpPr>
              <p:spPr bwMode="auto">
                <a:xfrm>
                  <a:off x="6840" y="9552"/>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30</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0</a:t>
                  </a:r>
                  <a:endParaRPr lang="en-US" altLang="zh-CN" sz="1600" b="1">
                    <a:solidFill>
                      <a:srgbClr val="000000"/>
                    </a:solidFill>
                    <a:latin typeface="Times New Roman" panose="02020603050405020304" pitchFamily="18" charset="0"/>
                  </a:endParaRPr>
                </a:p>
              </p:txBody>
            </p:sp>
            <p:sp>
              <p:nvSpPr>
                <p:cNvPr id="149567" name="Text Box 105"/>
                <p:cNvSpPr txBox="1">
                  <a:spLocks noChangeArrowheads="1"/>
                </p:cNvSpPr>
                <p:nvPr/>
              </p:nvSpPr>
              <p:spPr bwMode="auto">
                <a:xfrm>
                  <a:off x="7200" y="10176"/>
                  <a:ext cx="72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616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0</a:t>
                  </a:r>
                  <a:endParaRPr lang="en-US" altLang="zh-CN" sz="1600" b="1">
                    <a:solidFill>
                      <a:srgbClr val="000000"/>
                    </a:solidFill>
                    <a:latin typeface="Times New Roman" panose="02020603050405020304" pitchFamily="18" charset="0"/>
                  </a:endParaRPr>
                </a:p>
              </p:txBody>
            </p:sp>
            <p:sp>
              <p:nvSpPr>
                <p:cNvPr id="149568" name="Text Box 106"/>
                <p:cNvSpPr txBox="1">
                  <a:spLocks noChangeArrowheads="1"/>
                </p:cNvSpPr>
                <p:nvPr/>
              </p:nvSpPr>
              <p:spPr bwMode="auto">
                <a:xfrm>
                  <a:off x="7020" y="10956"/>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FF0000"/>
                      </a:solidFill>
                      <a:latin typeface="Times New Roman" panose="02020603050405020304" pitchFamily="18" charset="0"/>
                    </a:rPr>
                    <a:t>页</a:t>
                  </a:r>
                  <a:r>
                    <a:rPr lang="en-US" altLang="zh-CN" sz="1600" b="1">
                      <a:solidFill>
                        <a:srgbClr val="FF0000"/>
                      </a:solidFill>
                      <a:latin typeface="Times New Roman" panose="02020603050405020304" pitchFamily="18" charset="0"/>
                    </a:rPr>
                    <a:t>77</a:t>
                  </a:r>
                  <a:endParaRPr lang="en-US" altLang="zh-CN" sz="1600" b="1">
                    <a:solidFill>
                      <a:srgbClr val="FF0000"/>
                    </a:solidFill>
                    <a:latin typeface="Times New Roman" panose="02020603050405020304" pitchFamily="18" charset="0"/>
                  </a:endParaRPr>
                </a:p>
                <a:p>
                  <a:pPr algn="just">
                    <a:defRPr/>
                  </a:pPr>
                  <a:r>
                    <a:rPr lang="en-US" altLang="zh-CN" sz="1600" b="1">
                      <a:solidFill>
                        <a:srgbClr val="FF0000"/>
                      </a:solidFill>
                      <a:latin typeface="Times New Roman" panose="02020603050405020304" pitchFamily="18" charset="0"/>
                    </a:rPr>
                    <a:t>A = 1</a:t>
                  </a:r>
                  <a:endParaRPr lang="en-US" altLang="zh-CN" sz="1600" b="1">
                    <a:solidFill>
                      <a:srgbClr val="FF0000"/>
                    </a:solidFill>
                    <a:latin typeface="Times New Roman" panose="02020603050405020304" pitchFamily="18" charset="0"/>
                  </a:endParaRPr>
                </a:p>
              </p:txBody>
            </p:sp>
            <p:sp>
              <p:nvSpPr>
                <p:cNvPr id="149569" name="Text Box 107"/>
                <p:cNvSpPr txBox="1">
                  <a:spLocks noChangeArrowheads="1"/>
                </p:cNvSpPr>
                <p:nvPr/>
              </p:nvSpPr>
              <p:spPr bwMode="auto">
                <a:xfrm>
                  <a:off x="6300" y="11424"/>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24</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70" name="Text Box 108"/>
                <p:cNvSpPr txBox="1">
                  <a:spLocks noChangeArrowheads="1"/>
                </p:cNvSpPr>
                <p:nvPr/>
              </p:nvSpPr>
              <p:spPr bwMode="auto">
                <a:xfrm>
                  <a:off x="5400" y="11733"/>
                  <a:ext cx="72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110</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71" name="Text Box 109"/>
                <p:cNvSpPr txBox="1">
                  <a:spLocks noChangeArrowheads="1"/>
                </p:cNvSpPr>
                <p:nvPr/>
              </p:nvSpPr>
              <p:spPr bwMode="auto">
                <a:xfrm>
                  <a:off x="4680" y="11424"/>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16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0</a:t>
                  </a:r>
                  <a:endParaRPr lang="en-US" altLang="zh-CN" sz="1600" b="1">
                    <a:solidFill>
                      <a:srgbClr val="000000"/>
                    </a:solidFill>
                    <a:latin typeface="Times New Roman" panose="02020603050405020304" pitchFamily="18" charset="0"/>
                  </a:endParaRPr>
                </a:p>
              </p:txBody>
            </p:sp>
            <p:sp>
              <p:nvSpPr>
                <p:cNvPr id="149572" name="Text Box 110"/>
                <p:cNvSpPr txBox="1">
                  <a:spLocks noChangeArrowheads="1"/>
                </p:cNvSpPr>
                <p:nvPr/>
              </p:nvSpPr>
              <p:spPr bwMode="auto">
                <a:xfrm>
                  <a:off x="4140" y="10800"/>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dirty="0">
                      <a:solidFill>
                        <a:srgbClr val="000000"/>
                      </a:solidFill>
                      <a:latin typeface="Times New Roman" panose="02020603050405020304" pitchFamily="18" charset="0"/>
                    </a:rPr>
                    <a:t>页</a:t>
                  </a:r>
                  <a:r>
                    <a:rPr lang="en-US" altLang="zh-CN" sz="1600" b="1" dirty="0">
                      <a:solidFill>
                        <a:srgbClr val="000000"/>
                      </a:solidFill>
                      <a:latin typeface="Times New Roman" panose="02020603050405020304" pitchFamily="18" charset="0"/>
                    </a:rPr>
                    <a:t>76</a:t>
                  </a:r>
                  <a:endParaRPr lang="en-US" altLang="zh-CN" sz="1600" b="1" dirty="0">
                    <a:solidFill>
                      <a:srgbClr val="000000"/>
                    </a:solidFill>
                    <a:latin typeface="Times New Roman" panose="02020603050405020304" pitchFamily="18" charset="0"/>
                  </a:endParaRPr>
                </a:p>
                <a:p>
                  <a:pPr algn="just">
                    <a:defRPr/>
                  </a:pPr>
                  <a:r>
                    <a:rPr lang="en-US" altLang="zh-CN" sz="1600" b="1" dirty="0">
                      <a:solidFill>
                        <a:srgbClr val="000000"/>
                      </a:solidFill>
                      <a:latin typeface="Times New Roman" panose="02020603050405020304" pitchFamily="18" charset="0"/>
                    </a:rPr>
                    <a:t>A = 0</a:t>
                  </a:r>
                  <a:endParaRPr lang="en-US" altLang="zh-CN" sz="1600" b="1" dirty="0">
                    <a:solidFill>
                      <a:srgbClr val="000000"/>
                    </a:solidFill>
                    <a:latin typeface="Times New Roman" panose="02020603050405020304" pitchFamily="18" charset="0"/>
                  </a:endParaRPr>
                </a:p>
              </p:txBody>
            </p:sp>
            <p:grpSp>
              <p:nvGrpSpPr>
                <p:cNvPr id="6" name="Group 111"/>
                <p:cNvGrpSpPr/>
                <p:nvPr/>
              </p:nvGrpSpPr>
              <p:grpSpPr bwMode="auto">
                <a:xfrm>
                  <a:off x="4320" y="9240"/>
                  <a:ext cx="720" cy="1248"/>
                  <a:chOff x="3960" y="9396"/>
                  <a:chExt cx="720" cy="1248"/>
                </a:xfrm>
                <a:grpFill/>
              </p:grpSpPr>
              <p:sp>
                <p:nvSpPr>
                  <p:cNvPr id="149574" name="Text Box 112"/>
                  <p:cNvSpPr txBox="1">
                    <a:spLocks noChangeArrowheads="1"/>
                  </p:cNvSpPr>
                  <p:nvPr/>
                </p:nvSpPr>
                <p:spPr bwMode="auto">
                  <a:xfrm>
                    <a:off x="4320" y="9396"/>
                    <a:ext cx="360" cy="468"/>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grpSp>
                <p:nvGrpSpPr>
                  <p:cNvPr id="7" name="Group 113"/>
                  <p:cNvGrpSpPr/>
                  <p:nvPr/>
                </p:nvGrpSpPr>
                <p:grpSpPr bwMode="auto">
                  <a:xfrm>
                    <a:off x="3960" y="9708"/>
                    <a:ext cx="540" cy="936"/>
                    <a:chOff x="4320" y="9708"/>
                    <a:chExt cx="540" cy="936"/>
                  </a:xfrm>
                  <a:grpFill/>
                </p:grpSpPr>
                <p:sp>
                  <p:nvSpPr>
                    <p:cNvPr id="149576" name="Text Box 114"/>
                    <p:cNvSpPr txBox="1">
                      <a:spLocks noChangeArrowheads="1"/>
                    </p:cNvSpPr>
                    <p:nvPr/>
                  </p:nvSpPr>
                  <p:spPr bwMode="auto">
                    <a:xfrm>
                      <a:off x="4500" y="9708"/>
                      <a:ext cx="360" cy="468"/>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sp>
                  <p:nvSpPr>
                    <p:cNvPr id="149577" name="Text Box 115"/>
                    <p:cNvSpPr txBox="1">
                      <a:spLocks noChangeArrowheads="1"/>
                    </p:cNvSpPr>
                    <p:nvPr/>
                  </p:nvSpPr>
                  <p:spPr bwMode="auto">
                    <a:xfrm>
                      <a:off x="4320" y="10176"/>
                      <a:ext cx="360" cy="468"/>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grpSp>
            </p:grpSp>
          </p:grpSp>
          <p:sp>
            <p:nvSpPr>
              <p:cNvPr id="149553" name="Line 116"/>
              <p:cNvSpPr>
                <a:spLocks noChangeShapeType="1"/>
              </p:cNvSpPr>
              <p:nvPr/>
            </p:nvSpPr>
            <p:spPr bwMode="auto">
              <a:xfrm>
                <a:off x="5220" y="8304"/>
                <a:ext cx="540" cy="780"/>
              </a:xfrm>
              <a:prstGeom prst="line">
                <a:avLst/>
              </a:prstGeom>
              <a:grpFill/>
              <a:ln w="9525">
                <a:solidFill>
                  <a:srgbClr val="000000"/>
                </a:solidFill>
                <a:round/>
                <a:headEnd type="oval" w="med" len="med"/>
                <a:tailEnd type="triangle" w="med" len="med"/>
              </a:ln>
            </p:spPr>
            <p:txBody>
              <a:bodyPr/>
              <a:lstStyle/>
              <a:p>
                <a:pPr eaLnBrk="1" hangingPunct="1">
                  <a:defRPr/>
                </a:pPr>
                <a:endParaRPr lang="zh-CN" altLang="en-US"/>
              </a:p>
            </p:txBody>
          </p:sp>
          <p:grpSp>
            <p:nvGrpSpPr>
              <p:cNvPr id="8" name="Group 117"/>
              <p:cNvGrpSpPr/>
              <p:nvPr/>
            </p:nvGrpSpPr>
            <p:grpSpPr bwMode="auto">
              <a:xfrm>
                <a:off x="3240" y="6276"/>
                <a:ext cx="4320" cy="4212"/>
                <a:chOff x="3780" y="8460"/>
                <a:chExt cx="4320" cy="4212"/>
              </a:xfrm>
              <a:grpFill/>
            </p:grpSpPr>
            <p:sp>
              <p:nvSpPr>
                <p:cNvPr id="149555" name="Text Box 118"/>
                <p:cNvSpPr txBox="1">
                  <a:spLocks noChangeArrowheads="1"/>
                </p:cNvSpPr>
                <p:nvPr/>
              </p:nvSpPr>
              <p:spPr bwMode="auto">
                <a:xfrm>
                  <a:off x="6660" y="8616"/>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0</a:t>
                  </a:r>
                  <a:endParaRPr lang="en-US" altLang="zh-CN" sz="1600" b="1">
                    <a:solidFill>
                      <a:srgbClr val="000000"/>
                    </a:solidFill>
                    <a:latin typeface="Times New Roman" panose="02020603050405020304" pitchFamily="18" charset="0"/>
                  </a:endParaRPr>
                </a:p>
              </p:txBody>
            </p:sp>
            <p:sp>
              <p:nvSpPr>
                <p:cNvPr id="149556" name="Text Box 119"/>
                <p:cNvSpPr txBox="1">
                  <a:spLocks noChangeArrowheads="1"/>
                </p:cNvSpPr>
                <p:nvPr/>
              </p:nvSpPr>
              <p:spPr bwMode="auto">
                <a:xfrm>
                  <a:off x="7560" y="9240"/>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1</a:t>
                  </a:r>
                  <a:endParaRPr lang="en-US" altLang="zh-CN" sz="1600" b="1">
                    <a:solidFill>
                      <a:srgbClr val="000000"/>
                    </a:solidFill>
                    <a:latin typeface="Times New Roman" panose="02020603050405020304" pitchFamily="18" charset="0"/>
                  </a:endParaRPr>
                </a:p>
              </p:txBody>
            </p:sp>
            <p:sp>
              <p:nvSpPr>
                <p:cNvPr id="149557" name="Text Box 120"/>
                <p:cNvSpPr txBox="1">
                  <a:spLocks noChangeArrowheads="1"/>
                </p:cNvSpPr>
                <p:nvPr/>
              </p:nvSpPr>
              <p:spPr bwMode="auto">
                <a:xfrm>
                  <a:off x="7920" y="10176"/>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2</a:t>
                  </a:r>
                  <a:endParaRPr lang="en-US" altLang="zh-CN" sz="1600" b="1">
                    <a:solidFill>
                      <a:srgbClr val="000000"/>
                    </a:solidFill>
                    <a:latin typeface="Times New Roman" panose="02020603050405020304" pitchFamily="18" charset="0"/>
                  </a:endParaRPr>
                </a:p>
              </p:txBody>
            </p:sp>
            <p:sp>
              <p:nvSpPr>
                <p:cNvPr id="149558" name="Text Box 121"/>
                <p:cNvSpPr txBox="1">
                  <a:spLocks noChangeArrowheads="1"/>
                </p:cNvSpPr>
                <p:nvPr/>
              </p:nvSpPr>
              <p:spPr bwMode="auto">
                <a:xfrm>
                  <a:off x="7920" y="11112"/>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3</a:t>
                  </a:r>
                  <a:endParaRPr lang="en-US" altLang="zh-CN" sz="1600" b="1">
                    <a:solidFill>
                      <a:srgbClr val="000000"/>
                    </a:solidFill>
                    <a:latin typeface="Times New Roman" panose="02020603050405020304" pitchFamily="18" charset="0"/>
                  </a:endParaRPr>
                </a:p>
              </p:txBody>
            </p:sp>
            <p:sp>
              <p:nvSpPr>
                <p:cNvPr id="149559" name="Text Box 122"/>
                <p:cNvSpPr txBox="1">
                  <a:spLocks noChangeArrowheads="1"/>
                </p:cNvSpPr>
                <p:nvPr/>
              </p:nvSpPr>
              <p:spPr bwMode="auto">
                <a:xfrm>
                  <a:off x="7020" y="12048"/>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4</a:t>
                  </a:r>
                  <a:endParaRPr lang="en-US" altLang="zh-CN" sz="1600" b="1">
                    <a:solidFill>
                      <a:srgbClr val="000000"/>
                    </a:solidFill>
                    <a:latin typeface="Times New Roman" panose="02020603050405020304" pitchFamily="18" charset="0"/>
                  </a:endParaRPr>
                </a:p>
              </p:txBody>
            </p:sp>
            <p:sp>
              <p:nvSpPr>
                <p:cNvPr id="149560" name="Text Box 123"/>
                <p:cNvSpPr txBox="1">
                  <a:spLocks noChangeArrowheads="1"/>
                </p:cNvSpPr>
                <p:nvPr/>
              </p:nvSpPr>
              <p:spPr bwMode="auto">
                <a:xfrm>
                  <a:off x="5580" y="12360"/>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5</a:t>
                  </a:r>
                  <a:endParaRPr lang="en-US" altLang="zh-CN" sz="1600" b="1">
                    <a:solidFill>
                      <a:srgbClr val="000000"/>
                    </a:solidFill>
                    <a:latin typeface="Times New Roman" panose="02020603050405020304" pitchFamily="18" charset="0"/>
                  </a:endParaRPr>
                </a:p>
              </p:txBody>
            </p:sp>
            <p:sp>
              <p:nvSpPr>
                <p:cNvPr id="149561" name="Text Box 124"/>
                <p:cNvSpPr txBox="1">
                  <a:spLocks noChangeArrowheads="1"/>
                </p:cNvSpPr>
                <p:nvPr/>
              </p:nvSpPr>
              <p:spPr bwMode="auto">
                <a:xfrm>
                  <a:off x="4500" y="12048"/>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dirty="0">
                      <a:solidFill>
                        <a:srgbClr val="000000"/>
                      </a:solidFill>
                      <a:latin typeface="Times New Roman" panose="02020603050405020304" pitchFamily="18" charset="0"/>
                    </a:rPr>
                    <a:t>6</a:t>
                  </a:r>
                  <a:endParaRPr lang="en-US" altLang="zh-CN" sz="1600" b="1" dirty="0">
                    <a:solidFill>
                      <a:srgbClr val="000000"/>
                    </a:solidFill>
                    <a:latin typeface="Times New Roman" panose="02020603050405020304" pitchFamily="18" charset="0"/>
                  </a:endParaRPr>
                </a:p>
              </p:txBody>
            </p:sp>
            <p:sp>
              <p:nvSpPr>
                <p:cNvPr id="149562" name="Text Box 125"/>
                <p:cNvSpPr txBox="1">
                  <a:spLocks noChangeArrowheads="1"/>
                </p:cNvSpPr>
                <p:nvPr/>
              </p:nvSpPr>
              <p:spPr bwMode="auto">
                <a:xfrm>
                  <a:off x="3780" y="11268"/>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7</a:t>
                  </a:r>
                  <a:endParaRPr lang="en-US" altLang="zh-CN" sz="1600" b="1">
                    <a:solidFill>
                      <a:srgbClr val="000000"/>
                    </a:solidFill>
                    <a:latin typeface="Times New Roman" panose="02020603050405020304" pitchFamily="18" charset="0"/>
                  </a:endParaRPr>
                </a:p>
              </p:txBody>
            </p:sp>
            <p:sp>
              <p:nvSpPr>
                <p:cNvPr id="149563" name="Text Box 126"/>
                <p:cNvSpPr txBox="1">
                  <a:spLocks noChangeArrowheads="1"/>
                </p:cNvSpPr>
                <p:nvPr/>
              </p:nvSpPr>
              <p:spPr bwMode="auto">
                <a:xfrm>
                  <a:off x="5220" y="8460"/>
                  <a:ext cx="54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n-1</a:t>
                  </a:r>
                  <a:endParaRPr lang="en-US" altLang="zh-CN" sz="1600" b="1">
                    <a:solidFill>
                      <a:srgbClr val="000000"/>
                    </a:solidFill>
                    <a:latin typeface="Times New Roman" panose="02020603050405020304" pitchFamily="18" charset="0"/>
                  </a:endParaRPr>
                </a:p>
              </p:txBody>
            </p:sp>
          </p:grpSp>
        </p:grpSp>
        <p:sp>
          <p:nvSpPr>
            <p:cNvPr id="149550" name="Text Box 127"/>
            <p:cNvSpPr txBox="1">
              <a:spLocks noChangeArrowheads="1"/>
            </p:cNvSpPr>
            <p:nvPr/>
          </p:nvSpPr>
          <p:spPr bwMode="auto">
            <a:xfrm>
              <a:off x="2700" y="10800"/>
              <a:ext cx="5400" cy="552"/>
            </a:xfrm>
            <a:prstGeom prst="rect">
              <a:avLst/>
            </a:prstGeom>
            <a:grp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1600" b="1">
                  <a:solidFill>
                    <a:srgbClr val="000000"/>
                  </a:solidFill>
                  <a:latin typeface="Times New Roman" panose="02020603050405020304" pitchFamily="18" charset="0"/>
                </a:rPr>
                <a:t>(b) </a:t>
              </a:r>
              <a:r>
                <a:rPr lang="zh-CN" altLang="en-US" sz="1600" b="1">
                  <a:solidFill>
                    <a:srgbClr val="000000"/>
                  </a:solidFill>
                  <a:latin typeface="Times New Roman" panose="02020603050405020304" pitchFamily="18" charset="0"/>
                </a:rPr>
                <a:t>用</a:t>
              </a:r>
              <a:r>
                <a:rPr lang="en-US" altLang="zh-CN" sz="1600" b="1">
                  <a:solidFill>
                    <a:srgbClr val="000000"/>
                  </a:solidFill>
                  <a:latin typeface="Times New Roman" panose="02020603050405020304" pitchFamily="18" charset="0"/>
                </a:rPr>
                <a:t>77</a:t>
              </a:r>
              <a:r>
                <a:rPr lang="zh-CN" altLang="en-US" sz="1600" b="1">
                  <a:solidFill>
                    <a:srgbClr val="000000"/>
                  </a:solidFill>
                  <a:latin typeface="Times New Roman" panose="02020603050405020304" pitchFamily="18" charset="0"/>
                </a:rPr>
                <a:t>号页面替换</a:t>
              </a:r>
              <a:r>
                <a:rPr lang="en-US" altLang="zh-CN" sz="1600" b="1">
                  <a:solidFill>
                    <a:srgbClr val="000000"/>
                  </a:solidFill>
                  <a:latin typeface="Times New Roman" panose="02020603050405020304" pitchFamily="18" charset="0"/>
                </a:rPr>
                <a:t>23</a:t>
              </a:r>
              <a:r>
                <a:rPr lang="zh-CN" altLang="en-US" sz="1600" b="1">
                  <a:solidFill>
                    <a:srgbClr val="000000"/>
                  </a:solidFill>
                  <a:latin typeface="Times New Roman" panose="02020603050405020304" pitchFamily="18" charset="0"/>
                </a:rPr>
                <a:t>号页面以后的情况</a:t>
              </a:r>
              <a:endParaRPr lang="zh-CN" altLang="en-US" sz="1600" b="1">
                <a:solidFill>
                  <a:srgbClr val="000000"/>
                </a:solidFill>
                <a:latin typeface="Times New Roman" panose="02020603050405020304" pitchFamily="18" charset="0"/>
              </a:endParaRPr>
            </a:p>
          </p:txBody>
        </p:sp>
      </p:grpSp>
      <p:grpSp>
        <p:nvGrpSpPr>
          <p:cNvPr id="9" name="Group 128"/>
          <p:cNvGrpSpPr/>
          <p:nvPr/>
        </p:nvGrpSpPr>
        <p:grpSpPr bwMode="auto">
          <a:xfrm>
            <a:off x="1693336" y="0"/>
            <a:ext cx="4632325" cy="4800600"/>
            <a:chOff x="3420" y="7992"/>
            <a:chExt cx="4320" cy="4764"/>
          </a:xfrm>
          <a:noFill/>
        </p:grpSpPr>
        <p:grpSp>
          <p:nvGrpSpPr>
            <p:cNvPr id="10" name="Group 129"/>
            <p:cNvGrpSpPr/>
            <p:nvPr/>
          </p:nvGrpSpPr>
          <p:grpSpPr bwMode="auto">
            <a:xfrm>
              <a:off x="3420" y="7992"/>
              <a:ext cx="4320" cy="4212"/>
              <a:chOff x="3780" y="8460"/>
              <a:chExt cx="4320" cy="4212"/>
            </a:xfrm>
            <a:grpFill/>
          </p:grpSpPr>
          <p:grpSp>
            <p:nvGrpSpPr>
              <p:cNvPr id="11" name="Group 130"/>
              <p:cNvGrpSpPr/>
              <p:nvPr/>
            </p:nvGrpSpPr>
            <p:grpSpPr bwMode="auto">
              <a:xfrm>
                <a:off x="3780" y="8772"/>
                <a:ext cx="4140" cy="3588"/>
                <a:chOff x="3780" y="8772"/>
                <a:chExt cx="4140" cy="3588"/>
              </a:xfrm>
              <a:grpFill/>
            </p:grpSpPr>
            <p:sp>
              <p:nvSpPr>
                <p:cNvPr id="149538" name="AutoShape 131"/>
                <p:cNvSpPr>
                  <a:spLocks noChangeArrowheads="1"/>
                </p:cNvSpPr>
                <p:nvPr/>
              </p:nvSpPr>
              <p:spPr bwMode="auto">
                <a:xfrm>
                  <a:off x="3780" y="8772"/>
                  <a:ext cx="4140" cy="3588"/>
                </a:xfrm>
                <a:custGeom>
                  <a:avLst/>
                  <a:gdLst>
                    <a:gd name="T0" fmla="*/ 2070 w 21600"/>
                    <a:gd name="T1" fmla="*/ 0 h 21600"/>
                    <a:gd name="T2" fmla="*/ 606 w 21600"/>
                    <a:gd name="T3" fmla="*/ 525 h 21600"/>
                    <a:gd name="T4" fmla="*/ 0 w 21600"/>
                    <a:gd name="T5" fmla="*/ 1794 h 21600"/>
                    <a:gd name="T6" fmla="*/ 606 w 21600"/>
                    <a:gd name="T7" fmla="*/ 3063 h 21600"/>
                    <a:gd name="T8" fmla="*/ 2070 w 21600"/>
                    <a:gd name="T9" fmla="*/ 3588 h 21600"/>
                    <a:gd name="T10" fmla="*/ 3534 w 21600"/>
                    <a:gd name="T11" fmla="*/ 3063 h 21600"/>
                    <a:gd name="T12" fmla="*/ 4140 w 21600"/>
                    <a:gd name="T13" fmla="*/ 1794 h 21600"/>
                    <a:gd name="T14" fmla="*/ 3534 w 21600"/>
                    <a:gd name="T15" fmla="*/ 525 h 21600"/>
                    <a:gd name="T16" fmla="*/ 0 60000 65536"/>
                    <a:gd name="T17" fmla="*/ 0 60000 65536"/>
                    <a:gd name="T18" fmla="*/ 0 60000 65536"/>
                    <a:gd name="T19" fmla="*/ 0 60000 65536"/>
                    <a:gd name="T20" fmla="*/ 0 60000 65536"/>
                    <a:gd name="T21" fmla="*/ 0 60000 65536"/>
                    <a:gd name="T22" fmla="*/ 0 60000 65536"/>
                    <a:gd name="T23" fmla="*/ 0 60000 65536"/>
                    <a:gd name="T24" fmla="*/ 3162 w 21600"/>
                    <a:gd name="T25" fmla="*/ 3161 h 21600"/>
                    <a:gd name="T26" fmla="*/ 18438 w 21600"/>
                    <a:gd name="T27" fmla="*/ 18439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528" y="10800"/>
                      </a:moveTo>
                      <a:cubicBezTo>
                        <a:pt x="5528" y="13712"/>
                        <a:pt x="7888" y="16072"/>
                        <a:pt x="10800" y="16072"/>
                      </a:cubicBezTo>
                      <a:cubicBezTo>
                        <a:pt x="13712" y="16072"/>
                        <a:pt x="16072" y="13712"/>
                        <a:pt x="16072" y="10800"/>
                      </a:cubicBezTo>
                      <a:cubicBezTo>
                        <a:pt x="16072" y="7888"/>
                        <a:pt x="13712" y="5528"/>
                        <a:pt x="10800" y="5528"/>
                      </a:cubicBezTo>
                      <a:cubicBezTo>
                        <a:pt x="7888" y="5528"/>
                        <a:pt x="5528" y="7888"/>
                        <a:pt x="5528" y="10800"/>
                      </a:cubicBezTo>
                      <a:close/>
                    </a:path>
                  </a:pathLst>
                </a:custGeom>
                <a:grpFill/>
                <a:ln w="9525">
                  <a:solidFill>
                    <a:srgbClr val="000000"/>
                  </a:solidFill>
                  <a:round/>
                </a:ln>
              </p:spPr>
              <p:txBody>
                <a:bodyPr/>
                <a:lstStyle/>
                <a:p>
                  <a:pPr eaLnBrk="1" hangingPunct="1">
                    <a:defRPr/>
                  </a:pPr>
                  <a:endParaRPr lang="zh-CN" altLang="en-US"/>
                </a:p>
              </p:txBody>
            </p:sp>
            <p:sp>
              <p:nvSpPr>
                <p:cNvPr id="149539" name="Line 132"/>
                <p:cNvSpPr>
                  <a:spLocks noChangeShapeType="1"/>
                </p:cNvSpPr>
                <p:nvPr/>
              </p:nvSpPr>
              <p:spPr bwMode="auto">
                <a:xfrm>
                  <a:off x="5940" y="8772"/>
                  <a:ext cx="0" cy="936"/>
                </a:xfrm>
                <a:prstGeom prst="line">
                  <a:avLst/>
                </a:prstGeom>
                <a:grpFill/>
                <a:ln w="9525">
                  <a:solidFill>
                    <a:srgbClr val="000000"/>
                  </a:solidFill>
                  <a:round/>
                </a:ln>
              </p:spPr>
              <p:txBody>
                <a:bodyPr/>
                <a:lstStyle/>
                <a:p>
                  <a:pPr eaLnBrk="1" hangingPunct="1">
                    <a:defRPr/>
                  </a:pPr>
                  <a:endParaRPr lang="zh-CN" altLang="en-US"/>
                </a:p>
              </p:txBody>
            </p:sp>
            <p:sp>
              <p:nvSpPr>
                <p:cNvPr id="149540" name="Line 133"/>
                <p:cNvSpPr>
                  <a:spLocks noChangeShapeType="1"/>
                </p:cNvSpPr>
                <p:nvPr/>
              </p:nvSpPr>
              <p:spPr bwMode="auto">
                <a:xfrm>
                  <a:off x="6120" y="11424"/>
                  <a:ext cx="0" cy="936"/>
                </a:xfrm>
                <a:prstGeom prst="line">
                  <a:avLst/>
                </a:prstGeom>
                <a:grpFill/>
                <a:ln w="9525">
                  <a:solidFill>
                    <a:srgbClr val="000000"/>
                  </a:solidFill>
                  <a:round/>
                </a:ln>
              </p:spPr>
              <p:txBody>
                <a:bodyPr/>
                <a:lstStyle/>
                <a:p>
                  <a:pPr eaLnBrk="1" hangingPunct="1">
                    <a:defRPr/>
                  </a:pPr>
                  <a:endParaRPr lang="zh-CN" altLang="en-US"/>
                </a:p>
              </p:txBody>
            </p:sp>
            <p:sp>
              <p:nvSpPr>
                <p:cNvPr id="149541" name="Line 134"/>
                <p:cNvSpPr>
                  <a:spLocks noChangeShapeType="1"/>
                </p:cNvSpPr>
                <p:nvPr/>
              </p:nvSpPr>
              <p:spPr bwMode="auto">
                <a:xfrm flipH="1">
                  <a:off x="6480" y="9084"/>
                  <a:ext cx="540" cy="780"/>
                </a:xfrm>
                <a:prstGeom prst="line">
                  <a:avLst/>
                </a:prstGeom>
                <a:grpFill/>
                <a:ln w="9525">
                  <a:solidFill>
                    <a:srgbClr val="000000"/>
                  </a:solidFill>
                  <a:round/>
                </a:ln>
              </p:spPr>
              <p:txBody>
                <a:bodyPr/>
                <a:lstStyle/>
                <a:p>
                  <a:pPr eaLnBrk="1" hangingPunct="1">
                    <a:defRPr/>
                  </a:pPr>
                  <a:endParaRPr lang="zh-CN" altLang="en-US"/>
                </a:p>
              </p:txBody>
            </p:sp>
            <p:sp>
              <p:nvSpPr>
                <p:cNvPr id="149542" name="Line 135"/>
                <p:cNvSpPr>
                  <a:spLocks noChangeShapeType="1"/>
                </p:cNvSpPr>
                <p:nvPr/>
              </p:nvSpPr>
              <p:spPr bwMode="auto">
                <a:xfrm flipH="1">
                  <a:off x="5040" y="11424"/>
                  <a:ext cx="540" cy="780"/>
                </a:xfrm>
                <a:prstGeom prst="line">
                  <a:avLst/>
                </a:prstGeom>
                <a:grpFill/>
                <a:ln w="9525">
                  <a:solidFill>
                    <a:srgbClr val="000000"/>
                  </a:solidFill>
                  <a:round/>
                </a:ln>
              </p:spPr>
              <p:txBody>
                <a:bodyPr/>
                <a:lstStyle/>
                <a:p>
                  <a:pPr eaLnBrk="1" hangingPunct="1">
                    <a:defRPr/>
                  </a:pPr>
                  <a:endParaRPr lang="zh-CN" altLang="en-US"/>
                </a:p>
              </p:txBody>
            </p:sp>
            <p:sp>
              <p:nvSpPr>
                <p:cNvPr id="149543" name="Line 136"/>
                <p:cNvSpPr>
                  <a:spLocks noChangeShapeType="1"/>
                </p:cNvSpPr>
                <p:nvPr/>
              </p:nvSpPr>
              <p:spPr bwMode="auto">
                <a:xfrm>
                  <a:off x="4680" y="9084"/>
                  <a:ext cx="540" cy="780"/>
                </a:xfrm>
                <a:prstGeom prst="line">
                  <a:avLst/>
                </a:prstGeom>
                <a:grpFill/>
                <a:ln w="9525">
                  <a:solidFill>
                    <a:srgbClr val="000000"/>
                  </a:solidFill>
                  <a:round/>
                </a:ln>
              </p:spPr>
              <p:txBody>
                <a:bodyPr/>
                <a:lstStyle/>
                <a:p>
                  <a:pPr eaLnBrk="1" hangingPunct="1">
                    <a:defRPr/>
                  </a:pPr>
                  <a:endParaRPr lang="zh-CN" altLang="en-US"/>
                </a:p>
              </p:txBody>
            </p:sp>
            <p:sp>
              <p:nvSpPr>
                <p:cNvPr id="149544" name="Line 137"/>
                <p:cNvSpPr>
                  <a:spLocks noChangeShapeType="1"/>
                </p:cNvSpPr>
                <p:nvPr/>
              </p:nvSpPr>
              <p:spPr bwMode="auto">
                <a:xfrm flipH="1">
                  <a:off x="6840" y="9864"/>
                  <a:ext cx="900" cy="468"/>
                </a:xfrm>
                <a:prstGeom prst="line">
                  <a:avLst/>
                </a:prstGeom>
                <a:grpFill/>
                <a:ln w="9525">
                  <a:solidFill>
                    <a:srgbClr val="000000"/>
                  </a:solidFill>
                  <a:round/>
                </a:ln>
              </p:spPr>
              <p:txBody>
                <a:bodyPr/>
                <a:lstStyle/>
                <a:p>
                  <a:pPr eaLnBrk="1" hangingPunct="1">
                    <a:defRPr/>
                  </a:pPr>
                  <a:endParaRPr lang="zh-CN" altLang="en-US"/>
                </a:p>
              </p:txBody>
            </p:sp>
            <p:sp>
              <p:nvSpPr>
                <p:cNvPr id="149545" name="Line 138"/>
                <p:cNvSpPr>
                  <a:spLocks noChangeShapeType="1"/>
                </p:cNvSpPr>
                <p:nvPr/>
              </p:nvSpPr>
              <p:spPr bwMode="auto">
                <a:xfrm flipH="1">
                  <a:off x="6840" y="10800"/>
                  <a:ext cx="1080" cy="0"/>
                </a:xfrm>
                <a:prstGeom prst="line">
                  <a:avLst/>
                </a:prstGeom>
                <a:grpFill/>
                <a:ln w="9525">
                  <a:solidFill>
                    <a:srgbClr val="000000"/>
                  </a:solidFill>
                  <a:round/>
                </a:ln>
              </p:spPr>
              <p:txBody>
                <a:bodyPr/>
                <a:lstStyle/>
                <a:p>
                  <a:pPr eaLnBrk="1" hangingPunct="1">
                    <a:defRPr/>
                  </a:pPr>
                  <a:endParaRPr lang="zh-CN" altLang="en-US"/>
                </a:p>
              </p:txBody>
            </p:sp>
            <p:sp>
              <p:nvSpPr>
                <p:cNvPr id="149546" name="Line 139"/>
                <p:cNvSpPr>
                  <a:spLocks noChangeShapeType="1"/>
                </p:cNvSpPr>
                <p:nvPr/>
              </p:nvSpPr>
              <p:spPr bwMode="auto">
                <a:xfrm flipH="1" flipV="1">
                  <a:off x="6480" y="11268"/>
                  <a:ext cx="900" cy="468"/>
                </a:xfrm>
                <a:prstGeom prst="line">
                  <a:avLst/>
                </a:prstGeom>
                <a:grpFill/>
                <a:ln w="9525">
                  <a:solidFill>
                    <a:srgbClr val="000000"/>
                  </a:solidFill>
                  <a:round/>
                </a:ln>
              </p:spPr>
              <p:txBody>
                <a:bodyPr/>
                <a:lstStyle/>
                <a:p>
                  <a:pPr eaLnBrk="1" hangingPunct="1">
                    <a:defRPr/>
                  </a:pPr>
                  <a:endParaRPr lang="zh-CN" altLang="en-US"/>
                </a:p>
              </p:txBody>
            </p:sp>
            <p:sp>
              <p:nvSpPr>
                <p:cNvPr id="149547" name="Line 140"/>
                <p:cNvSpPr>
                  <a:spLocks noChangeShapeType="1"/>
                </p:cNvSpPr>
                <p:nvPr/>
              </p:nvSpPr>
              <p:spPr bwMode="auto">
                <a:xfrm flipH="1">
                  <a:off x="4140" y="11112"/>
                  <a:ext cx="900" cy="468"/>
                </a:xfrm>
                <a:prstGeom prst="line">
                  <a:avLst/>
                </a:prstGeom>
                <a:grpFill/>
                <a:ln w="9525">
                  <a:solidFill>
                    <a:srgbClr val="000000"/>
                  </a:solidFill>
                  <a:round/>
                </a:ln>
              </p:spPr>
              <p:txBody>
                <a:bodyPr/>
                <a:lstStyle/>
                <a:p>
                  <a:pPr eaLnBrk="1" hangingPunct="1">
                    <a:defRPr/>
                  </a:pPr>
                  <a:endParaRPr lang="zh-CN" altLang="en-US"/>
                </a:p>
              </p:txBody>
            </p:sp>
            <p:sp>
              <p:nvSpPr>
                <p:cNvPr id="149548" name="Line 141"/>
                <p:cNvSpPr>
                  <a:spLocks noChangeShapeType="1"/>
                </p:cNvSpPr>
                <p:nvPr/>
              </p:nvSpPr>
              <p:spPr bwMode="auto">
                <a:xfrm flipH="1">
                  <a:off x="3780" y="10644"/>
                  <a:ext cx="1080" cy="156"/>
                </a:xfrm>
                <a:prstGeom prst="line">
                  <a:avLst/>
                </a:prstGeom>
                <a:grpFill/>
                <a:ln w="9525">
                  <a:solidFill>
                    <a:srgbClr val="000000"/>
                  </a:solidFill>
                  <a:round/>
                </a:ln>
              </p:spPr>
              <p:txBody>
                <a:bodyPr/>
                <a:lstStyle/>
                <a:p>
                  <a:pPr eaLnBrk="1" hangingPunct="1">
                    <a:defRPr/>
                  </a:pPr>
                  <a:endParaRPr lang="zh-CN" altLang="en-US"/>
                </a:p>
              </p:txBody>
            </p:sp>
          </p:grpSp>
          <p:grpSp>
            <p:nvGrpSpPr>
              <p:cNvPr id="12" name="Group 142"/>
              <p:cNvGrpSpPr/>
              <p:nvPr/>
            </p:nvGrpSpPr>
            <p:grpSpPr bwMode="auto">
              <a:xfrm>
                <a:off x="4140" y="8928"/>
                <a:ext cx="3780" cy="3432"/>
                <a:chOff x="4140" y="8928"/>
                <a:chExt cx="3780" cy="3432"/>
              </a:xfrm>
              <a:grpFill/>
            </p:grpSpPr>
            <p:sp>
              <p:nvSpPr>
                <p:cNvPr id="149524" name="Text Box 143"/>
                <p:cNvSpPr txBox="1">
                  <a:spLocks noChangeArrowheads="1"/>
                </p:cNvSpPr>
                <p:nvPr/>
              </p:nvSpPr>
              <p:spPr bwMode="auto">
                <a:xfrm>
                  <a:off x="5220" y="8928"/>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1</a:t>
                  </a:r>
                  <a:endParaRPr lang="en-US" altLang="zh-CN" sz="1600" b="1">
                    <a:solidFill>
                      <a:srgbClr val="000000"/>
                    </a:solidFill>
                    <a:latin typeface="Times New Roman" panose="02020603050405020304" pitchFamily="18" charset="0"/>
                  </a:endParaRPr>
                </a:p>
              </p:txBody>
            </p:sp>
            <p:sp>
              <p:nvSpPr>
                <p:cNvPr id="149525" name="Text Box 144"/>
                <p:cNvSpPr txBox="1">
                  <a:spLocks noChangeArrowheads="1"/>
                </p:cNvSpPr>
                <p:nvPr/>
              </p:nvSpPr>
              <p:spPr bwMode="auto">
                <a:xfrm>
                  <a:off x="6120" y="8928"/>
                  <a:ext cx="72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123</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26" name="Text Box 145"/>
                <p:cNvSpPr txBox="1">
                  <a:spLocks noChangeArrowheads="1"/>
                </p:cNvSpPr>
                <p:nvPr/>
              </p:nvSpPr>
              <p:spPr bwMode="auto">
                <a:xfrm>
                  <a:off x="6840" y="9552"/>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30</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27" name="Text Box 146"/>
                <p:cNvSpPr txBox="1">
                  <a:spLocks noChangeArrowheads="1"/>
                </p:cNvSpPr>
                <p:nvPr/>
              </p:nvSpPr>
              <p:spPr bwMode="auto">
                <a:xfrm>
                  <a:off x="7200" y="10176"/>
                  <a:ext cx="72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616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28" name="Text Box 147"/>
                <p:cNvSpPr txBox="1">
                  <a:spLocks noChangeArrowheads="1"/>
                </p:cNvSpPr>
                <p:nvPr/>
              </p:nvSpPr>
              <p:spPr bwMode="auto">
                <a:xfrm>
                  <a:off x="7020" y="10956"/>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FF0000"/>
                      </a:solidFill>
                      <a:latin typeface="Times New Roman" panose="02020603050405020304" pitchFamily="18" charset="0"/>
                    </a:rPr>
                    <a:t>页</a:t>
                  </a:r>
                  <a:r>
                    <a:rPr lang="en-US" altLang="zh-CN" sz="1600" b="1">
                      <a:solidFill>
                        <a:srgbClr val="FF0000"/>
                      </a:solidFill>
                      <a:latin typeface="Times New Roman" panose="02020603050405020304" pitchFamily="18" charset="0"/>
                    </a:rPr>
                    <a:t>23</a:t>
                  </a:r>
                  <a:endParaRPr lang="en-US" altLang="zh-CN" sz="1600" b="1">
                    <a:solidFill>
                      <a:srgbClr val="FF0000"/>
                    </a:solidFill>
                    <a:latin typeface="Times New Roman" panose="02020603050405020304" pitchFamily="18" charset="0"/>
                  </a:endParaRPr>
                </a:p>
                <a:p>
                  <a:pPr algn="just">
                    <a:defRPr/>
                  </a:pPr>
                  <a:r>
                    <a:rPr lang="en-US" altLang="zh-CN" sz="1600" b="1">
                      <a:solidFill>
                        <a:srgbClr val="FF0000"/>
                      </a:solidFill>
                      <a:latin typeface="Times New Roman" panose="02020603050405020304" pitchFamily="18" charset="0"/>
                    </a:rPr>
                    <a:t>A = 0</a:t>
                  </a:r>
                  <a:endParaRPr lang="en-US" altLang="zh-CN" sz="1600" b="1">
                    <a:solidFill>
                      <a:srgbClr val="FF0000"/>
                    </a:solidFill>
                    <a:latin typeface="Times New Roman" panose="02020603050405020304" pitchFamily="18" charset="0"/>
                  </a:endParaRPr>
                </a:p>
              </p:txBody>
            </p:sp>
            <p:sp>
              <p:nvSpPr>
                <p:cNvPr id="149529" name="Text Box 148"/>
                <p:cNvSpPr txBox="1">
                  <a:spLocks noChangeArrowheads="1"/>
                </p:cNvSpPr>
                <p:nvPr/>
              </p:nvSpPr>
              <p:spPr bwMode="auto">
                <a:xfrm>
                  <a:off x="6300" y="11424"/>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24</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30" name="Text Box 149"/>
                <p:cNvSpPr txBox="1">
                  <a:spLocks noChangeArrowheads="1"/>
                </p:cNvSpPr>
                <p:nvPr/>
              </p:nvSpPr>
              <p:spPr bwMode="auto">
                <a:xfrm>
                  <a:off x="5400" y="11733"/>
                  <a:ext cx="72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110</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1</a:t>
                  </a:r>
                  <a:endParaRPr lang="en-US" altLang="zh-CN" sz="1600" b="1">
                    <a:solidFill>
                      <a:srgbClr val="000000"/>
                    </a:solidFill>
                    <a:latin typeface="Times New Roman" panose="02020603050405020304" pitchFamily="18" charset="0"/>
                  </a:endParaRPr>
                </a:p>
              </p:txBody>
            </p:sp>
            <p:sp>
              <p:nvSpPr>
                <p:cNvPr id="149531" name="Text Box 150"/>
                <p:cNvSpPr txBox="1">
                  <a:spLocks noChangeArrowheads="1"/>
                </p:cNvSpPr>
                <p:nvPr/>
              </p:nvSpPr>
              <p:spPr bwMode="auto">
                <a:xfrm>
                  <a:off x="4680" y="11424"/>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16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0</a:t>
                  </a:r>
                  <a:endParaRPr lang="en-US" altLang="zh-CN" sz="1600" b="1">
                    <a:solidFill>
                      <a:srgbClr val="000000"/>
                    </a:solidFill>
                    <a:latin typeface="Times New Roman" panose="02020603050405020304" pitchFamily="18" charset="0"/>
                  </a:endParaRPr>
                </a:p>
              </p:txBody>
            </p:sp>
            <p:sp>
              <p:nvSpPr>
                <p:cNvPr id="149532" name="Text Box 151"/>
                <p:cNvSpPr txBox="1">
                  <a:spLocks noChangeArrowheads="1"/>
                </p:cNvSpPr>
                <p:nvPr/>
              </p:nvSpPr>
              <p:spPr bwMode="auto">
                <a:xfrm>
                  <a:off x="4140" y="10800"/>
                  <a:ext cx="540" cy="627"/>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1600" b="1">
                      <a:solidFill>
                        <a:srgbClr val="000000"/>
                      </a:solidFill>
                      <a:latin typeface="Times New Roman" panose="02020603050405020304" pitchFamily="18" charset="0"/>
                    </a:rPr>
                    <a:t>页</a:t>
                  </a:r>
                  <a:r>
                    <a:rPr lang="en-US" altLang="zh-CN" sz="1600" b="1">
                      <a:solidFill>
                        <a:srgbClr val="000000"/>
                      </a:solidFill>
                      <a:latin typeface="Times New Roman" panose="02020603050405020304" pitchFamily="18" charset="0"/>
                    </a:rPr>
                    <a:t>76</a:t>
                  </a:r>
                  <a:endParaRPr lang="en-US" altLang="zh-CN" sz="1600" b="1">
                    <a:solidFill>
                      <a:srgbClr val="000000"/>
                    </a:solidFill>
                    <a:latin typeface="Times New Roman" panose="02020603050405020304" pitchFamily="18" charset="0"/>
                  </a:endParaRPr>
                </a:p>
                <a:p>
                  <a:pPr algn="just">
                    <a:defRPr/>
                  </a:pPr>
                  <a:r>
                    <a:rPr lang="en-US" altLang="zh-CN" sz="1600" b="1">
                      <a:solidFill>
                        <a:srgbClr val="000000"/>
                      </a:solidFill>
                      <a:latin typeface="Times New Roman" panose="02020603050405020304" pitchFamily="18" charset="0"/>
                    </a:rPr>
                    <a:t>A = 0</a:t>
                  </a:r>
                  <a:endParaRPr lang="en-US" altLang="zh-CN" sz="1600" b="1">
                    <a:solidFill>
                      <a:srgbClr val="000000"/>
                    </a:solidFill>
                    <a:latin typeface="Times New Roman" panose="02020603050405020304" pitchFamily="18" charset="0"/>
                  </a:endParaRPr>
                </a:p>
              </p:txBody>
            </p:sp>
            <p:grpSp>
              <p:nvGrpSpPr>
                <p:cNvPr id="13" name="Group 152"/>
                <p:cNvGrpSpPr/>
                <p:nvPr/>
              </p:nvGrpSpPr>
              <p:grpSpPr bwMode="auto">
                <a:xfrm>
                  <a:off x="4320" y="9240"/>
                  <a:ext cx="720" cy="1248"/>
                  <a:chOff x="3960" y="9396"/>
                  <a:chExt cx="720" cy="1248"/>
                </a:xfrm>
                <a:grpFill/>
              </p:grpSpPr>
              <p:sp>
                <p:nvSpPr>
                  <p:cNvPr id="149534" name="Text Box 153"/>
                  <p:cNvSpPr txBox="1">
                    <a:spLocks noChangeArrowheads="1"/>
                  </p:cNvSpPr>
                  <p:nvPr/>
                </p:nvSpPr>
                <p:spPr bwMode="auto">
                  <a:xfrm>
                    <a:off x="4320" y="9396"/>
                    <a:ext cx="360" cy="468"/>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grpSp>
                <p:nvGrpSpPr>
                  <p:cNvPr id="14" name="Group 154"/>
                  <p:cNvGrpSpPr/>
                  <p:nvPr/>
                </p:nvGrpSpPr>
                <p:grpSpPr bwMode="auto">
                  <a:xfrm>
                    <a:off x="3960" y="9708"/>
                    <a:ext cx="540" cy="936"/>
                    <a:chOff x="4320" y="9708"/>
                    <a:chExt cx="540" cy="936"/>
                  </a:xfrm>
                  <a:grpFill/>
                </p:grpSpPr>
                <p:sp>
                  <p:nvSpPr>
                    <p:cNvPr id="149536" name="Text Box 155"/>
                    <p:cNvSpPr txBox="1">
                      <a:spLocks noChangeArrowheads="1"/>
                    </p:cNvSpPr>
                    <p:nvPr/>
                  </p:nvSpPr>
                  <p:spPr bwMode="auto">
                    <a:xfrm>
                      <a:off x="4500" y="9708"/>
                      <a:ext cx="360" cy="468"/>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sp>
                  <p:nvSpPr>
                    <p:cNvPr id="149537" name="Text Box 156"/>
                    <p:cNvSpPr txBox="1">
                      <a:spLocks noChangeArrowheads="1"/>
                    </p:cNvSpPr>
                    <p:nvPr/>
                  </p:nvSpPr>
                  <p:spPr bwMode="auto">
                    <a:xfrm>
                      <a:off x="4320" y="10176"/>
                      <a:ext cx="360" cy="468"/>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a:t>
                      </a:r>
                      <a:endParaRPr lang="en-US" altLang="zh-CN" sz="1600" b="1">
                        <a:solidFill>
                          <a:srgbClr val="000000"/>
                        </a:solidFill>
                        <a:latin typeface="Times New Roman" panose="02020603050405020304" pitchFamily="18" charset="0"/>
                      </a:endParaRPr>
                    </a:p>
                  </p:txBody>
                </p:sp>
              </p:grpSp>
            </p:grpSp>
          </p:grpSp>
          <p:sp>
            <p:nvSpPr>
              <p:cNvPr id="149513" name="Line 157"/>
              <p:cNvSpPr>
                <a:spLocks noChangeShapeType="1"/>
              </p:cNvSpPr>
              <p:nvPr/>
            </p:nvSpPr>
            <p:spPr bwMode="auto">
              <a:xfrm flipV="1">
                <a:off x="5760" y="10176"/>
                <a:ext cx="900" cy="312"/>
              </a:xfrm>
              <a:prstGeom prst="line">
                <a:avLst/>
              </a:prstGeom>
              <a:grpFill/>
              <a:ln w="9525">
                <a:solidFill>
                  <a:srgbClr val="000000"/>
                </a:solidFill>
                <a:round/>
                <a:headEnd type="oval" w="med" len="med"/>
                <a:tailEnd type="triangle" w="med" len="med"/>
              </a:ln>
            </p:spPr>
            <p:txBody>
              <a:bodyPr/>
              <a:lstStyle/>
              <a:p>
                <a:pPr eaLnBrk="1" hangingPunct="1">
                  <a:defRPr/>
                </a:pPr>
                <a:endParaRPr lang="zh-CN" altLang="en-US"/>
              </a:p>
            </p:txBody>
          </p:sp>
          <p:grpSp>
            <p:nvGrpSpPr>
              <p:cNvPr id="15" name="Group 158"/>
              <p:cNvGrpSpPr/>
              <p:nvPr/>
            </p:nvGrpSpPr>
            <p:grpSpPr bwMode="auto">
              <a:xfrm>
                <a:off x="3780" y="8460"/>
                <a:ext cx="4320" cy="4212"/>
                <a:chOff x="3780" y="8460"/>
                <a:chExt cx="4320" cy="4212"/>
              </a:xfrm>
              <a:grpFill/>
            </p:grpSpPr>
            <p:sp>
              <p:nvSpPr>
                <p:cNvPr id="149515" name="Text Box 159"/>
                <p:cNvSpPr txBox="1">
                  <a:spLocks noChangeArrowheads="1"/>
                </p:cNvSpPr>
                <p:nvPr/>
              </p:nvSpPr>
              <p:spPr bwMode="auto">
                <a:xfrm>
                  <a:off x="6660" y="8616"/>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0</a:t>
                  </a:r>
                  <a:endParaRPr lang="en-US" altLang="zh-CN" sz="1600" b="1">
                    <a:solidFill>
                      <a:srgbClr val="000000"/>
                    </a:solidFill>
                    <a:latin typeface="Times New Roman" panose="02020603050405020304" pitchFamily="18" charset="0"/>
                  </a:endParaRPr>
                </a:p>
              </p:txBody>
            </p:sp>
            <p:sp>
              <p:nvSpPr>
                <p:cNvPr id="149516" name="Text Box 160"/>
                <p:cNvSpPr txBox="1">
                  <a:spLocks noChangeArrowheads="1"/>
                </p:cNvSpPr>
                <p:nvPr/>
              </p:nvSpPr>
              <p:spPr bwMode="auto">
                <a:xfrm>
                  <a:off x="7560" y="9240"/>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1</a:t>
                  </a:r>
                  <a:endParaRPr lang="en-US" altLang="zh-CN" sz="1600" b="1">
                    <a:solidFill>
                      <a:srgbClr val="000000"/>
                    </a:solidFill>
                    <a:latin typeface="Times New Roman" panose="02020603050405020304" pitchFamily="18" charset="0"/>
                  </a:endParaRPr>
                </a:p>
              </p:txBody>
            </p:sp>
            <p:sp>
              <p:nvSpPr>
                <p:cNvPr id="149517" name="Text Box 161"/>
                <p:cNvSpPr txBox="1">
                  <a:spLocks noChangeArrowheads="1"/>
                </p:cNvSpPr>
                <p:nvPr/>
              </p:nvSpPr>
              <p:spPr bwMode="auto">
                <a:xfrm>
                  <a:off x="7920" y="10176"/>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2</a:t>
                  </a:r>
                  <a:endParaRPr lang="en-US" altLang="zh-CN" sz="1600" b="1">
                    <a:solidFill>
                      <a:srgbClr val="000000"/>
                    </a:solidFill>
                    <a:latin typeface="Times New Roman" panose="02020603050405020304" pitchFamily="18" charset="0"/>
                  </a:endParaRPr>
                </a:p>
              </p:txBody>
            </p:sp>
            <p:sp>
              <p:nvSpPr>
                <p:cNvPr id="149518" name="Text Box 162"/>
                <p:cNvSpPr txBox="1">
                  <a:spLocks noChangeArrowheads="1"/>
                </p:cNvSpPr>
                <p:nvPr/>
              </p:nvSpPr>
              <p:spPr bwMode="auto">
                <a:xfrm>
                  <a:off x="7920" y="11112"/>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3</a:t>
                  </a:r>
                  <a:endParaRPr lang="en-US" altLang="zh-CN" sz="1600" b="1">
                    <a:solidFill>
                      <a:srgbClr val="000000"/>
                    </a:solidFill>
                    <a:latin typeface="Times New Roman" panose="02020603050405020304" pitchFamily="18" charset="0"/>
                  </a:endParaRPr>
                </a:p>
              </p:txBody>
            </p:sp>
            <p:sp>
              <p:nvSpPr>
                <p:cNvPr id="149519" name="Text Box 163"/>
                <p:cNvSpPr txBox="1">
                  <a:spLocks noChangeArrowheads="1"/>
                </p:cNvSpPr>
                <p:nvPr/>
              </p:nvSpPr>
              <p:spPr bwMode="auto">
                <a:xfrm>
                  <a:off x="7020" y="12048"/>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4</a:t>
                  </a:r>
                  <a:endParaRPr lang="en-US" altLang="zh-CN" sz="1600" b="1">
                    <a:solidFill>
                      <a:srgbClr val="000000"/>
                    </a:solidFill>
                    <a:latin typeface="Times New Roman" panose="02020603050405020304" pitchFamily="18" charset="0"/>
                  </a:endParaRPr>
                </a:p>
              </p:txBody>
            </p:sp>
            <p:sp>
              <p:nvSpPr>
                <p:cNvPr id="149520" name="Text Box 164"/>
                <p:cNvSpPr txBox="1">
                  <a:spLocks noChangeArrowheads="1"/>
                </p:cNvSpPr>
                <p:nvPr/>
              </p:nvSpPr>
              <p:spPr bwMode="auto">
                <a:xfrm>
                  <a:off x="5580" y="12360"/>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5</a:t>
                  </a:r>
                  <a:endParaRPr lang="en-US" altLang="zh-CN" sz="1600" b="1">
                    <a:solidFill>
                      <a:srgbClr val="000000"/>
                    </a:solidFill>
                    <a:latin typeface="Times New Roman" panose="02020603050405020304" pitchFamily="18" charset="0"/>
                  </a:endParaRPr>
                </a:p>
              </p:txBody>
            </p:sp>
            <p:sp>
              <p:nvSpPr>
                <p:cNvPr id="149521" name="Text Box 165"/>
                <p:cNvSpPr txBox="1">
                  <a:spLocks noChangeArrowheads="1"/>
                </p:cNvSpPr>
                <p:nvPr/>
              </p:nvSpPr>
              <p:spPr bwMode="auto">
                <a:xfrm>
                  <a:off x="4500" y="12048"/>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6</a:t>
                  </a:r>
                  <a:endParaRPr lang="en-US" altLang="zh-CN" sz="1600" b="1">
                    <a:solidFill>
                      <a:srgbClr val="000000"/>
                    </a:solidFill>
                    <a:latin typeface="Times New Roman" panose="02020603050405020304" pitchFamily="18" charset="0"/>
                  </a:endParaRPr>
                </a:p>
              </p:txBody>
            </p:sp>
            <p:sp>
              <p:nvSpPr>
                <p:cNvPr id="149522" name="Text Box 166"/>
                <p:cNvSpPr txBox="1">
                  <a:spLocks noChangeArrowheads="1"/>
                </p:cNvSpPr>
                <p:nvPr/>
              </p:nvSpPr>
              <p:spPr bwMode="auto">
                <a:xfrm>
                  <a:off x="3780" y="11268"/>
                  <a:ext cx="18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7</a:t>
                  </a:r>
                  <a:endParaRPr lang="en-US" altLang="zh-CN" sz="1600" b="1">
                    <a:solidFill>
                      <a:srgbClr val="000000"/>
                    </a:solidFill>
                    <a:latin typeface="Times New Roman" panose="02020603050405020304" pitchFamily="18" charset="0"/>
                  </a:endParaRPr>
                </a:p>
              </p:txBody>
            </p:sp>
            <p:sp>
              <p:nvSpPr>
                <p:cNvPr id="149523" name="Text Box 167"/>
                <p:cNvSpPr txBox="1">
                  <a:spLocks noChangeArrowheads="1"/>
                </p:cNvSpPr>
                <p:nvPr/>
              </p:nvSpPr>
              <p:spPr bwMode="auto">
                <a:xfrm>
                  <a:off x="5220" y="8460"/>
                  <a:ext cx="54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1600" b="1">
                      <a:solidFill>
                        <a:srgbClr val="000000"/>
                      </a:solidFill>
                      <a:latin typeface="Times New Roman" panose="02020603050405020304" pitchFamily="18" charset="0"/>
                    </a:rPr>
                    <a:t>n-1</a:t>
                  </a:r>
                  <a:endParaRPr lang="en-US" altLang="zh-CN" sz="1600" b="1">
                    <a:solidFill>
                      <a:srgbClr val="000000"/>
                    </a:solidFill>
                    <a:latin typeface="Times New Roman" panose="02020603050405020304" pitchFamily="18" charset="0"/>
                  </a:endParaRPr>
                </a:p>
              </p:txBody>
            </p:sp>
          </p:grpSp>
        </p:grpSp>
        <p:sp>
          <p:nvSpPr>
            <p:cNvPr id="149510" name="Text Box 168"/>
            <p:cNvSpPr txBox="1">
              <a:spLocks noChangeArrowheads="1"/>
            </p:cNvSpPr>
            <p:nvPr/>
          </p:nvSpPr>
          <p:spPr bwMode="auto">
            <a:xfrm>
              <a:off x="3600" y="12204"/>
              <a:ext cx="4140" cy="552"/>
            </a:xfrm>
            <a:prstGeom prst="rect">
              <a:avLst/>
            </a:prstGeom>
            <a:grp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1600" b="1">
                  <a:solidFill>
                    <a:srgbClr val="000000"/>
                  </a:solidFill>
                  <a:latin typeface="Times New Roman" panose="02020603050405020304" pitchFamily="18" charset="0"/>
                </a:rPr>
                <a:t>(a) </a:t>
              </a:r>
              <a:r>
                <a:rPr lang="zh-CN" altLang="en-US" sz="1600" b="1">
                  <a:solidFill>
                    <a:srgbClr val="000000"/>
                  </a:solidFill>
                  <a:latin typeface="Times New Roman" panose="02020603050405020304" pitchFamily="18" charset="0"/>
                </a:rPr>
                <a:t>当前页面循环队列情况</a:t>
              </a:r>
              <a:endParaRPr lang="zh-CN" altLang="en-US" sz="1600" b="1">
                <a:solidFill>
                  <a:srgbClr val="000000"/>
                </a:solidFill>
                <a:latin typeface="Times New Roman" panose="02020603050405020304" pitchFamily="18" charset="0"/>
              </a:endParaRPr>
            </a:p>
          </p:txBody>
        </p:sp>
      </p:grpSp>
      <p:sp>
        <p:nvSpPr>
          <p:cNvPr id="20" name="标题 19"/>
          <p:cNvSpPr>
            <a:spLocks noGrp="1"/>
          </p:cNvSpPr>
          <p:nvPr>
            <p:ph type="title"/>
          </p:nvPr>
        </p:nvSpPr>
        <p:spPr/>
        <p:txBody>
          <a:bodyPr/>
          <a:lstStyle/>
          <a:p>
            <a:r>
              <a:rPr lang="zh-CN" altLang="en-US" dirty="0"/>
              <a:t>示例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60"/>
          <p:cNvSpPr>
            <a:spLocks noChangeArrowheads="1"/>
          </p:cNvSpPr>
          <p:nvPr/>
        </p:nvSpPr>
        <p:spPr bwMode="auto">
          <a:xfrm>
            <a:off x="1676400" y="1052514"/>
            <a:ext cx="8763000" cy="519588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F05E3"/>
              </a:buClr>
              <a:buFont typeface="Wingdings" panose="05000000000000000000" pitchFamily="2" charset="2"/>
              <a:buChar char="v"/>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66FF"/>
              </a:buClr>
              <a:buFont typeface="Times New Roman" panose="02020603050405020304" pitchFamily="18" charset="0"/>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rgbClr val="1F05E3"/>
              </a:buClr>
              <a:buFont typeface="Times New Roman" panose="02020603050405020304" pitchFamily="18"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3200">
              <a:latin typeface="Tahoma" panose="020B0604030504040204" pitchFamily="34" charset="0"/>
            </a:endParaRPr>
          </a:p>
        </p:txBody>
      </p:sp>
      <p:grpSp>
        <p:nvGrpSpPr>
          <p:cNvPr id="2" name="Group 61"/>
          <p:cNvGrpSpPr/>
          <p:nvPr/>
        </p:nvGrpSpPr>
        <p:grpSpPr bwMode="auto">
          <a:xfrm>
            <a:off x="1828800" y="1371600"/>
            <a:ext cx="8382000" cy="4876800"/>
            <a:chOff x="1980" y="7679"/>
            <a:chExt cx="7740" cy="3032"/>
          </a:xfrm>
          <a:noFill/>
        </p:grpSpPr>
        <p:grpSp>
          <p:nvGrpSpPr>
            <p:cNvPr id="3" name="Group 62"/>
            <p:cNvGrpSpPr/>
            <p:nvPr/>
          </p:nvGrpSpPr>
          <p:grpSpPr bwMode="auto">
            <a:xfrm>
              <a:off x="1980" y="7679"/>
              <a:ext cx="7740" cy="2185"/>
              <a:chOff x="1980" y="7679"/>
              <a:chExt cx="7740" cy="2185"/>
            </a:xfrm>
            <a:grpFill/>
          </p:grpSpPr>
          <p:grpSp>
            <p:nvGrpSpPr>
              <p:cNvPr id="4" name="Group 63"/>
              <p:cNvGrpSpPr/>
              <p:nvPr/>
            </p:nvGrpSpPr>
            <p:grpSpPr bwMode="auto">
              <a:xfrm>
                <a:off x="1980" y="7679"/>
                <a:ext cx="7740" cy="1248"/>
                <a:chOff x="1980" y="7056"/>
                <a:chExt cx="7740" cy="1248"/>
              </a:xfrm>
              <a:grpFill/>
            </p:grpSpPr>
            <p:grpSp>
              <p:nvGrpSpPr>
                <p:cNvPr id="5" name="Group 64"/>
                <p:cNvGrpSpPr/>
                <p:nvPr/>
              </p:nvGrpSpPr>
              <p:grpSpPr bwMode="auto">
                <a:xfrm>
                  <a:off x="3420" y="7368"/>
                  <a:ext cx="6300" cy="936"/>
                  <a:chOff x="3420" y="7212"/>
                  <a:chExt cx="6300" cy="936"/>
                </a:xfrm>
                <a:grpFill/>
              </p:grpSpPr>
              <p:grpSp>
                <p:nvGrpSpPr>
                  <p:cNvPr id="6" name="Group 65"/>
                  <p:cNvGrpSpPr/>
                  <p:nvPr/>
                </p:nvGrpSpPr>
                <p:grpSpPr bwMode="auto">
                  <a:xfrm>
                    <a:off x="3420" y="7212"/>
                    <a:ext cx="360" cy="936"/>
                    <a:chOff x="3960" y="7212"/>
                    <a:chExt cx="360" cy="936"/>
                  </a:xfrm>
                  <a:grpFill/>
                </p:grpSpPr>
                <p:sp>
                  <p:nvSpPr>
                    <p:cNvPr id="150584" name="Text Box 66"/>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85" name="Text Box 67"/>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2000" b="1">
                        <a:solidFill>
                          <a:srgbClr val="000000"/>
                        </a:solidFill>
                        <a:latin typeface="Times New Roman" panose="02020603050405020304" pitchFamily="18" charset="0"/>
                      </a:endParaRPr>
                    </a:p>
                  </p:txBody>
                </p:sp>
                <p:sp>
                  <p:nvSpPr>
                    <p:cNvPr id="150586" name="Text Box 68"/>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2000" b="1">
                        <a:solidFill>
                          <a:srgbClr val="000000"/>
                        </a:solidFill>
                        <a:latin typeface="Times New Roman" panose="02020603050405020304" pitchFamily="18" charset="0"/>
                      </a:endParaRPr>
                    </a:p>
                  </p:txBody>
                </p:sp>
              </p:grpSp>
              <p:grpSp>
                <p:nvGrpSpPr>
                  <p:cNvPr id="7" name="Group 69"/>
                  <p:cNvGrpSpPr/>
                  <p:nvPr/>
                </p:nvGrpSpPr>
                <p:grpSpPr bwMode="auto">
                  <a:xfrm>
                    <a:off x="3960" y="7212"/>
                    <a:ext cx="360" cy="936"/>
                    <a:chOff x="3960" y="7212"/>
                    <a:chExt cx="360" cy="936"/>
                  </a:xfrm>
                  <a:grpFill/>
                </p:grpSpPr>
                <p:sp>
                  <p:nvSpPr>
                    <p:cNvPr id="150581" name="Text Box 70"/>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82" name="Text Box 71"/>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83" name="Text Box 72"/>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2000" b="1">
                        <a:solidFill>
                          <a:srgbClr val="000000"/>
                        </a:solidFill>
                        <a:latin typeface="Times New Roman" panose="02020603050405020304" pitchFamily="18" charset="0"/>
                      </a:endParaRPr>
                    </a:p>
                  </p:txBody>
                </p:sp>
              </p:grpSp>
              <p:grpSp>
                <p:nvGrpSpPr>
                  <p:cNvPr id="8" name="Group 73"/>
                  <p:cNvGrpSpPr/>
                  <p:nvPr/>
                </p:nvGrpSpPr>
                <p:grpSpPr bwMode="auto">
                  <a:xfrm>
                    <a:off x="4500" y="7212"/>
                    <a:ext cx="360" cy="936"/>
                    <a:chOff x="3960" y="7212"/>
                    <a:chExt cx="360" cy="936"/>
                  </a:xfrm>
                  <a:grpFill/>
                </p:grpSpPr>
                <p:sp>
                  <p:nvSpPr>
                    <p:cNvPr id="150578" name="Text Box 74"/>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79" name="Text Box 75"/>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80" name="Text Box 76"/>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endParaRPr lang="zh-CN" altLang="en-US" sz="2000" b="1">
                        <a:solidFill>
                          <a:srgbClr val="000000"/>
                        </a:solidFill>
                        <a:latin typeface="Times New Roman" panose="02020603050405020304" pitchFamily="18" charset="0"/>
                      </a:endParaRPr>
                    </a:p>
                  </p:txBody>
                </p:sp>
              </p:grpSp>
              <p:grpSp>
                <p:nvGrpSpPr>
                  <p:cNvPr id="9" name="Group 77"/>
                  <p:cNvGrpSpPr/>
                  <p:nvPr/>
                </p:nvGrpSpPr>
                <p:grpSpPr bwMode="auto">
                  <a:xfrm>
                    <a:off x="5040" y="7212"/>
                    <a:ext cx="360" cy="936"/>
                    <a:chOff x="3960" y="7212"/>
                    <a:chExt cx="360" cy="936"/>
                  </a:xfrm>
                  <a:grpFill/>
                </p:grpSpPr>
                <p:sp>
                  <p:nvSpPr>
                    <p:cNvPr id="150575" name="Text Box 78"/>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76" name="Text Box 79"/>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77" name="Text Box 80"/>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1*</a:t>
                      </a:r>
                      <a:endParaRPr lang="en-US" altLang="zh-CN" sz="2000" b="1">
                        <a:solidFill>
                          <a:srgbClr val="000000"/>
                        </a:solidFill>
                        <a:latin typeface="Times New Roman" panose="02020603050405020304" pitchFamily="18" charset="0"/>
                      </a:endParaRPr>
                    </a:p>
                  </p:txBody>
                </p:sp>
              </p:grpSp>
              <p:grpSp>
                <p:nvGrpSpPr>
                  <p:cNvPr id="10" name="Group 81"/>
                  <p:cNvGrpSpPr/>
                  <p:nvPr/>
                </p:nvGrpSpPr>
                <p:grpSpPr bwMode="auto">
                  <a:xfrm>
                    <a:off x="5580" y="7212"/>
                    <a:ext cx="360" cy="936"/>
                    <a:chOff x="3960" y="7212"/>
                    <a:chExt cx="360" cy="936"/>
                  </a:xfrm>
                  <a:grpFill/>
                </p:grpSpPr>
                <p:sp>
                  <p:nvSpPr>
                    <p:cNvPr id="150572" name="Text Box 82"/>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p:txBody>
                </p:sp>
                <p:sp>
                  <p:nvSpPr>
                    <p:cNvPr id="150573" name="Text Box 83"/>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74" name="Text Box 84"/>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1</a:t>
                      </a:r>
                      <a:endParaRPr lang="en-US" altLang="zh-CN" sz="2000" b="1">
                        <a:solidFill>
                          <a:srgbClr val="000000"/>
                        </a:solidFill>
                        <a:latin typeface="Times New Roman" panose="02020603050405020304" pitchFamily="18" charset="0"/>
                      </a:endParaRPr>
                    </a:p>
                  </p:txBody>
                </p:sp>
              </p:grpSp>
              <p:grpSp>
                <p:nvGrpSpPr>
                  <p:cNvPr id="11" name="Group 85"/>
                  <p:cNvGrpSpPr/>
                  <p:nvPr/>
                </p:nvGrpSpPr>
                <p:grpSpPr bwMode="auto">
                  <a:xfrm>
                    <a:off x="6120" y="7212"/>
                    <a:ext cx="360" cy="936"/>
                    <a:chOff x="3960" y="7212"/>
                    <a:chExt cx="360" cy="936"/>
                  </a:xfrm>
                  <a:grpFill/>
                </p:grpSpPr>
                <p:sp>
                  <p:nvSpPr>
                    <p:cNvPr id="150569" name="Text Box 86"/>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p:txBody>
                </p:sp>
                <p:sp>
                  <p:nvSpPr>
                    <p:cNvPr id="150570" name="Text Box 87"/>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71" name="Text Box 88"/>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1</a:t>
                      </a:r>
                      <a:endParaRPr lang="en-US" altLang="zh-CN" sz="2000" b="1">
                        <a:solidFill>
                          <a:srgbClr val="000000"/>
                        </a:solidFill>
                        <a:latin typeface="Times New Roman" panose="02020603050405020304" pitchFamily="18" charset="0"/>
                      </a:endParaRPr>
                    </a:p>
                  </p:txBody>
                </p:sp>
              </p:grpSp>
              <p:grpSp>
                <p:nvGrpSpPr>
                  <p:cNvPr id="12" name="Group 89"/>
                  <p:cNvGrpSpPr/>
                  <p:nvPr/>
                </p:nvGrpSpPr>
                <p:grpSpPr bwMode="auto">
                  <a:xfrm>
                    <a:off x="6660" y="7212"/>
                    <a:ext cx="360" cy="936"/>
                    <a:chOff x="3960" y="7212"/>
                    <a:chExt cx="360" cy="936"/>
                  </a:xfrm>
                  <a:grpFill/>
                </p:grpSpPr>
                <p:sp>
                  <p:nvSpPr>
                    <p:cNvPr id="150566" name="Text Box 90"/>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p:txBody>
                </p:sp>
                <p:sp>
                  <p:nvSpPr>
                    <p:cNvPr id="150567" name="Text Box 91"/>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68" name="Text Box 92"/>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p:txBody>
                </p:sp>
              </p:grpSp>
              <p:grpSp>
                <p:nvGrpSpPr>
                  <p:cNvPr id="13" name="Group 93"/>
                  <p:cNvGrpSpPr/>
                  <p:nvPr/>
                </p:nvGrpSpPr>
                <p:grpSpPr bwMode="auto">
                  <a:xfrm>
                    <a:off x="7200" y="7212"/>
                    <a:ext cx="360" cy="936"/>
                    <a:chOff x="3960" y="7212"/>
                    <a:chExt cx="360" cy="936"/>
                  </a:xfrm>
                  <a:grpFill/>
                </p:grpSpPr>
                <p:sp>
                  <p:nvSpPr>
                    <p:cNvPr id="150563" name="Text Box 94"/>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dirty="0">
                          <a:solidFill>
                            <a:srgbClr val="000000"/>
                          </a:solidFill>
                          <a:latin typeface="Times New Roman" panose="02020603050405020304" pitchFamily="18" charset="0"/>
                        </a:rPr>
                        <a:t>5*</a:t>
                      </a:r>
                      <a:endParaRPr lang="en-US" altLang="zh-CN" sz="2000" b="1" dirty="0">
                        <a:solidFill>
                          <a:srgbClr val="000000"/>
                        </a:solidFill>
                        <a:latin typeface="Times New Roman" panose="02020603050405020304" pitchFamily="18" charset="0"/>
                      </a:endParaRPr>
                    </a:p>
                  </p:txBody>
                </p:sp>
                <p:sp>
                  <p:nvSpPr>
                    <p:cNvPr id="150564" name="Text Box 95"/>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65" name="Text Box 96"/>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p:txBody>
                </p:sp>
              </p:grpSp>
              <p:grpSp>
                <p:nvGrpSpPr>
                  <p:cNvPr id="14" name="Group 97"/>
                  <p:cNvGrpSpPr/>
                  <p:nvPr/>
                </p:nvGrpSpPr>
                <p:grpSpPr bwMode="auto">
                  <a:xfrm>
                    <a:off x="7740" y="7212"/>
                    <a:ext cx="360" cy="936"/>
                    <a:chOff x="3960" y="7212"/>
                    <a:chExt cx="360" cy="936"/>
                  </a:xfrm>
                  <a:grpFill/>
                </p:grpSpPr>
                <p:sp>
                  <p:nvSpPr>
                    <p:cNvPr id="150560" name="Text Box 98"/>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61" name="Text Box 99"/>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62" name="Text Box 100"/>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p:txBody>
                </p:sp>
              </p:grpSp>
              <p:grpSp>
                <p:nvGrpSpPr>
                  <p:cNvPr id="15" name="Group 101"/>
                  <p:cNvGrpSpPr/>
                  <p:nvPr/>
                </p:nvGrpSpPr>
                <p:grpSpPr bwMode="auto">
                  <a:xfrm>
                    <a:off x="8280" y="7212"/>
                    <a:ext cx="360" cy="936"/>
                    <a:chOff x="3960" y="7212"/>
                    <a:chExt cx="360" cy="936"/>
                  </a:xfrm>
                  <a:grpFill/>
                </p:grpSpPr>
                <p:sp>
                  <p:nvSpPr>
                    <p:cNvPr id="150557" name="Text Box 102"/>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58" name="Text Box 103"/>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59" name="Text Box 104"/>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4</a:t>
                      </a:r>
                      <a:endParaRPr lang="en-US" altLang="zh-CN" sz="2000" b="1">
                        <a:solidFill>
                          <a:srgbClr val="000000"/>
                        </a:solidFill>
                        <a:latin typeface="Times New Roman" panose="02020603050405020304" pitchFamily="18" charset="0"/>
                      </a:endParaRPr>
                    </a:p>
                  </p:txBody>
                </p:sp>
              </p:grpSp>
              <p:grpSp>
                <p:nvGrpSpPr>
                  <p:cNvPr id="16" name="Group 105"/>
                  <p:cNvGrpSpPr/>
                  <p:nvPr/>
                </p:nvGrpSpPr>
                <p:grpSpPr bwMode="auto">
                  <a:xfrm>
                    <a:off x="8820" y="7212"/>
                    <a:ext cx="360" cy="936"/>
                    <a:chOff x="3960" y="7212"/>
                    <a:chExt cx="360" cy="936"/>
                  </a:xfrm>
                  <a:grpFill/>
                </p:grpSpPr>
                <p:sp>
                  <p:nvSpPr>
                    <p:cNvPr id="150554" name="Text Box 106"/>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55" name="Text Box 107"/>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56" name="Text Box 108"/>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p:txBody>
                </p:sp>
              </p:grpSp>
              <p:grpSp>
                <p:nvGrpSpPr>
                  <p:cNvPr id="17" name="Group 109"/>
                  <p:cNvGrpSpPr/>
                  <p:nvPr/>
                </p:nvGrpSpPr>
                <p:grpSpPr bwMode="auto">
                  <a:xfrm>
                    <a:off x="9360" y="7212"/>
                    <a:ext cx="360" cy="936"/>
                    <a:chOff x="3960" y="7212"/>
                    <a:chExt cx="360" cy="936"/>
                  </a:xfrm>
                  <a:grpFill/>
                </p:grpSpPr>
                <p:sp>
                  <p:nvSpPr>
                    <p:cNvPr id="150551" name="Text Box 110"/>
                    <p:cNvSpPr txBox="1">
                      <a:spLocks noChangeArrowheads="1"/>
                    </p:cNvSpPr>
                    <p:nvPr/>
                  </p:nvSpPr>
                  <p:spPr bwMode="auto">
                    <a:xfrm>
                      <a:off x="3960" y="7212"/>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3*</a:t>
                      </a:r>
                      <a:endParaRPr lang="en-US" altLang="zh-CN" sz="2000" b="1">
                        <a:solidFill>
                          <a:srgbClr val="000000"/>
                        </a:solidFill>
                        <a:latin typeface="Times New Roman" panose="02020603050405020304" pitchFamily="18" charset="0"/>
                      </a:endParaRPr>
                    </a:p>
                  </p:txBody>
                </p:sp>
                <p:sp>
                  <p:nvSpPr>
                    <p:cNvPr id="150552" name="Text Box 111"/>
                    <p:cNvSpPr txBox="1">
                      <a:spLocks noChangeArrowheads="1"/>
                    </p:cNvSpPr>
                    <p:nvPr/>
                  </p:nvSpPr>
                  <p:spPr bwMode="auto">
                    <a:xfrm>
                      <a:off x="3960" y="7524"/>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2*</a:t>
                      </a:r>
                      <a:endParaRPr lang="en-US" altLang="zh-CN" sz="2000" b="1">
                        <a:solidFill>
                          <a:srgbClr val="000000"/>
                        </a:solidFill>
                        <a:latin typeface="Times New Roman" panose="02020603050405020304" pitchFamily="18" charset="0"/>
                      </a:endParaRPr>
                    </a:p>
                  </p:txBody>
                </p:sp>
                <p:sp>
                  <p:nvSpPr>
                    <p:cNvPr id="150553" name="Text Box 112"/>
                    <p:cNvSpPr txBox="1">
                      <a:spLocks noChangeArrowheads="1"/>
                    </p:cNvSpPr>
                    <p:nvPr/>
                  </p:nvSpPr>
                  <p:spPr bwMode="auto">
                    <a:xfrm>
                      <a:off x="3960" y="7836"/>
                      <a:ext cx="360" cy="312"/>
                    </a:xfrm>
                    <a:prstGeom prst="rect">
                      <a:avLst/>
                    </a:prstGeom>
                    <a:grpFill/>
                    <a:ln w="9525">
                      <a:solidFill>
                        <a:srgbClr val="000000"/>
                      </a:solidFill>
                      <a:miter lim="800000"/>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2000" b="1">
                          <a:solidFill>
                            <a:srgbClr val="000000"/>
                          </a:solidFill>
                          <a:latin typeface="Times New Roman" panose="02020603050405020304" pitchFamily="18" charset="0"/>
                        </a:rPr>
                        <a:t>5*</a:t>
                      </a:r>
                      <a:endParaRPr lang="en-US" altLang="zh-CN" sz="2000" b="1">
                        <a:solidFill>
                          <a:srgbClr val="000000"/>
                        </a:solidFill>
                        <a:latin typeface="Times New Roman" panose="02020603050405020304" pitchFamily="18" charset="0"/>
                      </a:endParaRPr>
                    </a:p>
                  </p:txBody>
                </p:sp>
              </p:grpSp>
            </p:grpSp>
            <p:sp>
              <p:nvSpPr>
                <p:cNvPr id="150538" name="Text Box 113"/>
                <p:cNvSpPr txBox="1">
                  <a:spLocks noChangeArrowheads="1"/>
                </p:cNvSpPr>
                <p:nvPr/>
              </p:nvSpPr>
              <p:spPr bwMode="auto">
                <a:xfrm>
                  <a:off x="1980" y="7056"/>
                  <a:ext cx="7740" cy="312"/>
                </a:xfrm>
                <a:prstGeom prst="rect">
                  <a:avLst/>
                </a:prstGeom>
                <a:grpFill/>
                <a:ln>
                  <a:noFill/>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zh-CN" altLang="en-US" sz="2000" b="1">
                      <a:solidFill>
                        <a:srgbClr val="000000"/>
                      </a:solidFill>
                      <a:latin typeface="Times New Roman" panose="02020603050405020304" pitchFamily="18" charset="0"/>
                    </a:rPr>
                    <a:t>页面引用序列   </a:t>
                  </a:r>
                  <a:r>
                    <a:rPr lang="en-US" altLang="zh-CN" sz="2000" b="1">
                      <a:solidFill>
                        <a:srgbClr val="000000"/>
                      </a:solidFill>
                      <a:latin typeface="Times New Roman" panose="02020603050405020304" pitchFamily="18" charset="0"/>
                    </a:rPr>
                    <a:t>2       3      2       1       5       2        4       5       3       2        5      2</a:t>
                  </a:r>
                  <a:endParaRPr lang="en-US" altLang="zh-CN" sz="2000" b="1">
                    <a:solidFill>
                      <a:srgbClr val="000000"/>
                    </a:solidFill>
                    <a:latin typeface="Times New Roman" panose="02020603050405020304" pitchFamily="18" charset="0"/>
                  </a:endParaRPr>
                </a:p>
              </p:txBody>
            </p:sp>
          </p:grpSp>
          <p:sp>
            <p:nvSpPr>
              <p:cNvPr id="150535" name="Text Box 114"/>
              <p:cNvSpPr txBox="1">
                <a:spLocks noChangeArrowheads="1"/>
              </p:cNvSpPr>
              <p:nvPr/>
            </p:nvSpPr>
            <p:spPr bwMode="auto">
              <a:xfrm>
                <a:off x="3420" y="8928"/>
                <a:ext cx="6300" cy="468"/>
              </a:xfrm>
              <a:prstGeom prst="rect">
                <a:avLst/>
              </a:prstGeom>
              <a:grp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2000" b="1">
                    <a:solidFill>
                      <a:srgbClr val="000000"/>
                    </a:solidFill>
                    <a:latin typeface="Times New Roman" panose="02020603050405020304" pitchFamily="18" charset="0"/>
                  </a:rPr>
                  <a:t>F       F                F       </a:t>
                </a:r>
                <a:r>
                  <a:rPr lang="en-US" altLang="zh-CN" sz="2000" b="1" u="sng">
                    <a:solidFill>
                      <a:srgbClr val="000000"/>
                    </a:solidFill>
                    <a:latin typeface="Times New Roman" panose="02020603050405020304" pitchFamily="18" charset="0"/>
                  </a:rPr>
                  <a:t>F</a:t>
                </a:r>
                <a:r>
                  <a:rPr lang="en-US" altLang="zh-CN" sz="2000" b="1">
                    <a:solidFill>
                      <a:srgbClr val="000000"/>
                    </a:solidFill>
                    <a:latin typeface="Times New Roman" panose="02020603050405020304" pitchFamily="18" charset="0"/>
                  </a:rPr>
                  <a:t>       </a:t>
                </a:r>
                <a:r>
                  <a:rPr lang="en-US" altLang="zh-CN" sz="2000" b="1" u="sng">
                    <a:solidFill>
                      <a:srgbClr val="000000"/>
                    </a:solidFill>
                    <a:latin typeface="Times New Roman" panose="02020603050405020304" pitchFamily="18" charset="0"/>
                  </a:rPr>
                  <a:t>F</a:t>
                </a:r>
                <a:r>
                  <a:rPr lang="en-US" altLang="zh-CN" sz="2000" b="1">
                    <a:solidFill>
                      <a:srgbClr val="000000"/>
                    </a:solidFill>
                    <a:latin typeface="Times New Roman" panose="02020603050405020304" pitchFamily="18" charset="0"/>
                  </a:rPr>
                  <a:t>       </a:t>
                </a:r>
                <a:r>
                  <a:rPr lang="en-US" altLang="zh-CN" sz="2000" b="1" u="sng">
                    <a:solidFill>
                      <a:srgbClr val="000000"/>
                    </a:solidFill>
                    <a:latin typeface="Times New Roman" panose="02020603050405020304" pitchFamily="18" charset="0"/>
                  </a:rPr>
                  <a:t>F</a:t>
                </a:r>
                <a:r>
                  <a:rPr lang="en-US" altLang="zh-CN" sz="2000" b="1">
                    <a:solidFill>
                      <a:srgbClr val="000000"/>
                    </a:solidFill>
                    <a:latin typeface="Times New Roman" panose="02020603050405020304" pitchFamily="18" charset="0"/>
                  </a:rPr>
                  <a:t>                </a:t>
                </a:r>
                <a:r>
                  <a:rPr lang="en-US" altLang="zh-CN" sz="2000" b="1" u="sng">
                    <a:solidFill>
                      <a:srgbClr val="000000"/>
                    </a:solidFill>
                    <a:latin typeface="Times New Roman" panose="02020603050405020304" pitchFamily="18" charset="0"/>
                  </a:rPr>
                  <a:t>F</a:t>
                </a:r>
                <a:r>
                  <a:rPr lang="en-US" altLang="zh-CN" sz="2000" b="1">
                    <a:solidFill>
                      <a:srgbClr val="000000"/>
                    </a:solidFill>
                    <a:latin typeface="Times New Roman" panose="02020603050405020304" pitchFamily="18" charset="0"/>
                  </a:rPr>
                  <a:t>                </a:t>
                </a:r>
                <a:r>
                  <a:rPr lang="en-US" altLang="zh-CN" sz="2000" b="1" u="sng">
                    <a:solidFill>
                      <a:srgbClr val="000000"/>
                    </a:solidFill>
                    <a:latin typeface="Times New Roman" panose="02020603050405020304" pitchFamily="18" charset="0"/>
                  </a:rPr>
                  <a:t>F </a:t>
                </a:r>
                <a:endParaRPr lang="en-US" altLang="zh-CN" sz="2000" b="1" u="sng">
                  <a:solidFill>
                    <a:srgbClr val="000000"/>
                  </a:solidFill>
                  <a:latin typeface="Times New Roman" panose="02020603050405020304" pitchFamily="18" charset="0"/>
                </a:endParaRPr>
              </a:p>
            </p:txBody>
          </p:sp>
          <p:sp>
            <p:nvSpPr>
              <p:cNvPr id="150536" name="Text Box 115"/>
              <p:cNvSpPr txBox="1">
                <a:spLocks noChangeArrowheads="1"/>
              </p:cNvSpPr>
              <p:nvPr/>
            </p:nvSpPr>
            <p:spPr bwMode="auto">
              <a:xfrm>
                <a:off x="3420" y="9396"/>
                <a:ext cx="6300" cy="468"/>
              </a:xfrm>
              <a:prstGeom prst="rect">
                <a:avLst/>
              </a:prstGeom>
              <a:grp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defRPr/>
                </a:pPr>
                <a:r>
                  <a:rPr lang="en-US" altLang="zh-CN" sz="2000" b="1">
                    <a:solidFill>
                      <a:srgbClr val="000000"/>
                    </a:solidFill>
                    <a:latin typeface="Times New Roman" panose="02020603050405020304" pitchFamily="18" charset="0"/>
                  </a:rPr>
                  <a:t>12</a:t>
                </a:r>
                <a:r>
                  <a:rPr lang="zh-CN" altLang="en-US" sz="2000" b="1">
                    <a:solidFill>
                      <a:srgbClr val="000000"/>
                    </a:solidFill>
                    <a:latin typeface="Times New Roman" panose="02020603050405020304" pitchFamily="18" charset="0"/>
                  </a:rPr>
                  <a:t>次页面引用    </a:t>
                </a:r>
                <a:r>
                  <a:rPr lang="en-US" altLang="zh-CN" sz="2000" b="1">
                    <a:solidFill>
                      <a:srgbClr val="000000"/>
                    </a:solidFill>
                    <a:latin typeface="Times New Roman" panose="02020603050405020304" pitchFamily="18" charset="0"/>
                  </a:rPr>
                  <a:t>8</a:t>
                </a:r>
                <a:r>
                  <a:rPr lang="zh-CN" altLang="en-US" sz="2000" b="1">
                    <a:solidFill>
                      <a:srgbClr val="000000"/>
                    </a:solidFill>
                    <a:latin typeface="Times New Roman" panose="02020603050405020304" pitchFamily="18" charset="0"/>
                  </a:rPr>
                  <a:t>次缺页中断（</a:t>
                </a:r>
                <a:r>
                  <a:rPr lang="en-US" altLang="zh-CN" sz="2000" b="1">
                    <a:solidFill>
                      <a:srgbClr val="000000"/>
                    </a:solidFill>
                    <a:latin typeface="Times New Roman" panose="02020603050405020304" pitchFamily="18" charset="0"/>
                  </a:rPr>
                  <a:t>F</a:t>
                </a:r>
                <a:r>
                  <a:rPr lang="zh-CN" altLang="en-US" sz="2000" b="1">
                    <a:solidFill>
                      <a:srgbClr val="000000"/>
                    </a:solidFill>
                    <a:latin typeface="Times New Roman" panose="02020603050405020304" pitchFamily="18" charset="0"/>
                  </a:rPr>
                  <a:t>和</a:t>
                </a:r>
                <a:r>
                  <a:rPr lang="en-US" altLang="zh-CN" sz="2000" b="1" u="sng">
                    <a:solidFill>
                      <a:srgbClr val="000000"/>
                    </a:solidFill>
                    <a:latin typeface="Times New Roman" panose="02020603050405020304" pitchFamily="18" charset="0"/>
                  </a:rPr>
                  <a:t>F</a:t>
                </a:r>
                <a:r>
                  <a:rPr lang="zh-CN" altLang="en-US" sz="2000" b="1">
                    <a:solidFill>
                      <a:srgbClr val="000000"/>
                    </a:solidFill>
                    <a:latin typeface="Times New Roman" panose="02020603050405020304" pitchFamily="18" charset="0"/>
                  </a:rPr>
                  <a:t>）    </a:t>
                </a:r>
                <a:r>
                  <a:rPr lang="en-US" altLang="zh-CN" sz="2000" b="1">
                    <a:solidFill>
                      <a:srgbClr val="000000"/>
                    </a:solidFill>
                    <a:latin typeface="Times New Roman" panose="02020603050405020304" pitchFamily="18" charset="0"/>
                  </a:rPr>
                  <a:t>5</a:t>
                </a:r>
                <a:r>
                  <a:rPr lang="zh-CN" altLang="en-US" sz="2000" b="1">
                    <a:solidFill>
                      <a:srgbClr val="000000"/>
                    </a:solidFill>
                    <a:latin typeface="Times New Roman" panose="02020603050405020304" pitchFamily="18" charset="0"/>
                  </a:rPr>
                  <a:t>次页面置换（</a:t>
                </a:r>
                <a:r>
                  <a:rPr lang="en-US" altLang="zh-CN" sz="2000" b="1" u="sng">
                    <a:solidFill>
                      <a:srgbClr val="000000"/>
                    </a:solidFill>
                    <a:latin typeface="Times New Roman" panose="02020603050405020304" pitchFamily="18" charset="0"/>
                  </a:rPr>
                  <a:t>F</a:t>
                </a:r>
                <a:r>
                  <a:rPr lang="zh-CN" altLang="en-US" sz="2000" b="1">
                    <a:solidFill>
                      <a:srgbClr val="000000"/>
                    </a:solidFill>
                    <a:latin typeface="Times New Roman" panose="02020603050405020304" pitchFamily="18" charset="0"/>
                  </a:rPr>
                  <a:t>）</a:t>
                </a:r>
                <a:endParaRPr lang="zh-CN" altLang="en-US" sz="2000" b="1">
                  <a:solidFill>
                    <a:srgbClr val="000000"/>
                  </a:solidFill>
                  <a:latin typeface="Times New Roman" panose="02020603050405020304" pitchFamily="18" charset="0"/>
                </a:endParaRPr>
              </a:p>
            </p:txBody>
          </p:sp>
        </p:grpSp>
        <p:sp>
          <p:nvSpPr>
            <p:cNvPr id="150533" name="Text Box 116"/>
            <p:cNvSpPr txBox="1">
              <a:spLocks noChangeArrowheads="1"/>
            </p:cNvSpPr>
            <p:nvPr/>
          </p:nvSpPr>
          <p:spPr bwMode="auto">
            <a:xfrm>
              <a:off x="2520" y="9864"/>
              <a:ext cx="7200" cy="847"/>
            </a:xfrm>
            <a:prstGeom prst="rect">
              <a:avLst/>
            </a:prstGeom>
            <a:grpFill/>
            <a:ln>
              <a:noFill/>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zh-CN" altLang="en-US" sz="2000" b="1" dirty="0">
                  <a:solidFill>
                    <a:srgbClr val="000000"/>
                  </a:solidFill>
                  <a:latin typeface="Times New Roman" panose="02020603050405020304" pitchFamily="18" charset="0"/>
                </a:rPr>
                <a:t>图 </a:t>
              </a:r>
              <a:r>
                <a:rPr lang="en-US" altLang="zh-CN" sz="2000" b="1" dirty="0">
                  <a:solidFill>
                    <a:srgbClr val="000000"/>
                  </a:solidFill>
                  <a:latin typeface="Times New Roman" panose="02020603050405020304" pitchFamily="18" charset="0"/>
                </a:rPr>
                <a:t> </a:t>
              </a:r>
              <a:r>
                <a:rPr lang="zh-CN" altLang="en-US" sz="2000" b="1" dirty="0">
                  <a:solidFill>
                    <a:srgbClr val="000000"/>
                  </a:solidFill>
                  <a:latin typeface="Times New Roman" panose="02020603050405020304" pitchFamily="18" charset="0"/>
                </a:rPr>
                <a:t>采用</a:t>
              </a:r>
              <a:r>
                <a:rPr lang="en-US" altLang="zh-CN" sz="2000" b="1" dirty="0">
                  <a:solidFill>
                    <a:srgbClr val="000000"/>
                  </a:solidFill>
                  <a:latin typeface="Times New Roman" panose="02020603050405020304" pitchFamily="18" charset="0"/>
                </a:rPr>
                <a:t>Clock</a:t>
              </a:r>
              <a:r>
                <a:rPr lang="zh-CN" altLang="en-US" sz="2000" b="1" dirty="0">
                  <a:solidFill>
                    <a:srgbClr val="000000"/>
                  </a:solidFill>
                  <a:latin typeface="Times New Roman" panose="02020603050405020304" pitchFamily="18" charset="0"/>
                </a:rPr>
                <a:t>置换算法的缺页中断与页面置换过程</a:t>
              </a:r>
              <a:endParaRPr lang="en-US" altLang="zh-CN" sz="2000" b="1" dirty="0">
                <a:solidFill>
                  <a:srgbClr val="000000"/>
                </a:solidFill>
                <a:latin typeface="Times New Roman" panose="02020603050405020304" pitchFamily="18" charset="0"/>
              </a:endParaRPr>
            </a:p>
            <a:p>
              <a:pPr algn="ctr">
                <a:defRPr/>
              </a:pPr>
              <a:endParaRPr lang="en-US" altLang="zh-CN" sz="2000" b="1" dirty="0">
                <a:solidFill>
                  <a:srgbClr val="000000"/>
                </a:solidFill>
                <a:latin typeface="Times New Roman" panose="02020603050405020304" pitchFamily="18" charset="0"/>
              </a:endParaRPr>
            </a:p>
            <a:p>
              <a:pPr>
                <a:defRPr/>
              </a:pPr>
              <a:r>
                <a:rPr lang="zh-CN" altLang="en-US" sz="2000" b="1" dirty="0">
                  <a:solidFill>
                    <a:srgbClr val="FF0000"/>
                  </a:solidFill>
                  <a:latin typeface="Times New Roman" panose="02020603050405020304" pitchFamily="18" charset="0"/>
                </a:rPr>
                <a:t>注意：过程中扫描指针的位置变化。</a:t>
              </a:r>
              <a:endParaRPr lang="zh-CN" altLang="en-US" sz="2000" b="1" dirty="0">
                <a:solidFill>
                  <a:srgbClr val="FF0000"/>
                </a:solidFill>
                <a:latin typeface="Times New Roman" panose="02020603050405020304" pitchFamily="18" charset="0"/>
              </a:endParaRPr>
            </a:p>
          </p:txBody>
        </p:sp>
      </p:grpSp>
      <p:sp>
        <p:nvSpPr>
          <p:cNvPr id="20" name="标题 19"/>
          <p:cNvSpPr>
            <a:spLocks noGrp="1"/>
          </p:cNvSpPr>
          <p:nvPr>
            <p:ph type="title"/>
          </p:nvPr>
        </p:nvSpPr>
        <p:spPr>
          <a:xfrm>
            <a:off x="571500" y="0"/>
            <a:ext cx="10202545" cy="668655"/>
          </a:xfrm>
        </p:spPr>
        <p:txBody>
          <a:bodyPr/>
          <a:lstStyle/>
          <a:p>
            <a:r>
              <a:rPr lang="en-US" altLang="zh-CN" dirty="0"/>
              <a:t>Clock</a:t>
            </a:r>
            <a:r>
              <a:rPr lang="zh-CN" altLang="en-US" dirty="0"/>
              <a:t>算法的示例（会考 大题画过程 或选择题）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zh-CN" dirty="0"/>
              <a:t>有一虚拟存储系统，若进程在内存中占</a:t>
            </a:r>
            <a:r>
              <a:rPr lang="en-US" altLang="zh-CN" dirty="0"/>
              <a:t>3</a:t>
            </a:r>
            <a:r>
              <a:rPr lang="zh-CN" altLang="zh-CN" dirty="0"/>
              <a:t>页</a:t>
            </a:r>
            <a:r>
              <a:rPr lang="en-US" altLang="zh-CN" dirty="0"/>
              <a:t>(</a:t>
            </a:r>
            <a:r>
              <a:rPr lang="zh-CN" altLang="zh-CN" dirty="0"/>
              <a:t>开始时内存为空</a:t>
            </a:r>
            <a:r>
              <a:rPr lang="en-US" altLang="zh-CN" dirty="0"/>
              <a:t>)</a:t>
            </a:r>
            <a:r>
              <a:rPr lang="zh-CN" altLang="zh-CN" dirty="0"/>
              <a:t>，若采用先进先出</a:t>
            </a:r>
            <a:r>
              <a:rPr lang="en-US" altLang="zh-CN" dirty="0"/>
              <a:t>(FIFO)</a:t>
            </a:r>
            <a:r>
              <a:rPr lang="zh-CN" altLang="zh-CN" dirty="0"/>
              <a:t>页面淘汰算法，当执行如下访页页号序列后</a:t>
            </a:r>
            <a:r>
              <a:rPr lang="en-US" altLang="zh-CN" dirty="0"/>
              <a:t>1</a:t>
            </a:r>
            <a:r>
              <a:rPr lang="zh-CN" altLang="zh-CN" dirty="0"/>
              <a:t>，</a:t>
            </a:r>
            <a:r>
              <a:rPr lang="en-US" altLang="zh-CN" dirty="0"/>
              <a:t>2</a:t>
            </a:r>
            <a:r>
              <a:rPr lang="zh-CN" altLang="zh-CN" dirty="0"/>
              <a:t>，</a:t>
            </a:r>
            <a:r>
              <a:rPr lang="en-US" altLang="zh-CN" dirty="0"/>
              <a:t>3</a:t>
            </a:r>
            <a:r>
              <a:rPr lang="zh-CN" altLang="zh-CN" dirty="0"/>
              <a:t>，</a:t>
            </a:r>
            <a:r>
              <a:rPr lang="en-US" altLang="zh-CN" dirty="0"/>
              <a:t>4</a:t>
            </a:r>
            <a:r>
              <a:rPr lang="zh-CN" altLang="zh-CN" dirty="0"/>
              <a:t>，</a:t>
            </a:r>
            <a:r>
              <a:rPr lang="en-US" altLang="zh-CN" dirty="0"/>
              <a:t>1</a:t>
            </a:r>
            <a:r>
              <a:rPr lang="zh-CN" altLang="zh-CN" dirty="0"/>
              <a:t>，</a:t>
            </a:r>
            <a:r>
              <a:rPr lang="en-US" altLang="zh-CN" dirty="0"/>
              <a:t>2</a:t>
            </a:r>
            <a:r>
              <a:rPr lang="zh-CN" altLang="zh-CN" dirty="0"/>
              <a:t>，</a:t>
            </a:r>
            <a:r>
              <a:rPr lang="en-US" altLang="zh-CN" dirty="0"/>
              <a:t>5</a:t>
            </a:r>
            <a:r>
              <a:rPr lang="zh-CN" altLang="zh-CN" dirty="0"/>
              <a:t>，</a:t>
            </a:r>
            <a:r>
              <a:rPr lang="en-US" altLang="zh-CN" dirty="0"/>
              <a:t>1</a:t>
            </a:r>
            <a:r>
              <a:rPr lang="zh-CN" altLang="zh-CN" dirty="0"/>
              <a:t>，</a:t>
            </a:r>
            <a:r>
              <a:rPr lang="en-US" altLang="zh-CN" dirty="0"/>
              <a:t>2</a:t>
            </a:r>
            <a:r>
              <a:rPr lang="zh-CN" altLang="zh-CN" dirty="0"/>
              <a:t>，</a:t>
            </a:r>
            <a:r>
              <a:rPr lang="en-US" altLang="zh-CN" dirty="0"/>
              <a:t>3</a:t>
            </a:r>
            <a:r>
              <a:rPr lang="zh-CN" altLang="zh-CN" dirty="0"/>
              <a:t>，</a:t>
            </a:r>
            <a:r>
              <a:rPr lang="en-US" altLang="zh-CN" dirty="0"/>
              <a:t>4</a:t>
            </a:r>
            <a:r>
              <a:rPr lang="zh-CN" altLang="zh-CN" dirty="0"/>
              <a:t>，</a:t>
            </a:r>
            <a:r>
              <a:rPr lang="en-US" altLang="zh-CN" dirty="0"/>
              <a:t>5</a:t>
            </a:r>
            <a:r>
              <a:rPr lang="zh-CN" altLang="zh-CN" dirty="0"/>
              <a:t>，会产生</a:t>
            </a:r>
            <a:r>
              <a:rPr lang="en-US" altLang="zh-CN" dirty="0"/>
              <a:t>( )</a:t>
            </a:r>
            <a:r>
              <a:rPr lang="zh-CN" altLang="zh-CN" dirty="0"/>
              <a:t>缺页。</a:t>
            </a:r>
            <a:endParaRPr lang="zh-CN" altLang="zh-CN" dirty="0"/>
          </a:p>
          <a:p>
            <a:pPr lvl="1"/>
            <a:r>
              <a:rPr lang="en-US" altLang="zh-CN" dirty="0"/>
              <a:t>A</a:t>
            </a:r>
            <a:r>
              <a:rPr lang="zh-CN" altLang="zh-CN" dirty="0"/>
              <a:t>．</a:t>
            </a:r>
            <a:r>
              <a:rPr lang="en-US" altLang="zh-CN" dirty="0"/>
              <a:t>7</a:t>
            </a:r>
            <a:r>
              <a:rPr lang="zh-CN" altLang="zh-CN" dirty="0"/>
              <a:t>次</a:t>
            </a:r>
            <a:r>
              <a:rPr lang="en-US" altLang="zh-CN" dirty="0"/>
              <a:t>		 B</a:t>
            </a:r>
            <a:r>
              <a:rPr lang="zh-CN" altLang="zh-CN" dirty="0"/>
              <a:t>．</a:t>
            </a:r>
            <a:r>
              <a:rPr lang="en-US" altLang="zh-CN" dirty="0"/>
              <a:t>8</a:t>
            </a:r>
            <a:r>
              <a:rPr lang="zh-CN" altLang="zh-CN" dirty="0"/>
              <a:t>次</a:t>
            </a:r>
            <a:r>
              <a:rPr lang="en-US" altLang="zh-CN" dirty="0"/>
              <a:t> 	C. 9</a:t>
            </a:r>
            <a:r>
              <a:rPr lang="zh-CN" altLang="zh-CN" dirty="0"/>
              <a:t>次</a:t>
            </a:r>
            <a:r>
              <a:rPr lang="en-US" altLang="zh-CN" dirty="0"/>
              <a:t> 	D</a:t>
            </a:r>
            <a:r>
              <a:rPr lang="zh-CN" altLang="zh-CN" dirty="0"/>
              <a:t>．</a:t>
            </a:r>
            <a:r>
              <a:rPr lang="en-US" altLang="zh-CN" dirty="0"/>
              <a:t>10</a:t>
            </a:r>
            <a:r>
              <a:rPr lang="zh-CN" altLang="zh-CN" dirty="0"/>
              <a:t>次 </a:t>
            </a:r>
            <a:endParaRPr lang="zh-CN" altLang="zh-CN" dirty="0"/>
          </a:p>
          <a:p>
            <a:pPr lvl="1"/>
            <a:r>
              <a:rPr lang="zh-CN" altLang="zh-CN" dirty="0"/>
              <a:t>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在一个请求页式存储管理中，一个程序的页面走向为</a:t>
            </a:r>
            <a:r>
              <a:rPr lang="en-US" altLang="zh-CN" dirty="0"/>
              <a:t>4</a:t>
            </a:r>
            <a:r>
              <a:rPr lang="zh-CN" altLang="en-US" dirty="0"/>
              <a:t>、</a:t>
            </a:r>
            <a:r>
              <a:rPr lang="en-US" altLang="zh-CN" dirty="0"/>
              <a:t>3</a:t>
            </a:r>
            <a:r>
              <a:rPr lang="zh-CN" altLang="en-US" dirty="0"/>
              <a:t>、</a:t>
            </a:r>
            <a:r>
              <a:rPr lang="en-US" altLang="zh-CN" dirty="0"/>
              <a:t>2</a:t>
            </a:r>
            <a:r>
              <a:rPr lang="zh-CN" altLang="en-US" dirty="0"/>
              <a:t>、</a:t>
            </a:r>
            <a:r>
              <a:rPr lang="en-US" altLang="zh-CN" dirty="0"/>
              <a:t>1</a:t>
            </a:r>
            <a:r>
              <a:rPr lang="zh-CN" altLang="en-US" dirty="0"/>
              <a:t>、</a:t>
            </a:r>
            <a:r>
              <a:rPr lang="en-US" altLang="zh-CN" dirty="0"/>
              <a:t>3</a:t>
            </a:r>
            <a:r>
              <a:rPr lang="zh-CN" altLang="en-US" dirty="0"/>
              <a:t>、</a:t>
            </a:r>
            <a:r>
              <a:rPr lang="en-US" altLang="zh-CN" dirty="0"/>
              <a:t>5</a:t>
            </a:r>
            <a:r>
              <a:rPr lang="zh-CN" altLang="en-US" dirty="0"/>
              <a:t>、</a:t>
            </a:r>
            <a:r>
              <a:rPr lang="en-US" altLang="zh-CN" dirty="0"/>
              <a:t>4</a:t>
            </a:r>
            <a:r>
              <a:rPr lang="zh-CN" altLang="en-US" dirty="0"/>
              <a:t>、</a:t>
            </a:r>
            <a:r>
              <a:rPr lang="en-US" altLang="zh-CN" dirty="0"/>
              <a:t>3</a:t>
            </a:r>
            <a:r>
              <a:rPr lang="zh-CN" altLang="en-US" dirty="0"/>
              <a:t>、</a:t>
            </a:r>
            <a:r>
              <a:rPr lang="en-US" altLang="zh-CN" dirty="0"/>
              <a:t>2</a:t>
            </a:r>
            <a:r>
              <a:rPr lang="zh-CN" altLang="en-US" dirty="0"/>
              <a:t>、</a:t>
            </a:r>
            <a:r>
              <a:rPr lang="en-US" altLang="zh-CN" dirty="0"/>
              <a:t>1</a:t>
            </a:r>
            <a:r>
              <a:rPr lang="zh-CN" altLang="en-US" dirty="0"/>
              <a:t>、</a:t>
            </a:r>
            <a:r>
              <a:rPr lang="en-US" altLang="zh-CN" dirty="0"/>
              <a:t>5</a:t>
            </a:r>
            <a:r>
              <a:rPr lang="zh-CN" altLang="en-US" dirty="0"/>
              <a:t>，并采用</a:t>
            </a:r>
            <a:r>
              <a:rPr lang="en-US" altLang="zh-CN" dirty="0"/>
              <a:t>LRU</a:t>
            </a:r>
            <a:r>
              <a:rPr lang="zh-CN" altLang="en-US" dirty="0"/>
              <a:t>算法。设分配给该程序的存储块数</a:t>
            </a:r>
            <a:r>
              <a:rPr lang="en-US" altLang="zh-CN" dirty="0"/>
              <a:t>M</a:t>
            </a:r>
            <a:r>
              <a:rPr lang="zh-CN" altLang="en-US" dirty="0"/>
              <a:t>分别为</a:t>
            </a:r>
            <a:r>
              <a:rPr lang="en-US" altLang="zh-CN" dirty="0"/>
              <a:t>3</a:t>
            </a:r>
            <a:r>
              <a:rPr lang="zh-CN" altLang="en-US" dirty="0"/>
              <a:t>和</a:t>
            </a:r>
            <a:r>
              <a:rPr lang="en-US" altLang="zh-CN" dirty="0"/>
              <a:t>4</a:t>
            </a:r>
            <a:r>
              <a:rPr lang="zh-CN" altLang="en-US" dirty="0"/>
              <a:t>，在该访问中发生的缺页次数</a:t>
            </a:r>
            <a:r>
              <a:rPr lang="en-US" altLang="zh-CN" dirty="0"/>
              <a:t>F</a:t>
            </a:r>
            <a:r>
              <a:rPr lang="zh-CN" altLang="en-US" dirty="0"/>
              <a:t>和缺页率</a:t>
            </a:r>
            <a:r>
              <a:rPr lang="en-US" altLang="zh-CN" dirty="0"/>
              <a:t>f </a:t>
            </a:r>
            <a:r>
              <a:rPr lang="zh-CN" altLang="en-US" dirty="0"/>
              <a:t>是</a:t>
            </a:r>
            <a:r>
              <a:rPr lang="en-US" altLang="zh-CN" dirty="0"/>
              <a:t>( ) </a:t>
            </a:r>
            <a:endParaRPr lang="en-US" altLang="zh-CN" dirty="0"/>
          </a:p>
          <a:p>
            <a:pPr lvl="1"/>
            <a:r>
              <a:rPr lang="en-US" altLang="zh-CN" dirty="0"/>
              <a:t>A. ①M=3</a:t>
            </a:r>
            <a:r>
              <a:rPr lang="zh-CN" altLang="en-US" dirty="0"/>
              <a:t>，</a:t>
            </a:r>
            <a:r>
              <a:rPr lang="en-US" altLang="zh-CN" dirty="0"/>
              <a:t>F=8</a:t>
            </a:r>
            <a:r>
              <a:rPr lang="zh-CN" altLang="en-US" dirty="0"/>
              <a:t>、</a:t>
            </a:r>
            <a:r>
              <a:rPr lang="en-US" altLang="zh-CN" dirty="0"/>
              <a:t>f≈67</a:t>
            </a:r>
            <a:r>
              <a:rPr lang="zh-CN" altLang="en-US" dirty="0"/>
              <a:t>％ ②</a:t>
            </a:r>
            <a:r>
              <a:rPr lang="en-US" altLang="zh-CN" dirty="0"/>
              <a:t>M=4</a:t>
            </a:r>
            <a:r>
              <a:rPr lang="zh-CN" altLang="en-US" dirty="0"/>
              <a:t>，</a:t>
            </a:r>
            <a:r>
              <a:rPr lang="en-US" altLang="zh-CN" dirty="0"/>
              <a:t>F=5</a:t>
            </a:r>
            <a:r>
              <a:rPr lang="zh-CN" altLang="en-US" dirty="0"/>
              <a:t>、</a:t>
            </a:r>
            <a:r>
              <a:rPr lang="en-US" altLang="zh-CN" dirty="0"/>
              <a:t>f≈42</a:t>
            </a:r>
            <a:r>
              <a:rPr lang="zh-CN" altLang="en-US" dirty="0"/>
              <a:t>％</a:t>
            </a:r>
            <a:endParaRPr lang="zh-CN" altLang="en-US" dirty="0"/>
          </a:p>
          <a:p>
            <a:pPr lvl="1"/>
            <a:r>
              <a:rPr lang="en-US" altLang="zh-CN" dirty="0"/>
              <a:t>B</a:t>
            </a:r>
            <a:r>
              <a:rPr lang="zh-CN" altLang="en-US" dirty="0"/>
              <a:t>．①</a:t>
            </a:r>
            <a:r>
              <a:rPr lang="en-US" altLang="zh-CN" dirty="0"/>
              <a:t>M=3</a:t>
            </a:r>
            <a:r>
              <a:rPr lang="zh-CN" altLang="en-US" dirty="0"/>
              <a:t>，</a:t>
            </a:r>
            <a:r>
              <a:rPr lang="en-US" altLang="zh-CN" dirty="0"/>
              <a:t>F=10</a:t>
            </a:r>
            <a:r>
              <a:rPr lang="zh-CN" altLang="en-US" dirty="0"/>
              <a:t>、</a:t>
            </a:r>
            <a:r>
              <a:rPr lang="en-US" altLang="zh-CN" dirty="0"/>
              <a:t>f=83</a:t>
            </a:r>
            <a:r>
              <a:rPr lang="zh-CN" altLang="en-US" dirty="0"/>
              <a:t>％ ②</a:t>
            </a:r>
            <a:r>
              <a:rPr lang="en-US" altLang="zh-CN" dirty="0"/>
              <a:t>M=4</a:t>
            </a:r>
            <a:r>
              <a:rPr lang="zh-CN" altLang="en-US" dirty="0"/>
              <a:t>，</a:t>
            </a:r>
            <a:r>
              <a:rPr lang="en-US" altLang="zh-CN" dirty="0"/>
              <a:t>F=8</a:t>
            </a:r>
            <a:r>
              <a:rPr lang="zh-CN" altLang="en-US" dirty="0"/>
              <a:t>、</a:t>
            </a:r>
            <a:r>
              <a:rPr lang="en-US" altLang="zh-CN" dirty="0"/>
              <a:t>f≈67</a:t>
            </a:r>
            <a:r>
              <a:rPr lang="zh-CN" altLang="en-US" dirty="0"/>
              <a:t>％</a:t>
            </a:r>
            <a:endParaRPr lang="zh-CN" altLang="en-US" dirty="0"/>
          </a:p>
          <a:p>
            <a:pPr lvl="1"/>
            <a:r>
              <a:rPr lang="en-US" altLang="zh-CN" dirty="0"/>
              <a:t>C</a:t>
            </a:r>
            <a:r>
              <a:rPr lang="zh-CN" altLang="en-US" dirty="0"/>
              <a:t>．①</a:t>
            </a:r>
            <a:r>
              <a:rPr lang="en-US" altLang="zh-CN" dirty="0"/>
              <a:t>M=3</a:t>
            </a:r>
            <a:r>
              <a:rPr lang="zh-CN" altLang="en-US" dirty="0"/>
              <a:t>，</a:t>
            </a:r>
            <a:r>
              <a:rPr lang="en-US" altLang="zh-CN" dirty="0"/>
              <a:t>F=9</a:t>
            </a:r>
            <a:r>
              <a:rPr lang="zh-CN" altLang="en-US" dirty="0"/>
              <a:t>、</a:t>
            </a:r>
            <a:r>
              <a:rPr lang="en-US" altLang="zh-CN" dirty="0"/>
              <a:t>f≈75</a:t>
            </a:r>
            <a:r>
              <a:rPr lang="zh-CN" altLang="en-US" dirty="0"/>
              <a:t>％ ②</a:t>
            </a:r>
            <a:r>
              <a:rPr lang="en-US" altLang="zh-CN" dirty="0"/>
              <a:t>M=4</a:t>
            </a:r>
            <a:r>
              <a:rPr lang="zh-CN" altLang="en-US" dirty="0"/>
              <a:t>，</a:t>
            </a:r>
            <a:r>
              <a:rPr lang="en-US" altLang="zh-CN" dirty="0"/>
              <a:t>F=IO</a:t>
            </a:r>
            <a:r>
              <a:rPr lang="zh-CN" altLang="en-US" dirty="0"/>
              <a:t>、</a:t>
            </a:r>
            <a:r>
              <a:rPr lang="en-US" altLang="zh-CN" dirty="0"/>
              <a:t>f≈83</a:t>
            </a:r>
            <a:r>
              <a:rPr lang="zh-CN" altLang="en-US" dirty="0"/>
              <a:t>％</a:t>
            </a:r>
            <a:endParaRPr lang="zh-CN" altLang="en-US" dirty="0"/>
          </a:p>
          <a:p>
            <a:pPr lvl="1"/>
            <a:r>
              <a:rPr lang="en-US" altLang="zh-CN" dirty="0"/>
              <a:t>D</a:t>
            </a:r>
            <a:r>
              <a:rPr lang="zh-CN" altLang="en-US" dirty="0"/>
              <a:t>．①</a:t>
            </a:r>
            <a:r>
              <a:rPr lang="en-US" altLang="zh-CN" dirty="0"/>
              <a:t>M=3</a:t>
            </a:r>
            <a:r>
              <a:rPr lang="zh-CN" altLang="en-US" dirty="0"/>
              <a:t>，</a:t>
            </a:r>
            <a:r>
              <a:rPr lang="en-US" altLang="zh-CN" dirty="0"/>
              <a:t>F=7</a:t>
            </a:r>
            <a:r>
              <a:rPr lang="zh-CN" altLang="en-US" dirty="0"/>
              <a:t>、</a:t>
            </a:r>
            <a:r>
              <a:rPr lang="en-US" altLang="zh-CN" dirty="0"/>
              <a:t>f≈58</a:t>
            </a:r>
            <a:r>
              <a:rPr lang="zh-CN" altLang="en-US" dirty="0"/>
              <a:t>％ ②</a:t>
            </a:r>
            <a:r>
              <a:rPr lang="en-US" altLang="zh-CN" dirty="0"/>
              <a:t>M=4</a:t>
            </a:r>
            <a:r>
              <a:rPr lang="zh-CN" altLang="en-US" dirty="0"/>
              <a:t>，</a:t>
            </a:r>
            <a:r>
              <a:rPr lang="en-US" altLang="zh-CN" dirty="0"/>
              <a:t>F=6</a:t>
            </a:r>
            <a:r>
              <a:rPr lang="zh-CN" altLang="en-US" dirty="0"/>
              <a:t>、</a:t>
            </a:r>
            <a:r>
              <a:rPr lang="en-US" altLang="zh-CN" dirty="0"/>
              <a:t>f=50</a:t>
            </a:r>
            <a:r>
              <a:rPr lang="zh-CN" altLang="en-US" dirty="0"/>
              <a:t>％</a:t>
            </a:r>
            <a:endParaRPr lang="zh-CN" altLang="en-US" dirty="0"/>
          </a:p>
          <a:p>
            <a:pPr lvl="1"/>
            <a:r>
              <a:rPr lang="zh-CN" altLang="en-US" dirty="0"/>
              <a:t>答案：</a:t>
            </a:r>
            <a:r>
              <a:rPr lang="en-US" altLang="zh-CN" dirty="0"/>
              <a:t>B</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514350" indent="-514350">
              <a:spcBef>
                <a:spcPts val="1200"/>
              </a:spcBef>
              <a:buClr>
                <a:schemeClr val="tx1"/>
              </a:buClr>
              <a:buFont typeface="+mj-lt"/>
              <a:buAutoNum type="arabicPeriod"/>
            </a:pPr>
            <a:r>
              <a:rPr lang="zh-CN" altLang="zh-CN" sz="3000" dirty="0"/>
              <a:t>虚拟设备是指被多个用户或进程交替使用的设备，宏观上好象多个用户同时在使用。</a:t>
            </a:r>
            <a:r>
              <a:rPr lang="en-US" altLang="zh-CN" sz="3000" dirty="0"/>
              <a:t>( T    </a:t>
            </a:r>
            <a:r>
              <a:rPr lang="zh-CN" altLang="zh-CN" sz="3000" dirty="0"/>
              <a:t>）</a:t>
            </a:r>
            <a:endParaRPr lang="en-US" altLang="zh-CN" sz="3000" dirty="0"/>
          </a:p>
          <a:p>
            <a:pPr marL="514350" indent="-514350">
              <a:spcBef>
                <a:spcPts val="1200"/>
              </a:spcBef>
              <a:buClr>
                <a:schemeClr val="tx1"/>
              </a:buClr>
              <a:buFont typeface="+mj-lt"/>
              <a:buAutoNum type="arabicPeriod"/>
            </a:pPr>
            <a:r>
              <a:rPr lang="zh-CN" altLang="zh-CN" sz="3000" dirty="0"/>
              <a:t>通道技术根本上是从软件上解决操作系统</a:t>
            </a:r>
            <a:r>
              <a:rPr lang="zh-CN" altLang="zh-CN" sz="3000" dirty="0">
                <a:solidFill>
                  <a:srgbClr val="FF0000"/>
                </a:solidFill>
              </a:rPr>
              <a:t>（</a:t>
            </a:r>
            <a:r>
              <a:rPr lang="en-US" altLang="zh-CN" sz="3000" dirty="0">
                <a:solidFill>
                  <a:srgbClr val="FF0000"/>
                </a:solidFill>
              </a:rPr>
              <a:t>CPU</a:t>
            </a:r>
            <a:r>
              <a:rPr lang="zh-CN" altLang="zh-CN" sz="3000" dirty="0">
                <a:solidFill>
                  <a:srgbClr val="FF0000"/>
                </a:solidFill>
              </a:rPr>
              <a:t>）</a:t>
            </a:r>
            <a:r>
              <a:rPr lang="zh-CN" altLang="zh-CN" sz="3000" dirty="0"/>
              <a:t>对输入输出操作的控制问题。（</a:t>
            </a:r>
            <a:r>
              <a:rPr lang="en-US" altLang="zh-CN" sz="3000" dirty="0"/>
              <a:t>  F  </a:t>
            </a:r>
            <a:r>
              <a:rPr lang="zh-CN" altLang="zh-CN" sz="3000" dirty="0"/>
              <a:t>）</a:t>
            </a:r>
            <a:endParaRPr lang="en-US" altLang="zh-CN" sz="3000" dirty="0"/>
          </a:p>
          <a:p>
            <a:pPr marL="514350" indent="-514350">
              <a:spcBef>
                <a:spcPts val="1200"/>
              </a:spcBef>
              <a:buClr>
                <a:schemeClr val="tx1"/>
              </a:buClr>
              <a:buFont typeface="+mj-lt"/>
              <a:buAutoNum type="arabicPeriod"/>
            </a:pPr>
            <a:r>
              <a:rPr lang="zh-CN" altLang="zh-CN" sz="3000" dirty="0"/>
              <a:t>逻辑设备是物理设备属性的表示，用来指定某一</a:t>
            </a:r>
            <a:r>
              <a:rPr lang="zh-CN" altLang="zh-CN" sz="3000" dirty="0">
                <a:solidFill>
                  <a:srgbClr val="FF0000"/>
                </a:solidFill>
              </a:rPr>
              <a:t>（类）</a:t>
            </a:r>
            <a:r>
              <a:rPr lang="zh-CN" altLang="zh-CN" sz="3000" dirty="0"/>
              <a:t>具体设备。（</a:t>
            </a:r>
            <a:r>
              <a:rPr lang="en-US" altLang="zh-CN" sz="3000" dirty="0"/>
              <a:t> F   </a:t>
            </a:r>
            <a:r>
              <a:rPr lang="zh-CN" altLang="zh-CN" sz="3000" dirty="0"/>
              <a:t>）</a:t>
            </a:r>
            <a:endParaRPr lang="en-US" altLang="zh-CN" sz="3000" dirty="0"/>
          </a:p>
          <a:p>
            <a:pPr marL="514350" indent="-514350">
              <a:spcBef>
                <a:spcPts val="1200"/>
              </a:spcBef>
              <a:buClr>
                <a:schemeClr val="tx1"/>
              </a:buClr>
              <a:buFont typeface="+mj-lt"/>
              <a:buAutoNum type="arabicPeriod"/>
            </a:pPr>
            <a:r>
              <a:rPr lang="zh-CN" altLang="zh-CN" sz="3000" dirty="0"/>
              <a:t>从设备的资源属性分类，可把设备分为独占设备、共享设备和虚拟设备。（</a:t>
            </a:r>
            <a:r>
              <a:rPr lang="en-US" altLang="zh-CN" sz="3000" dirty="0"/>
              <a:t>  T   </a:t>
            </a:r>
            <a:r>
              <a:rPr lang="zh-CN" altLang="zh-CN" sz="3000" dirty="0"/>
              <a:t>）</a:t>
            </a:r>
            <a:endParaRPr lang="en-US" altLang="zh-CN" sz="3000" dirty="0"/>
          </a:p>
          <a:p>
            <a:pPr marL="514350" indent="-514350">
              <a:spcBef>
                <a:spcPts val="1200"/>
              </a:spcBef>
              <a:buClr>
                <a:schemeClr val="tx1"/>
              </a:buClr>
              <a:buFont typeface="+mj-lt"/>
              <a:buAutoNum type="arabicPeriod"/>
            </a:pPr>
            <a:r>
              <a:rPr lang="zh-CN" altLang="zh-CN" sz="3000" dirty="0"/>
              <a:t>用户在使用</a:t>
            </a:r>
            <a:r>
              <a:rPr lang="en-US" altLang="zh-CN" sz="3000" dirty="0"/>
              <a:t>I/O</a:t>
            </a:r>
            <a:r>
              <a:rPr lang="zh-CN" altLang="zh-CN" sz="3000" dirty="0"/>
              <a:t>设备时，通常采用物理</a:t>
            </a:r>
            <a:r>
              <a:rPr lang="zh-CN" altLang="zh-CN" sz="3000" dirty="0">
                <a:solidFill>
                  <a:srgbClr val="FF0000"/>
                </a:solidFill>
              </a:rPr>
              <a:t>（逻辑）</a:t>
            </a:r>
            <a:r>
              <a:rPr lang="zh-CN" altLang="zh-CN" sz="3000" dirty="0"/>
              <a:t>设备名，指明具体的设备。（</a:t>
            </a:r>
            <a:r>
              <a:rPr lang="en-US" altLang="zh-CN" sz="3000" dirty="0"/>
              <a:t> F   </a:t>
            </a:r>
            <a:r>
              <a:rPr lang="zh-CN" altLang="zh-CN" sz="3000" dirty="0"/>
              <a:t>）</a:t>
            </a:r>
            <a:endParaRPr lang="zh-CN" altLang="zh-CN" sz="3000" dirty="0"/>
          </a:p>
          <a:p>
            <a:pPr marL="514350" indent="-514350">
              <a:spcBef>
                <a:spcPts val="1200"/>
              </a:spcBef>
              <a:buClr>
                <a:schemeClr val="tx1"/>
              </a:buClr>
              <a:buFont typeface="+mj-lt"/>
              <a:buAutoNum type="arabicPeriod"/>
            </a:pPr>
            <a:endParaRPr lang="en-US" altLang="zh-CN" sz="3000" dirty="0"/>
          </a:p>
          <a:p>
            <a:endParaRPr lang="zh-CN" altLang="en-US" sz="3000" dirty="0"/>
          </a:p>
        </p:txBody>
      </p:sp>
      <p:sp>
        <p:nvSpPr>
          <p:cNvPr id="3" name="标题 2"/>
          <p:cNvSpPr>
            <a:spLocks noGrp="1"/>
          </p:cNvSpPr>
          <p:nvPr>
            <p:ph type="title"/>
          </p:nvPr>
        </p:nvSpPr>
        <p:spPr/>
        <p:txBody>
          <a:bodyPr/>
          <a:lstStyle/>
          <a:p>
            <a:r>
              <a:rPr lang="zh-CN" altLang="en-US" dirty="0"/>
              <a:t>课堂练习</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36211" y="1311567"/>
            <a:ext cx="10770648" cy="5157643"/>
          </a:xfrm>
        </p:spPr>
        <p:txBody>
          <a:bodyPr/>
          <a:lstStyle/>
          <a:p>
            <a:pPr marL="742950" lvl="0" indent="-742950" algn="just">
              <a:spcAft>
                <a:spcPts val="1800"/>
              </a:spcAft>
              <a:buFont typeface="+mj-lt"/>
              <a:buAutoNum type="arabicPeriod"/>
              <a:tabLst>
                <a:tab pos="457200" algn="l"/>
              </a:tabLst>
            </a:pPr>
            <a:r>
              <a:rPr lang="zh-CN" altLang="zh-CN" kern="100" dirty="0">
                <a:cs typeface="Times New Roman" panose="02020603050405020304" pitchFamily="18" charset="0"/>
              </a:rPr>
              <a:t>什么是中断？系统内部中断与外部中断有什么区别？</a:t>
            </a:r>
            <a:endParaRPr lang="en-US" altLang="zh-CN" kern="100" dirty="0">
              <a:cs typeface="Times New Roman" panose="02020603050405020304" pitchFamily="18" charset="0"/>
            </a:endParaRPr>
          </a:p>
          <a:p>
            <a:pPr marL="742950" lvl="0" indent="-742950" algn="just">
              <a:spcAft>
                <a:spcPts val="1800"/>
              </a:spcAft>
              <a:buFont typeface="+mj-lt"/>
              <a:buAutoNum type="arabicPeriod"/>
              <a:tabLst>
                <a:tab pos="457200" algn="l"/>
              </a:tabLst>
            </a:pPr>
            <a:r>
              <a:rPr lang="zh-CN" altLang="zh-CN" dirty="0">
                <a:cs typeface="Times New Roman" panose="02020603050405020304" pitchFamily="18" charset="0"/>
              </a:rPr>
              <a:t>缺页中断与一般中断的主要区别</a:t>
            </a:r>
            <a:r>
              <a:rPr lang="zh-CN" altLang="en-US" dirty="0">
                <a:cs typeface="Times New Roman" panose="02020603050405020304" pitchFamily="18" charset="0"/>
              </a:rPr>
              <a:t>是什么？</a:t>
            </a:r>
            <a:endParaRPr lang="en-US" altLang="zh-CN" dirty="0">
              <a:cs typeface="Times New Roman" panose="02020603050405020304" pitchFamily="18" charset="0"/>
            </a:endParaRPr>
          </a:p>
          <a:p>
            <a:pPr marL="742950" lvl="0" indent="-742950" algn="just">
              <a:spcAft>
                <a:spcPts val="1800"/>
              </a:spcAft>
              <a:buFont typeface="+mj-lt"/>
              <a:buAutoNum type="arabicPeriod"/>
              <a:tabLst>
                <a:tab pos="457200" algn="l"/>
              </a:tabLst>
            </a:pPr>
            <a:r>
              <a:rPr lang="zh-CN" altLang="zh-CN" dirty="0">
                <a:cs typeface="Times New Roman" panose="02020603050405020304" pitchFamily="18" charset="0"/>
              </a:rPr>
              <a:t>什么是设备的独立性？</a:t>
            </a:r>
            <a:endParaRPr lang="en-US" altLang="zh-CN" dirty="0">
              <a:cs typeface="Times New Roman" panose="02020603050405020304" pitchFamily="18" charset="0"/>
            </a:endParaRPr>
          </a:p>
          <a:p>
            <a:pPr marL="742950" lvl="0" indent="-742950" algn="just">
              <a:spcAft>
                <a:spcPts val="1800"/>
              </a:spcAft>
              <a:buFont typeface="+mj-lt"/>
              <a:buAutoNum type="arabicPeriod"/>
              <a:tabLst>
                <a:tab pos="457200" algn="l"/>
              </a:tabLst>
            </a:pPr>
            <a:r>
              <a:rPr lang="en-US" altLang="zh-CN" dirty="0">
                <a:cs typeface="Times New Roman" panose="02020603050405020304" pitchFamily="18" charset="0"/>
              </a:rPr>
              <a:t>I/O</a:t>
            </a:r>
            <a:r>
              <a:rPr lang="zh-CN" altLang="zh-CN" dirty="0">
                <a:cs typeface="Times New Roman" panose="02020603050405020304" pitchFamily="18" charset="0"/>
              </a:rPr>
              <a:t>控制方式中的中断控制方式和</a:t>
            </a:r>
            <a:r>
              <a:rPr lang="en-US" altLang="zh-CN" dirty="0">
                <a:cs typeface="Times New Roman" panose="02020603050405020304" pitchFamily="18" charset="0"/>
              </a:rPr>
              <a:t>DMA</a:t>
            </a:r>
            <a:r>
              <a:rPr lang="zh-CN" altLang="zh-CN" dirty="0">
                <a:cs typeface="Times New Roman" panose="02020603050405020304" pitchFamily="18" charset="0"/>
              </a:rPr>
              <a:t>方式</a:t>
            </a:r>
            <a:r>
              <a:rPr lang="zh-CN" altLang="en-US" dirty="0">
                <a:cs typeface="Times New Roman" panose="02020603050405020304" pitchFamily="18" charset="0"/>
              </a:rPr>
              <a:t>有什么不同？</a:t>
            </a:r>
            <a:endParaRPr lang="zh-CN" altLang="zh-CN" kern="100" dirty="0">
              <a:cs typeface="Times New Roman" panose="02020603050405020304" pitchFamily="18" charset="0"/>
            </a:endParaRPr>
          </a:p>
          <a:p>
            <a:endParaRPr lang="zh-CN" altLang="en-US" dirty="0"/>
          </a:p>
        </p:txBody>
      </p:sp>
      <p:sp>
        <p:nvSpPr>
          <p:cNvPr id="3" name="标题 2"/>
          <p:cNvSpPr>
            <a:spLocks noGrp="1"/>
          </p:cNvSpPr>
          <p:nvPr>
            <p:ph type="title"/>
          </p:nvPr>
        </p:nvSpPr>
        <p:spPr/>
        <p:txBody>
          <a:bodyPr/>
          <a:lstStyle/>
          <a:p>
            <a:r>
              <a:rPr lang="zh-CN" altLang="en-US" dirty="0"/>
              <a:t>课堂练习</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49571" y="1311567"/>
            <a:ext cx="4956882" cy="5157643"/>
          </a:xfrm>
        </p:spPr>
        <p:txBody>
          <a:bodyPr/>
          <a:lstStyle/>
          <a:p>
            <a:r>
              <a:rPr lang="en-US" altLang="zh-CN" dirty="0"/>
              <a:t>★</a:t>
            </a:r>
            <a:r>
              <a:rPr lang="zh-CN" altLang="en-US" dirty="0"/>
              <a:t>根据进程请求访问磁盘的先后次序进行调度。</a:t>
            </a:r>
            <a:r>
              <a:rPr lang="zh-CN" altLang="en-US" dirty="0">
                <a:solidFill>
                  <a:srgbClr val="0000FF"/>
                </a:solidFill>
                <a:effectLst>
                  <a:outerShdw blurRad="38100" dist="38100" dir="2700000" algn="tl">
                    <a:srgbClr val="C0C0C0"/>
                  </a:outerShdw>
                </a:effectLst>
              </a:rPr>
              <a:t>此算法的优点</a:t>
            </a:r>
            <a:r>
              <a:rPr lang="zh-CN" altLang="en-US" dirty="0"/>
              <a:t>是公平、简单，且每个进程的请求都能依次地得到处理，不会出现某一进程的请求长期得不到满足的情况。</a:t>
            </a:r>
            <a:endParaRPr lang="zh-CN" altLang="en-US" dirty="0"/>
          </a:p>
          <a:p>
            <a:endParaRPr lang="zh-CN" altLang="en-US" dirty="0"/>
          </a:p>
          <a:p>
            <a:pPr marL="0" indent="0">
              <a:buNone/>
            </a:pPr>
            <a:r>
              <a:rPr lang="zh-CN" altLang="en-US" dirty="0"/>
              <a:t>（移动距离即磁道数 为起止差值的绝对值）</a:t>
            </a:r>
            <a:endParaRPr lang="zh-CN" altLang="en-US" dirty="0"/>
          </a:p>
          <a:p>
            <a:endParaRPr lang="zh-CN" altLang="en-US" dirty="0"/>
          </a:p>
        </p:txBody>
      </p:sp>
      <p:sp>
        <p:nvSpPr>
          <p:cNvPr id="3" name="标题 2"/>
          <p:cNvSpPr>
            <a:spLocks noGrp="1"/>
          </p:cNvSpPr>
          <p:nvPr>
            <p:ph type="title"/>
          </p:nvPr>
        </p:nvSpPr>
        <p:spPr>
          <a:xfrm>
            <a:off x="1706881" y="188915"/>
            <a:ext cx="5379720" cy="549275"/>
          </a:xfrm>
        </p:spPr>
        <p:txBody>
          <a:bodyPr/>
          <a:lstStyle/>
          <a:p>
            <a:pPr algn="l"/>
            <a:r>
              <a:rPr lang="en-US" altLang="zh-CN" dirty="0"/>
              <a:t>1</a:t>
            </a:r>
            <a:r>
              <a:rPr lang="zh-CN" altLang="en-US" dirty="0"/>
              <a:t>．先来先服务</a:t>
            </a:r>
            <a:r>
              <a:rPr lang="en-US" altLang="zh-CN" dirty="0"/>
              <a:t>FCFS </a:t>
            </a:r>
            <a:endParaRPr lang="zh-CN" altLang="en-US" dirty="0"/>
          </a:p>
        </p:txBody>
      </p:sp>
      <p:pic>
        <p:nvPicPr>
          <p:cNvPr id="4"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5714"/>
          <a:stretch>
            <a:fillRect/>
          </a:stretch>
        </p:blipFill>
        <p:spPr bwMode="auto">
          <a:xfrm>
            <a:off x="7278053" y="1524000"/>
            <a:ext cx="4471987" cy="5029200"/>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5"/>
          <p:cNvSpPr>
            <a:spLocks noChangeArrowheads="1"/>
          </p:cNvSpPr>
          <p:nvPr/>
        </p:nvSpPr>
        <p:spPr bwMode="auto">
          <a:xfrm>
            <a:off x="8244840" y="2743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6" name="Rectangle 6"/>
          <p:cNvSpPr>
            <a:spLocks noChangeArrowheads="1"/>
          </p:cNvSpPr>
          <p:nvPr/>
        </p:nvSpPr>
        <p:spPr bwMode="auto">
          <a:xfrm>
            <a:off x="10378440" y="2743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7" name="Rectangle 7"/>
          <p:cNvSpPr>
            <a:spLocks noChangeArrowheads="1"/>
          </p:cNvSpPr>
          <p:nvPr/>
        </p:nvSpPr>
        <p:spPr bwMode="auto">
          <a:xfrm>
            <a:off x="8244840" y="3124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8" name="Rectangle 8"/>
          <p:cNvSpPr>
            <a:spLocks noChangeArrowheads="1"/>
          </p:cNvSpPr>
          <p:nvPr/>
        </p:nvSpPr>
        <p:spPr bwMode="auto">
          <a:xfrm>
            <a:off x="10302240" y="3124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9" name="Rectangle 9"/>
          <p:cNvSpPr>
            <a:spLocks noChangeArrowheads="1"/>
          </p:cNvSpPr>
          <p:nvPr/>
        </p:nvSpPr>
        <p:spPr bwMode="auto">
          <a:xfrm>
            <a:off x="8244840" y="3505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0" name="Rectangle 10"/>
          <p:cNvSpPr>
            <a:spLocks noChangeArrowheads="1"/>
          </p:cNvSpPr>
          <p:nvPr/>
        </p:nvSpPr>
        <p:spPr bwMode="auto">
          <a:xfrm>
            <a:off x="10378440" y="3505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1" name="Rectangle 11"/>
          <p:cNvSpPr>
            <a:spLocks noChangeArrowheads="1"/>
          </p:cNvSpPr>
          <p:nvPr/>
        </p:nvSpPr>
        <p:spPr bwMode="auto">
          <a:xfrm>
            <a:off x="8244840" y="3886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2" name="Rectangle 12"/>
          <p:cNvSpPr>
            <a:spLocks noChangeArrowheads="1"/>
          </p:cNvSpPr>
          <p:nvPr/>
        </p:nvSpPr>
        <p:spPr bwMode="auto">
          <a:xfrm>
            <a:off x="10302240" y="3886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3" name="Rectangle 13"/>
          <p:cNvSpPr>
            <a:spLocks noChangeArrowheads="1"/>
          </p:cNvSpPr>
          <p:nvPr/>
        </p:nvSpPr>
        <p:spPr bwMode="auto">
          <a:xfrm>
            <a:off x="8244840" y="4267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4" name="Rectangle 14"/>
          <p:cNvSpPr>
            <a:spLocks noChangeArrowheads="1"/>
          </p:cNvSpPr>
          <p:nvPr/>
        </p:nvSpPr>
        <p:spPr bwMode="auto">
          <a:xfrm>
            <a:off x="10302240" y="4267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5" name="Rectangle 15"/>
          <p:cNvSpPr>
            <a:spLocks noChangeArrowheads="1"/>
          </p:cNvSpPr>
          <p:nvPr/>
        </p:nvSpPr>
        <p:spPr bwMode="auto">
          <a:xfrm>
            <a:off x="8244840" y="4648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6" name="Rectangle 16"/>
          <p:cNvSpPr>
            <a:spLocks noChangeArrowheads="1"/>
          </p:cNvSpPr>
          <p:nvPr/>
        </p:nvSpPr>
        <p:spPr bwMode="auto">
          <a:xfrm>
            <a:off x="10302240" y="4648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7" name="Rectangle 17"/>
          <p:cNvSpPr>
            <a:spLocks noChangeArrowheads="1"/>
          </p:cNvSpPr>
          <p:nvPr/>
        </p:nvSpPr>
        <p:spPr bwMode="auto">
          <a:xfrm>
            <a:off x="8244840" y="5029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8" name="Rectangle 18"/>
          <p:cNvSpPr>
            <a:spLocks noChangeArrowheads="1"/>
          </p:cNvSpPr>
          <p:nvPr/>
        </p:nvSpPr>
        <p:spPr bwMode="auto">
          <a:xfrm>
            <a:off x="10302240" y="502920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19" name="Rectangle 19"/>
          <p:cNvSpPr>
            <a:spLocks noChangeArrowheads="1"/>
          </p:cNvSpPr>
          <p:nvPr/>
        </p:nvSpPr>
        <p:spPr bwMode="auto">
          <a:xfrm>
            <a:off x="8244840" y="539496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20" name="Rectangle 20"/>
          <p:cNvSpPr>
            <a:spLocks noChangeArrowheads="1"/>
          </p:cNvSpPr>
          <p:nvPr/>
        </p:nvSpPr>
        <p:spPr bwMode="auto">
          <a:xfrm>
            <a:off x="10302240" y="537464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1" name="Rectangle 21"/>
          <p:cNvSpPr>
            <a:spLocks noChangeArrowheads="1"/>
          </p:cNvSpPr>
          <p:nvPr/>
        </p:nvSpPr>
        <p:spPr bwMode="auto">
          <a:xfrm>
            <a:off x="8244840" y="577596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22" name="Rectangle 22"/>
          <p:cNvSpPr>
            <a:spLocks noChangeArrowheads="1"/>
          </p:cNvSpPr>
          <p:nvPr/>
        </p:nvSpPr>
        <p:spPr bwMode="auto">
          <a:xfrm>
            <a:off x="10302240" y="578104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23" name="Rectangle 23"/>
          <p:cNvSpPr>
            <a:spLocks noChangeArrowheads="1"/>
          </p:cNvSpPr>
          <p:nvPr/>
        </p:nvSpPr>
        <p:spPr bwMode="auto">
          <a:xfrm>
            <a:off x="9966960" y="6141720"/>
            <a:ext cx="3810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24" name="矩形 23"/>
          <p:cNvSpPr/>
          <p:nvPr/>
        </p:nvSpPr>
        <p:spPr>
          <a:xfrm>
            <a:off x="7278053" y="511940"/>
            <a:ext cx="4471987" cy="892552"/>
          </a:xfrm>
          <a:prstGeom prst="rect">
            <a:avLst/>
          </a:prstGeom>
          <a:solidFill>
            <a:schemeClr val="bg1"/>
          </a:solidFill>
        </p:spPr>
        <p:txBody>
          <a:bodyPr wrap="square">
            <a:spAutoFit/>
          </a:bodyPr>
          <a:lstStyle/>
          <a:p>
            <a:r>
              <a:rPr lang="zh-CN" altLang="en-US" sz="2600" b="1" dirty="0">
                <a:latin typeface="黑体" panose="02010609060101010101" pitchFamily="2" charset="-122"/>
              </a:rPr>
              <a:t>请求序列：</a:t>
            </a:r>
            <a:r>
              <a:rPr lang="en-US" altLang="zh-CN" sz="2600" b="1" dirty="0">
                <a:latin typeface="黑体" panose="02010609060101010101" pitchFamily="2" charset="-122"/>
              </a:rPr>
              <a:t>55</a:t>
            </a:r>
            <a:r>
              <a:rPr lang="zh-CN" altLang="zh-CN" sz="2600" b="1" dirty="0">
                <a:latin typeface="黑体" panose="02010609060101010101" pitchFamily="2" charset="-122"/>
              </a:rPr>
              <a:t>,</a:t>
            </a:r>
            <a:r>
              <a:rPr lang="en-US" altLang="zh-CN" sz="2600" b="1" dirty="0">
                <a:latin typeface="黑体" panose="02010609060101010101" pitchFamily="2" charset="-122"/>
              </a:rPr>
              <a:t>5</a:t>
            </a:r>
            <a:r>
              <a:rPr lang="zh-CN" altLang="zh-CN" sz="2600" b="1" dirty="0">
                <a:latin typeface="黑体" panose="02010609060101010101" pitchFamily="2" charset="-122"/>
              </a:rPr>
              <a:t>8,</a:t>
            </a:r>
            <a:r>
              <a:rPr lang="en-US" altLang="zh-CN" sz="2600" b="1" dirty="0">
                <a:latin typeface="黑体" panose="02010609060101010101" pitchFamily="2" charset="-122"/>
              </a:rPr>
              <a:t>39</a:t>
            </a:r>
            <a:r>
              <a:rPr lang="zh-CN" altLang="zh-CN" sz="2600" b="1" dirty="0">
                <a:latin typeface="黑体" panose="02010609060101010101" pitchFamily="2" charset="-122"/>
              </a:rPr>
              <a:t>,</a:t>
            </a:r>
            <a:endParaRPr lang="en-US" altLang="zh-CN" sz="2600" b="1" dirty="0">
              <a:latin typeface="黑体" panose="02010609060101010101" pitchFamily="2" charset="-122"/>
            </a:endParaRPr>
          </a:p>
          <a:p>
            <a:r>
              <a:rPr lang="en-US" altLang="zh-CN" sz="2600" b="1" dirty="0">
                <a:latin typeface="黑体" panose="02010609060101010101" pitchFamily="2" charset="-122"/>
              </a:rPr>
              <a:t>18</a:t>
            </a:r>
            <a:r>
              <a:rPr lang="zh-CN" altLang="zh-CN" sz="2600" b="1" dirty="0">
                <a:latin typeface="黑体" panose="02010609060101010101" pitchFamily="2" charset="-122"/>
              </a:rPr>
              <a:t>,</a:t>
            </a:r>
            <a:r>
              <a:rPr lang="en-US" altLang="zh-CN" sz="2600" b="1" dirty="0">
                <a:latin typeface="黑体" panose="02010609060101010101" pitchFamily="2" charset="-122"/>
              </a:rPr>
              <a:t>90</a:t>
            </a:r>
            <a:r>
              <a:rPr lang="zh-CN" altLang="zh-CN" sz="2600" b="1" dirty="0">
                <a:latin typeface="黑体" panose="02010609060101010101" pitchFamily="2" charset="-122"/>
              </a:rPr>
              <a:t>,</a:t>
            </a:r>
            <a:r>
              <a:rPr lang="en-US" altLang="zh-CN" sz="2600" b="1" dirty="0">
                <a:latin typeface="黑体" panose="02010609060101010101" pitchFamily="2" charset="-122"/>
              </a:rPr>
              <a:t>160</a:t>
            </a:r>
            <a:r>
              <a:rPr lang="zh-CN" altLang="zh-CN" sz="2600" b="1" dirty="0">
                <a:latin typeface="黑体" panose="02010609060101010101" pitchFamily="2" charset="-122"/>
              </a:rPr>
              <a:t>,</a:t>
            </a:r>
            <a:r>
              <a:rPr lang="en-US" altLang="zh-CN" sz="2600" b="1" dirty="0">
                <a:latin typeface="黑体" panose="02010609060101010101" pitchFamily="2" charset="-122"/>
              </a:rPr>
              <a:t>150</a:t>
            </a:r>
            <a:r>
              <a:rPr lang="zh-CN" altLang="zh-CN" sz="2600" b="1" dirty="0">
                <a:latin typeface="黑体" panose="02010609060101010101" pitchFamily="2" charset="-122"/>
              </a:rPr>
              <a:t>,</a:t>
            </a:r>
            <a:r>
              <a:rPr lang="en-US" altLang="zh-CN" sz="2600" b="1" dirty="0">
                <a:latin typeface="黑体" panose="02010609060101010101" pitchFamily="2" charset="-122"/>
              </a:rPr>
              <a:t>38</a:t>
            </a:r>
            <a:r>
              <a:rPr lang="zh-CN" altLang="zh-CN" sz="2600" b="1" dirty="0">
                <a:latin typeface="黑体" panose="02010609060101010101" pitchFamily="2" charset="-122"/>
              </a:rPr>
              <a:t>,</a:t>
            </a:r>
            <a:r>
              <a:rPr lang="en-US" altLang="zh-CN" sz="2600" b="1" dirty="0">
                <a:latin typeface="黑体" panose="02010609060101010101" pitchFamily="2" charset="-122"/>
              </a:rPr>
              <a:t>184 </a:t>
            </a:r>
            <a:endParaRPr lang="zh-CN" altLang="en-US" sz="26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ppt_x"/>
                                          </p:val>
                                        </p:tav>
                                        <p:tav tm="100000">
                                          <p:val>
                                            <p:strVal val="#ppt_x"/>
                                          </p:val>
                                        </p:tav>
                                      </p:tavLst>
                                    </p:anim>
                                    <p:anim calcmode="lin" valueType="num">
                                      <p:cBhvr additive="base">
                                        <p:cTn id="1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xit" presetSubtype="16" fill="hold" grpId="0" nodeType="clickEffect">
                                  <p:stCondLst>
                                    <p:cond delay="0"/>
                                  </p:stCondLst>
                                  <p:childTnLst>
                                    <p:animEffect transition="out" filter="box(in)">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4" presetClass="exit" presetSubtype="16" fill="hold" grpId="0" nodeType="clickEffect">
                                  <p:stCondLst>
                                    <p:cond delay="0"/>
                                  </p:stCondLst>
                                  <p:childTnLst>
                                    <p:animEffect transition="out" filter="box(in)">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 presetClass="exit" presetSubtype="16" fill="hold" grpId="0" nodeType="clickEffect">
                                  <p:stCondLst>
                                    <p:cond delay="0"/>
                                  </p:stCondLst>
                                  <p:childTnLst>
                                    <p:animEffect transition="out" filter="box(in)">
                                      <p:cBhvr>
                                        <p:cTn id="27" dur="500"/>
                                        <p:tgtEl>
                                          <p:spTgt spid="7"/>
                                        </p:tgtEl>
                                      </p:cBhvr>
                                    </p:animEffect>
                                    <p:set>
                                      <p:cBhvr>
                                        <p:cTn id="28" dur="1" fill="hold">
                                          <p:stCondLst>
                                            <p:cond delay="499"/>
                                          </p:stCondLst>
                                        </p:cTn>
                                        <p:tgtEl>
                                          <p:spTgt spid="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4" presetClass="exit" presetSubtype="16" fill="hold" grpId="0" nodeType="clickEffect">
                                  <p:stCondLst>
                                    <p:cond delay="0"/>
                                  </p:stCondLst>
                                  <p:childTnLst>
                                    <p:animEffect transition="out" filter="box(in)">
                                      <p:cBhvr>
                                        <p:cTn id="32" dur="500"/>
                                        <p:tgtEl>
                                          <p:spTgt spid="8"/>
                                        </p:tgtEl>
                                      </p:cBhvr>
                                    </p:animEffect>
                                    <p:set>
                                      <p:cBhvr>
                                        <p:cTn id="33" dur="1" fill="hold">
                                          <p:stCondLst>
                                            <p:cond delay="499"/>
                                          </p:stCondLst>
                                        </p:cTn>
                                        <p:tgtEl>
                                          <p:spTgt spid="8"/>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4" presetClass="exit" presetSubtype="16" fill="hold" grpId="0" nodeType="clickEffect">
                                  <p:stCondLst>
                                    <p:cond delay="0"/>
                                  </p:stCondLst>
                                  <p:childTnLst>
                                    <p:animEffect transition="out" filter="box(in)">
                                      <p:cBhvr>
                                        <p:cTn id="37" dur="500"/>
                                        <p:tgtEl>
                                          <p:spTgt spid="9"/>
                                        </p:tgtEl>
                                      </p:cBhvr>
                                    </p:animEffect>
                                    <p:set>
                                      <p:cBhvr>
                                        <p:cTn id="38" dur="1" fill="hold">
                                          <p:stCondLst>
                                            <p:cond delay="499"/>
                                          </p:stCondLst>
                                        </p:cTn>
                                        <p:tgtEl>
                                          <p:spTgt spid="9"/>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4" presetClass="exit" presetSubtype="16" fill="hold" grpId="0" nodeType="clickEffect">
                                  <p:stCondLst>
                                    <p:cond delay="0"/>
                                  </p:stCondLst>
                                  <p:childTnLst>
                                    <p:animEffect transition="out" filter="box(in)">
                                      <p:cBhvr>
                                        <p:cTn id="42" dur="500"/>
                                        <p:tgtEl>
                                          <p:spTgt spid="10"/>
                                        </p:tgtEl>
                                      </p:cBhvr>
                                    </p:animEffect>
                                    <p:set>
                                      <p:cBhvr>
                                        <p:cTn id="43" dur="1" fill="hold">
                                          <p:stCondLst>
                                            <p:cond delay="499"/>
                                          </p:stCondLst>
                                        </p:cTn>
                                        <p:tgtEl>
                                          <p:spTgt spid="10"/>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4" presetClass="exit" presetSubtype="16" fill="hold" grpId="0" nodeType="clickEffect">
                                  <p:stCondLst>
                                    <p:cond delay="0"/>
                                  </p:stCondLst>
                                  <p:childTnLst>
                                    <p:animEffect transition="out" filter="box(in)">
                                      <p:cBhvr>
                                        <p:cTn id="47" dur="500"/>
                                        <p:tgtEl>
                                          <p:spTgt spid="11"/>
                                        </p:tgtEl>
                                      </p:cBhvr>
                                    </p:animEffect>
                                    <p:set>
                                      <p:cBhvr>
                                        <p:cTn id="48" dur="1" fill="hold">
                                          <p:stCondLst>
                                            <p:cond delay="499"/>
                                          </p:stCondLst>
                                        </p:cTn>
                                        <p:tgtEl>
                                          <p:spTgt spid="11"/>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4" presetClass="exit" presetSubtype="16" fill="hold" grpId="0" nodeType="clickEffect">
                                  <p:stCondLst>
                                    <p:cond delay="0"/>
                                  </p:stCondLst>
                                  <p:childTnLst>
                                    <p:animEffect transition="out" filter="box(in)">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4" presetClass="exit" presetSubtype="16" fill="hold" grpId="0" nodeType="clickEffect">
                                  <p:stCondLst>
                                    <p:cond delay="0"/>
                                  </p:stCondLst>
                                  <p:childTnLst>
                                    <p:animEffect transition="out" filter="box(in)">
                                      <p:cBhvr>
                                        <p:cTn id="57" dur="500"/>
                                        <p:tgtEl>
                                          <p:spTgt spid="13"/>
                                        </p:tgtEl>
                                      </p:cBhvr>
                                    </p:animEffect>
                                    <p:set>
                                      <p:cBhvr>
                                        <p:cTn id="58" dur="1" fill="hold">
                                          <p:stCondLst>
                                            <p:cond delay="499"/>
                                          </p:stCondLst>
                                        </p:cTn>
                                        <p:tgtEl>
                                          <p:spTgt spid="1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4" presetClass="exit" presetSubtype="16" fill="hold" grpId="0" nodeType="clickEffect">
                                  <p:stCondLst>
                                    <p:cond delay="0"/>
                                  </p:stCondLst>
                                  <p:childTnLst>
                                    <p:animEffect transition="out" filter="box(in)">
                                      <p:cBhvr>
                                        <p:cTn id="62" dur="500"/>
                                        <p:tgtEl>
                                          <p:spTgt spid="14"/>
                                        </p:tgtEl>
                                      </p:cBhvr>
                                    </p:animEffect>
                                    <p:set>
                                      <p:cBhvr>
                                        <p:cTn id="63" dur="1" fill="hold">
                                          <p:stCondLst>
                                            <p:cond delay="499"/>
                                          </p:stCondLst>
                                        </p:cTn>
                                        <p:tgtEl>
                                          <p:spTgt spid="14"/>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4" presetClass="exit" presetSubtype="16" fill="hold" grpId="0" nodeType="clickEffect">
                                  <p:stCondLst>
                                    <p:cond delay="0"/>
                                  </p:stCondLst>
                                  <p:childTnLst>
                                    <p:animEffect transition="out" filter="box(in)">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4" presetClass="exit" presetSubtype="16" fill="hold" grpId="0" nodeType="clickEffect">
                                  <p:stCondLst>
                                    <p:cond delay="0"/>
                                  </p:stCondLst>
                                  <p:childTnLst>
                                    <p:animEffect transition="out" filter="box(in)">
                                      <p:cBhvr>
                                        <p:cTn id="72" dur="500"/>
                                        <p:tgtEl>
                                          <p:spTgt spid="16"/>
                                        </p:tgtEl>
                                      </p:cBhvr>
                                    </p:animEffect>
                                    <p:set>
                                      <p:cBhvr>
                                        <p:cTn id="73" dur="1" fill="hold">
                                          <p:stCondLst>
                                            <p:cond delay="499"/>
                                          </p:stCondLst>
                                        </p:cTn>
                                        <p:tgtEl>
                                          <p:spTgt spid="16"/>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4" presetClass="exit" presetSubtype="16" fill="hold" grpId="0" nodeType="clickEffect">
                                  <p:stCondLst>
                                    <p:cond delay="0"/>
                                  </p:stCondLst>
                                  <p:childTnLst>
                                    <p:animEffect transition="out" filter="box(in)">
                                      <p:cBhvr>
                                        <p:cTn id="77" dur="500"/>
                                        <p:tgtEl>
                                          <p:spTgt spid="17"/>
                                        </p:tgtEl>
                                      </p:cBhvr>
                                    </p:animEffect>
                                    <p:set>
                                      <p:cBhvr>
                                        <p:cTn id="78" dur="1" fill="hold">
                                          <p:stCondLst>
                                            <p:cond delay="499"/>
                                          </p:stCondLst>
                                        </p:cTn>
                                        <p:tgtEl>
                                          <p:spTgt spid="17"/>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4" presetClass="exit" presetSubtype="16" fill="hold" grpId="0" nodeType="clickEffect">
                                  <p:stCondLst>
                                    <p:cond delay="0"/>
                                  </p:stCondLst>
                                  <p:childTnLst>
                                    <p:animEffect transition="out" filter="box(in)">
                                      <p:cBhvr>
                                        <p:cTn id="82" dur="500"/>
                                        <p:tgtEl>
                                          <p:spTgt spid="18"/>
                                        </p:tgtEl>
                                      </p:cBhvr>
                                    </p:animEffect>
                                    <p:set>
                                      <p:cBhvr>
                                        <p:cTn id="83" dur="1" fill="hold">
                                          <p:stCondLst>
                                            <p:cond delay="499"/>
                                          </p:stCondLst>
                                        </p:cTn>
                                        <p:tgtEl>
                                          <p:spTgt spid="18"/>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4" presetClass="exit" presetSubtype="16" fill="hold" grpId="0" nodeType="clickEffect">
                                  <p:stCondLst>
                                    <p:cond delay="0"/>
                                  </p:stCondLst>
                                  <p:childTnLst>
                                    <p:animEffect transition="out" filter="box(in)">
                                      <p:cBhvr>
                                        <p:cTn id="87" dur="500"/>
                                        <p:tgtEl>
                                          <p:spTgt spid="19"/>
                                        </p:tgtEl>
                                      </p:cBhvr>
                                    </p:animEffect>
                                    <p:set>
                                      <p:cBhvr>
                                        <p:cTn id="88" dur="1" fill="hold">
                                          <p:stCondLst>
                                            <p:cond delay="499"/>
                                          </p:stCondLst>
                                        </p:cTn>
                                        <p:tgtEl>
                                          <p:spTgt spid="19"/>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4" presetClass="exit" presetSubtype="16" fill="hold" grpId="0" nodeType="clickEffect">
                                  <p:stCondLst>
                                    <p:cond delay="0"/>
                                  </p:stCondLst>
                                  <p:childTnLst>
                                    <p:animEffect transition="out" filter="box(in)">
                                      <p:cBhvr>
                                        <p:cTn id="92" dur="500"/>
                                        <p:tgtEl>
                                          <p:spTgt spid="20"/>
                                        </p:tgtEl>
                                      </p:cBhvr>
                                    </p:animEffect>
                                    <p:set>
                                      <p:cBhvr>
                                        <p:cTn id="93" dur="1" fill="hold">
                                          <p:stCondLst>
                                            <p:cond delay="499"/>
                                          </p:stCondLst>
                                        </p:cTn>
                                        <p:tgtEl>
                                          <p:spTgt spid="2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4" presetClass="exit" presetSubtype="16" fill="hold" grpId="0" nodeType="clickEffect">
                                  <p:stCondLst>
                                    <p:cond delay="0"/>
                                  </p:stCondLst>
                                  <p:childTnLst>
                                    <p:animEffect transition="out" filter="box(in)">
                                      <p:cBhvr>
                                        <p:cTn id="97" dur="500"/>
                                        <p:tgtEl>
                                          <p:spTgt spid="21"/>
                                        </p:tgtEl>
                                      </p:cBhvr>
                                    </p:animEffect>
                                    <p:set>
                                      <p:cBhvr>
                                        <p:cTn id="98" dur="1" fill="hold">
                                          <p:stCondLst>
                                            <p:cond delay="499"/>
                                          </p:stCondLst>
                                        </p:cTn>
                                        <p:tgtEl>
                                          <p:spTgt spid="21"/>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4" presetClass="exit" presetSubtype="16" fill="hold" grpId="0" nodeType="clickEffect">
                                  <p:stCondLst>
                                    <p:cond delay="0"/>
                                  </p:stCondLst>
                                  <p:childTnLst>
                                    <p:animEffect transition="out" filter="box(in)">
                                      <p:cBhvr>
                                        <p:cTn id="102" dur="500"/>
                                        <p:tgtEl>
                                          <p:spTgt spid="22"/>
                                        </p:tgtEl>
                                      </p:cBhvr>
                                    </p:animEffect>
                                    <p:set>
                                      <p:cBhvr>
                                        <p:cTn id="103" dur="1" fill="hold">
                                          <p:stCondLst>
                                            <p:cond delay="499"/>
                                          </p:stCondLst>
                                        </p:cTn>
                                        <p:tgtEl>
                                          <p:spTgt spid="22"/>
                                        </p:tgtEl>
                                        <p:attrNameLst>
                                          <p:attrName>style.visibility</p:attrName>
                                        </p:attrNameLst>
                                      </p:cBhvr>
                                      <p:to>
                                        <p:strVal val="hidden"/>
                                      </p:to>
                                    </p:set>
                                  </p:childTnLst>
                                </p:cTn>
                              </p:par>
                            </p:childTnLst>
                          </p:cTn>
                        </p:par>
                      </p:childTnLst>
                    </p:cTn>
                  </p:par>
                  <p:par>
                    <p:cTn id="104" fill="hold">
                      <p:stCondLst>
                        <p:cond delay="indefinite"/>
                      </p:stCondLst>
                      <p:childTnLst>
                        <p:par>
                          <p:cTn id="105" fill="hold">
                            <p:stCondLst>
                              <p:cond delay="0"/>
                            </p:stCondLst>
                            <p:childTnLst>
                              <p:par>
                                <p:cTn id="106" presetID="4" presetClass="exit" presetSubtype="16" fill="hold" grpId="0" nodeType="clickEffect">
                                  <p:stCondLst>
                                    <p:cond delay="0"/>
                                  </p:stCondLst>
                                  <p:childTnLst>
                                    <p:animEffect transition="out" filter="box(in)">
                                      <p:cBhvr>
                                        <p:cTn id="107" dur="500"/>
                                        <p:tgtEl>
                                          <p:spTgt spid="23"/>
                                        </p:tgtEl>
                                      </p:cBhvr>
                                    </p:animEffect>
                                    <p:set>
                                      <p:cBhvr>
                                        <p:cTn id="108"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a:t>
            </a:r>
            <a:r>
              <a:rPr lang="zh-CN" altLang="en-US" dirty="0"/>
              <a:t>．最短寻道时间优先</a:t>
            </a:r>
            <a:r>
              <a:rPr lang="en-US" altLang="zh-CN" dirty="0"/>
              <a:t>SSTF</a:t>
            </a:r>
            <a:endParaRPr lang="zh-CN" altLang="en-US" dirty="0"/>
          </a:p>
        </p:txBody>
      </p:sp>
      <p:pic>
        <p:nvPicPr>
          <p:cNvPr id="4"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5634"/>
          <a:stretch>
            <a:fillRect/>
          </a:stretch>
        </p:blipFill>
        <p:spPr bwMode="auto">
          <a:xfrm>
            <a:off x="5638800" y="1386840"/>
            <a:ext cx="4448175" cy="5105400"/>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48840"/>
            <a:ext cx="2273300" cy="3582988"/>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7"/>
          <p:cNvSpPr>
            <a:spLocks noChangeArrowheads="1"/>
          </p:cNvSpPr>
          <p:nvPr/>
        </p:nvSpPr>
        <p:spPr bwMode="auto">
          <a:xfrm>
            <a:off x="4495800" y="3596640"/>
            <a:ext cx="838200" cy="457200"/>
          </a:xfrm>
          <a:prstGeom prst="rightArrow">
            <a:avLst>
              <a:gd name="adj1" fmla="val 50000"/>
              <a:gd name="adj2" fmla="val 45833"/>
            </a:avLst>
          </a:prstGeom>
          <a:gradFill rotWithShape="0">
            <a:gsLst>
              <a:gs pos="0">
                <a:srgbClr val="767647"/>
              </a:gs>
              <a:gs pos="50000">
                <a:srgbClr val="FFFF99"/>
              </a:gs>
              <a:gs pos="100000">
                <a:srgbClr val="767647"/>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7" name="Rectangle 18"/>
          <p:cNvSpPr>
            <a:spLocks noChangeArrowheads="1"/>
          </p:cNvSpPr>
          <p:nvPr/>
        </p:nvSpPr>
        <p:spPr bwMode="auto">
          <a:xfrm>
            <a:off x="6553200" y="2682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8" name="Rectangle 20"/>
          <p:cNvSpPr>
            <a:spLocks noChangeArrowheads="1"/>
          </p:cNvSpPr>
          <p:nvPr/>
        </p:nvSpPr>
        <p:spPr bwMode="auto">
          <a:xfrm>
            <a:off x="8763000" y="2682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9" name="Rectangle 21"/>
          <p:cNvSpPr>
            <a:spLocks noChangeArrowheads="1"/>
          </p:cNvSpPr>
          <p:nvPr/>
        </p:nvSpPr>
        <p:spPr bwMode="auto">
          <a:xfrm>
            <a:off x="6553200" y="3063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0" name="Rectangle 22"/>
          <p:cNvSpPr>
            <a:spLocks noChangeArrowheads="1"/>
          </p:cNvSpPr>
          <p:nvPr/>
        </p:nvSpPr>
        <p:spPr bwMode="auto">
          <a:xfrm>
            <a:off x="8763000" y="3063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1" name="Rectangle 23"/>
          <p:cNvSpPr>
            <a:spLocks noChangeArrowheads="1"/>
          </p:cNvSpPr>
          <p:nvPr/>
        </p:nvSpPr>
        <p:spPr bwMode="auto">
          <a:xfrm>
            <a:off x="6553200" y="3444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2" name="Rectangle 24"/>
          <p:cNvSpPr>
            <a:spLocks noChangeArrowheads="1"/>
          </p:cNvSpPr>
          <p:nvPr/>
        </p:nvSpPr>
        <p:spPr bwMode="auto">
          <a:xfrm>
            <a:off x="8763000" y="3444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3" name="Rectangle 25"/>
          <p:cNvSpPr>
            <a:spLocks noChangeArrowheads="1"/>
          </p:cNvSpPr>
          <p:nvPr/>
        </p:nvSpPr>
        <p:spPr bwMode="auto">
          <a:xfrm>
            <a:off x="6553200" y="3825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4" name="Rectangle 26"/>
          <p:cNvSpPr>
            <a:spLocks noChangeArrowheads="1"/>
          </p:cNvSpPr>
          <p:nvPr/>
        </p:nvSpPr>
        <p:spPr bwMode="auto">
          <a:xfrm>
            <a:off x="8763000" y="3825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5" name="Rectangle 27"/>
          <p:cNvSpPr>
            <a:spLocks noChangeArrowheads="1"/>
          </p:cNvSpPr>
          <p:nvPr/>
        </p:nvSpPr>
        <p:spPr bwMode="auto">
          <a:xfrm>
            <a:off x="6553200" y="4206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6" name="Rectangle 28"/>
          <p:cNvSpPr>
            <a:spLocks noChangeArrowheads="1"/>
          </p:cNvSpPr>
          <p:nvPr/>
        </p:nvSpPr>
        <p:spPr bwMode="auto">
          <a:xfrm>
            <a:off x="8763000" y="4206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7" name="Rectangle 29"/>
          <p:cNvSpPr>
            <a:spLocks noChangeArrowheads="1"/>
          </p:cNvSpPr>
          <p:nvPr/>
        </p:nvSpPr>
        <p:spPr bwMode="auto">
          <a:xfrm>
            <a:off x="6553200" y="4587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8" name="Rectangle 30"/>
          <p:cNvSpPr>
            <a:spLocks noChangeArrowheads="1"/>
          </p:cNvSpPr>
          <p:nvPr/>
        </p:nvSpPr>
        <p:spPr bwMode="auto">
          <a:xfrm>
            <a:off x="8763000" y="4587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9" name="Rectangle 31"/>
          <p:cNvSpPr>
            <a:spLocks noChangeArrowheads="1"/>
          </p:cNvSpPr>
          <p:nvPr/>
        </p:nvSpPr>
        <p:spPr bwMode="auto">
          <a:xfrm>
            <a:off x="6553200" y="4968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0" name="Rectangle 32"/>
          <p:cNvSpPr>
            <a:spLocks noChangeArrowheads="1"/>
          </p:cNvSpPr>
          <p:nvPr/>
        </p:nvSpPr>
        <p:spPr bwMode="auto">
          <a:xfrm>
            <a:off x="8719456" y="4968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1" name="Rectangle 33"/>
          <p:cNvSpPr>
            <a:spLocks noChangeArrowheads="1"/>
          </p:cNvSpPr>
          <p:nvPr/>
        </p:nvSpPr>
        <p:spPr bwMode="auto">
          <a:xfrm>
            <a:off x="6553200" y="5349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2" name="Rectangle 34"/>
          <p:cNvSpPr>
            <a:spLocks noChangeArrowheads="1"/>
          </p:cNvSpPr>
          <p:nvPr/>
        </p:nvSpPr>
        <p:spPr bwMode="auto">
          <a:xfrm>
            <a:off x="8763000" y="5349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3" name="Rectangle 35"/>
          <p:cNvSpPr>
            <a:spLocks noChangeArrowheads="1"/>
          </p:cNvSpPr>
          <p:nvPr/>
        </p:nvSpPr>
        <p:spPr bwMode="auto">
          <a:xfrm>
            <a:off x="6553200" y="5730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4" name="Rectangle 36"/>
          <p:cNvSpPr>
            <a:spLocks noChangeArrowheads="1"/>
          </p:cNvSpPr>
          <p:nvPr/>
        </p:nvSpPr>
        <p:spPr bwMode="auto">
          <a:xfrm>
            <a:off x="8763000" y="5730240"/>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5" name="Rectangle 37"/>
          <p:cNvSpPr>
            <a:spLocks noChangeArrowheads="1"/>
          </p:cNvSpPr>
          <p:nvPr/>
        </p:nvSpPr>
        <p:spPr bwMode="auto">
          <a:xfrm>
            <a:off x="8305800" y="6111240"/>
            <a:ext cx="4572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pic>
        <p:nvPicPr>
          <p:cNvPr id="26"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48840"/>
            <a:ext cx="2273300" cy="3582988"/>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AutoShape 39"/>
          <p:cNvSpPr>
            <a:spLocks noChangeArrowheads="1"/>
          </p:cNvSpPr>
          <p:nvPr/>
        </p:nvSpPr>
        <p:spPr bwMode="auto">
          <a:xfrm>
            <a:off x="4495800" y="3596640"/>
            <a:ext cx="838200" cy="457200"/>
          </a:xfrm>
          <a:prstGeom prst="rightArrow">
            <a:avLst>
              <a:gd name="adj1" fmla="val 50000"/>
              <a:gd name="adj2" fmla="val 45833"/>
            </a:avLst>
          </a:prstGeom>
          <a:gradFill rotWithShape="0">
            <a:gsLst>
              <a:gs pos="0">
                <a:srgbClr val="767647"/>
              </a:gs>
              <a:gs pos="50000">
                <a:srgbClr val="FFFF99"/>
              </a:gs>
              <a:gs pos="100000">
                <a:srgbClr val="767647"/>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0" nodeType="clickEffect">
                                  <p:stCondLst>
                                    <p:cond delay="0"/>
                                  </p:stCondLst>
                                  <p:childTnLst>
                                    <p:animEffect transition="out" filter="box(i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xit" presetSubtype="16" fill="hold" grpId="0" nodeType="clickEffect">
                                  <p:stCondLst>
                                    <p:cond delay="0"/>
                                  </p:stCondLst>
                                  <p:childTnLst>
                                    <p:animEffect transition="out" filter="box(i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grpId="0" nodeType="clickEffect">
                                  <p:stCondLst>
                                    <p:cond delay="0"/>
                                  </p:stCondLst>
                                  <p:childTnLst>
                                    <p:animEffect transition="out" filter="box(i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0" nodeType="clickEffect">
                                  <p:stCondLst>
                                    <p:cond delay="0"/>
                                  </p:stCondLst>
                                  <p:childTnLst>
                                    <p:animEffect transition="out" filter="box(i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grpId="0" nodeType="clickEffect">
                                  <p:stCondLst>
                                    <p:cond delay="0"/>
                                  </p:stCondLst>
                                  <p:childTnLst>
                                    <p:animEffect transition="out" filter="box(i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4" presetClass="exit" presetSubtype="16" fill="hold" grpId="0" nodeType="clickEffect">
                                  <p:stCondLst>
                                    <p:cond delay="0"/>
                                  </p:stCondLst>
                                  <p:childTnLst>
                                    <p:animEffect transition="out" filter="box(in)">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 presetClass="exit" presetSubtype="16" fill="hold" grpId="0" nodeType="clickEffect">
                                  <p:stCondLst>
                                    <p:cond delay="0"/>
                                  </p:stCondLst>
                                  <p:childTnLst>
                                    <p:animEffect transition="out" filter="box(in)">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 presetClass="exit" presetSubtype="16" fill="hold" grpId="0" nodeType="clickEffect">
                                  <p:stCondLst>
                                    <p:cond delay="0"/>
                                  </p:stCondLst>
                                  <p:childTnLst>
                                    <p:animEffect transition="out" filter="box(in)">
                                      <p:cBhvr>
                                        <p:cTn id="46" dur="500"/>
                                        <p:tgtEl>
                                          <p:spTgt spid="15"/>
                                        </p:tgtEl>
                                      </p:cBhvr>
                                    </p:animEffect>
                                    <p:set>
                                      <p:cBhvr>
                                        <p:cTn id="47" dur="1" fill="hold">
                                          <p:stCondLst>
                                            <p:cond delay="499"/>
                                          </p:stCondLst>
                                        </p:cTn>
                                        <p:tgtEl>
                                          <p:spTgt spid="1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4" presetClass="exit" presetSubtype="16" fill="hold" grpId="0" nodeType="clickEffect">
                                  <p:stCondLst>
                                    <p:cond delay="0"/>
                                  </p:stCondLst>
                                  <p:childTnLst>
                                    <p:animEffect transition="out" filter="box(in)">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 presetClass="exit" presetSubtype="16" fill="hold" grpId="0" nodeType="clickEffect">
                                  <p:stCondLst>
                                    <p:cond delay="0"/>
                                  </p:stCondLst>
                                  <p:childTnLst>
                                    <p:animEffect transition="out" filter="box(in)">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4" presetClass="exit" presetSubtype="16" fill="hold" grpId="0" nodeType="clickEffect">
                                  <p:stCondLst>
                                    <p:cond delay="0"/>
                                  </p:stCondLst>
                                  <p:childTnLst>
                                    <p:animEffect transition="out" filter="box(in)">
                                      <p:cBhvr>
                                        <p:cTn id="61" dur="500"/>
                                        <p:tgtEl>
                                          <p:spTgt spid="18"/>
                                        </p:tgtEl>
                                      </p:cBhvr>
                                    </p:animEffect>
                                    <p:set>
                                      <p:cBhvr>
                                        <p:cTn id="62" dur="1" fill="hold">
                                          <p:stCondLst>
                                            <p:cond delay="499"/>
                                          </p:stCondLst>
                                        </p:cTn>
                                        <p:tgtEl>
                                          <p:spTgt spid="1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4" presetClass="exit" presetSubtype="16" fill="hold" grpId="0" nodeType="clickEffect">
                                  <p:stCondLst>
                                    <p:cond delay="0"/>
                                  </p:stCondLst>
                                  <p:childTnLst>
                                    <p:animEffect transition="out" filter="box(in)">
                                      <p:cBhvr>
                                        <p:cTn id="66" dur="500"/>
                                        <p:tgtEl>
                                          <p:spTgt spid="19"/>
                                        </p:tgtEl>
                                      </p:cBhvr>
                                    </p:animEffect>
                                    <p:set>
                                      <p:cBhvr>
                                        <p:cTn id="67" dur="1" fill="hold">
                                          <p:stCondLst>
                                            <p:cond delay="499"/>
                                          </p:stCondLst>
                                        </p:cTn>
                                        <p:tgtEl>
                                          <p:spTgt spid="1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4" presetClass="exit" presetSubtype="16" fill="hold" grpId="0" nodeType="clickEffect">
                                  <p:stCondLst>
                                    <p:cond delay="0"/>
                                  </p:stCondLst>
                                  <p:childTnLst>
                                    <p:animEffect transition="out" filter="box(in)">
                                      <p:cBhvr>
                                        <p:cTn id="71" dur="500"/>
                                        <p:tgtEl>
                                          <p:spTgt spid="20"/>
                                        </p:tgtEl>
                                      </p:cBhvr>
                                    </p:animEffect>
                                    <p:set>
                                      <p:cBhvr>
                                        <p:cTn id="72" dur="1" fill="hold">
                                          <p:stCondLst>
                                            <p:cond delay="499"/>
                                          </p:stCondLst>
                                        </p:cTn>
                                        <p:tgtEl>
                                          <p:spTgt spid="2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 presetClass="exit" presetSubtype="16" fill="hold" grpId="0" nodeType="clickEffect">
                                  <p:stCondLst>
                                    <p:cond delay="0"/>
                                  </p:stCondLst>
                                  <p:childTnLst>
                                    <p:animEffect transition="out" filter="box(in)">
                                      <p:cBhvr>
                                        <p:cTn id="76" dur="500"/>
                                        <p:tgtEl>
                                          <p:spTgt spid="21"/>
                                        </p:tgtEl>
                                      </p:cBhvr>
                                    </p:animEffect>
                                    <p:set>
                                      <p:cBhvr>
                                        <p:cTn id="77" dur="1" fill="hold">
                                          <p:stCondLst>
                                            <p:cond delay="499"/>
                                          </p:stCondLst>
                                        </p:cTn>
                                        <p:tgtEl>
                                          <p:spTgt spid="21"/>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4" presetClass="exit" presetSubtype="16" fill="hold" grpId="0" nodeType="clickEffect">
                                  <p:stCondLst>
                                    <p:cond delay="0"/>
                                  </p:stCondLst>
                                  <p:childTnLst>
                                    <p:animEffect transition="out" filter="box(in)">
                                      <p:cBhvr>
                                        <p:cTn id="81" dur="500"/>
                                        <p:tgtEl>
                                          <p:spTgt spid="22"/>
                                        </p:tgtEl>
                                      </p:cBhvr>
                                    </p:animEffect>
                                    <p:set>
                                      <p:cBhvr>
                                        <p:cTn id="82" dur="1" fill="hold">
                                          <p:stCondLst>
                                            <p:cond delay="499"/>
                                          </p:stCondLst>
                                        </p:cTn>
                                        <p:tgtEl>
                                          <p:spTgt spid="2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4" presetClass="exit" presetSubtype="16" fill="hold" grpId="0" nodeType="clickEffect">
                                  <p:stCondLst>
                                    <p:cond delay="0"/>
                                  </p:stCondLst>
                                  <p:childTnLst>
                                    <p:animEffect transition="out" filter="box(in)">
                                      <p:cBhvr>
                                        <p:cTn id="86" dur="500"/>
                                        <p:tgtEl>
                                          <p:spTgt spid="23"/>
                                        </p:tgtEl>
                                      </p:cBhvr>
                                    </p:animEffect>
                                    <p:set>
                                      <p:cBhvr>
                                        <p:cTn id="87" dur="1" fill="hold">
                                          <p:stCondLst>
                                            <p:cond delay="499"/>
                                          </p:stCondLst>
                                        </p:cTn>
                                        <p:tgtEl>
                                          <p:spTgt spid="23"/>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4" presetClass="exit" presetSubtype="16" fill="hold" grpId="0" nodeType="clickEffect">
                                  <p:stCondLst>
                                    <p:cond delay="0"/>
                                  </p:stCondLst>
                                  <p:childTnLst>
                                    <p:animEffect transition="out" filter="box(in)">
                                      <p:cBhvr>
                                        <p:cTn id="91" dur="500"/>
                                        <p:tgtEl>
                                          <p:spTgt spid="24"/>
                                        </p:tgtEl>
                                      </p:cBhvr>
                                    </p:animEffect>
                                    <p:set>
                                      <p:cBhvr>
                                        <p:cTn id="92" dur="1" fill="hold">
                                          <p:stCondLst>
                                            <p:cond delay="499"/>
                                          </p:stCondLst>
                                        </p:cTn>
                                        <p:tgtEl>
                                          <p:spTgt spid="2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4" presetClass="exit" presetSubtype="16" fill="hold" grpId="0" nodeType="clickEffect">
                                  <p:stCondLst>
                                    <p:cond delay="0"/>
                                  </p:stCondLst>
                                  <p:childTnLst>
                                    <p:animEffect transition="out" filter="box(in)">
                                      <p:cBhvr>
                                        <p:cTn id="96" dur="500"/>
                                        <p:tgtEl>
                                          <p:spTgt spid="25"/>
                                        </p:tgtEl>
                                      </p:cBhvr>
                                    </p:animEffect>
                                    <p:set>
                                      <p:cBhvr>
                                        <p:cTn id="97"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3</a:t>
            </a:r>
            <a:r>
              <a:rPr lang="zh-CN" altLang="en-US" dirty="0"/>
              <a:t>．扫描（</a:t>
            </a:r>
            <a:r>
              <a:rPr lang="en-US" altLang="zh-CN" dirty="0"/>
              <a:t>SCAN</a:t>
            </a:r>
            <a:r>
              <a:rPr lang="zh-CN" altLang="en-US" dirty="0"/>
              <a:t>）算法</a:t>
            </a:r>
            <a:endParaRPr lang="zh-CN" altLang="en-US" dirty="0"/>
          </a:p>
        </p:txBody>
      </p:sp>
      <p:pic>
        <p:nvPicPr>
          <p:cNvPr id="4"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4288"/>
          <a:stretch>
            <a:fillRect/>
          </a:stretch>
        </p:blipFill>
        <p:spPr bwMode="auto">
          <a:xfrm>
            <a:off x="5170713" y="1331230"/>
            <a:ext cx="4876800" cy="5102225"/>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1713" y="2013855"/>
            <a:ext cx="2273300" cy="3582988"/>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7"/>
          <p:cNvSpPr>
            <a:spLocks noChangeArrowheads="1"/>
          </p:cNvSpPr>
          <p:nvPr/>
        </p:nvSpPr>
        <p:spPr bwMode="auto">
          <a:xfrm>
            <a:off x="4256313" y="3461655"/>
            <a:ext cx="838200" cy="457200"/>
          </a:xfrm>
          <a:prstGeom prst="rightArrow">
            <a:avLst>
              <a:gd name="adj1" fmla="val 50000"/>
              <a:gd name="adj2" fmla="val 45833"/>
            </a:avLst>
          </a:prstGeom>
          <a:gradFill rotWithShape="0">
            <a:gsLst>
              <a:gs pos="0">
                <a:srgbClr val="767647"/>
              </a:gs>
              <a:gs pos="50000">
                <a:srgbClr val="FFFF99"/>
              </a:gs>
              <a:gs pos="100000">
                <a:srgbClr val="767647"/>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7" name="Rectangle 8"/>
          <p:cNvSpPr>
            <a:spLocks noChangeArrowheads="1"/>
          </p:cNvSpPr>
          <p:nvPr/>
        </p:nvSpPr>
        <p:spPr bwMode="auto">
          <a:xfrm>
            <a:off x="6313713" y="2547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8" name="Rectangle 9"/>
          <p:cNvSpPr>
            <a:spLocks noChangeArrowheads="1"/>
          </p:cNvSpPr>
          <p:nvPr/>
        </p:nvSpPr>
        <p:spPr bwMode="auto">
          <a:xfrm>
            <a:off x="8675913" y="2547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9" name="Rectangle 10"/>
          <p:cNvSpPr>
            <a:spLocks noChangeArrowheads="1"/>
          </p:cNvSpPr>
          <p:nvPr/>
        </p:nvSpPr>
        <p:spPr bwMode="auto">
          <a:xfrm>
            <a:off x="6313713" y="2928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0" name="Rectangle 11"/>
          <p:cNvSpPr>
            <a:spLocks noChangeArrowheads="1"/>
          </p:cNvSpPr>
          <p:nvPr/>
        </p:nvSpPr>
        <p:spPr bwMode="auto">
          <a:xfrm>
            <a:off x="8675913" y="2928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1" name="Rectangle 12"/>
          <p:cNvSpPr>
            <a:spLocks noChangeArrowheads="1"/>
          </p:cNvSpPr>
          <p:nvPr/>
        </p:nvSpPr>
        <p:spPr bwMode="auto">
          <a:xfrm>
            <a:off x="6313713" y="3309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2" name="Rectangle 13"/>
          <p:cNvSpPr>
            <a:spLocks noChangeArrowheads="1"/>
          </p:cNvSpPr>
          <p:nvPr/>
        </p:nvSpPr>
        <p:spPr bwMode="auto">
          <a:xfrm>
            <a:off x="8675913" y="3309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3" name="Rectangle 14"/>
          <p:cNvSpPr>
            <a:spLocks noChangeArrowheads="1"/>
          </p:cNvSpPr>
          <p:nvPr/>
        </p:nvSpPr>
        <p:spPr bwMode="auto">
          <a:xfrm>
            <a:off x="6313713" y="3690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4" name="Rectangle 15"/>
          <p:cNvSpPr>
            <a:spLocks noChangeArrowheads="1"/>
          </p:cNvSpPr>
          <p:nvPr/>
        </p:nvSpPr>
        <p:spPr bwMode="auto">
          <a:xfrm>
            <a:off x="8675913" y="3690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5" name="Rectangle 16"/>
          <p:cNvSpPr>
            <a:spLocks noChangeArrowheads="1"/>
          </p:cNvSpPr>
          <p:nvPr/>
        </p:nvSpPr>
        <p:spPr bwMode="auto">
          <a:xfrm>
            <a:off x="6313713" y="4071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6" name="Rectangle 17"/>
          <p:cNvSpPr>
            <a:spLocks noChangeArrowheads="1"/>
          </p:cNvSpPr>
          <p:nvPr/>
        </p:nvSpPr>
        <p:spPr bwMode="auto">
          <a:xfrm>
            <a:off x="8675913" y="4071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7" name="Rectangle 18"/>
          <p:cNvSpPr>
            <a:spLocks noChangeArrowheads="1"/>
          </p:cNvSpPr>
          <p:nvPr/>
        </p:nvSpPr>
        <p:spPr bwMode="auto">
          <a:xfrm>
            <a:off x="6313713" y="4452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8" name="Rectangle 19"/>
          <p:cNvSpPr>
            <a:spLocks noChangeArrowheads="1"/>
          </p:cNvSpPr>
          <p:nvPr/>
        </p:nvSpPr>
        <p:spPr bwMode="auto">
          <a:xfrm>
            <a:off x="8675913" y="4452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9" name="Rectangle 20"/>
          <p:cNvSpPr>
            <a:spLocks noChangeArrowheads="1"/>
          </p:cNvSpPr>
          <p:nvPr/>
        </p:nvSpPr>
        <p:spPr bwMode="auto">
          <a:xfrm>
            <a:off x="6313713" y="4833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0" name="Rectangle 21"/>
          <p:cNvSpPr>
            <a:spLocks noChangeArrowheads="1"/>
          </p:cNvSpPr>
          <p:nvPr/>
        </p:nvSpPr>
        <p:spPr bwMode="auto">
          <a:xfrm>
            <a:off x="8675913" y="48332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1" name="Rectangle 22"/>
          <p:cNvSpPr>
            <a:spLocks noChangeArrowheads="1"/>
          </p:cNvSpPr>
          <p:nvPr/>
        </p:nvSpPr>
        <p:spPr bwMode="auto">
          <a:xfrm>
            <a:off x="6313713" y="52396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2" name="Rectangle 23"/>
          <p:cNvSpPr>
            <a:spLocks noChangeArrowheads="1"/>
          </p:cNvSpPr>
          <p:nvPr/>
        </p:nvSpPr>
        <p:spPr bwMode="auto">
          <a:xfrm>
            <a:off x="8675913" y="52904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3" name="Rectangle 24"/>
          <p:cNvSpPr>
            <a:spLocks noChangeArrowheads="1"/>
          </p:cNvSpPr>
          <p:nvPr/>
        </p:nvSpPr>
        <p:spPr bwMode="auto">
          <a:xfrm>
            <a:off x="6313713" y="561049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4" name="Rectangle 25"/>
          <p:cNvSpPr>
            <a:spLocks noChangeArrowheads="1"/>
          </p:cNvSpPr>
          <p:nvPr/>
        </p:nvSpPr>
        <p:spPr bwMode="auto">
          <a:xfrm>
            <a:off x="8675913" y="561049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5" name="Rectangle 26"/>
          <p:cNvSpPr>
            <a:spLocks noChangeArrowheads="1"/>
          </p:cNvSpPr>
          <p:nvPr/>
        </p:nvSpPr>
        <p:spPr bwMode="auto">
          <a:xfrm>
            <a:off x="8066313" y="600165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0" nodeType="clickEffect">
                                  <p:stCondLst>
                                    <p:cond delay="0"/>
                                  </p:stCondLst>
                                  <p:childTnLst>
                                    <p:animEffect transition="out" filter="box(i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xit" presetSubtype="16" fill="hold" grpId="0" nodeType="clickEffect">
                                  <p:stCondLst>
                                    <p:cond delay="0"/>
                                  </p:stCondLst>
                                  <p:childTnLst>
                                    <p:animEffect transition="out" filter="box(i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grpId="0" nodeType="clickEffect">
                                  <p:stCondLst>
                                    <p:cond delay="0"/>
                                  </p:stCondLst>
                                  <p:childTnLst>
                                    <p:animEffect transition="out" filter="box(i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0" nodeType="clickEffect">
                                  <p:stCondLst>
                                    <p:cond delay="0"/>
                                  </p:stCondLst>
                                  <p:childTnLst>
                                    <p:animEffect transition="out" filter="box(i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grpId="0" nodeType="clickEffect">
                                  <p:stCondLst>
                                    <p:cond delay="0"/>
                                  </p:stCondLst>
                                  <p:childTnLst>
                                    <p:animEffect transition="out" filter="box(i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4" presetClass="exit" presetSubtype="16" fill="hold" grpId="0" nodeType="clickEffect">
                                  <p:stCondLst>
                                    <p:cond delay="0"/>
                                  </p:stCondLst>
                                  <p:childTnLst>
                                    <p:animEffect transition="out" filter="box(in)">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 presetClass="exit" presetSubtype="16" fill="hold" grpId="0" nodeType="clickEffect">
                                  <p:stCondLst>
                                    <p:cond delay="0"/>
                                  </p:stCondLst>
                                  <p:childTnLst>
                                    <p:animEffect transition="out" filter="box(in)">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 presetClass="exit" presetSubtype="16" fill="hold" grpId="0" nodeType="clickEffect">
                                  <p:stCondLst>
                                    <p:cond delay="0"/>
                                  </p:stCondLst>
                                  <p:childTnLst>
                                    <p:animEffect transition="out" filter="box(in)">
                                      <p:cBhvr>
                                        <p:cTn id="46" dur="500"/>
                                        <p:tgtEl>
                                          <p:spTgt spid="15"/>
                                        </p:tgtEl>
                                      </p:cBhvr>
                                    </p:animEffect>
                                    <p:set>
                                      <p:cBhvr>
                                        <p:cTn id="47" dur="1" fill="hold">
                                          <p:stCondLst>
                                            <p:cond delay="499"/>
                                          </p:stCondLst>
                                        </p:cTn>
                                        <p:tgtEl>
                                          <p:spTgt spid="1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4" presetClass="exit" presetSubtype="16" fill="hold" grpId="0" nodeType="clickEffect">
                                  <p:stCondLst>
                                    <p:cond delay="0"/>
                                  </p:stCondLst>
                                  <p:childTnLst>
                                    <p:animEffect transition="out" filter="box(in)">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 presetClass="exit" presetSubtype="16" fill="hold" grpId="0" nodeType="clickEffect">
                                  <p:stCondLst>
                                    <p:cond delay="0"/>
                                  </p:stCondLst>
                                  <p:childTnLst>
                                    <p:animEffect transition="out" filter="box(in)">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4" presetClass="exit" presetSubtype="16" fill="hold" grpId="0" nodeType="clickEffect">
                                  <p:stCondLst>
                                    <p:cond delay="0"/>
                                  </p:stCondLst>
                                  <p:childTnLst>
                                    <p:animEffect transition="out" filter="box(in)">
                                      <p:cBhvr>
                                        <p:cTn id="61" dur="500"/>
                                        <p:tgtEl>
                                          <p:spTgt spid="18"/>
                                        </p:tgtEl>
                                      </p:cBhvr>
                                    </p:animEffect>
                                    <p:set>
                                      <p:cBhvr>
                                        <p:cTn id="62" dur="1" fill="hold">
                                          <p:stCondLst>
                                            <p:cond delay="499"/>
                                          </p:stCondLst>
                                        </p:cTn>
                                        <p:tgtEl>
                                          <p:spTgt spid="1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4" presetClass="exit" presetSubtype="16" fill="hold" grpId="0" nodeType="clickEffect">
                                  <p:stCondLst>
                                    <p:cond delay="0"/>
                                  </p:stCondLst>
                                  <p:childTnLst>
                                    <p:animEffect transition="out" filter="box(in)">
                                      <p:cBhvr>
                                        <p:cTn id="66" dur="500"/>
                                        <p:tgtEl>
                                          <p:spTgt spid="19"/>
                                        </p:tgtEl>
                                      </p:cBhvr>
                                    </p:animEffect>
                                    <p:set>
                                      <p:cBhvr>
                                        <p:cTn id="67" dur="1" fill="hold">
                                          <p:stCondLst>
                                            <p:cond delay="499"/>
                                          </p:stCondLst>
                                        </p:cTn>
                                        <p:tgtEl>
                                          <p:spTgt spid="1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4" presetClass="exit" presetSubtype="16" fill="hold" grpId="0" nodeType="clickEffect">
                                  <p:stCondLst>
                                    <p:cond delay="0"/>
                                  </p:stCondLst>
                                  <p:childTnLst>
                                    <p:animEffect transition="out" filter="box(in)">
                                      <p:cBhvr>
                                        <p:cTn id="71" dur="500"/>
                                        <p:tgtEl>
                                          <p:spTgt spid="20"/>
                                        </p:tgtEl>
                                      </p:cBhvr>
                                    </p:animEffect>
                                    <p:set>
                                      <p:cBhvr>
                                        <p:cTn id="72" dur="1" fill="hold">
                                          <p:stCondLst>
                                            <p:cond delay="499"/>
                                          </p:stCondLst>
                                        </p:cTn>
                                        <p:tgtEl>
                                          <p:spTgt spid="2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 presetClass="exit" presetSubtype="16" fill="hold" grpId="0" nodeType="clickEffect">
                                  <p:stCondLst>
                                    <p:cond delay="0"/>
                                  </p:stCondLst>
                                  <p:childTnLst>
                                    <p:animEffect transition="out" filter="box(in)">
                                      <p:cBhvr>
                                        <p:cTn id="76" dur="500"/>
                                        <p:tgtEl>
                                          <p:spTgt spid="21"/>
                                        </p:tgtEl>
                                      </p:cBhvr>
                                    </p:animEffect>
                                    <p:set>
                                      <p:cBhvr>
                                        <p:cTn id="77" dur="1" fill="hold">
                                          <p:stCondLst>
                                            <p:cond delay="499"/>
                                          </p:stCondLst>
                                        </p:cTn>
                                        <p:tgtEl>
                                          <p:spTgt spid="21"/>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4" presetClass="exit" presetSubtype="16" fill="hold" grpId="0" nodeType="clickEffect">
                                  <p:stCondLst>
                                    <p:cond delay="0"/>
                                  </p:stCondLst>
                                  <p:childTnLst>
                                    <p:animEffect transition="out" filter="box(in)">
                                      <p:cBhvr>
                                        <p:cTn id="81" dur="500"/>
                                        <p:tgtEl>
                                          <p:spTgt spid="22"/>
                                        </p:tgtEl>
                                      </p:cBhvr>
                                    </p:animEffect>
                                    <p:set>
                                      <p:cBhvr>
                                        <p:cTn id="82" dur="1" fill="hold">
                                          <p:stCondLst>
                                            <p:cond delay="499"/>
                                          </p:stCondLst>
                                        </p:cTn>
                                        <p:tgtEl>
                                          <p:spTgt spid="2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4" presetClass="exit" presetSubtype="16" fill="hold" grpId="0" nodeType="clickEffect">
                                  <p:stCondLst>
                                    <p:cond delay="0"/>
                                  </p:stCondLst>
                                  <p:childTnLst>
                                    <p:animEffect transition="out" filter="box(in)">
                                      <p:cBhvr>
                                        <p:cTn id="86" dur="500"/>
                                        <p:tgtEl>
                                          <p:spTgt spid="23"/>
                                        </p:tgtEl>
                                      </p:cBhvr>
                                    </p:animEffect>
                                    <p:set>
                                      <p:cBhvr>
                                        <p:cTn id="87" dur="1" fill="hold">
                                          <p:stCondLst>
                                            <p:cond delay="499"/>
                                          </p:stCondLst>
                                        </p:cTn>
                                        <p:tgtEl>
                                          <p:spTgt spid="23"/>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4" presetClass="exit" presetSubtype="16" fill="hold" grpId="0" nodeType="clickEffect">
                                  <p:stCondLst>
                                    <p:cond delay="0"/>
                                  </p:stCondLst>
                                  <p:childTnLst>
                                    <p:animEffect transition="out" filter="box(in)">
                                      <p:cBhvr>
                                        <p:cTn id="91" dur="500"/>
                                        <p:tgtEl>
                                          <p:spTgt spid="24"/>
                                        </p:tgtEl>
                                      </p:cBhvr>
                                    </p:animEffect>
                                    <p:set>
                                      <p:cBhvr>
                                        <p:cTn id="92" dur="1" fill="hold">
                                          <p:stCondLst>
                                            <p:cond delay="499"/>
                                          </p:stCondLst>
                                        </p:cTn>
                                        <p:tgtEl>
                                          <p:spTgt spid="2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4" presetClass="exit" presetSubtype="16" fill="hold" grpId="0" nodeType="clickEffect">
                                  <p:stCondLst>
                                    <p:cond delay="0"/>
                                  </p:stCondLst>
                                  <p:childTnLst>
                                    <p:animEffect transition="out" filter="box(in)">
                                      <p:cBhvr>
                                        <p:cTn id="96" dur="500"/>
                                        <p:tgtEl>
                                          <p:spTgt spid="25"/>
                                        </p:tgtEl>
                                      </p:cBhvr>
                                    </p:animEffect>
                                    <p:set>
                                      <p:cBhvr>
                                        <p:cTn id="97"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a:t>．循环扫描（</a:t>
            </a:r>
            <a:r>
              <a:rPr lang="en-US" altLang="zh-CN" dirty="0"/>
              <a:t>CSCAN</a:t>
            </a:r>
            <a:r>
              <a:rPr lang="zh-CN" altLang="en-US" dirty="0"/>
              <a:t>）算法</a:t>
            </a:r>
            <a:endParaRPr lang="zh-CN" altLang="en-US" dirty="0"/>
          </a:p>
        </p:txBody>
      </p:sp>
      <p:pic>
        <p:nvPicPr>
          <p:cNvPr id="4"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5788"/>
          <a:stretch>
            <a:fillRect/>
          </a:stretch>
        </p:blipFill>
        <p:spPr bwMode="auto">
          <a:xfrm>
            <a:off x="5437905" y="1467568"/>
            <a:ext cx="4800600" cy="4960937"/>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7905" y="2085105"/>
            <a:ext cx="2273300" cy="3582988"/>
          </a:xfrm>
          <a:prstGeom prst="rect">
            <a:avLst/>
          </a:prstGeom>
          <a:noFill/>
          <a:ln>
            <a:noFill/>
          </a:ln>
          <a:effectLst/>
          <a:extLst>
            <a:ext uri="{909E8E84-426E-40DD-AFC4-6F175D3DCCD1}">
              <a14:hiddenFill xmlns:a14="http://schemas.microsoft.com/office/drawing/2010/main">
                <a:gradFill rotWithShape="0">
                  <a:gsLst>
                    <a:gs pos="0">
                      <a:srgbClr val="767647"/>
                    </a:gs>
                    <a:gs pos="50000">
                      <a:srgbClr val="FFFF99"/>
                    </a:gs>
                    <a:gs pos="100000">
                      <a:srgbClr val="767647"/>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AutoShape 7"/>
          <p:cNvSpPr>
            <a:spLocks noChangeArrowheads="1"/>
          </p:cNvSpPr>
          <p:nvPr/>
        </p:nvSpPr>
        <p:spPr bwMode="auto">
          <a:xfrm>
            <a:off x="4142505" y="3532905"/>
            <a:ext cx="838200" cy="457200"/>
          </a:xfrm>
          <a:prstGeom prst="rightArrow">
            <a:avLst>
              <a:gd name="adj1" fmla="val 50000"/>
              <a:gd name="adj2" fmla="val 45833"/>
            </a:avLst>
          </a:prstGeom>
          <a:gradFill rotWithShape="0">
            <a:gsLst>
              <a:gs pos="0">
                <a:srgbClr val="767647"/>
              </a:gs>
              <a:gs pos="50000">
                <a:srgbClr val="FFFF99"/>
              </a:gs>
              <a:gs pos="100000">
                <a:srgbClr val="767647"/>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4400"/>
          </a:p>
        </p:txBody>
      </p:sp>
      <p:sp>
        <p:nvSpPr>
          <p:cNvPr id="7" name="Rectangle 8"/>
          <p:cNvSpPr>
            <a:spLocks noChangeArrowheads="1"/>
          </p:cNvSpPr>
          <p:nvPr/>
        </p:nvSpPr>
        <p:spPr bwMode="auto">
          <a:xfrm>
            <a:off x="6504705" y="2694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8" name="Rectangle 9"/>
          <p:cNvSpPr>
            <a:spLocks noChangeArrowheads="1"/>
          </p:cNvSpPr>
          <p:nvPr/>
        </p:nvSpPr>
        <p:spPr bwMode="auto">
          <a:xfrm>
            <a:off x="8866905" y="2694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9" name="Rectangle 10"/>
          <p:cNvSpPr>
            <a:spLocks noChangeArrowheads="1"/>
          </p:cNvSpPr>
          <p:nvPr/>
        </p:nvSpPr>
        <p:spPr bwMode="auto">
          <a:xfrm>
            <a:off x="6504705" y="3075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0" name="Rectangle 11"/>
          <p:cNvSpPr>
            <a:spLocks noChangeArrowheads="1"/>
          </p:cNvSpPr>
          <p:nvPr/>
        </p:nvSpPr>
        <p:spPr bwMode="auto">
          <a:xfrm>
            <a:off x="8866905" y="3075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1" name="Rectangle 12"/>
          <p:cNvSpPr>
            <a:spLocks noChangeArrowheads="1"/>
          </p:cNvSpPr>
          <p:nvPr/>
        </p:nvSpPr>
        <p:spPr bwMode="auto">
          <a:xfrm>
            <a:off x="6504705" y="3456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2" name="Rectangle 13"/>
          <p:cNvSpPr>
            <a:spLocks noChangeArrowheads="1"/>
          </p:cNvSpPr>
          <p:nvPr/>
        </p:nvSpPr>
        <p:spPr bwMode="auto">
          <a:xfrm>
            <a:off x="8866905" y="3456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3" name="Rectangle 14"/>
          <p:cNvSpPr>
            <a:spLocks noChangeArrowheads="1"/>
          </p:cNvSpPr>
          <p:nvPr/>
        </p:nvSpPr>
        <p:spPr bwMode="auto">
          <a:xfrm>
            <a:off x="6504705" y="3837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4" name="Rectangle 15"/>
          <p:cNvSpPr>
            <a:spLocks noChangeArrowheads="1"/>
          </p:cNvSpPr>
          <p:nvPr/>
        </p:nvSpPr>
        <p:spPr bwMode="auto">
          <a:xfrm>
            <a:off x="8866905" y="3837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5" name="Rectangle 16"/>
          <p:cNvSpPr>
            <a:spLocks noChangeArrowheads="1"/>
          </p:cNvSpPr>
          <p:nvPr/>
        </p:nvSpPr>
        <p:spPr bwMode="auto">
          <a:xfrm>
            <a:off x="6504705" y="4218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6" name="Rectangle 17"/>
          <p:cNvSpPr>
            <a:spLocks noChangeArrowheads="1"/>
          </p:cNvSpPr>
          <p:nvPr/>
        </p:nvSpPr>
        <p:spPr bwMode="auto">
          <a:xfrm>
            <a:off x="8866905" y="4218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7" name="Rectangle 18"/>
          <p:cNvSpPr>
            <a:spLocks noChangeArrowheads="1"/>
          </p:cNvSpPr>
          <p:nvPr/>
        </p:nvSpPr>
        <p:spPr bwMode="auto">
          <a:xfrm>
            <a:off x="6504705" y="4599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8" name="Rectangle 19"/>
          <p:cNvSpPr>
            <a:spLocks noChangeArrowheads="1"/>
          </p:cNvSpPr>
          <p:nvPr/>
        </p:nvSpPr>
        <p:spPr bwMode="auto">
          <a:xfrm>
            <a:off x="8866905" y="45997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19" name="Rectangle 20"/>
          <p:cNvSpPr>
            <a:spLocks noChangeArrowheads="1"/>
          </p:cNvSpPr>
          <p:nvPr/>
        </p:nvSpPr>
        <p:spPr bwMode="auto">
          <a:xfrm>
            <a:off x="6504705" y="49553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0" name="Rectangle 21"/>
          <p:cNvSpPr>
            <a:spLocks noChangeArrowheads="1"/>
          </p:cNvSpPr>
          <p:nvPr/>
        </p:nvSpPr>
        <p:spPr bwMode="auto">
          <a:xfrm>
            <a:off x="8866905" y="494514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1" name="Rectangle 22"/>
          <p:cNvSpPr>
            <a:spLocks noChangeArrowheads="1"/>
          </p:cNvSpPr>
          <p:nvPr/>
        </p:nvSpPr>
        <p:spPr bwMode="auto">
          <a:xfrm>
            <a:off x="6504705" y="52855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2" name="Rectangle 23"/>
          <p:cNvSpPr>
            <a:spLocks noChangeArrowheads="1"/>
          </p:cNvSpPr>
          <p:nvPr/>
        </p:nvSpPr>
        <p:spPr bwMode="auto">
          <a:xfrm>
            <a:off x="8866905" y="52855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3" name="Rectangle 24"/>
          <p:cNvSpPr>
            <a:spLocks noChangeArrowheads="1"/>
          </p:cNvSpPr>
          <p:nvPr/>
        </p:nvSpPr>
        <p:spPr bwMode="auto">
          <a:xfrm>
            <a:off x="6504705" y="56665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4" name="Rectangle 25"/>
          <p:cNvSpPr>
            <a:spLocks noChangeArrowheads="1"/>
          </p:cNvSpPr>
          <p:nvPr/>
        </p:nvSpPr>
        <p:spPr bwMode="auto">
          <a:xfrm>
            <a:off x="8866905" y="56665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
        <p:nvSpPr>
          <p:cNvPr id="25" name="Rectangle 26"/>
          <p:cNvSpPr>
            <a:spLocks noChangeArrowheads="1"/>
          </p:cNvSpPr>
          <p:nvPr/>
        </p:nvSpPr>
        <p:spPr bwMode="auto">
          <a:xfrm>
            <a:off x="8229595" y="6047505"/>
            <a:ext cx="381000" cy="228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zh-CN" sz="440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7"/>
                                        </p:tgtEl>
                                      </p:cBhvr>
                                    </p:animEffect>
                                    <p:set>
                                      <p:cBhvr>
                                        <p:cTn id="7" dur="1" fill="hold">
                                          <p:stCondLst>
                                            <p:cond delay="499"/>
                                          </p:stCondLst>
                                        </p:cTn>
                                        <p:tgtEl>
                                          <p:spTgt spid="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 presetClass="exit" presetSubtype="16" fill="hold" grpId="0" nodeType="clickEffect">
                                  <p:stCondLst>
                                    <p:cond delay="0"/>
                                  </p:stCondLst>
                                  <p:childTnLst>
                                    <p:animEffect transition="out" filter="box(in)">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4" presetClass="exit" presetSubtype="16" fill="hold" grpId="0" nodeType="clickEffect">
                                  <p:stCondLst>
                                    <p:cond delay="0"/>
                                  </p:stCondLst>
                                  <p:childTnLst>
                                    <p:animEffect transition="out" filter="box(in)">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4" presetClass="exit" presetSubtype="16" fill="hold" grpId="0" nodeType="clickEffect">
                                  <p:stCondLst>
                                    <p:cond delay="0"/>
                                  </p:stCondLst>
                                  <p:childTnLst>
                                    <p:animEffect transition="out" filter="box(in)">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grpId="0" nodeType="clickEffect">
                                  <p:stCondLst>
                                    <p:cond delay="0"/>
                                  </p:stCondLst>
                                  <p:childTnLst>
                                    <p:animEffect transition="out" filter="box(in)">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xit" presetSubtype="16" fill="hold" grpId="0" nodeType="clickEffect">
                                  <p:stCondLst>
                                    <p:cond delay="0"/>
                                  </p:stCondLst>
                                  <p:childTnLst>
                                    <p:animEffect transition="out" filter="box(in)">
                                      <p:cBhvr>
                                        <p:cTn id="31" dur="500"/>
                                        <p:tgtEl>
                                          <p:spTgt spid="12"/>
                                        </p:tgtEl>
                                      </p:cBhvr>
                                    </p:animEffect>
                                    <p:set>
                                      <p:cBhvr>
                                        <p:cTn id="32" dur="1" fill="hold">
                                          <p:stCondLst>
                                            <p:cond delay="499"/>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4" presetClass="exit" presetSubtype="16" fill="hold" grpId="0" nodeType="clickEffect">
                                  <p:stCondLst>
                                    <p:cond delay="0"/>
                                  </p:stCondLst>
                                  <p:childTnLst>
                                    <p:animEffect transition="out" filter="box(in)">
                                      <p:cBhvr>
                                        <p:cTn id="36" dur="500"/>
                                        <p:tgtEl>
                                          <p:spTgt spid="13"/>
                                        </p:tgtEl>
                                      </p:cBhvr>
                                    </p:animEffect>
                                    <p:set>
                                      <p:cBhvr>
                                        <p:cTn id="37" dur="1" fill="hold">
                                          <p:stCondLst>
                                            <p:cond delay="499"/>
                                          </p:stCondLst>
                                        </p:cTn>
                                        <p:tgtEl>
                                          <p:spTgt spid="1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 presetClass="exit" presetSubtype="16" fill="hold" grpId="0" nodeType="clickEffect">
                                  <p:stCondLst>
                                    <p:cond delay="0"/>
                                  </p:stCondLst>
                                  <p:childTnLst>
                                    <p:animEffect transition="out" filter="box(in)">
                                      <p:cBhvr>
                                        <p:cTn id="41" dur="500"/>
                                        <p:tgtEl>
                                          <p:spTgt spid="14"/>
                                        </p:tgtEl>
                                      </p:cBhvr>
                                    </p:animEffect>
                                    <p:set>
                                      <p:cBhvr>
                                        <p:cTn id="42" dur="1" fill="hold">
                                          <p:stCondLst>
                                            <p:cond delay="499"/>
                                          </p:stCondLst>
                                        </p:cTn>
                                        <p:tgtEl>
                                          <p:spTgt spid="14"/>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 presetClass="exit" presetSubtype="16" fill="hold" grpId="0" nodeType="clickEffect">
                                  <p:stCondLst>
                                    <p:cond delay="0"/>
                                  </p:stCondLst>
                                  <p:childTnLst>
                                    <p:animEffect transition="out" filter="box(in)">
                                      <p:cBhvr>
                                        <p:cTn id="46" dur="500"/>
                                        <p:tgtEl>
                                          <p:spTgt spid="15"/>
                                        </p:tgtEl>
                                      </p:cBhvr>
                                    </p:animEffect>
                                    <p:set>
                                      <p:cBhvr>
                                        <p:cTn id="47" dur="1" fill="hold">
                                          <p:stCondLst>
                                            <p:cond delay="499"/>
                                          </p:stCondLst>
                                        </p:cTn>
                                        <p:tgtEl>
                                          <p:spTgt spid="1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4" presetClass="exit" presetSubtype="16" fill="hold" grpId="0" nodeType="clickEffect">
                                  <p:stCondLst>
                                    <p:cond delay="0"/>
                                  </p:stCondLst>
                                  <p:childTnLst>
                                    <p:animEffect transition="out" filter="box(in)">
                                      <p:cBhvr>
                                        <p:cTn id="51" dur="500"/>
                                        <p:tgtEl>
                                          <p:spTgt spid="16"/>
                                        </p:tgtEl>
                                      </p:cBhvr>
                                    </p:animEffect>
                                    <p:set>
                                      <p:cBhvr>
                                        <p:cTn id="52" dur="1" fill="hold">
                                          <p:stCondLst>
                                            <p:cond delay="499"/>
                                          </p:stCondLst>
                                        </p:cTn>
                                        <p:tgtEl>
                                          <p:spTgt spid="1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4" presetClass="exit" presetSubtype="16" fill="hold" grpId="0" nodeType="clickEffect">
                                  <p:stCondLst>
                                    <p:cond delay="0"/>
                                  </p:stCondLst>
                                  <p:childTnLst>
                                    <p:animEffect transition="out" filter="box(in)">
                                      <p:cBhvr>
                                        <p:cTn id="56" dur="500"/>
                                        <p:tgtEl>
                                          <p:spTgt spid="17"/>
                                        </p:tgtEl>
                                      </p:cBhvr>
                                    </p:animEffect>
                                    <p:set>
                                      <p:cBhvr>
                                        <p:cTn id="57" dur="1" fill="hold">
                                          <p:stCondLst>
                                            <p:cond delay="499"/>
                                          </p:stCondLst>
                                        </p:cTn>
                                        <p:tgtEl>
                                          <p:spTgt spid="1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4" presetClass="exit" presetSubtype="16" fill="hold" grpId="0" nodeType="clickEffect">
                                  <p:stCondLst>
                                    <p:cond delay="0"/>
                                  </p:stCondLst>
                                  <p:childTnLst>
                                    <p:animEffect transition="out" filter="box(in)">
                                      <p:cBhvr>
                                        <p:cTn id="61" dur="500"/>
                                        <p:tgtEl>
                                          <p:spTgt spid="18"/>
                                        </p:tgtEl>
                                      </p:cBhvr>
                                    </p:animEffect>
                                    <p:set>
                                      <p:cBhvr>
                                        <p:cTn id="62" dur="1" fill="hold">
                                          <p:stCondLst>
                                            <p:cond delay="499"/>
                                          </p:stCondLst>
                                        </p:cTn>
                                        <p:tgtEl>
                                          <p:spTgt spid="1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4" presetClass="exit" presetSubtype="16" fill="hold" grpId="0" nodeType="clickEffect">
                                  <p:stCondLst>
                                    <p:cond delay="0"/>
                                  </p:stCondLst>
                                  <p:childTnLst>
                                    <p:animEffect transition="out" filter="box(in)">
                                      <p:cBhvr>
                                        <p:cTn id="66" dur="500"/>
                                        <p:tgtEl>
                                          <p:spTgt spid="19"/>
                                        </p:tgtEl>
                                      </p:cBhvr>
                                    </p:animEffect>
                                    <p:set>
                                      <p:cBhvr>
                                        <p:cTn id="67" dur="1" fill="hold">
                                          <p:stCondLst>
                                            <p:cond delay="499"/>
                                          </p:stCondLst>
                                        </p:cTn>
                                        <p:tgtEl>
                                          <p:spTgt spid="1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4" presetClass="exit" presetSubtype="16" fill="hold" grpId="0" nodeType="clickEffect">
                                  <p:stCondLst>
                                    <p:cond delay="0"/>
                                  </p:stCondLst>
                                  <p:childTnLst>
                                    <p:animEffect transition="out" filter="box(in)">
                                      <p:cBhvr>
                                        <p:cTn id="71" dur="500"/>
                                        <p:tgtEl>
                                          <p:spTgt spid="20"/>
                                        </p:tgtEl>
                                      </p:cBhvr>
                                    </p:animEffect>
                                    <p:set>
                                      <p:cBhvr>
                                        <p:cTn id="72" dur="1" fill="hold">
                                          <p:stCondLst>
                                            <p:cond delay="499"/>
                                          </p:stCondLst>
                                        </p:cTn>
                                        <p:tgtEl>
                                          <p:spTgt spid="2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 presetClass="exit" presetSubtype="16" fill="hold" grpId="0" nodeType="clickEffect">
                                  <p:stCondLst>
                                    <p:cond delay="0"/>
                                  </p:stCondLst>
                                  <p:childTnLst>
                                    <p:animEffect transition="out" filter="box(in)">
                                      <p:cBhvr>
                                        <p:cTn id="76" dur="500"/>
                                        <p:tgtEl>
                                          <p:spTgt spid="21"/>
                                        </p:tgtEl>
                                      </p:cBhvr>
                                    </p:animEffect>
                                    <p:set>
                                      <p:cBhvr>
                                        <p:cTn id="77" dur="1" fill="hold">
                                          <p:stCondLst>
                                            <p:cond delay="499"/>
                                          </p:stCondLst>
                                        </p:cTn>
                                        <p:tgtEl>
                                          <p:spTgt spid="21"/>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4" presetClass="exit" presetSubtype="16" fill="hold" grpId="0" nodeType="clickEffect">
                                  <p:stCondLst>
                                    <p:cond delay="0"/>
                                  </p:stCondLst>
                                  <p:childTnLst>
                                    <p:animEffect transition="out" filter="box(in)">
                                      <p:cBhvr>
                                        <p:cTn id="81" dur="500"/>
                                        <p:tgtEl>
                                          <p:spTgt spid="22"/>
                                        </p:tgtEl>
                                      </p:cBhvr>
                                    </p:animEffect>
                                    <p:set>
                                      <p:cBhvr>
                                        <p:cTn id="82" dur="1" fill="hold">
                                          <p:stCondLst>
                                            <p:cond delay="499"/>
                                          </p:stCondLst>
                                        </p:cTn>
                                        <p:tgtEl>
                                          <p:spTgt spid="22"/>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4" presetClass="exit" presetSubtype="16" fill="hold" grpId="0" nodeType="clickEffect">
                                  <p:stCondLst>
                                    <p:cond delay="0"/>
                                  </p:stCondLst>
                                  <p:childTnLst>
                                    <p:animEffect transition="out" filter="box(in)">
                                      <p:cBhvr>
                                        <p:cTn id="86" dur="500"/>
                                        <p:tgtEl>
                                          <p:spTgt spid="23"/>
                                        </p:tgtEl>
                                      </p:cBhvr>
                                    </p:animEffect>
                                    <p:set>
                                      <p:cBhvr>
                                        <p:cTn id="87" dur="1" fill="hold">
                                          <p:stCondLst>
                                            <p:cond delay="499"/>
                                          </p:stCondLst>
                                        </p:cTn>
                                        <p:tgtEl>
                                          <p:spTgt spid="23"/>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4" presetClass="exit" presetSubtype="16" fill="hold" grpId="0" nodeType="clickEffect">
                                  <p:stCondLst>
                                    <p:cond delay="0"/>
                                  </p:stCondLst>
                                  <p:childTnLst>
                                    <p:animEffect transition="out" filter="box(in)">
                                      <p:cBhvr>
                                        <p:cTn id="91" dur="500"/>
                                        <p:tgtEl>
                                          <p:spTgt spid="24"/>
                                        </p:tgtEl>
                                      </p:cBhvr>
                                    </p:animEffect>
                                    <p:set>
                                      <p:cBhvr>
                                        <p:cTn id="92" dur="1" fill="hold">
                                          <p:stCondLst>
                                            <p:cond delay="499"/>
                                          </p:stCondLst>
                                        </p:cTn>
                                        <p:tgtEl>
                                          <p:spTgt spid="24"/>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4" presetClass="exit" presetSubtype="16" fill="hold" grpId="0" nodeType="clickEffect">
                                  <p:stCondLst>
                                    <p:cond delay="0"/>
                                  </p:stCondLst>
                                  <p:childTnLst>
                                    <p:animEffect transition="out" filter="box(in)">
                                      <p:cBhvr>
                                        <p:cTn id="96" dur="500"/>
                                        <p:tgtEl>
                                          <p:spTgt spid="25"/>
                                        </p:tgtEl>
                                      </p:cBhvr>
                                    </p:animEffect>
                                    <p:set>
                                      <p:cBhvr>
                                        <p:cTn id="97" dur="1" fill="hold">
                                          <p:stCondLst>
                                            <p:cond delay="4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P spid="24" grpId="0" bldLvl="0" animBg="1"/>
      <p:bldP spid="25" grpId="0" bldLvl="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由字符序列组成，文件内的信息不再划分结构，这是指</a:t>
            </a:r>
            <a:r>
              <a:rPr lang="en-US" altLang="zh-CN" dirty="0"/>
              <a:t>( )</a:t>
            </a:r>
            <a:endParaRPr lang="en-US" altLang="zh-CN" dirty="0"/>
          </a:p>
          <a:p>
            <a:r>
              <a:rPr lang="en-US" altLang="zh-CN" dirty="0"/>
              <a:t>A.</a:t>
            </a:r>
            <a:r>
              <a:rPr lang="zh-CN" altLang="en-US" dirty="0"/>
              <a:t>流式文件  </a:t>
            </a:r>
            <a:r>
              <a:rPr lang="en-US" altLang="zh-CN" dirty="0"/>
              <a:t>B.</a:t>
            </a:r>
            <a:r>
              <a:rPr lang="zh-CN" altLang="en-US" dirty="0"/>
              <a:t>记录式文件  </a:t>
            </a:r>
            <a:r>
              <a:rPr lang="en-US" altLang="zh-CN" dirty="0"/>
              <a:t>C.</a:t>
            </a:r>
            <a:r>
              <a:rPr lang="zh-CN" altLang="en-US" dirty="0"/>
              <a:t>连续文件  </a:t>
            </a:r>
            <a:r>
              <a:rPr lang="en-US" altLang="zh-CN" dirty="0"/>
              <a:t>D.</a:t>
            </a:r>
            <a:r>
              <a:rPr lang="zh-CN" altLang="en-US" dirty="0"/>
              <a:t>有序文件</a:t>
            </a:r>
            <a:endParaRPr lang="zh-CN" altLang="en-US" dirty="0"/>
          </a:p>
          <a:p>
            <a:r>
              <a:rPr lang="zh-CN" altLang="en-US" dirty="0"/>
              <a:t>参考答案</a:t>
            </a:r>
            <a:r>
              <a:rPr lang="en-US" altLang="zh-CN" dirty="0"/>
              <a:t>: A</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特别文件是与</a:t>
            </a:r>
            <a:r>
              <a:rPr lang="en-US" altLang="zh-CN" dirty="0"/>
              <a:t>(     )</a:t>
            </a:r>
            <a:r>
              <a:rPr lang="zh-CN" altLang="en-US" dirty="0"/>
              <a:t>有关的文件。</a:t>
            </a:r>
            <a:endParaRPr lang="zh-CN" altLang="en-US" dirty="0"/>
          </a:p>
          <a:p>
            <a:pPr lvl="1"/>
            <a:r>
              <a:rPr lang="en-US" altLang="zh-CN" dirty="0"/>
              <a:t>A.</a:t>
            </a:r>
            <a:r>
              <a:rPr lang="zh-CN" altLang="en-US" dirty="0"/>
              <a:t>文本    </a:t>
            </a:r>
            <a:r>
              <a:rPr lang="en-US" altLang="zh-CN" dirty="0"/>
              <a:t>B.</a:t>
            </a:r>
            <a:r>
              <a:rPr lang="zh-CN" altLang="en-US" dirty="0"/>
              <a:t>图像    </a:t>
            </a:r>
            <a:r>
              <a:rPr lang="en-US" altLang="zh-CN" dirty="0"/>
              <a:t>C.</a:t>
            </a:r>
            <a:r>
              <a:rPr lang="zh-CN" altLang="en-US" dirty="0"/>
              <a:t>硬件设备     </a:t>
            </a:r>
            <a:r>
              <a:rPr lang="en-US" altLang="zh-CN" dirty="0"/>
              <a:t>D.</a:t>
            </a:r>
            <a:r>
              <a:rPr lang="zh-CN" altLang="en-US" dirty="0"/>
              <a:t>二进制数据</a:t>
            </a:r>
            <a:endParaRPr lang="zh-CN" altLang="en-US" dirty="0"/>
          </a:p>
          <a:p>
            <a:pPr lvl="1"/>
            <a:r>
              <a:rPr lang="zh-CN" altLang="en-US" dirty="0"/>
              <a:t>参考答案</a:t>
            </a:r>
            <a:r>
              <a:rPr lang="en-US" altLang="zh-CN" dirty="0"/>
              <a:t>:C</a:t>
            </a:r>
            <a:endParaRPr lang="en-US" altLang="zh-CN" dirty="0"/>
          </a:p>
          <a:p>
            <a:r>
              <a:rPr lang="en-US" altLang="zh-CN" dirty="0"/>
              <a:t>2.</a:t>
            </a:r>
            <a:r>
              <a:rPr lang="zh-CN" altLang="en-US" dirty="0"/>
              <a:t>按文件用途来分，编辑程序是</a:t>
            </a:r>
            <a:r>
              <a:rPr lang="en-US" altLang="zh-CN" dirty="0"/>
              <a:t>( )</a:t>
            </a:r>
            <a:endParaRPr lang="en-US" altLang="zh-CN" dirty="0"/>
          </a:p>
          <a:p>
            <a:pPr lvl="1"/>
            <a:r>
              <a:rPr lang="en-US" altLang="zh-CN" dirty="0"/>
              <a:t>A.</a:t>
            </a:r>
            <a:r>
              <a:rPr lang="zh-CN" altLang="en-US" dirty="0"/>
              <a:t>系统文件      </a:t>
            </a:r>
            <a:r>
              <a:rPr lang="en-US" altLang="zh-CN" dirty="0"/>
              <a:t>B.</a:t>
            </a:r>
            <a:r>
              <a:rPr lang="zh-CN" altLang="en-US" dirty="0"/>
              <a:t>文档文件</a:t>
            </a:r>
            <a:endParaRPr lang="zh-CN" altLang="en-US" dirty="0"/>
          </a:p>
          <a:p>
            <a:pPr lvl="1"/>
            <a:r>
              <a:rPr lang="en-US" altLang="zh-CN" dirty="0"/>
              <a:t>C.</a:t>
            </a:r>
            <a:r>
              <a:rPr lang="zh-CN" altLang="en-US" dirty="0"/>
              <a:t>用户文件      </a:t>
            </a:r>
            <a:r>
              <a:rPr lang="en-US" altLang="zh-CN" dirty="0"/>
              <a:t>D.</a:t>
            </a:r>
            <a:r>
              <a:rPr lang="zh-CN" altLang="en-US" dirty="0"/>
              <a:t>库文件</a:t>
            </a:r>
            <a:endParaRPr lang="zh-CN" altLang="en-US" dirty="0"/>
          </a:p>
          <a:p>
            <a:pPr lvl="1"/>
            <a:r>
              <a:rPr lang="zh-CN" altLang="en-US" dirty="0"/>
              <a:t>参考答案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所谓文件系统是指</a:t>
            </a:r>
            <a:r>
              <a:rPr lang="en-US" altLang="zh-CN" dirty="0"/>
              <a:t>( )</a:t>
            </a:r>
            <a:endParaRPr lang="en-US" altLang="zh-CN" dirty="0"/>
          </a:p>
          <a:p>
            <a:pPr lvl="1"/>
            <a:r>
              <a:rPr lang="en-US" altLang="zh-CN" dirty="0"/>
              <a:t>A.</a:t>
            </a:r>
            <a:r>
              <a:rPr lang="zh-CN" altLang="en-US" dirty="0"/>
              <a:t>文件的集合  </a:t>
            </a:r>
            <a:r>
              <a:rPr lang="en-US" altLang="zh-CN" dirty="0"/>
              <a:t>B.</a:t>
            </a:r>
            <a:r>
              <a:rPr lang="zh-CN" altLang="en-US" dirty="0"/>
              <a:t>文件的目录   </a:t>
            </a:r>
            <a:r>
              <a:rPr lang="en-US" altLang="zh-CN" dirty="0"/>
              <a:t>C.</a:t>
            </a:r>
            <a:r>
              <a:rPr lang="zh-CN" altLang="en-US" dirty="0"/>
              <a:t>实现文件管理的一组软件</a:t>
            </a:r>
            <a:endParaRPr lang="zh-CN" altLang="en-US" dirty="0"/>
          </a:p>
          <a:p>
            <a:pPr lvl="1"/>
            <a:r>
              <a:rPr lang="en-US" altLang="zh-CN" dirty="0"/>
              <a:t>D.</a:t>
            </a:r>
            <a:r>
              <a:rPr lang="zh-CN" altLang="en-US" dirty="0"/>
              <a:t>文件、管理文件的软件及数据结构的总体</a:t>
            </a:r>
            <a:endParaRPr lang="zh-CN" altLang="en-US" dirty="0"/>
          </a:p>
          <a:p>
            <a:pPr lvl="1"/>
            <a:r>
              <a:rPr lang="zh-CN" altLang="en-US" dirty="0"/>
              <a:t>参考答案</a:t>
            </a:r>
            <a:r>
              <a:rPr lang="en-US" altLang="zh-CN" dirty="0"/>
              <a:t>:D</a:t>
            </a:r>
            <a:endParaRPr lang="en-US" altLang="zh-CN" dirty="0"/>
          </a:p>
          <a:p>
            <a:r>
              <a:rPr lang="zh-CN" altLang="en-US" dirty="0"/>
              <a:t>操作系统的文件系统</a:t>
            </a:r>
            <a:r>
              <a:rPr lang="en-US" altLang="zh-CN" dirty="0"/>
              <a:t>(    )</a:t>
            </a:r>
            <a:endParaRPr lang="en-US" altLang="zh-CN" dirty="0"/>
          </a:p>
          <a:p>
            <a:pPr lvl="1"/>
            <a:r>
              <a:rPr lang="en-US" altLang="zh-CN" dirty="0"/>
              <a:t>A.</a:t>
            </a:r>
            <a:r>
              <a:rPr lang="zh-CN" altLang="en-US" dirty="0"/>
              <a:t>包括负责管理文件的一组系统软件</a:t>
            </a:r>
            <a:endParaRPr lang="zh-CN" altLang="en-US" dirty="0"/>
          </a:p>
          <a:p>
            <a:pPr lvl="1"/>
            <a:r>
              <a:rPr lang="en-US" altLang="zh-CN" dirty="0"/>
              <a:t>B.</a:t>
            </a:r>
            <a:r>
              <a:rPr lang="zh-CN" altLang="en-US" dirty="0"/>
              <a:t>包括被管理的对象，即文件      </a:t>
            </a:r>
            <a:r>
              <a:rPr lang="en-US" altLang="zh-CN" dirty="0"/>
              <a:t>C.A</a:t>
            </a:r>
            <a:r>
              <a:rPr lang="zh-CN" altLang="en-US" dirty="0"/>
              <a:t>和</a:t>
            </a:r>
            <a:r>
              <a:rPr lang="en-US" altLang="zh-CN" dirty="0"/>
              <a:t>B     D.</a:t>
            </a:r>
            <a:r>
              <a:rPr lang="zh-CN" altLang="en-US" dirty="0"/>
              <a:t>仅包括数据</a:t>
            </a:r>
            <a:endParaRPr lang="zh-CN" altLang="en-US" dirty="0"/>
          </a:p>
          <a:p>
            <a:pPr lvl="1"/>
            <a:r>
              <a:rPr lang="zh-CN" altLang="en-US" dirty="0"/>
              <a:t>参考答案</a:t>
            </a:r>
            <a:r>
              <a:rPr lang="en-US" altLang="zh-CN" dirty="0"/>
              <a:t>:C</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下列哪一项不是文件系统的功能</a:t>
            </a:r>
            <a:r>
              <a:rPr lang="en-US" altLang="zh-CN" dirty="0"/>
              <a:t>( )</a:t>
            </a:r>
            <a:endParaRPr lang="en-US" altLang="zh-CN" dirty="0"/>
          </a:p>
          <a:p>
            <a:pPr lvl="1"/>
            <a:r>
              <a:rPr lang="en-US" altLang="zh-CN" dirty="0"/>
              <a:t>A.</a:t>
            </a:r>
            <a:r>
              <a:rPr lang="zh-CN" altLang="en-US" dirty="0"/>
              <a:t>实现文件多保字空间到外存空间的映射，及实现文件的按名存取</a:t>
            </a:r>
            <a:endParaRPr lang="zh-CN" altLang="en-US" dirty="0"/>
          </a:p>
          <a:p>
            <a:pPr lvl="1"/>
            <a:r>
              <a:rPr lang="en-US" altLang="zh-CN" dirty="0"/>
              <a:t>B.</a:t>
            </a:r>
            <a:r>
              <a:rPr lang="zh-CN" altLang="en-US" dirty="0"/>
              <a:t>实现文件信息的共享，并且提代何靠的文件保护和保密措施</a:t>
            </a:r>
            <a:endParaRPr lang="zh-CN" altLang="en-US" dirty="0"/>
          </a:p>
          <a:p>
            <a:pPr lvl="1"/>
            <a:r>
              <a:rPr lang="en-US" altLang="zh-CN" dirty="0"/>
              <a:t>C.</a:t>
            </a:r>
            <a:r>
              <a:rPr lang="zh-CN" altLang="en-US" dirty="0"/>
              <a:t>为了提高</a:t>
            </a:r>
            <a:r>
              <a:rPr lang="en-US" altLang="zh-CN" dirty="0"/>
              <a:t>CPU</a:t>
            </a:r>
            <a:r>
              <a:rPr lang="zh-CN" altLang="en-US" dirty="0"/>
              <a:t>与</a:t>
            </a:r>
            <a:r>
              <a:rPr lang="en-US" altLang="zh-CN" dirty="0"/>
              <a:t>I</a:t>
            </a:r>
            <a:r>
              <a:rPr lang="zh-CN" altLang="en-US" dirty="0"/>
              <a:t>／</a:t>
            </a:r>
            <a:r>
              <a:rPr lang="en-US" altLang="zh-CN" dirty="0"/>
              <a:t>O</a:t>
            </a:r>
            <a:r>
              <a:rPr lang="zh-CN" altLang="en-US" dirty="0"/>
              <a:t>之间的并行操作程度，对缓冲区的文件进行管理</a:t>
            </a:r>
            <a:endParaRPr lang="zh-CN" altLang="en-US" dirty="0"/>
          </a:p>
          <a:p>
            <a:pPr lvl="1"/>
            <a:r>
              <a:rPr lang="en-US" altLang="zh-CN" dirty="0"/>
              <a:t>D.</a:t>
            </a:r>
            <a:r>
              <a:rPr lang="zh-CN" altLang="en-US" dirty="0"/>
              <a:t>有效的实现对文件的各种控制操作和存取操作</a:t>
            </a:r>
            <a:endParaRPr lang="zh-CN" altLang="en-US" dirty="0"/>
          </a:p>
          <a:p>
            <a:pPr lvl="1"/>
            <a:r>
              <a:rPr lang="zh-CN" altLang="en-US" dirty="0"/>
              <a:t>参考答案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文件控制块</a:t>
            </a:r>
            <a:r>
              <a:rPr lang="en-US" altLang="zh-CN" dirty="0"/>
              <a:t>FCB</a:t>
            </a:r>
            <a:r>
              <a:rPr lang="zh-CN" altLang="en-US" dirty="0"/>
              <a:t>是文件存在的标志，文件控制块的有序集合构成了</a:t>
            </a:r>
            <a:r>
              <a:rPr lang="en-US" altLang="zh-CN" dirty="0"/>
              <a:t>( )</a:t>
            </a:r>
            <a:endParaRPr lang="en-US" altLang="zh-CN" dirty="0"/>
          </a:p>
          <a:p>
            <a:pPr lvl="1"/>
            <a:r>
              <a:rPr lang="en-US" altLang="zh-CN" dirty="0"/>
              <a:t>A.</a:t>
            </a:r>
            <a:r>
              <a:rPr lang="zh-CN" altLang="en-US" dirty="0"/>
              <a:t>目录文件    </a:t>
            </a:r>
            <a:r>
              <a:rPr lang="en-US" altLang="zh-CN" dirty="0"/>
              <a:t>             B.</a:t>
            </a:r>
            <a:r>
              <a:rPr lang="zh-CN" altLang="en-US" dirty="0"/>
              <a:t>文件系统</a:t>
            </a:r>
            <a:endParaRPr lang="zh-CN" altLang="en-US" dirty="0"/>
          </a:p>
          <a:p>
            <a:pPr lvl="1"/>
            <a:r>
              <a:rPr lang="en-US" altLang="zh-CN" dirty="0"/>
              <a:t>C.</a:t>
            </a:r>
            <a:r>
              <a:rPr lang="zh-CN" altLang="en-US" dirty="0"/>
              <a:t>文件目录                 </a:t>
            </a:r>
            <a:r>
              <a:rPr lang="en-US" altLang="zh-CN" dirty="0"/>
              <a:t>D.</a:t>
            </a:r>
            <a:r>
              <a:rPr lang="zh-CN" altLang="en-US" dirty="0"/>
              <a:t>目录结构</a:t>
            </a:r>
            <a:endParaRPr lang="zh-CN" altLang="en-US" dirty="0"/>
          </a:p>
          <a:p>
            <a:pPr lvl="1"/>
            <a:r>
              <a:rPr lang="zh-CN" altLang="en-US" dirty="0"/>
              <a:t>参考答案</a:t>
            </a:r>
            <a:r>
              <a:rPr lang="en-US" altLang="zh-CN" dirty="0"/>
              <a:t>:C</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 </a:t>
            </a:r>
            <a:r>
              <a:rPr lang="zh-CN" altLang="en-US" dirty="0"/>
              <a:t>在文件系统中，用户以</a:t>
            </a:r>
            <a:r>
              <a:rPr lang="en-US" altLang="zh-CN" dirty="0"/>
              <a:t>(    )</a:t>
            </a:r>
            <a:r>
              <a:rPr lang="zh-CN" altLang="en-US" dirty="0"/>
              <a:t>方式直接使用外存。</a:t>
            </a:r>
            <a:endParaRPr lang="zh-CN" altLang="en-US" dirty="0"/>
          </a:p>
          <a:p>
            <a:pPr lvl="1"/>
            <a:r>
              <a:rPr lang="en-US" altLang="zh-CN" dirty="0"/>
              <a:t>A.</a:t>
            </a:r>
            <a:r>
              <a:rPr lang="zh-CN" altLang="en-US" dirty="0"/>
              <a:t>逻辑地址  </a:t>
            </a:r>
            <a:r>
              <a:rPr lang="en-US" altLang="zh-CN" dirty="0"/>
              <a:t>B.</a:t>
            </a:r>
            <a:r>
              <a:rPr lang="zh-CN" altLang="en-US" dirty="0"/>
              <a:t>物理地址  </a:t>
            </a:r>
            <a:r>
              <a:rPr lang="en-US" altLang="zh-CN" dirty="0"/>
              <a:t>C.</a:t>
            </a:r>
            <a:r>
              <a:rPr lang="zh-CN" altLang="en-US" dirty="0"/>
              <a:t>名字空间  </a:t>
            </a:r>
            <a:r>
              <a:rPr lang="en-US" altLang="zh-CN" dirty="0"/>
              <a:t>D.</a:t>
            </a:r>
            <a:r>
              <a:rPr lang="zh-CN" altLang="en-US" dirty="0"/>
              <a:t>虚拟地址</a:t>
            </a:r>
            <a:endParaRPr lang="zh-CN" altLang="en-US" dirty="0"/>
          </a:p>
          <a:p>
            <a:pPr lvl="1"/>
            <a:r>
              <a:rPr lang="zh-CN" altLang="en-US" dirty="0"/>
              <a:t>参考答案</a:t>
            </a:r>
            <a:r>
              <a:rPr lang="en-US" altLang="zh-CN" dirty="0"/>
              <a:t>:D</a:t>
            </a:r>
            <a:endParaRPr lang="en-US" altLang="zh-CN" dirty="0"/>
          </a:p>
          <a:p>
            <a:r>
              <a:rPr lang="en-US" altLang="zh-CN" dirty="0"/>
              <a:t>2.</a:t>
            </a:r>
            <a:r>
              <a:rPr lang="zh-CN" altLang="en-US" dirty="0"/>
              <a:t>文件系统实现按名存取主要是靠</a:t>
            </a:r>
            <a:r>
              <a:rPr lang="en-US" altLang="zh-CN" dirty="0"/>
              <a:t>(    )</a:t>
            </a:r>
            <a:r>
              <a:rPr lang="zh-CN" altLang="en-US" dirty="0"/>
              <a:t>来实现的。</a:t>
            </a:r>
            <a:endParaRPr lang="zh-CN" altLang="en-US" dirty="0"/>
          </a:p>
          <a:p>
            <a:pPr lvl="1"/>
            <a:r>
              <a:rPr lang="en-US" altLang="zh-CN" dirty="0"/>
              <a:t>A.</a:t>
            </a:r>
            <a:r>
              <a:rPr lang="zh-CN" altLang="en-US" dirty="0"/>
              <a:t>查找位示图 </a:t>
            </a:r>
            <a:r>
              <a:rPr lang="en-US" altLang="zh-CN" dirty="0"/>
              <a:t>B.</a:t>
            </a:r>
            <a:r>
              <a:rPr lang="zh-CN" altLang="en-US" dirty="0"/>
              <a:t>查找文件目录  </a:t>
            </a:r>
            <a:r>
              <a:rPr lang="en-US" altLang="zh-CN" dirty="0"/>
              <a:t>C.</a:t>
            </a:r>
            <a:r>
              <a:rPr lang="zh-CN" altLang="en-US" dirty="0"/>
              <a:t>查找作业表  </a:t>
            </a:r>
            <a:r>
              <a:rPr lang="en-US" altLang="zh-CN" dirty="0"/>
              <a:t>D.</a:t>
            </a:r>
            <a:r>
              <a:rPr lang="zh-CN" altLang="en-US" dirty="0"/>
              <a:t>地址转换机构</a:t>
            </a:r>
            <a:endParaRPr lang="zh-CN" altLang="en-US" dirty="0"/>
          </a:p>
          <a:p>
            <a:pPr lvl="1"/>
            <a:r>
              <a:rPr lang="zh-CN" altLang="en-US" dirty="0"/>
              <a:t>参考答案</a:t>
            </a:r>
            <a:r>
              <a:rPr lang="en-US" altLang="zh-CN" dirty="0"/>
              <a:t>:B</a:t>
            </a:r>
            <a:endParaRPr lang="zh-CN" altLang="en-US"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691161"/>
            <a:ext cx="11236641" cy="5475677"/>
          </a:xfrm>
        </p:spPr>
        <p:txBody>
          <a:bodyPr/>
          <a:lstStyle/>
          <a:p>
            <a:r>
              <a:rPr lang="zh-CN" altLang="en-US" dirty="0"/>
              <a:t>用户的</a:t>
            </a:r>
            <a:r>
              <a:rPr lang="en-US" altLang="zh-CN" dirty="0"/>
              <a:t>(    )</a:t>
            </a:r>
            <a:r>
              <a:rPr lang="zh-CN" altLang="en-US" dirty="0"/>
              <a:t>就是用户注册进入系统时的初始基本目录。</a:t>
            </a:r>
            <a:endParaRPr lang="zh-CN" altLang="en-US" dirty="0"/>
          </a:p>
          <a:p>
            <a:pPr lvl="1"/>
            <a:r>
              <a:rPr lang="en-US" altLang="zh-CN" dirty="0"/>
              <a:t>A.</a:t>
            </a:r>
            <a:r>
              <a:rPr lang="zh-CN" altLang="en-US" dirty="0"/>
              <a:t>当前目录   </a:t>
            </a:r>
            <a:r>
              <a:rPr lang="en-US" altLang="zh-CN" dirty="0"/>
              <a:t>B.</a:t>
            </a:r>
            <a:r>
              <a:rPr lang="zh-CN" altLang="en-US" dirty="0"/>
              <a:t>工作目录    </a:t>
            </a:r>
            <a:r>
              <a:rPr lang="en-US" altLang="zh-CN" dirty="0"/>
              <a:t>C.</a:t>
            </a:r>
            <a:r>
              <a:rPr lang="zh-CN" altLang="en-US" dirty="0"/>
              <a:t>相对路径名   </a:t>
            </a:r>
            <a:r>
              <a:rPr lang="en-US" altLang="zh-CN" dirty="0"/>
              <a:t>D.</a:t>
            </a:r>
            <a:r>
              <a:rPr lang="zh-CN" altLang="en-US" dirty="0"/>
              <a:t>主目录</a:t>
            </a:r>
            <a:endParaRPr lang="zh-CN" altLang="en-US" dirty="0"/>
          </a:p>
          <a:p>
            <a:pPr lvl="1"/>
            <a:r>
              <a:rPr lang="zh-CN" altLang="en-US" dirty="0"/>
              <a:t>参考答案</a:t>
            </a:r>
            <a:r>
              <a:rPr lang="en-US" altLang="zh-CN" dirty="0"/>
              <a:t>: D</a:t>
            </a:r>
            <a:endParaRPr lang="en-US" altLang="zh-CN" dirty="0"/>
          </a:p>
          <a:p>
            <a:r>
              <a:rPr lang="en-US" altLang="zh-CN" dirty="0"/>
              <a:t>UNIX</a:t>
            </a:r>
            <a:r>
              <a:rPr lang="zh-CN" altLang="en-US" dirty="0"/>
              <a:t>的文件目录系统采用</a:t>
            </a:r>
            <a:r>
              <a:rPr lang="en-US" altLang="zh-CN" dirty="0"/>
              <a:t>( )</a:t>
            </a:r>
            <a:r>
              <a:rPr lang="zh-CN" altLang="en-US" dirty="0"/>
              <a:t>结构。</a:t>
            </a:r>
            <a:endParaRPr lang="zh-CN" altLang="en-US" dirty="0"/>
          </a:p>
          <a:p>
            <a:pPr lvl="1"/>
            <a:r>
              <a:rPr lang="en-US" altLang="zh-CN" dirty="0"/>
              <a:t>A.</a:t>
            </a:r>
            <a:r>
              <a:rPr lang="zh-CN" altLang="en-US" dirty="0"/>
              <a:t>单级目录  </a:t>
            </a:r>
            <a:r>
              <a:rPr lang="en-US" altLang="zh-CN" dirty="0"/>
              <a:t>B.</a:t>
            </a:r>
            <a:r>
              <a:rPr lang="zh-CN" altLang="en-US" dirty="0"/>
              <a:t>二级目录  </a:t>
            </a:r>
            <a:r>
              <a:rPr lang="en-US" altLang="zh-CN" dirty="0"/>
              <a:t>C.</a:t>
            </a:r>
            <a:r>
              <a:rPr lang="zh-CN" altLang="en-US" dirty="0"/>
              <a:t>树型多级目录  </a:t>
            </a:r>
            <a:r>
              <a:rPr lang="en-US" altLang="zh-CN" dirty="0"/>
              <a:t>D.</a:t>
            </a:r>
            <a:r>
              <a:rPr lang="zh-CN" altLang="en-US" dirty="0"/>
              <a:t>可装卸式多级树型目录（每个磁盘有自己独立的文件系统，可安装到大目录中作为分支）</a:t>
            </a:r>
            <a:endParaRPr lang="zh-CN" altLang="en-US" dirty="0"/>
          </a:p>
          <a:p>
            <a:pPr lvl="1"/>
            <a:r>
              <a:rPr lang="zh-CN" altLang="en-US" dirty="0"/>
              <a:t>参考答案</a:t>
            </a:r>
            <a:r>
              <a:rPr lang="en-US" altLang="zh-CN" dirty="0"/>
              <a:t>:D</a:t>
            </a:r>
            <a:endParaRPr lang="en-US" altLang="zh-CN" dirty="0"/>
          </a:p>
          <a:p>
            <a:endParaRPr lang="en-US" altLang="zh-CN" dirty="0"/>
          </a:p>
          <a:p>
            <a:endParaRPr lang="en-US" altLang="zh-CN"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571501" y="820811"/>
            <a:ext cx="11236641" cy="5475677"/>
          </a:xfrm>
        </p:spPr>
        <p:txBody>
          <a:bodyPr/>
          <a:lstStyle/>
          <a:p>
            <a:r>
              <a:rPr lang="zh-CN" altLang="en-US" dirty="0"/>
              <a:t>在操作系统中，将文件名转换为文件存储地址，对文件实施控制管理都是通过</a:t>
            </a:r>
            <a:r>
              <a:rPr lang="en-US" altLang="zh-CN" dirty="0"/>
              <a:t>( )</a:t>
            </a:r>
            <a:r>
              <a:rPr lang="zh-CN" altLang="en-US" dirty="0"/>
              <a:t>来实现的。</a:t>
            </a:r>
            <a:endParaRPr lang="zh-CN" altLang="en-US" dirty="0"/>
          </a:p>
          <a:p>
            <a:pPr lvl="1">
              <a:spcBef>
                <a:spcPts val="1800"/>
              </a:spcBef>
            </a:pPr>
            <a:r>
              <a:rPr lang="en-US" altLang="zh-CN" dirty="0"/>
              <a:t>A.</a:t>
            </a:r>
            <a:r>
              <a:rPr lang="zh-CN" altLang="en-US" dirty="0"/>
              <a:t>文件目录  </a:t>
            </a:r>
            <a:r>
              <a:rPr lang="en-US" altLang="zh-CN" dirty="0"/>
              <a:t>B.PCB</a:t>
            </a:r>
            <a:r>
              <a:rPr lang="zh-CN" altLang="en-US" dirty="0"/>
              <a:t>表  </a:t>
            </a:r>
            <a:r>
              <a:rPr lang="en-US" altLang="zh-CN" dirty="0"/>
              <a:t>C.</a:t>
            </a:r>
            <a:r>
              <a:rPr lang="zh-CN" altLang="en-US" dirty="0"/>
              <a:t>路径名  </a:t>
            </a:r>
            <a:r>
              <a:rPr lang="en-US" altLang="zh-CN" dirty="0"/>
              <a:t>D.</a:t>
            </a:r>
            <a:r>
              <a:rPr lang="zh-CN" altLang="en-US" dirty="0"/>
              <a:t>文件名</a:t>
            </a:r>
            <a:endParaRPr lang="zh-CN" altLang="en-US" dirty="0"/>
          </a:p>
          <a:p>
            <a:pPr lvl="1">
              <a:spcBef>
                <a:spcPts val="1800"/>
              </a:spcBef>
            </a:pPr>
            <a:r>
              <a:rPr lang="zh-CN" altLang="en-US" dirty="0"/>
              <a:t>参考答案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假设磁盘的容量是</a:t>
            </a:r>
            <a:r>
              <a:rPr lang="en-US" altLang="zh-CN" dirty="0"/>
              <a:t>1MB</a:t>
            </a:r>
            <a:r>
              <a:rPr lang="zh-CN" altLang="en-US" dirty="0"/>
              <a:t>，每个磁盘块的大小为</a:t>
            </a:r>
            <a:r>
              <a:rPr lang="en-US" altLang="zh-CN" dirty="0"/>
              <a:t>512</a:t>
            </a:r>
            <a:r>
              <a:rPr lang="zh-CN" altLang="en-US" dirty="0"/>
              <a:t>个字节</a:t>
            </a:r>
            <a:endParaRPr lang="en-US" altLang="zh-CN" dirty="0"/>
          </a:p>
          <a:p>
            <a:pPr lvl="1"/>
            <a:r>
              <a:rPr lang="zh-CN" altLang="en-US" dirty="0"/>
              <a:t>磁盘块数量：</a:t>
            </a:r>
            <a:r>
              <a:rPr lang="en-US" altLang="zh-CN" dirty="0"/>
              <a:t>1MB/512B=2048</a:t>
            </a:r>
            <a:r>
              <a:rPr lang="zh-CN" altLang="en-US" dirty="0"/>
              <a:t>块</a:t>
            </a:r>
            <a:endParaRPr lang="en-US" altLang="zh-CN" dirty="0"/>
          </a:p>
          <a:p>
            <a:pPr lvl="1"/>
            <a:r>
              <a:rPr lang="zh-CN" altLang="en-US" dirty="0"/>
              <a:t>编码磁盘块需要位数：</a:t>
            </a:r>
            <a:r>
              <a:rPr lang="en-US" altLang="zh-CN" dirty="0"/>
              <a:t>2∧10 &lt; 2048 &lt;= 2 ∧11</a:t>
            </a:r>
            <a:r>
              <a:rPr lang="zh-CN" altLang="en-US" dirty="0"/>
              <a:t>，因此需要</a:t>
            </a:r>
            <a:r>
              <a:rPr lang="en-US" altLang="zh-CN" dirty="0"/>
              <a:t>11</a:t>
            </a:r>
            <a:r>
              <a:rPr lang="zh-CN" altLang="en-US" dirty="0"/>
              <a:t>个二进制位</a:t>
            </a:r>
            <a:endParaRPr lang="en-US" altLang="zh-CN" dirty="0"/>
          </a:p>
          <a:p>
            <a:r>
              <a:rPr lang="zh-CN" altLang="en-US" dirty="0"/>
              <a:t>如果文件的长度不大于</a:t>
            </a:r>
            <a:r>
              <a:rPr lang="en-US" altLang="zh-CN" dirty="0"/>
              <a:t>512K</a:t>
            </a:r>
            <a:endParaRPr lang="en-US" altLang="zh-CN" dirty="0"/>
          </a:p>
          <a:p>
            <a:pPr lvl="1"/>
            <a:r>
              <a:rPr lang="zh-CN" altLang="en-US" dirty="0"/>
              <a:t>长度需要</a:t>
            </a:r>
            <a:r>
              <a:rPr lang="en-US" altLang="zh-CN" dirty="0"/>
              <a:t>10</a:t>
            </a:r>
            <a:r>
              <a:rPr lang="zh-CN" altLang="en-US" dirty="0"/>
              <a:t>位来表示：</a:t>
            </a:r>
            <a:r>
              <a:rPr lang="en-US" altLang="zh-CN" dirty="0"/>
              <a:t>512K/512</a:t>
            </a:r>
            <a:r>
              <a:rPr lang="zh-CN" altLang="en-US" dirty="0"/>
              <a:t> </a:t>
            </a:r>
            <a:r>
              <a:rPr lang="en-US" altLang="zh-CN" dirty="0"/>
              <a:t>=</a:t>
            </a:r>
            <a:r>
              <a:rPr lang="zh-CN" altLang="en-US" dirty="0"/>
              <a:t> </a:t>
            </a:r>
            <a:r>
              <a:rPr lang="en-US" altLang="zh-CN" dirty="0"/>
              <a:t>1024, 2∧10 = 1024</a:t>
            </a:r>
            <a:endParaRPr lang="en-US" altLang="zh-CN" dirty="0"/>
          </a:p>
          <a:p>
            <a:r>
              <a:rPr lang="zh-CN" altLang="en-US" dirty="0"/>
              <a:t>因此，每个文件需要在目录中额外占用</a:t>
            </a:r>
            <a:r>
              <a:rPr lang="en-US" altLang="zh-CN" dirty="0"/>
              <a:t>21</a:t>
            </a:r>
            <a:r>
              <a:rPr lang="zh-CN" altLang="en-US" dirty="0"/>
              <a:t>个二进制位。</a:t>
            </a:r>
            <a:endParaRPr lang="zh-CN" altLang="en-US" dirty="0"/>
          </a:p>
          <a:p>
            <a:pPr marL="0" indent="0">
              <a:buNone/>
            </a:pPr>
            <a:r>
              <a:rPr lang="zh-CN" altLang="en-US" dirty="0"/>
              <a:t>（起始块</a:t>
            </a:r>
            <a:r>
              <a:rPr lang="en-US" altLang="zh-CN" dirty="0"/>
              <a:t>11</a:t>
            </a:r>
            <a:r>
              <a:rPr lang="zh-CN" altLang="en-US" dirty="0"/>
              <a:t>位</a:t>
            </a:r>
            <a:r>
              <a:rPr lang="en-US" altLang="zh-CN" dirty="0"/>
              <a:t>+</a:t>
            </a:r>
            <a:r>
              <a:rPr lang="zh-CN" altLang="en-US" dirty="0"/>
              <a:t>长度</a:t>
            </a:r>
            <a:r>
              <a:rPr lang="en-US" altLang="zh-CN" dirty="0"/>
              <a:t>10</a:t>
            </a:r>
            <a:r>
              <a:rPr lang="zh-CN" altLang="en-US" dirty="0"/>
              <a:t>位）</a:t>
            </a:r>
            <a:endParaRPr lang="zh-CN" altLang="en-US" dirty="0"/>
          </a:p>
        </p:txBody>
      </p:sp>
      <p:sp>
        <p:nvSpPr>
          <p:cNvPr id="3" name="标题 2"/>
          <p:cNvSpPr>
            <a:spLocks noGrp="1"/>
          </p:cNvSpPr>
          <p:nvPr>
            <p:ph type="title"/>
          </p:nvPr>
        </p:nvSpPr>
        <p:spPr/>
        <p:txBody>
          <a:bodyPr/>
          <a:lstStyle/>
          <a:p>
            <a:r>
              <a:rPr lang="zh-CN" altLang="en-US" dirty="0"/>
              <a:t>连续组织的目录大小</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61771" y="1240776"/>
            <a:ext cx="10770648" cy="5157643"/>
          </a:xfrm>
        </p:spPr>
        <p:txBody>
          <a:bodyPr/>
          <a:lstStyle/>
          <a:p>
            <a:pPr>
              <a:spcBef>
                <a:spcPts val="600"/>
              </a:spcBef>
            </a:pPr>
            <a:r>
              <a:rPr lang="zh-CN" altLang="en-US" sz="2800" dirty="0"/>
              <a:t>仍然假设磁盘的容量是</a:t>
            </a:r>
            <a:r>
              <a:rPr lang="en-US" altLang="zh-CN" sz="2800" dirty="0"/>
              <a:t>1MB</a:t>
            </a:r>
            <a:r>
              <a:rPr lang="zh-CN" altLang="en-US" sz="2800" dirty="0"/>
              <a:t>，每个磁盘块的大小为</a:t>
            </a:r>
            <a:r>
              <a:rPr lang="en-US" altLang="zh-CN" sz="2800" dirty="0"/>
              <a:t>512</a:t>
            </a:r>
            <a:r>
              <a:rPr lang="zh-CN" altLang="en-US" sz="2800" dirty="0"/>
              <a:t>字节</a:t>
            </a:r>
            <a:endParaRPr lang="en-US" altLang="zh-CN" sz="2800" dirty="0"/>
          </a:p>
          <a:p>
            <a:pPr lvl="1">
              <a:spcBef>
                <a:spcPts val="600"/>
              </a:spcBef>
            </a:pPr>
            <a:r>
              <a:rPr lang="zh-CN" altLang="en-US" sz="2400" dirty="0"/>
              <a:t>总磁盘块数量：</a:t>
            </a:r>
            <a:r>
              <a:rPr lang="en-US" altLang="zh-CN" sz="2400" dirty="0"/>
              <a:t>1MB/512B=2048</a:t>
            </a:r>
            <a:r>
              <a:rPr lang="zh-CN" altLang="en-US" sz="2400" dirty="0"/>
              <a:t>块</a:t>
            </a:r>
            <a:endParaRPr lang="en-US" altLang="zh-CN" sz="2400" dirty="0"/>
          </a:p>
          <a:p>
            <a:pPr lvl="1">
              <a:spcBef>
                <a:spcPts val="600"/>
              </a:spcBef>
            </a:pPr>
            <a:r>
              <a:rPr lang="zh-CN" altLang="en-US" sz="2400" dirty="0"/>
              <a:t>编码磁盘块需要位数：</a:t>
            </a:r>
            <a:r>
              <a:rPr lang="en-US" altLang="zh-CN" sz="2400" dirty="0"/>
              <a:t>2∧10 &lt; 2048 &lt;= 2 ∧11</a:t>
            </a:r>
            <a:r>
              <a:rPr lang="zh-CN" altLang="en-US" sz="2400" dirty="0"/>
              <a:t>，因此需要</a:t>
            </a:r>
            <a:r>
              <a:rPr lang="en-US" altLang="zh-CN" sz="2400" dirty="0"/>
              <a:t>11</a:t>
            </a:r>
            <a:r>
              <a:rPr lang="zh-CN" altLang="en-US" sz="2400" dirty="0"/>
              <a:t>个二进制位</a:t>
            </a:r>
            <a:endParaRPr lang="en-US" altLang="zh-CN" sz="2400" dirty="0"/>
          </a:p>
          <a:p>
            <a:pPr>
              <a:spcBef>
                <a:spcPts val="600"/>
              </a:spcBef>
            </a:pPr>
            <a:r>
              <a:rPr lang="zh-CN" altLang="en-US" sz="2800" dirty="0"/>
              <a:t>文件的长度不再记录，目录中记录的是两个磁盘块号。</a:t>
            </a:r>
            <a:endParaRPr lang="en-US" altLang="zh-CN" sz="2800" dirty="0"/>
          </a:p>
          <a:p>
            <a:pPr>
              <a:spcBef>
                <a:spcPts val="600"/>
              </a:spcBef>
            </a:pPr>
            <a:r>
              <a:rPr lang="zh-CN" altLang="en-US" sz="2800" dirty="0"/>
              <a:t>每个磁盘块需要保存下一个磁盘块的指针，即下一个磁盘块的块号，因此每个磁盘块需要划出</a:t>
            </a:r>
            <a:r>
              <a:rPr lang="en-US" altLang="zh-CN" sz="2800" dirty="0"/>
              <a:t>11</a:t>
            </a:r>
            <a:r>
              <a:rPr lang="zh-CN" altLang="en-US" sz="2800" dirty="0"/>
              <a:t>位来保存指针。这样每个块中能够存储的字节只有</a:t>
            </a:r>
            <a:r>
              <a:rPr lang="en-US" altLang="zh-CN" sz="2800" dirty="0"/>
              <a:t>512-2=510</a:t>
            </a:r>
            <a:r>
              <a:rPr lang="zh-CN" altLang="en-US" sz="2800" dirty="0"/>
              <a:t>字节。</a:t>
            </a:r>
            <a:endParaRPr lang="en-US" altLang="zh-CN" sz="2800" dirty="0"/>
          </a:p>
          <a:p>
            <a:pPr>
              <a:spcBef>
                <a:spcPts val="600"/>
              </a:spcBef>
            </a:pPr>
            <a:r>
              <a:rPr lang="zh-CN" altLang="en-US" sz="2800" dirty="0"/>
              <a:t>假设文件大小为</a:t>
            </a:r>
            <a:r>
              <a:rPr lang="en-US" altLang="zh-CN" sz="2800" dirty="0"/>
              <a:t>512KB</a:t>
            </a:r>
            <a:r>
              <a:rPr lang="zh-CN" altLang="en-US" sz="2800" dirty="0"/>
              <a:t>，则总共需要</a:t>
            </a:r>
            <a:r>
              <a:rPr lang="en-US" altLang="zh-CN" sz="2800" dirty="0"/>
              <a:t>1029</a:t>
            </a:r>
            <a:r>
              <a:rPr lang="zh-CN" altLang="en-US" sz="2800" dirty="0"/>
              <a:t>个块：</a:t>
            </a:r>
            <a:endParaRPr lang="en-US" altLang="zh-CN" sz="2800" dirty="0"/>
          </a:p>
          <a:p>
            <a:pPr lvl="1">
              <a:spcBef>
                <a:spcPts val="600"/>
              </a:spcBef>
            </a:pPr>
            <a:r>
              <a:rPr lang="en-US" altLang="zh-CN" sz="2400" dirty="0"/>
              <a:t>512KB /510B=1028.02</a:t>
            </a:r>
            <a:endParaRPr lang="en-US" altLang="zh-CN" sz="2400" dirty="0"/>
          </a:p>
          <a:p>
            <a:pPr>
              <a:spcBef>
                <a:spcPts val="600"/>
              </a:spcBef>
            </a:pPr>
            <a:r>
              <a:rPr lang="zh-CN" altLang="en-US" sz="2800" dirty="0"/>
              <a:t>因此，总的额外位数：显然远大于连续组织</a:t>
            </a:r>
            <a:endParaRPr lang="en-US" altLang="zh-CN" sz="2800" dirty="0"/>
          </a:p>
          <a:p>
            <a:pPr lvl="1">
              <a:spcBef>
                <a:spcPts val="600"/>
              </a:spcBef>
            </a:pPr>
            <a:r>
              <a:rPr lang="en-US" altLang="zh-CN" sz="2400" dirty="0"/>
              <a:t>2</a:t>
            </a:r>
            <a:r>
              <a:rPr lang="zh-CN" altLang="en-US" sz="2400" dirty="0"/>
              <a:t>*</a:t>
            </a:r>
            <a:r>
              <a:rPr lang="en-US" altLang="zh-CN" sz="2400" dirty="0"/>
              <a:t>11+1029 </a:t>
            </a:r>
            <a:r>
              <a:rPr lang="zh-CN" altLang="en-US" sz="2400" dirty="0"/>
              <a:t>* </a:t>
            </a:r>
            <a:r>
              <a:rPr lang="en-US" altLang="zh-CN" sz="2400" dirty="0"/>
              <a:t>16 = 16486</a:t>
            </a:r>
            <a:r>
              <a:rPr lang="zh-CN" altLang="en-US" sz="2400" dirty="0"/>
              <a:t>，约为</a:t>
            </a:r>
            <a:r>
              <a:rPr lang="en-US" altLang="zh-CN" sz="2400" dirty="0"/>
              <a:t>2060</a:t>
            </a:r>
            <a:r>
              <a:rPr lang="zh-CN" altLang="en-US" sz="2400" dirty="0"/>
              <a:t>个字节</a:t>
            </a:r>
            <a:r>
              <a:rPr lang="zh-CN" altLang="en-US" sz="2400" dirty="0">
                <a:solidFill>
                  <a:srgbClr val="FF0000"/>
                </a:solidFill>
              </a:rPr>
              <a:t> ？？</a:t>
            </a:r>
            <a:endParaRPr lang="zh-CN" altLang="en-US" sz="2400" dirty="0"/>
          </a:p>
          <a:p>
            <a:pPr>
              <a:spcBef>
                <a:spcPts val="600"/>
              </a:spcBef>
            </a:pPr>
            <a:endParaRPr lang="zh-CN" altLang="en-US" sz="2800" dirty="0"/>
          </a:p>
        </p:txBody>
      </p:sp>
      <p:sp>
        <p:nvSpPr>
          <p:cNvPr id="3" name="标题 2"/>
          <p:cNvSpPr>
            <a:spLocks noGrp="1"/>
          </p:cNvSpPr>
          <p:nvPr>
            <p:ph type="title"/>
          </p:nvPr>
        </p:nvSpPr>
        <p:spPr>
          <a:xfrm>
            <a:off x="77470" y="138430"/>
            <a:ext cx="12490450" cy="1325880"/>
          </a:xfrm>
        </p:spPr>
        <p:txBody>
          <a:bodyPr/>
          <a:lstStyle/>
          <a:p>
            <a:r>
              <a:rPr lang="zh-CN" altLang="en-US" dirty="0"/>
              <a:t>隐式链接组织的额外开销（考文件最大可以有多大）</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仍然假设磁盘的容量是</a:t>
            </a:r>
            <a:r>
              <a:rPr lang="en-US" altLang="zh-CN" dirty="0"/>
              <a:t>1MB</a:t>
            </a:r>
            <a:r>
              <a:rPr lang="zh-CN" altLang="en-US" dirty="0"/>
              <a:t>，每个磁盘块的大小为</a:t>
            </a:r>
            <a:r>
              <a:rPr lang="en-US" altLang="zh-CN" dirty="0"/>
              <a:t>512</a:t>
            </a:r>
            <a:r>
              <a:rPr lang="zh-CN" altLang="en-US" dirty="0"/>
              <a:t>字节</a:t>
            </a:r>
            <a:endParaRPr lang="en-US" altLang="zh-CN" dirty="0"/>
          </a:p>
          <a:p>
            <a:r>
              <a:rPr lang="zh-CN" altLang="en-US" dirty="0"/>
              <a:t>那么</a:t>
            </a:r>
            <a:r>
              <a:rPr lang="en-US" altLang="zh-CN" dirty="0"/>
              <a:t>FAT</a:t>
            </a:r>
            <a:r>
              <a:rPr lang="zh-CN" altLang="en-US" dirty="0"/>
              <a:t>需要多大呢？</a:t>
            </a:r>
            <a:endParaRPr lang="en-US" altLang="zh-CN" dirty="0"/>
          </a:p>
          <a:p>
            <a:pPr lvl="1"/>
            <a:r>
              <a:rPr lang="zh-CN" altLang="en-US" dirty="0"/>
              <a:t>显然，</a:t>
            </a:r>
            <a:r>
              <a:rPr lang="en-US" altLang="zh-CN" dirty="0"/>
              <a:t>FAT</a:t>
            </a:r>
            <a:r>
              <a:rPr lang="zh-CN" altLang="en-US" dirty="0"/>
              <a:t>需要保存所有磁盘块在分配后的链接，因此需要的项数就是所有磁盘块数，即</a:t>
            </a:r>
            <a:r>
              <a:rPr lang="en-US" altLang="zh-CN" dirty="0"/>
              <a:t>1MB/512B</a:t>
            </a:r>
            <a:r>
              <a:rPr lang="zh-CN" altLang="en-US" dirty="0"/>
              <a:t>，即</a:t>
            </a:r>
            <a:r>
              <a:rPr lang="en-US" altLang="zh-CN" dirty="0"/>
              <a:t>2048</a:t>
            </a:r>
            <a:r>
              <a:rPr lang="zh-CN" altLang="en-US" dirty="0"/>
              <a:t>项。</a:t>
            </a:r>
            <a:endParaRPr lang="en-US" altLang="zh-CN" dirty="0"/>
          </a:p>
          <a:p>
            <a:pPr lvl="1"/>
            <a:r>
              <a:rPr lang="zh-CN" altLang="en-US" dirty="0"/>
              <a:t>表示</a:t>
            </a:r>
            <a:r>
              <a:rPr lang="en-US" altLang="zh-CN" dirty="0"/>
              <a:t>2048</a:t>
            </a:r>
            <a:r>
              <a:rPr lang="zh-CN" altLang="en-US" dirty="0"/>
              <a:t>项需要</a:t>
            </a:r>
            <a:r>
              <a:rPr lang="en-US" altLang="zh-CN" dirty="0"/>
              <a:t>11</a:t>
            </a:r>
            <a:r>
              <a:rPr lang="zh-CN" altLang="en-US" dirty="0"/>
              <a:t>个二进制位，如果取整为两个字节，则需要</a:t>
            </a:r>
            <a:r>
              <a:rPr lang="en-US" altLang="zh-CN" dirty="0"/>
              <a:t>4096</a:t>
            </a:r>
            <a:r>
              <a:rPr lang="zh-CN" altLang="en-US" dirty="0"/>
              <a:t>个字节。</a:t>
            </a:r>
            <a:endParaRPr lang="zh-CN" altLang="en-US" dirty="0"/>
          </a:p>
        </p:txBody>
      </p:sp>
      <p:sp>
        <p:nvSpPr>
          <p:cNvPr id="3" name="标题 2"/>
          <p:cNvSpPr>
            <a:spLocks noGrp="1"/>
          </p:cNvSpPr>
          <p:nvPr>
            <p:ph type="title"/>
          </p:nvPr>
        </p:nvSpPr>
        <p:spPr/>
        <p:txBody>
          <a:bodyPr/>
          <a:lstStyle/>
          <a:p>
            <a:r>
              <a:rPr lang="zh-CN" altLang="en-US" dirty="0"/>
              <a:t>显示链接的存储开销（不适合大容量系统）</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基于下列描述，某文件系统，根目录常驻内存。目录文件采用链接结构，每个磁盘块放</a:t>
            </a:r>
            <a:r>
              <a:rPr lang="en-US" altLang="zh-CN" dirty="0"/>
              <a:t>10</a:t>
            </a:r>
            <a:r>
              <a:rPr lang="zh-CN" altLang="en-US" dirty="0"/>
              <a:t>个下级文件的描述信息，若下级文件的目录文件，则上级目录指向该目录的第一块，否则指向普通文件的文件控制块，每个目录下最多放</a:t>
            </a:r>
            <a:r>
              <a:rPr lang="en-US" altLang="zh-CN" dirty="0"/>
              <a:t>10</a:t>
            </a:r>
            <a:r>
              <a:rPr lang="zh-CN" altLang="en-US" dirty="0"/>
              <a:t>个下级文件，普遍文件采用顺序结构，文件</a:t>
            </a:r>
            <a:r>
              <a:rPr lang="en-US" altLang="zh-CN" dirty="0"/>
              <a:t>H</a:t>
            </a:r>
            <a:r>
              <a:rPr lang="zh-CN" altLang="en-US" dirty="0"/>
              <a:t>共有</a:t>
            </a:r>
            <a:r>
              <a:rPr lang="en-US" altLang="zh-CN" dirty="0"/>
              <a:t>15</a:t>
            </a:r>
            <a:r>
              <a:rPr lang="zh-CN" altLang="en-US" dirty="0"/>
              <a:t>个磁盘块。若要读文件</a:t>
            </a:r>
            <a:r>
              <a:rPr lang="en-US" altLang="zh-CN" dirty="0"/>
              <a:t>/B/E/F/H</a:t>
            </a:r>
            <a:r>
              <a:rPr lang="zh-CN" altLang="en-US" dirty="0"/>
              <a:t>中的第</a:t>
            </a:r>
            <a:r>
              <a:rPr lang="en-US" altLang="zh-CN" dirty="0"/>
              <a:t>8</a:t>
            </a:r>
            <a:r>
              <a:rPr lang="zh-CN" altLang="en-US" dirty="0"/>
              <a:t>块，最少要启动硬盘多少次</a:t>
            </a:r>
            <a:r>
              <a:rPr lang="en-US" altLang="zh-CN" dirty="0"/>
              <a:t>( )</a:t>
            </a:r>
            <a:endParaRPr lang="en-US" altLang="zh-CN" dirty="0"/>
          </a:p>
          <a:p>
            <a:pPr lvl="1"/>
            <a:r>
              <a:rPr lang="en-US" altLang="zh-CN" dirty="0"/>
              <a:t>A.5</a:t>
            </a:r>
            <a:r>
              <a:rPr lang="zh-CN" altLang="en-US" dirty="0"/>
              <a:t>次   </a:t>
            </a:r>
            <a:r>
              <a:rPr lang="en-US" altLang="zh-CN" dirty="0"/>
              <a:t>B.6</a:t>
            </a:r>
            <a:r>
              <a:rPr lang="zh-CN" altLang="en-US" dirty="0"/>
              <a:t>次    </a:t>
            </a:r>
            <a:r>
              <a:rPr lang="en-US" altLang="zh-CN" dirty="0"/>
              <a:t>C.18</a:t>
            </a:r>
            <a:r>
              <a:rPr lang="zh-CN" altLang="en-US" dirty="0"/>
              <a:t>次    </a:t>
            </a:r>
            <a:r>
              <a:rPr lang="en-US" altLang="zh-CN" dirty="0"/>
              <a:t>D.14</a:t>
            </a:r>
            <a:r>
              <a:rPr lang="zh-CN" altLang="en-US" dirty="0"/>
              <a:t>次</a:t>
            </a:r>
            <a:endParaRPr lang="zh-CN" altLang="en-US" dirty="0"/>
          </a:p>
          <a:p>
            <a:pPr lvl="1"/>
            <a:r>
              <a:rPr lang="zh-CN" altLang="en-US" dirty="0"/>
              <a:t>参考答案</a:t>
            </a:r>
            <a:r>
              <a:rPr lang="en-US" altLang="zh-CN" dirty="0"/>
              <a:t>:A</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49570" y="1311565"/>
            <a:ext cx="10407694" cy="5157643"/>
          </a:xfrm>
        </p:spPr>
        <p:txBody>
          <a:bodyPr/>
          <a:lstStyle/>
          <a:p>
            <a:r>
              <a:rPr lang="zh-CN" altLang="en-US" dirty="0"/>
              <a:t>仍然假设磁盘的容量是</a:t>
            </a:r>
            <a:r>
              <a:rPr lang="en-US" altLang="zh-CN" dirty="0"/>
              <a:t>1MB</a:t>
            </a:r>
            <a:r>
              <a:rPr lang="zh-CN" altLang="en-US" dirty="0"/>
              <a:t>，每个磁盘块的大小为</a:t>
            </a:r>
            <a:r>
              <a:rPr lang="en-US" altLang="zh-CN" dirty="0"/>
              <a:t>512</a:t>
            </a:r>
            <a:r>
              <a:rPr lang="zh-CN" altLang="en-US" dirty="0"/>
              <a:t>字节</a:t>
            </a:r>
            <a:endParaRPr lang="en-US" altLang="zh-CN" dirty="0"/>
          </a:p>
          <a:p>
            <a:r>
              <a:rPr lang="zh-CN" altLang="en-US" dirty="0"/>
              <a:t>每个文件有自己独立的索引，如果文件大小为</a:t>
            </a:r>
            <a:r>
              <a:rPr lang="en-US" altLang="zh-CN" dirty="0"/>
              <a:t>512K</a:t>
            </a:r>
            <a:r>
              <a:rPr lang="zh-CN" altLang="en-US" dirty="0"/>
              <a:t>，则需要</a:t>
            </a:r>
            <a:r>
              <a:rPr lang="en-US" altLang="zh-CN" dirty="0"/>
              <a:t>1024</a:t>
            </a:r>
            <a:r>
              <a:rPr lang="zh-CN" altLang="en-US" dirty="0"/>
              <a:t>个索引，如果磁盘块号存储在</a:t>
            </a:r>
            <a:r>
              <a:rPr lang="en-US" altLang="zh-CN" dirty="0"/>
              <a:t>2</a:t>
            </a:r>
            <a:r>
              <a:rPr lang="zh-CN" altLang="en-US" dirty="0"/>
              <a:t>个字节中，即保存索引需要</a:t>
            </a:r>
            <a:r>
              <a:rPr lang="en-US" altLang="zh-CN" dirty="0"/>
              <a:t>2048</a:t>
            </a:r>
            <a:r>
              <a:rPr lang="zh-CN" altLang="en-US" dirty="0"/>
              <a:t>个字节，这</a:t>
            </a:r>
            <a:r>
              <a:rPr lang="en-US" altLang="zh-CN" dirty="0"/>
              <a:t>2048</a:t>
            </a:r>
            <a:r>
              <a:rPr lang="zh-CN" altLang="en-US" dirty="0"/>
              <a:t>个字节需要保存在</a:t>
            </a:r>
            <a:r>
              <a:rPr lang="en-US" altLang="zh-CN" dirty="0"/>
              <a:t>4</a:t>
            </a:r>
            <a:r>
              <a:rPr lang="zh-CN" altLang="en-US" dirty="0"/>
              <a:t>个磁盘块中，这就是单级索引的额外开销。</a:t>
            </a:r>
            <a:endParaRPr lang="zh-CN" altLang="en-US" dirty="0"/>
          </a:p>
        </p:txBody>
      </p:sp>
      <p:sp>
        <p:nvSpPr>
          <p:cNvPr id="3" name="标题 2"/>
          <p:cNvSpPr>
            <a:spLocks noGrp="1"/>
          </p:cNvSpPr>
          <p:nvPr>
            <p:ph type="title"/>
          </p:nvPr>
        </p:nvSpPr>
        <p:spPr>
          <a:xfrm>
            <a:off x="1295466" y="188914"/>
            <a:ext cx="9760461" cy="549275"/>
          </a:xfrm>
        </p:spPr>
        <p:txBody>
          <a:bodyPr/>
          <a:lstStyle/>
          <a:p>
            <a:r>
              <a:rPr lang="zh-CN" altLang="en-US" dirty="0"/>
              <a:t>单级索引的额外开销</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95467" y="188914"/>
            <a:ext cx="9750070" cy="549275"/>
          </a:xfrm>
        </p:spPr>
        <p:txBody>
          <a:bodyPr/>
          <a:lstStyle/>
          <a:p>
            <a:pPr>
              <a:defRPr/>
            </a:pPr>
            <a:r>
              <a:rPr lang="zh-CN" altLang="en-US" dirty="0"/>
              <a:t>索引组织</a:t>
            </a:r>
            <a:r>
              <a:rPr lang="en-US" altLang="zh-CN" dirty="0"/>
              <a:t>——</a:t>
            </a:r>
            <a:r>
              <a:rPr lang="zh-CN" altLang="en-US" dirty="0"/>
              <a:t>增量式索引（很可能考）</a:t>
            </a:r>
            <a:endParaRPr lang="zh-CN" altLang="en-US" dirty="0"/>
          </a:p>
        </p:txBody>
      </p:sp>
      <p:sp>
        <p:nvSpPr>
          <p:cNvPr id="75779" name="内容占位符 2"/>
          <p:cNvSpPr>
            <a:spLocks noGrp="1" noChangeArrowheads="1"/>
          </p:cNvSpPr>
          <p:nvPr>
            <p:ph idx="1"/>
          </p:nvPr>
        </p:nvSpPr>
        <p:spPr/>
        <p:txBody>
          <a:bodyPr/>
          <a:lstStyle/>
          <a:p>
            <a:r>
              <a:rPr lang="zh-CN" altLang="en-US"/>
              <a:t>全面照顾小、中、大及特大文件的组织需求。</a:t>
            </a:r>
            <a:endParaRPr lang="en-US" altLang="zh-CN"/>
          </a:p>
          <a:p>
            <a:r>
              <a:rPr lang="zh-CN" altLang="en-US"/>
              <a:t>同时采用：</a:t>
            </a:r>
            <a:endParaRPr lang="en-US" altLang="zh-CN"/>
          </a:p>
          <a:p>
            <a:pPr lvl="1"/>
            <a:r>
              <a:rPr lang="zh-CN" altLang="en-US"/>
              <a:t>直接寻址：</a:t>
            </a:r>
            <a:r>
              <a:rPr lang="en-US" altLang="zh-CN"/>
              <a:t>10</a:t>
            </a:r>
            <a:r>
              <a:rPr lang="zh-CN" altLang="en-US"/>
              <a:t>个块号</a:t>
            </a:r>
            <a:endParaRPr lang="en-US" altLang="zh-CN"/>
          </a:p>
          <a:p>
            <a:pPr lvl="1"/>
            <a:r>
              <a:rPr lang="zh-CN" altLang="en-US"/>
              <a:t>一级索引，一次间址：一个索引块</a:t>
            </a:r>
            <a:endParaRPr lang="en-US" altLang="zh-CN"/>
          </a:p>
          <a:p>
            <a:pPr lvl="1"/>
            <a:r>
              <a:rPr lang="zh-CN" altLang="en-US"/>
              <a:t>二级索引，二次间址</a:t>
            </a:r>
            <a:endParaRPr lang="en-US" altLang="zh-CN"/>
          </a:p>
          <a:p>
            <a:pPr lvl="1"/>
            <a:r>
              <a:rPr lang="zh-CN" altLang="en-US"/>
              <a:t>三级索引，三次间址</a:t>
            </a:r>
            <a:endParaRPr lang="zh-CN" altLang="en-US"/>
          </a:p>
          <a:p>
            <a:pPr lvl="1"/>
            <a:endParaRPr lang="zh-CN" altLang="en-US"/>
          </a:p>
          <a:p>
            <a:pPr marL="274320" lvl="1" indent="0">
              <a:buNone/>
            </a:pPr>
            <a:r>
              <a:rPr lang="zh-CN" altLang="en-US"/>
              <a:t>会考的问题：文件最大大小、读某个偏移位置的数据要读多少次磁盘、给出总文件大小，问需要多少额外磁盘块放索引</a:t>
            </a:r>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4" name="内容占位符 3"/>
          <p:cNvSpPr>
            <a:spLocks noGrp="1"/>
          </p:cNvSpPr>
          <p:nvPr>
            <p:ph idx="1"/>
          </p:nvPr>
        </p:nvSpPr>
        <p:spPr/>
        <p:txBody>
          <a:bodyPr/>
          <a:lstStyle/>
          <a:p>
            <a:r>
              <a:rPr lang="zh-CN" altLang="en-US" dirty="0"/>
              <a:t>在文件系统中，要求物理块必须连续的物理文件是</a:t>
            </a:r>
            <a:r>
              <a:rPr lang="en-US" altLang="zh-CN" dirty="0"/>
              <a:t>( )</a:t>
            </a:r>
            <a:endParaRPr lang="en-US" altLang="zh-CN" dirty="0"/>
          </a:p>
          <a:p>
            <a:pPr lvl="1"/>
            <a:r>
              <a:rPr lang="en-US" altLang="zh-CN" dirty="0"/>
              <a:t>A.</a:t>
            </a:r>
            <a:r>
              <a:rPr lang="zh-CN" altLang="en-US" dirty="0"/>
              <a:t>顺序文件  </a:t>
            </a:r>
            <a:r>
              <a:rPr lang="en-US" altLang="zh-CN" dirty="0"/>
              <a:t>B.</a:t>
            </a:r>
            <a:r>
              <a:rPr lang="zh-CN" altLang="en-US" dirty="0"/>
              <a:t>链接文件  </a:t>
            </a:r>
            <a:r>
              <a:rPr lang="en-US" altLang="zh-CN" dirty="0"/>
              <a:t>C.</a:t>
            </a:r>
            <a:r>
              <a:rPr lang="zh-CN" altLang="en-US" dirty="0"/>
              <a:t>索引文件  </a:t>
            </a:r>
            <a:r>
              <a:rPr lang="en-US" altLang="zh-CN" dirty="0" err="1"/>
              <a:t>D.Hash</a:t>
            </a:r>
            <a:r>
              <a:rPr lang="zh-CN" altLang="en-US" dirty="0"/>
              <a:t>文件</a:t>
            </a:r>
            <a:endParaRPr lang="zh-CN" altLang="en-US" dirty="0"/>
          </a:p>
          <a:p>
            <a:pPr lvl="1"/>
            <a:r>
              <a:rPr lang="zh-CN" altLang="en-US" dirty="0"/>
              <a:t>参考答案</a:t>
            </a:r>
            <a:r>
              <a:rPr lang="en-US" altLang="zh-CN" dirty="0"/>
              <a:t>: A</a:t>
            </a:r>
            <a:endParaRPr lang="en-US" altLang="zh-CN" dirty="0"/>
          </a:p>
          <a:p>
            <a:r>
              <a:rPr lang="en-US" altLang="zh-CN" dirty="0"/>
              <a:t>9.</a:t>
            </a:r>
            <a:r>
              <a:rPr lang="zh-CN" altLang="en-US" dirty="0"/>
              <a:t>在文件系统中，</a:t>
            </a:r>
            <a:r>
              <a:rPr lang="en-US" altLang="zh-CN" dirty="0"/>
              <a:t>( )</a:t>
            </a:r>
            <a:r>
              <a:rPr lang="zh-CN" altLang="en-US" dirty="0"/>
              <a:t>的逻辑文件中记录顺序与物理文件中占用物理块顺序一致。</a:t>
            </a:r>
            <a:endParaRPr lang="zh-CN" altLang="en-US" dirty="0"/>
          </a:p>
          <a:p>
            <a:pPr lvl="1"/>
            <a:r>
              <a:rPr lang="en-US" altLang="zh-CN" dirty="0" err="1"/>
              <a:t>A.Hash</a:t>
            </a:r>
            <a:r>
              <a:rPr lang="zh-CN" altLang="en-US" dirty="0"/>
              <a:t>文件  </a:t>
            </a:r>
            <a:r>
              <a:rPr lang="en-US" altLang="zh-CN" dirty="0"/>
              <a:t>B.</a:t>
            </a:r>
            <a:r>
              <a:rPr lang="zh-CN" altLang="en-US" dirty="0"/>
              <a:t>顺序文件  </a:t>
            </a:r>
            <a:r>
              <a:rPr lang="en-US" altLang="zh-CN" dirty="0"/>
              <a:t>C.</a:t>
            </a:r>
            <a:r>
              <a:rPr lang="zh-CN" altLang="en-US" dirty="0"/>
              <a:t>索引文件   </a:t>
            </a:r>
            <a:r>
              <a:rPr lang="en-US" altLang="zh-CN" dirty="0"/>
              <a:t>D.</a:t>
            </a:r>
            <a:r>
              <a:rPr lang="zh-CN" altLang="en-US" dirty="0"/>
              <a:t>链接文件</a:t>
            </a:r>
            <a:endParaRPr lang="zh-CN" altLang="en-US" dirty="0"/>
          </a:p>
          <a:p>
            <a:pPr lvl="1"/>
            <a:r>
              <a:rPr lang="zh-CN" altLang="en-US" dirty="0"/>
              <a:t>参考答案</a:t>
            </a:r>
            <a:r>
              <a:rPr lang="en-US" altLang="zh-CN" dirty="0"/>
              <a:t>: B</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a:xfrm>
            <a:off x="477679" y="851291"/>
            <a:ext cx="11236641" cy="5475677"/>
          </a:xfrm>
        </p:spPr>
        <p:txBody>
          <a:bodyPr/>
          <a:lstStyle/>
          <a:p>
            <a:pPr>
              <a:spcBef>
                <a:spcPts val="600"/>
              </a:spcBef>
            </a:pPr>
            <a:r>
              <a:rPr lang="zh-CN" altLang="en-US" sz="2800" dirty="0"/>
              <a:t>下列</a:t>
            </a:r>
            <a:r>
              <a:rPr lang="en-US" altLang="zh-CN" sz="2800" dirty="0"/>
              <a:t>( )</a:t>
            </a:r>
            <a:r>
              <a:rPr lang="zh-CN" altLang="en-US" sz="2800" dirty="0"/>
              <a:t>物理结构文件不便于文件的扩充。</a:t>
            </a:r>
            <a:endParaRPr lang="zh-CN" altLang="en-US" sz="2800" dirty="0"/>
          </a:p>
          <a:p>
            <a:pPr lvl="1">
              <a:spcBef>
                <a:spcPts val="600"/>
              </a:spcBef>
            </a:pPr>
            <a:r>
              <a:rPr lang="en-US" altLang="zh-CN" sz="2400" dirty="0"/>
              <a:t>A.</a:t>
            </a:r>
            <a:r>
              <a:rPr lang="zh-CN" altLang="en-US" sz="2400" dirty="0"/>
              <a:t>顺序文件   </a:t>
            </a:r>
            <a:r>
              <a:rPr lang="en-US" altLang="zh-CN" sz="2400" dirty="0"/>
              <a:t>B.</a:t>
            </a:r>
            <a:r>
              <a:rPr lang="zh-CN" altLang="en-US" sz="2400" dirty="0"/>
              <a:t>链接文件   </a:t>
            </a:r>
            <a:r>
              <a:rPr lang="en-US" altLang="zh-CN" sz="2400" dirty="0"/>
              <a:t>C.</a:t>
            </a:r>
            <a:r>
              <a:rPr lang="zh-CN" altLang="en-US" sz="2400" dirty="0"/>
              <a:t>索引文件  </a:t>
            </a:r>
            <a:r>
              <a:rPr lang="en-US" altLang="zh-CN" sz="2400" dirty="0"/>
              <a:t>D.</a:t>
            </a:r>
            <a:r>
              <a:rPr lang="zh-CN" altLang="en-US" sz="2400" dirty="0"/>
              <a:t>多级索引文件</a:t>
            </a:r>
            <a:endParaRPr lang="zh-CN" altLang="en-US" sz="2400" dirty="0"/>
          </a:p>
          <a:p>
            <a:pPr lvl="1">
              <a:spcBef>
                <a:spcPts val="600"/>
              </a:spcBef>
            </a:pPr>
            <a:r>
              <a:rPr lang="zh-CN" altLang="en-US" sz="2400" dirty="0"/>
              <a:t>参考答案</a:t>
            </a:r>
            <a:r>
              <a:rPr lang="en-US" altLang="zh-CN" sz="2400" dirty="0"/>
              <a:t>:A</a:t>
            </a:r>
            <a:endParaRPr lang="en-US" altLang="zh-CN" sz="2400" dirty="0"/>
          </a:p>
          <a:p>
            <a:pPr>
              <a:spcBef>
                <a:spcPts val="600"/>
              </a:spcBef>
            </a:pPr>
            <a:r>
              <a:rPr lang="zh-CN" altLang="en-US" sz="2800" dirty="0"/>
              <a:t>下列</a:t>
            </a:r>
            <a:r>
              <a:rPr lang="en-US" altLang="zh-CN" sz="2800" dirty="0"/>
              <a:t>( )</a:t>
            </a:r>
            <a:r>
              <a:rPr lang="zh-CN" altLang="en-US" sz="2800" dirty="0"/>
              <a:t>等物理结构文件在文件随机存取时必须按指针进行，存取速度较慢。</a:t>
            </a:r>
            <a:endParaRPr lang="zh-CN" altLang="en-US" sz="2800" dirty="0"/>
          </a:p>
          <a:p>
            <a:pPr lvl="1">
              <a:spcBef>
                <a:spcPts val="600"/>
              </a:spcBef>
            </a:pPr>
            <a:r>
              <a:rPr lang="en-US" altLang="zh-CN" sz="2400" dirty="0"/>
              <a:t>A.</a:t>
            </a:r>
            <a:r>
              <a:rPr lang="zh-CN" altLang="en-US" sz="2400" dirty="0"/>
              <a:t>顺序文件  </a:t>
            </a:r>
            <a:r>
              <a:rPr lang="en-US" altLang="zh-CN" sz="2400" dirty="0"/>
              <a:t>B.</a:t>
            </a:r>
            <a:r>
              <a:rPr lang="zh-CN" altLang="en-US" sz="2400" dirty="0"/>
              <a:t>链接文件  </a:t>
            </a:r>
            <a:r>
              <a:rPr lang="en-US" altLang="zh-CN" sz="2400" dirty="0"/>
              <a:t>C.</a:t>
            </a:r>
            <a:r>
              <a:rPr lang="zh-CN" altLang="en-US" sz="2400" dirty="0"/>
              <a:t>索引文件  </a:t>
            </a:r>
            <a:r>
              <a:rPr lang="en-US" altLang="zh-CN" sz="2400" dirty="0"/>
              <a:t>D.</a:t>
            </a:r>
            <a:r>
              <a:rPr lang="zh-CN" altLang="en-US" sz="2400" dirty="0"/>
              <a:t>多级索引文件</a:t>
            </a:r>
            <a:endParaRPr lang="zh-CN" altLang="en-US" sz="2400" dirty="0"/>
          </a:p>
          <a:p>
            <a:pPr lvl="1">
              <a:spcBef>
                <a:spcPts val="600"/>
              </a:spcBef>
            </a:pPr>
            <a:r>
              <a:rPr lang="zh-CN" altLang="en-US" sz="2400" dirty="0"/>
              <a:t>参考答案</a:t>
            </a:r>
            <a:r>
              <a:rPr lang="en-US" altLang="zh-CN" sz="2400" dirty="0"/>
              <a:t>:B</a:t>
            </a:r>
            <a:endParaRPr lang="en-US" altLang="zh-CN" sz="2400" dirty="0"/>
          </a:p>
          <a:p>
            <a:pPr>
              <a:spcBef>
                <a:spcPts val="600"/>
              </a:spcBef>
            </a:pPr>
            <a:r>
              <a:rPr lang="en-US" altLang="zh-CN" sz="2800" dirty="0"/>
              <a:t>33.</a:t>
            </a:r>
            <a:r>
              <a:rPr lang="zh-CN" altLang="en-US" sz="2800" dirty="0"/>
              <a:t>文件系统为每个文件另建立一张指示逻辑记录和物理块之间的对应关系表；由此表和文件本身构成的文件是</a:t>
            </a:r>
            <a:r>
              <a:rPr lang="en-US" altLang="zh-CN" sz="2800" dirty="0"/>
              <a:t>( )</a:t>
            </a:r>
            <a:endParaRPr lang="en-US" altLang="zh-CN" sz="2800" dirty="0"/>
          </a:p>
          <a:p>
            <a:pPr lvl="1">
              <a:spcBef>
                <a:spcPts val="600"/>
              </a:spcBef>
            </a:pPr>
            <a:r>
              <a:rPr lang="en-US" altLang="zh-CN" sz="2400" dirty="0"/>
              <a:t>A.</a:t>
            </a:r>
            <a:r>
              <a:rPr lang="zh-CN" altLang="en-US" sz="2400" dirty="0"/>
              <a:t>顺序文件  </a:t>
            </a:r>
            <a:r>
              <a:rPr lang="en-US" altLang="zh-CN" sz="2400" dirty="0"/>
              <a:t>B.</a:t>
            </a:r>
            <a:r>
              <a:rPr lang="zh-CN" altLang="en-US" sz="2400" dirty="0"/>
              <a:t>链接文件  </a:t>
            </a:r>
            <a:r>
              <a:rPr lang="en-US" altLang="zh-CN" sz="2400" dirty="0"/>
              <a:t>C.</a:t>
            </a:r>
            <a:r>
              <a:rPr lang="zh-CN" altLang="en-US" sz="2400" dirty="0"/>
              <a:t>索引文件  </a:t>
            </a:r>
            <a:r>
              <a:rPr lang="en-US" altLang="zh-CN" sz="2400" dirty="0"/>
              <a:t>D.</a:t>
            </a:r>
            <a:r>
              <a:rPr lang="zh-CN" altLang="en-US" sz="2400" dirty="0"/>
              <a:t>逻辑文件</a:t>
            </a:r>
            <a:endParaRPr lang="zh-CN" altLang="en-US" sz="2400" dirty="0"/>
          </a:p>
          <a:p>
            <a:pPr lvl="1">
              <a:spcBef>
                <a:spcPts val="600"/>
              </a:spcBef>
            </a:pPr>
            <a:r>
              <a:rPr lang="zh-CN" altLang="en-US" sz="2400" dirty="0"/>
              <a:t>参考答案</a:t>
            </a:r>
            <a:r>
              <a:rPr lang="en-US" altLang="zh-CN" sz="2400" dirty="0"/>
              <a:t>:C</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rrowheads="1"/>
          </p:cNvSpPr>
          <p:nvPr>
            <p:ph type="title"/>
          </p:nvPr>
        </p:nvSpPr>
        <p:spPr>
          <a:xfrm>
            <a:off x="1295466" y="188914"/>
            <a:ext cx="9303261" cy="549275"/>
          </a:xfrm>
        </p:spPr>
        <p:txBody>
          <a:bodyPr/>
          <a:lstStyle/>
          <a:p>
            <a:pPr>
              <a:defRPr/>
            </a:pPr>
            <a:r>
              <a:rPr lang="zh-CN" altLang="en-US" dirty="0"/>
              <a:t>盘块的分配（会考）</a:t>
            </a:r>
            <a:endParaRPr lang="zh-CN" altLang="en-US" dirty="0"/>
          </a:p>
        </p:txBody>
      </p:sp>
      <p:sp>
        <p:nvSpPr>
          <p:cNvPr id="109571" name="Rectangle 3"/>
          <p:cNvSpPr>
            <a:spLocks noGrp="1" noRot="1" noChangeArrowheads="1"/>
          </p:cNvSpPr>
          <p:nvPr>
            <p:ph idx="1"/>
          </p:nvPr>
        </p:nvSpPr>
        <p:spPr>
          <a:xfrm>
            <a:off x="949570" y="1311565"/>
            <a:ext cx="10179094" cy="5157643"/>
          </a:xfrm>
        </p:spPr>
        <p:txBody>
          <a:bodyPr/>
          <a:lstStyle/>
          <a:p>
            <a:r>
              <a:rPr lang="zh-CN" altLang="en-US" dirty="0"/>
              <a:t>根据位示图进行盘块分配时，可分三步进行：</a:t>
            </a:r>
            <a:endParaRPr lang="zh-CN" altLang="en-US" dirty="0"/>
          </a:p>
          <a:p>
            <a:r>
              <a:rPr lang="en-US" altLang="zh-CN" dirty="0"/>
              <a:t>(1) </a:t>
            </a:r>
            <a:r>
              <a:rPr lang="zh-CN" altLang="en-US" dirty="0"/>
              <a:t>顺序扫描位示图，从中找出一个或一组其值为“</a:t>
            </a:r>
            <a:r>
              <a:rPr lang="en-US" altLang="zh-CN" dirty="0"/>
              <a:t>0”</a:t>
            </a:r>
            <a:r>
              <a:rPr lang="zh-CN" altLang="en-US" dirty="0"/>
              <a:t>的二进制位</a:t>
            </a:r>
            <a:r>
              <a:rPr lang="en-US" altLang="zh-CN" dirty="0"/>
              <a:t>(“0”</a:t>
            </a:r>
            <a:r>
              <a:rPr lang="zh-CN" altLang="en-US" dirty="0"/>
              <a:t>表示空闲时</a:t>
            </a:r>
            <a:r>
              <a:rPr lang="en-US" altLang="zh-CN" dirty="0"/>
              <a:t>)</a:t>
            </a:r>
            <a:r>
              <a:rPr lang="zh-CN" altLang="en-US" dirty="0"/>
              <a:t>。</a:t>
            </a:r>
            <a:endParaRPr lang="zh-CN" altLang="en-US" dirty="0"/>
          </a:p>
          <a:p>
            <a:r>
              <a:rPr lang="en-US" altLang="zh-CN" dirty="0"/>
              <a:t>(2) </a:t>
            </a:r>
            <a:r>
              <a:rPr lang="zh-CN" altLang="en-US" dirty="0"/>
              <a:t>将所找到的一个或一组二进制位转换成与之相应的盘块号。</a:t>
            </a:r>
            <a:endParaRPr lang="zh-CN" altLang="en-US" dirty="0"/>
          </a:p>
          <a:p>
            <a:pPr lvl="1"/>
            <a:r>
              <a:rPr lang="zh-CN" altLang="en-US" dirty="0"/>
              <a:t>假定找到的其值为“</a:t>
            </a:r>
            <a:r>
              <a:rPr lang="en-US" altLang="zh-CN" dirty="0"/>
              <a:t>0”</a:t>
            </a:r>
            <a:r>
              <a:rPr lang="zh-CN" altLang="en-US" dirty="0"/>
              <a:t>的二进制位位于位示图的第</a:t>
            </a:r>
            <a:r>
              <a:rPr lang="en-US" altLang="zh-CN" dirty="0" err="1"/>
              <a:t>i</a:t>
            </a:r>
            <a:r>
              <a:rPr lang="en-US" altLang="zh-CN" dirty="0"/>
              <a:t> </a:t>
            </a:r>
            <a:r>
              <a:rPr lang="zh-CN" altLang="en-US" dirty="0"/>
              <a:t>行、第</a:t>
            </a:r>
            <a:r>
              <a:rPr lang="en-US" altLang="zh-CN" dirty="0"/>
              <a:t>j</a:t>
            </a:r>
            <a:r>
              <a:rPr lang="zh-CN" altLang="en-US" dirty="0"/>
              <a:t>列，则其相应的盘块号应按下式计算：</a:t>
            </a:r>
            <a:endParaRPr lang="zh-CN" altLang="en-US" dirty="0"/>
          </a:p>
          <a:p>
            <a:pPr lvl="1"/>
            <a:r>
              <a:rPr lang="en-US" altLang="zh-CN" dirty="0"/>
              <a:t>b = n(</a:t>
            </a:r>
            <a:r>
              <a:rPr lang="en-US" altLang="zh-CN" dirty="0" err="1"/>
              <a:t>i</a:t>
            </a:r>
            <a:r>
              <a:rPr lang="en-US" altLang="zh-CN" dirty="0"/>
              <a:t>- 1) + j</a:t>
            </a:r>
            <a:endParaRPr lang="en-US" altLang="zh-CN" dirty="0"/>
          </a:p>
          <a:p>
            <a:r>
              <a:rPr lang="en-US" altLang="zh-CN" dirty="0"/>
              <a:t>(3) </a:t>
            </a:r>
            <a:r>
              <a:rPr lang="zh-CN" altLang="en-US" dirty="0"/>
              <a:t>修改位示图，令</a:t>
            </a:r>
            <a:r>
              <a:rPr lang="en-US" altLang="zh-CN" dirty="0"/>
              <a:t>map[</a:t>
            </a:r>
            <a:r>
              <a:rPr lang="en-US" altLang="zh-CN" dirty="0" err="1"/>
              <a:t>i,j</a:t>
            </a:r>
            <a:r>
              <a:rPr lang="en-US" altLang="zh-CN" dirty="0"/>
              <a:t>]=1</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Rot="1" noChangeArrowheads="1"/>
          </p:cNvSpPr>
          <p:nvPr>
            <p:ph type="title"/>
          </p:nvPr>
        </p:nvSpPr>
        <p:spPr>
          <a:xfrm>
            <a:off x="1295466" y="188914"/>
            <a:ext cx="9178570" cy="549275"/>
          </a:xfrm>
        </p:spPr>
        <p:txBody>
          <a:bodyPr/>
          <a:lstStyle/>
          <a:p>
            <a:pPr>
              <a:defRPr/>
            </a:pPr>
            <a:r>
              <a:rPr lang="zh-CN" altLang="en-US" dirty="0"/>
              <a:t>盘块的回收</a:t>
            </a:r>
            <a:endParaRPr lang="zh-CN" altLang="en-US" dirty="0"/>
          </a:p>
        </p:txBody>
      </p:sp>
      <p:sp>
        <p:nvSpPr>
          <p:cNvPr id="110595" name="Rectangle 3"/>
          <p:cNvSpPr>
            <a:spLocks noGrp="1" noRot="1" noChangeArrowheads="1"/>
          </p:cNvSpPr>
          <p:nvPr>
            <p:ph idx="1"/>
          </p:nvPr>
        </p:nvSpPr>
        <p:spPr>
          <a:xfrm>
            <a:off x="949570" y="1311565"/>
            <a:ext cx="10366130" cy="5157643"/>
          </a:xfrm>
        </p:spPr>
        <p:txBody>
          <a:bodyPr/>
          <a:lstStyle/>
          <a:p>
            <a:r>
              <a:rPr lang="zh-CN" altLang="en-US" dirty="0"/>
              <a:t>盘块的回收分两步：</a:t>
            </a:r>
            <a:endParaRPr lang="zh-CN" altLang="en-US" dirty="0"/>
          </a:p>
          <a:p>
            <a:r>
              <a:rPr lang="en-US" altLang="zh-CN" dirty="0"/>
              <a:t>(1) </a:t>
            </a:r>
            <a:r>
              <a:rPr lang="zh-CN" altLang="en-US" dirty="0"/>
              <a:t>将回收盘块的盘块号转换成位示图中的行号和列号。转换公式为：</a:t>
            </a:r>
            <a:endParaRPr lang="zh-CN" altLang="en-US" dirty="0"/>
          </a:p>
          <a:p>
            <a:pPr lvl="1"/>
            <a:r>
              <a:rPr lang="en-US" altLang="zh-CN" dirty="0" err="1"/>
              <a:t>i</a:t>
            </a:r>
            <a:r>
              <a:rPr lang="en-US" altLang="zh-CN" dirty="0"/>
              <a:t> = (b - 1)DIV n + 1</a:t>
            </a:r>
            <a:endParaRPr lang="en-US" altLang="zh-CN" dirty="0"/>
          </a:p>
          <a:p>
            <a:pPr lvl="1"/>
            <a:r>
              <a:rPr lang="en-US" altLang="zh-CN" dirty="0"/>
              <a:t>j = (b - 1)MOD n + 1</a:t>
            </a:r>
            <a:endParaRPr lang="en-US" altLang="zh-CN" dirty="0"/>
          </a:p>
          <a:p>
            <a:r>
              <a:rPr lang="en-US" altLang="zh-CN" dirty="0"/>
              <a:t>(2) </a:t>
            </a:r>
            <a:r>
              <a:rPr lang="zh-CN" altLang="en-US" dirty="0"/>
              <a:t>修改位示图。令</a:t>
            </a:r>
            <a:r>
              <a:rPr lang="en-US" altLang="zh-CN" dirty="0"/>
              <a:t>map[</a:t>
            </a:r>
            <a:r>
              <a:rPr lang="en-US" altLang="zh-CN" dirty="0" err="1"/>
              <a:t>i,j</a:t>
            </a:r>
            <a:r>
              <a:rPr lang="en-US" altLang="zh-CN" dirty="0"/>
              <a:t>] =0</a:t>
            </a:r>
            <a:r>
              <a:rPr lang="zh-CN" altLang="en-US" dirty="0"/>
              <a:t>。</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defRPr/>
            </a:pPr>
            <a:r>
              <a:rPr lang="zh-CN" altLang="en-US" dirty="0"/>
              <a:t>位示图的其他问题</a:t>
            </a:r>
            <a:endParaRPr lang="zh-CN" altLang="en-US" dirty="0"/>
          </a:p>
        </p:txBody>
      </p:sp>
      <p:sp>
        <p:nvSpPr>
          <p:cNvPr id="112643" name="Rectangle 3"/>
          <p:cNvSpPr>
            <a:spLocks noGrp="1" noRot="1" noChangeArrowheads="1"/>
          </p:cNvSpPr>
          <p:nvPr>
            <p:ph idx="1"/>
          </p:nvPr>
        </p:nvSpPr>
        <p:spPr>
          <a:xfrm>
            <a:off x="1011915" y="1290783"/>
            <a:ext cx="10536049" cy="5157643"/>
          </a:xfrm>
        </p:spPr>
        <p:txBody>
          <a:bodyPr/>
          <a:lstStyle/>
          <a:p>
            <a:r>
              <a:rPr lang="zh-CN" altLang="en-US" dirty="0"/>
              <a:t>一个位示图需要占用的存储空间大小为：</a:t>
            </a:r>
            <a:endParaRPr lang="zh-CN" altLang="en-US" dirty="0"/>
          </a:p>
          <a:p>
            <a:pPr lvl="1"/>
            <a:r>
              <a:rPr lang="zh-CN" altLang="en-US" dirty="0"/>
              <a:t>磁盘容量（字节数）</a:t>
            </a:r>
            <a:r>
              <a:rPr lang="en-US" altLang="zh-CN" dirty="0"/>
              <a:t>/ </a:t>
            </a:r>
            <a:r>
              <a:rPr lang="zh-CN" altLang="en-US" dirty="0"/>
              <a:t>（</a:t>
            </a:r>
            <a:r>
              <a:rPr lang="en-US" altLang="zh-CN" dirty="0"/>
              <a:t>8 * </a:t>
            </a:r>
            <a:r>
              <a:rPr lang="zh-CN" altLang="en-US" dirty="0"/>
              <a:t>数据块大小）</a:t>
            </a:r>
            <a:endParaRPr lang="zh-CN" altLang="en-US" dirty="0"/>
          </a:p>
          <a:p>
            <a:endParaRPr lang="zh-CN" altLang="en-US" dirty="0"/>
          </a:p>
          <a:p>
            <a:r>
              <a:rPr lang="zh-CN" altLang="en-US" dirty="0"/>
              <a:t>对于容量较小的磁盘，位示图占用的空间会很小。</a:t>
            </a:r>
            <a:endParaRPr lang="zh-CN" altLang="en-US" dirty="0"/>
          </a:p>
          <a:p>
            <a:r>
              <a:rPr lang="zh-CN" altLang="en-US" dirty="0"/>
              <a:t>但是，对于一个</a:t>
            </a:r>
            <a:r>
              <a:rPr lang="en-US" altLang="zh-CN" dirty="0"/>
              <a:t>16GB</a:t>
            </a:r>
            <a:r>
              <a:rPr lang="zh-CN" altLang="en-US" dirty="0"/>
              <a:t>的磁盘，若数据块大小为</a:t>
            </a:r>
            <a:r>
              <a:rPr lang="en-US" altLang="zh-CN" dirty="0"/>
              <a:t>512</a:t>
            </a:r>
            <a:r>
              <a:rPr lang="zh-CN" altLang="en-US" dirty="0"/>
              <a:t>字节，则位示图大小为</a:t>
            </a:r>
            <a:r>
              <a:rPr lang="en-US" altLang="zh-CN" dirty="0"/>
              <a:t>4MB</a:t>
            </a:r>
            <a:r>
              <a:rPr lang="zh-CN" altLang="en-US" dirty="0"/>
              <a:t>，大约需要占用</a:t>
            </a:r>
            <a:r>
              <a:rPr lang="en-US" altLang="zh-CN" dirty="0"/>
              <a:t>8000</a:t>
            </a:r>
            <a:r>
              <a:rPr lang="zh-CN" altLang="en-US" dirty="0"/>
              <a:t>个磁盘块的存储空间。</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idx="1"/>
          </p:nvPr>
        </p:nvSpPr>
        <p:spPr>
          <a:xfrm>
            <a:off x="949325" y="1219835"/>
            <a:ext cx="10771188" cy="5157788"/>
          </a:xfrm>
        </p:spPr>
        <p:txBody>
          <a:bodyPr/>
          <a:lstStyle/>
          <a:p>
            <a:r>
              <a:rPr lang="en-US" altLang="zh-CN" sz="2800" dirty="0"/>
              <a:t>1.</a:t>
            </a:r>
            <a:r>
              <a:rPr lang="zh-CN" altLang="en-US" sz="2800" dirty="0"/>
              <a:t>存放在某个磁盘上的文件系统，对于采用混合索引分配方式，其</a:t>
            </a:r>
            <a:r>
              <a:rPr lang="en-US" altLang="zh-CN" sz="2800" dirty="0"/>
              <a:t>FCB</a:t>
            </a:r>
            <a:r>
              <a:rPr lang="zh-CN" altLang="en-US" sz="2800" dirty="0"/>
              <a:t>中共有</a:t>
            </a:r>
            <a:r>
              <a:rPr lang="en-US" altLang="zh-CN" sz="2800" dirty="0"/>
              <a:t>13</a:t>
            </a:r>
            <a:r>
              <a:rPr lang="zh-CN" altLang="en-US" sz="2800" dirty="0"/>
              <a:t>项地址项，第</a:t>
            </a:r>
            <a:r>
              <a:rPr lang="en-US" altLang="zh-CN" sz="2800" dirty="0"/>
              <a:t>0</a:t>
            </a:r>
            <a:r>
              <a:rPr lang="zh-CN" altLang="en-US" sz="2800" dirty="0"/>
              <a:t>～</a:t>
            </a:r>
            <a:r>
              <a:rPr lang="en-US" altLang="zh-CN" sz="2800" dirty="0"/>
              <a:t>9</a:t>
            </a:r>
            <a:r>
              <a:rPr lang="zh-CN" altLang="en-US" sz="2800" dirty="0"/>
              <a:t>个地址项为直接地址，第</a:t>
            </a:r>
            <a:r>
              <a:rPr lang="en-US" altLang="zh-CN" sz="2800" dirty="0"/>
              <a:t>10</a:t>
            </a:r>
            <a:r>
              <a:rPr lang="zh-CN" altLang="en-US" sz="2800" dirty="0"/>
              <a:t>个地址项为一次间接地址，第</a:t>
            </a:r>
            <a:r>
              <a:rPr lang="en-US" altLang="zh-CN" sz="2800" dirty="0"/>
              <a:t>11</a:t>
            </a:r>
            <a:r>
              <a:rPr lang="zh-CN" altLang="en-US" sz="2800" dirty="0"/>
              <a:t>个地址项为二次间接地址，第</a:t>
            </a:r>
            <a:r>
              <a:rPr lang="en-US" altLang="zh-CN" sz="2800" dirty="0"/>
              <a:t>12</a:t>
            </a:r>
            <a:r>
              <a:rPr lang="zh-CN" altLang="en-US" sz="2800" dirty="0"/>
              <a:t>个地址项为三次间接地址。如果每个盘块的大小为</a:t>
            </a:r>
            <a:r>
              <a:rPr lang="en-US" altLang="zh-CN" sz="2800" dirty="0"/>
              <a:t>512</a:t>
            </a:r>
            <a:r>
              <a:rPr lang="zh-CN" altLang="en-US" sz="2800" dirty="0"/>
              <a:t>字节，盘块号需要</a:t>
            </a:r>
            <a:r>
              <a:rPr lang="en-US" altLang="zh-CN" sz="2800" dirty="0"/>
              <a:t>3</a:t>
            </a:r>
            <a:r>
              <a:rPr lang="zh-CN" altLang="en-US" sz="2800" dirty="0"/>
              <a:t>个字节来描述，则每个盘块最多存放</a:t>
            </a:r>
            <a:r>
              <a:rPr lang="en-US" altLang="zh-CN" sz="2800" dirty="0"/>
              <a:t>170</a:t>
            </a:r>
            <a:r>
              <a:rPr lang="zh-CN" altLang="en-US" sz="2800" dirty="0"/>
              <a:t>个盘块地址：（</a:t>
            </a:r>
            <a:r>
              <a:rPr lang="en-US" altLang="zh-CN" sz="2800" dirty="0"/>
              <a:t>10</a:t>
            </a:r>
            <a:r>
              <a:rPr lang="zh-CN" altLang="en-US" sz="2800" dirty="0"/>
              <a:t>分）</a:t>
            </a:r>
            <a:endParaRPr lang="zh-CN" altLang="en-US" sz="2800" dirty="0"/>
          </a:p>
          <a:p>
            <a:r>
              <a:rPr lang="en-US" altLang="zh-CN" sz="2800" dirty="0"/>
              <a:t>(1) </a:t>
            </a:r>
            <a:r>
              <a:rPr lang="zh-CN" altLang="en-US" sz="2800" dirty="0"/>
              <a:t>该文件系统允许的最大长度是多少？</a:t>
            </a:r>
            <a:endParaRPr lang="zh-CN" altLang="en-US" sz="2800" dirty="0"/>
          </a:p>
          <a:p>
            <a:r>
              <a:rPr lang="en-US" altLang="zh-CN" sz="2800" dirty="0"/>
              <a:t>(2) </a:t>
            </a:r>
            <a:r>
              <a:rPr lang="zh-CN" altLang="en-US" sz="2800" dirty="0"/>
              <a:t>将文件的字节偏移量</a:t>
            </a:r>
            <a:r>
              <a:rPr lang="en-US" altLang="zh-CN" sz="2800" dirty="0"/>
              <a:t>5000</a:t>
            </a:r>
            <a:r>
              <a:rPr lang="zh-CN" altLang="en-US" sz="2800" dirty="0"/>
              <a:t>、</a:t>
            </a:r>
            <a:r>
              <a:rPr lang="en-US" altLang="zh-CN" sz="2800" dirty="0"/>
              <a:t>15000</a:t>
            </a:r>
            <a:r>
              <a:rPr lang="zh-CN" altLang="en-US" sz="2800" dirty="0"/>
              <a:t>、</a:t>
            </a:r>
            <a:r>
              <a:rPr lang="en-US" altLang="zh-CN" sz="2800" dirty="0"/>
              <a:t>150000</a:t>
            </a:r>
            <a:r>
              <a:rPr lang="zh-CN" altLang="en-US" sz="2800" dirty="0"/>
              <a:t>转换为物理块号和块内偏移量。</a:t>
            </a:r>
            <a:endParaRPr lang="zh-CN" altLang="en-US" sz="2800" dirty="0"/>
          </a:p>
          <a:p>
            <a:r>
              <a:rPr lang="en-US" altLang="zh-CN" sz="2800" dirty="0"/>
              <a:t>(3) </a:t>
            </a:r>
            <a:r>
              <a:rPr lang="zh-CN" altLang="en-US" sz="2800" dirty="0"/>
              <a:t>假设某文件的索引结点已在内存中，但其他信息均在外存，为了访问该文件中某个位置的内容，最多需要几次访问磁盘？</a:t>
            </a:r>
            <a:endParaRPr lang="zh-CN" altLang="en-US" sz="2800" dirty="0"/>
          </a:p>
          <a:p>
            <a:endParaRPr lang="zh-CN" altLang="en-US" sz="2800" dirty="0"/>
          </a:p>
          <a:p>
            <a:endParaRPr lang="en-US" altLang="zh-CN" sz="2800" dirty="0"/>
          </a:p>
        </p:txBody>
      </p:sp>
      <p:sp>
        <p:nvSpPr>
          <p:cNvPr id="2" name="标题 1"/>
          <p:cNvSpPr>
            <a:spLocks noGrp="1"/>
          </p:cNvSpPr>
          <p:nvPr>
            <p:ph type="title"/>
          </p:nvPr>
        </p:nvSpPr>
        <p:spPr>
          <a:xfrm>
            <a:off x="1295474" y="188915"/>
            <a:ext cx="9774049" cy="549275"/>
          </a:xfrm>
        </p:spPr>
        <p:txBody>
          <a:bodyPr/>
          <a:lstStyle/>
          <a:p>
            <a:r>
              <a:rPr lang="zh-CN" altLang="en-US" dirty="0"/>
              <a:t>练习题：</a:t>
            </a:r>
            <a:r>
              <a:rPr lang="en-US" altLang="zh-CN" dirty="0"/>
              <a:t>1 (</a:t>
            </a:r>
            <a:r>
              <a:rPr lang="zh-CN" altLang="en-US" dirty="0"/>
              <a:t>看第八章例</a:t>
            </a:r>
            <a:r>
              <a:rPr lang="en-US" altLang="zh-CN" dirty="0"/>
              <a:t>3</a:t>
            </a:r>
            <a:r>
              <a:rPr lang="zh-CN" altLang="en-US" dirty="0"/>
              <a:t>、</a:t>
            </a:r>
            <a:r>
              <a:rPr lang="en-US" altLang="zh-CN" dirty="0"/>
              <a:t>4)</a:t>
            </a:r>
            <a:endParaRPr lang="zh-CN" altLang="en-US" dirty="0"/>
          </a:p>
        </p:txBody>
      </p:sp>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4294967295"/>
          </p:nvPr>
        </p:nvSpPr>
        <p:spPr>
          <a:xfrm>
            <a:off x="1055053" y="304800"/>
            <a:ext cx="10771187" cy="5157788"/>
          </a:xfrm>
          <a:prstGeom prst="rect">
            <a:avLst/>
          </a:prstGeom>
        </p:spPr>
        <p:txBody>
          <a:bodyPr/>
          <a:lstStyle/>
          <a:p>
            <a:r>
              <a:rPr lang="zh-CN" altLang="en-US" dirty="0"/>
              <a:t>答：</a:t>
            </a:r>
            <a:endParaRPr lang="zh-CN" altLang="en-US" dirty="0"/>
          </a:p>
          <a:p>
            <a:r>
              <a:rPr lang="zh-CN" altLang="en-US" dirty="0"/>
              <a:t>（</a:t>
            </a:r>
            <a:r>
              <a:rPr lang="en-US" altLang="zh-CN" dirty="0"/>
              <a:t>1</a:t>
            </a:r>
            <a:r>
              <a:rPr lang="zh-CN" altLang="en-US" dirty="0"/>
              <a:t>）文件的最大长度为：</a:t>
            </a:r>
            <a:endParaRPr lang="zh-CN" altLang="en-US" dirty="0"/>
          </a:p>
          <a:p>
            <a:r>
              <a:rPr lang="zh-CN" altLang="en-US" dirty="0"/>
              <a:t>    </a:t>
            </a:r>
            <a:r>
              <a:rPr lang="en-US" altLang="zh-CN" dirty="0"/>
              <a:t>10+170+170^2+170^3=4942080</a:t>
            </a:r>
            <a:r>
              <a:rPr lang="zh-CN" altLang="en-US" dirty="0"/>
              <a:t>块</a:t>
            </a:r>
            <a:r>
              <a:rPr lang="en-US" altLang="zh-CN" dirty="0"/>
              <a:t>=2471040KB</a:t>
            </a:r>
            <a:r>
              <a:rPr lang="zh-CN" altLang="en-US" dirty="0"/>
              <a:t>（</a:t>
            </a:r>
            <a:r>
              <a:rPr lang="en-US" altLang="zh-CN" dirty="0"/>
              <a:t>2</a:t>
            </a:r>
            <a:r>
              <a:rPr lang="zh-CN" altLang="en-US" dirty="0"/>
              <a:t>分）</a:t>
            </a:r>
            <a:endParaRPr lang="zh-CN" altLang="en-US" dirty="0"/>
          </a:p>
          <a:p>
            <a:r>
              <a:rPr lang="zh-CN" altLang="en-US" dirty="0"/>
              <a:t>（</a:t>
            </a:r>
            <a:r>
              <a:rPr lang="en-US" altLang="zh-CN" dirty="0"/>
              <a:t>2</a:t>
            </a:r>
            <a:r>
              <a:rPr lang="zh-CN" altLang="en-US" dirty="0"/>
              <a:t>）</a:t>
            </a:r>
            <a:endParaRPr lang="zh-CN" altLang="en-US" dirty="0"/>
          </a:p>
          <a:p>
            <a:r>
              <a:rPr lang="zh-CN" altLang="en-US" dirty="0"/>
              <a:t> </a:t>
            </a:r>
            <a:r>
              <a:rPr lang="en-US" altLang="zh-CN" dirty="0"/>
              <a:t>5000/512</a:t>
            </a:r>
            <a:r>
              <a:rPr lang="zh-CN" altLang="en-US" dirty="0"/>
              <a:t>得商</a:t>
            </a:r>
            <a:r>
              <a:rPr lang="en-US" altLang="zh-CN" dirty="0"/>
              <a:t>9</a:t>
            </a:r>
            <a:r>
              <a:rPr lang="zh-CN" altLang="en-US" dirty="0"/>
              <a:t>，余数为</a:t>
            </a:r>
            <a:r>
              <a:rPr lang="en-US" altLang="zh-CN" dirty="0"/>
              <a:t>392</a:t>
            </a:r>
            <a:r>
              <a:rPr lang="zh-CN" altLang="en-US" dirty="0"/>
              <a:t>。即逻辑块号为</a:t>
            </a:r>
            <a:r>
              <a:rPr lang="en-US" altLang="zh-CN" dirty="0"/>
              <a:t>9</a:t>
            </a:r>
            <a:r>
              <a:rPr lang="zh-CN" altLang="en-US" dirty="0"/>
              <a:t>，块内偏移为</a:t>
            </a:r>
            <a:r>
              <a:rPr lang="en-US" altLang="zh-CN" dirty="0"/>
              <a:t>392</a:t>
            </a:r>
            <a:r>
              <a:rPr lang="zh-CN" altLang="en-US" dirty="0"/>
              <a:t>。故可直接从该文件的</a:t>
            </a:r>
            <a:r>
              <a:rPr lang="en-US" altLang="zh-CN" dirty="0"/>
              <a:t>FCB</a:t>
            </a:r>
            <a:r>
              <a:rPr lang="zh-CN" altLang="en-US" dirty="0"/>
              <a:t>的第</a:t>
            </a:r>
            <a:r>
              <a:rPr lang="en-US" altLang="zh-CN" dirty="0"/>
              <a:t>9</a:t>
            </a:r>
            <a:r>
              <a:rPr lang="zh-CN" altLang="en-US" dirty="0"/>
              <a:t>个地址处得到物理盘块号，块内偏移为</a:t>
            </a:r>
            <a:r>
              <a:rPr lang="en-US" altLang="zh-CN" dirty="0"/>
              <a:t>392</a:t>
            </a:r>
            <a:r>
              <a:rPr lang="zh-CN" altLang="en-US" dirty="0"/>
              <a:t>。（</a:t>
            </a:r>
            <a:r>
              <a:rPr lang="en-US" altLang="zh-CN" dirty="0"/>
              <a:t>2</a:t>
            </a:r>
            <a:r>
              <a:rPr lang="zh-CN" altLang="en-US" dirty="0"/>
              <a:t>分）</a:t>
            </a:r>
            <a:endParaRPr lang="zh-CN" altLang="en-US" dirty="0"/>
          </a:p>
          <a:p>
            <a:r>
              <a:rPr lang="zh-CN" altLang="en-US" dirty="0"/>
              <a:t>   </a:t>
            </a:r>
            <a:r>
              <a:rPr lang="en-US" altLang="zh-CN" dirty="0"/>
              <a:t>15000/512</a:t>
            </a:r>
            <a:r>
              <a:rPr lang="zh-CN" altLang="en-US" dirty="0"/>
              <a:t>得商为</a:t>
            </a:r>
            <a:r>
              <a:rPr lang="en-US" altLang="zh-CN" dirty="0"/>
              <a:t>29</a:t>
            </a:r>
            <a:r>
              <a:rPr lang="zh-CN" altLang="en-US" dirty="0"/>
              <a:t>，余数为</a:t>
            </a:r>
            <a:r>
              <a:rPr lang="en-US" altLang="zh-CN" dirty="0"/>
              <a:t>152</a:t>
            </a:r>
            <a:r>
              <a:rPr lang="zh-CN" altLang="en-US" dirty="0"/>
              <a:t>。即逻辑块号为</a:t>
            </a:r>
            <a:r>
              <a:rPr lang="en-US" altLang="zh-CN" dirty="0"/>
              <a:t>29</a:t>
            </a:r>
            <a:r>
              <a:rPr lang="zh-CN" altLang="en-US" dirty="0"/>
              <a:t>，块内偏移为</a:t>
            </a:r>
            <a:r>
              <a:rPr lang="en-US" altLang="zh-CN" dirty="0"/>
              <a:t>152</a:t>
            </a:r>
            <a:r>
              <a:rPr lang="zh-CN" altLang="en-US" dirty="0"/>
              <a:t>。由于</a:t>
            </a:r>
            <a:r>
              <a:rPr lang="en-US" altLang="zh-CN" dirty="0"/>
              <a:t>10≤29&lt;10+170,</a:t>
            </a:r>
            <a:r>
              <a:rPr lang="zh-CN" altLang="en-US" dirty="0"/>
              <a:t>而</a:t>
            </a:r>
            <a:r>
              <a:rPr lang="en-US" altLang="zh-CN" dirty="0"/>
              <a:t>29-10=19</a:t>
            </a:r>
            <a:r>
              <a:rPr lang="zh-CN" altLang="en-US" dirty="0"/>
              <a:t>，故可从</a:t>
            </a:r>
            <a:r>
              <a:rPr lang="en-US" altLang="zh-CN" dirty="0"/>
              <a:t>FCB</a:t>
            </a:r>
            <a:r>
              <a:rPr lang="zh-CN" altLang="en-US" dirty="0"/>
              <a:t>的第</a:t>
            </a:r>
            <a:r>
              <a:rPr lang="en-US" altLang="zh-CN" dirty="0"/>
              <a:t>10</a:t>
            </a:r>
            <a:r>
              <a:rPr lang="zh-CN" altLang="en-US" dirty="0"/>
              <a:t>个地址项，即一次间址项中得到一次间址块；并从一次间址块的</a:t>
            </a:r>
            <a:r>
              <a:rPr lang="en-US" altLang="zh-CN" dirty="0"/>
              <a:t>19</a:t>
            </a:r>
            <a:r>
              <a:rPr lang="zh-CN" altLang="en-US" dirty="0"/>
              <a:t>项中获得对应的物理盘块号，块内偏移为</a:t>
            </a:r>
            <a:r>
              <a:rPr lang="en-US" altLang="zh-CN" dirty="0"/>
              <a:t>152</a:t>
            </a:r>
            <a:r>
              <a:rPr lang="zh-CN" altLang="en-US" dirty="0"/>
              <a:t>。（</a:t>
            </a:r>
            <a:r>
              <a:rPr lang="en-US" altLang="zh-CN" dirty="0"/>
              <a:t>2</a:t>
            </a:r>
            <a:r>
              <a:rPr lang="zh-CN" altLang="en-US" dirty="0"/>
              <a:t>分）</a:t>
            </a:r>
            <a:endParaRPr lang="zh-CN" altLang="en-US" dirty="0"/>
          </a:p>
          <a:p>
            <a:r>
              <a:rPr lang="zh-CN" altLang="en-US" dirty="0"/>
              <a:t>  </a:t>
            </a:r>
            <a:r>
              <a:rPr lang="en-US" altLang="zh-CN" dirty="0"/>
              <a:t>150000/512</a:t>
            </a:r>
            <a:r>
              <a:rPr lang="zh-CN" altLang="en-US" dirty="0"/>
              <a:t>得商为</a:t>
            </a:r>
            <a:r>
              <a:rPr lang="en-US" altLang="zh-CN" dirty="0"/>
              <a:t>292</a:t>
            </a:r>
            <a:r>
              <a:rPr lang="zh-CN" altLang="en-US" dirty="0"/>
              <a:t>，余数为</a:t>
            </a:r>
            <a:r>
              <a:rPr lang="en-US" altLang="zh-CN" dirty="0"/>
              <a:t>496</a:t>
            </a:r>
            <a:r>
              <a:rPr lang="zh-CN" altLang="en-US" dirty="0"/>
              <a:t>。即逻辑块号为</a:t>
            </a:r>
            <a:r>
              <a:rPr lang="en-US" altLang="zh-CN" dirty="0"/>
              <a:t>292</a:t>
            </a:r>
            <a:r>
              <a:rPr lang="zh-CN" altLang="en-US" dirty="0"/>
              <a:t>，块内偏移为</a:t>
            </a:r>
            <a:r>
              <a:rPr lang="en-US" altLang="zh-CN" dirty="0"/>
              <a:t>496</a:t>
            </a:r>
            <a:r>
              <a:rPr lang="zh-CN" altLang="en-US" dirty="0"/>
              <a:t>。由于</a:t>
            </a:r>
            <a:r>
              <a:rPr lang="en-US" altLang="zh-CN" dirty="0"/>
              <a:t>10+170≤292</a:t>
            </a:r>
            <a:r>
              <a:rPr lang="zh-CN" altLang="en-US" dirty="0"/>
              <a:t>，故可从</a:t>
            </a:r>
            <a:r>
              <a:rPr lang="en-US" altLang="zh-CN" dirty="0"/>
              <a:t>FCB</a:t>
            </a:r>
            <a:r>
              <a:rPr lang="zh-CN" altLang="en-US" dirty="0"/>
              <a:t>的第</a:t>
            </a:r>
            <a:r>
              <a:rPr lang="en-US" altLang="zh-CN" dirty="0"/>
              <a:t>11</a:t>
            </a:r>
            <a:r>
              <a:rPr lang="zh-CN" altLang="en-US" dirty="0"/>
              <a:t>个地址项，即二次间址项中获得第</a:t>
            </a:r>
            <a:r>
              <a:rPr lang="en-US" altLang="zh-CN" dirty="0"/>
              <a:t>1</a:t>
            </a:r>
            <a:r>
              <a:rPr lang="zh-CN" altLang="en-US" dirty="0"/>
              <a:t>个一次间址块；并从该一次间址块的</a:t>
            </a:r>
            <a:r>
              <a:rPr lang="en-US" altLang="zh-CN" dirty="0"/>
              <a:t>112</a:t>
            </a:r>
            <a:r>
              <a:rPr lang="zh-CN" altLang="en-US" dirty="0"/>
              <a:t>项中获得对应的物理盘块号，块内偏移为</a:t>
            </a:r>
            <a:r>
              <a:rPr lang="en-US" altLang="zh-CN" dirty="0"/>
              <a:t>496</a:t>
            </a:r>
            <a:r>
              <a:rPr lang="zh-CN" altLang="en-US" dirty="0"/>
              <a:t>。（</a:t>
            </a:r>
            <a:r>
              <a:rPr lang="en-US" altLang="zh-CN" dirty="0"/>
              <a:t>2</a:t>
            </a:r>
            <a:r>
              <a:rPr lang="zh-CN" altLang="en-US" dirty="0"/>
              <a:t>分）</a:t>
            </a:r>
            <a:endParaRPr lang="zh-CN" altLang="en-US" dirty="0"/>
          </a:p>
          <a:p>
            <a:r>
              <a:rPr lang="en-US" altLang="zh-CN" dirty="0"/>
              <a:t>(3) </a:t>
            </a:r>
            <a:r>
              <a:rPr lang="zh-CN" altLang="en-US" dirty="0"/>
              <a:t>由于文件的索引结点已在内存，为了访问文件中的某个位置的内容，最少需要</a:t>
            </a:r>
            <a:r>
              <a:rPr lang="en-US" altLang="zh-CN" dirty="0"/>
              <a:t>1</a:t>
            </a:r>
            <a:r>
              <a:rPr lang="zh-CN" altLang="en-US" dirty="0"/>
              <a:t>次访问磁盘（即通过直接地址直接读文件盘块），最多需要</a:t>
            </a:r>
            <a:r>
              <a:rPr lang="en-US" altLang="zh-CN" dirty="0"/>
              <a:t>4</a:t>
            </a:r>
            <a:r>
              <a:rPr lang="zh-CN" altLang="en-US" dirty="0"/>
              <a:t>次访问磁盘（第一次是读三次间址块，第二次读二次间址块，第三次读一次间址块，第四次是读文件盘块）（</a:t>
            </a:r>
            <a:r>
              <a:rPr lang="en-US" altLang="zh-CN" dirty="0"/>
              <a:t>2</a:t>
            </a:r>
            <a:r>
              <a:rPr lang="zh-CN" altLang="en-US" dirty="0"/>
              <a:t>分）</a:t>
            </a:r>
            <a:endParaRPr lang="zh-CN" altLang="en-US" dirty="0"/>
          </a:p>
          <a:p>
            <a:endParaRPr lang="zh-CN" altLang="en-US" dirty="0"/>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idx="1"/>
          </p:nvPr>
        </p:nvSpPr>
        <p:spPr>
          <a:xfrm>
            <a:off x="949571" y="1311572"/>
            <a:ext cx="10770648" cy="5157643"/>
          </a:xfrm>
        </p:spPr>
        <p:txBody>
          <a:bodyPr/>
          <a:lstStyle/>
          <a:p>
            <a:r>
              <a:rPr lang="en-US" altLang="zh-CN" dirty="0"/>
              <a:t>2</a:t>
            </a:r>
            <a:r>
              <a:rPr lang="zh-CN" altLang="en-US" dirty="0"/>
              <a:t>．有一个磁盘组共用</a:t>
            </a:r>
            <a:r>
              <a:rPr lang="en-US" altLang="zh-CN" dirty="0"/>
              <a:t>10</a:t>
            </a:r>
            <a:r>
              <a:rPr lang="zh-CN" altLang="en-US" dirty="0"/>
              <a:t>个盘面，每个盘面上有</a:t>
            </a:r>
            <a:r>
              <a:rPr lang="en-US" altLang="zh-CN" dirty="0"/>
              <a:t>100</a:t>
            </a:r>
            <a:r>
              <a:rPr lang="zh-CN" altLang="en-US" dirty="0"/>
              <a:t>个磁道，每个磁道有</a:t>
            </a:r>
            <a:r>
              <a:rPr lang="en-US" altLang="zh-CN" dirty="0"/>
              <a:t>16</a:t>
            </a:r>
            <a:r>
              <a:rPr lang="zh-CN" altLang="en-US" dirty="0"/>
              <a:t>个扇区，假定以扇区为单位，若使用位示图管理磁盘空间，问位示图需要占多少空间？若空闲表的每个空闲表项占用</a:t>
            </a:r>
            <a:r>
              <a:rPr lang="en-US" altLang="zh-CN" dirty="0"/>
              <a:t>5</a:t>
            </a:r>
            <a:r>
              <a:rPr lang="zh-CN" altLang="en-US" dirty="0"/>
              <a:t>个字节，问什么时候空闲表大于位示图？</a:t>
            </a:r>
            <a:endParaRPr lang="zh-CN" altLang="en-US" dirty="0"/>
          </a:p>
          <a:p>
            <a:endParaRPr lang="en-US" altLang="zh-CN" dirty="0"/>
          </a:p>
        </p:txBody>
      </p:sp>
      <p:sp>
        <p:nvSpPr>
          <p:cNvPr id="2" name="标题 1"/>
          <p:cNvSpPr>
            <a:spLocks noGrp="1"/>
          </p:cNvSpPr>
          <p:nvPr>
            <p:ph type="title"/>
          </p:nvPr>
        </p:nvSpPr>
        <p:spPr>
          <a:xfrm>
            <a:off x="1295474" y="188915"/>
            <a:ext cx="9774049" cy="549275"/>
          </a:xfrm>
        </p:spPr>
        <p:txBody>
          <a:bodyPr/>
          <a:lstStyle/>
          <a:p>
            <a:r>
              <a:rPr lang="zh-CN" altLang="en-US" dirty="0"/>
              <a:t>练习题：</a:t>
            </a:r>
            <a:r>
              <a:rPr lang="en-US" altLang="zh-CN" dirty="0"/>
              <a:t>2</a:t>
            </a:r>
            <a:endParaRPr lang="zh-CN" altLang="en-US" dirty="0"/>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1.Linux</a:t>
            </a:r>
            <a:r>
              <a:rPr lang="zh-CN" altLang="en-US" dirty="0"/>
              <a:t>操作系统是（）的网络操作系统 </a:t>
            </a:r>
            <a:r>
              <a:rPr lang="en-US" altLang="zh-CN" dirty="0"/>
              <a:t>ABCD</a:t>
            </a:r>
            <a:endParaRPr lang="en-US" altLang="zh-CN" dirty="0"/>
          </a:p>
          <a:p>
            <a:r>
              <a:rPr lang="en-US" altLang="zh-CN" dirty="0"/>
              <a:t>A.</a:t>
            </a:r>
            <a:r>
              <a:rPr lang="zh-CN" altLang="en-US" dirty="0"/>
              <a:t>支持多用户</a:t>
            </a:r>
            <a:endParaRPr lang="en-US" altLang="zh-CN" dirty="0"/>
          </a:p>
          <a:p>
            <a:r>
              <a:rPr lang="en-US" altLang="zh-CN" dirty="0"/>
              <a:t>B.</a:t>
            </a:r>
            <a:r>
              <a:rPr lang="zh-CN" altLang="en-US" dirty="0"/>
              <a:t>支持多进程</a:t>
            </a:r>
            <a:endParaRPr lang="en-US" altLang="zh-CN" dirty="0"/>
          </a:p>
          <a:p>
            <a:r>
              <a:rPr lang="en-US" altLang="zh-CN" dirty="0"/>
              <a:t>C.</a:t>
            </a:r>
            <a:r>
              <a:rPr lang="zh-CN" altLang="en-US" dirty="0"/>
              <a:t>实时性较好</a:t>
            </a:r>
            <a:endParaRPr lang="en-US" altLang="zh-CN" dirty="0"/>
          </a:p>
          <a:p>
            <a:r>
              <a:rPr lang="en-US" altLang="zh-CN" dirty="0"/>
              <a:t>D.</a:t>
            </a:r>
            <a:r>
              <a:rPr lang="zh-CN" altLang="en-US" dirty="0"/>
              <a:t>功能强大而稳定</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2.Linux</a:t>
            </a:r>
            <a:r>
              <a:rPr lang="zh-CN" altLang="en-US" dirty="0"/>
              <a:t>操作系统属于（）</a:t>
            </a:r>
            <a:r>
              <a:rPr lang="en-US" altLang="zh-CN" dirty="0"/>
              <a:t>AC</a:t>
            </a:r>
            <a:endParaRPr lang="en-US" altLang="zh-CN" dirty="0"/>
          </a:p>
          <a:p>
            <a:r>
              <a:rPr lang="en-US" altLang="zh-CN" dirty="0"/>
              <a:t>A.</a:t>
            </a:r>
            <a:r>
              <a:rPr lang="zh-CN" altLang="en-US" dirty="0"/>
              <a:t>开源操作系统</a:t>
            </a:r>
            <a:endParaRPr lang="en-US" altLang="zh-CN" dirty="0"/>
          </a:p>
          <a:p>
            <a:r>
              <a:rPr lang="en-US" altLang="zh-CN" dirty="0"/>
              <a:t>B.</a:t>
            </a:r>
            <a:r>
              <a:rPr lang="zh-CN" altLang="en-US" dirty="0"/>
              <a:t>不开源系统</a:t>
            </a:r>
            <a:endParaRPr lang="en-US" altLang="zh-CN" dirty="0"/>
          </a:p>
          <a:p>
            <a:r>
              <a:rPr lang="en-US" altLang="zh-CN" dirty="0"/>
              <a:t>C.</a:t>
            </a:r>
            <a:r>
              <a:rPr lang="zh-CN" altLang="en-US" dirty="0"/>
              <a:t>分布式系统</a:t>
            </a:r>
            <a:endParaRPr lang="en-US" altLang="zh-CN" dirty="0"/>
          </a:p>
          <a:p>
            <a:r>
              <a:rPr lang="en-US" altLang="zh-CN" dirty="0"/>
              <a:t>D.</a:t>
            </a:r>
            <a:r>
              <a:rPr lang="zh-CN" altLang="en-US" dirty="0"/>
              <a:t>实时系统</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Linux</a:t>
            </a:r>
            <a:r>
              <a:rPr lang="zh-CN" altLang="en-US" dirty="0"/>
              <a:t>操作系统的核心功能包括（）</a:t>
            </a:r>
            <a:r>
              <a:rPr lang="en-US" altLang="zh-CN" dirty="0"/>
              <a:t>ABCD</a:t>
            </a:r>
            <a:endParaRPr lang="en-US" altLang="zh-CN" dirty="0"/>
          </a:p>
          <a:p>
            <a:r>
              <a:rPr lang="en-US" altLang="zh-CN" dirty="0"/>
              <a:t>A.</a:t>
            </a:r>
            <a:r>
              <a:rPr lang="zh-CN" altLang="en-US" dirty="0"/>
              <a:t>程序管理</a:t>
            </a:r>
            <a:endParaRPr lang="en-US" altLang="zh-CN" dirty="0"/>
          </a:p>
          <a:p>
            <a:r>
              <a:rPr lang="en-US" altLang="zh-CN" dirty="0"/>
              <a:t>B.</a:t>
            </a:r>
            <a:r>
              <a:rPr lang="zh-CN" altLang="en-US" dirty="0"/>
              <a:t>内存管理</a:t>
            </a:r>
            <a:endParaRPr lang="en-US" altLang="zh-CN" dirty="0"/>
          </a:p>
          <a:p>
            <a:r>
              <a:rPr lang="en-US" altLang="zh-CN" dirty="0"/>
              <a:t>C.</a:t>
            </a:r>
            <a:r>
              <a:rPr lang="zh-CN" altLang="en-US" dirty="0"/>
              <a:t>文件系统管理</a:t>
            </a:r>
            <a:endParaRPr lang="en-US" altLang="zh-CN" dirty="0"/>
          </a:p>
          <a:p>
            <a:r>
              <a:rPr lang="en-US" altLang="zh-CN" dirty="0"/>
              <a:t>D.</a:t>
            </a:r>
            <a:r>
              <a:rPr lang="zh-CN" altLang="en-US" dirty="0"/>
              <a:t>驱动管理</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Linux</a:t>
            </a:r>
            <a:r>
              <a:rPr lang="zh-CN" altLang="en-US" dirty="0"/>
              <a:t>操作系统的文件结构是（）结构 </a:t>
            </a:r>
            <a:r>
              <a:rPr lang="en-US" altLang="zh-CN" dirty="0"/>
              <a:t>B</a:t>
            </a:r>
            <a:endParaRPr lang="en-US" altLang="zh-CN" dirty="0"/>
          </a:p>
          <a:p>
            <a:r>
              <a:rPr lang="en-US" altLang="zh-CN" dirty="0"/>
              <a:t>A.</a:t>
            </a:r>
            <a:r>
              <a:rPr lang="zh-CN" altLang="en-US" dirty="0"/>
              <a:t>星型</a:t>
            </a:r>
            <a:endParaRPr lang="en-US" altLang="zh-CN" dirty="0"/>
          </a:p>
          <a:p>
            <a:r>
              <a:rPr lang="en-US" altLang="zh-CN" dirty="0"/>
              <a:t>B.</a:t>
            </a:r>
            <a:r>
              <a:rPr lang="zh-CN" altLang="en-US" dirty="0"/>
              <a:t>树型</a:t>
            </a:r>
            <a:endParaRPr lang="en-US" altLang="zh-CN" dirty="0"/>
          </a:p>
          <a:p>
            <a:r>
              <a:rPr lang="en-US" altLang="zh-CN" dirty="0"/>
              <a:t>C.</a:t>
            </a:r>
            <a:r>
              <a:rPr lang="zh-CN" altLang="en-US" dirty="0"/>
              <a:t>网状</a:t>
            </a:r>
            <a:endParaRPr lang="en-US" altLang="zh-CN" dirty="0"/>
          </a:p>
          <a:p>
            <a:r>
              <a:rPr lang="en-US" altLang="zh-CN" dirty="0"/>
              <a:t>D.</a:t>
            </a:r>
            <a:r>
              <a:rPr lang="zh-CN" altLang="en-US" dirty="0"/>
              <a:t>环形</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zh-CN" altLang="en-US" dirty="0"/>
              <a:t>以下对</a:t>
            </a:r>
            <a:r>
              <a:rPr lang="en-US" altLang="zh-CN" dirty="0" err="1"/>
              <a:t>linux</a:t>
            </a:r>
            <a:r>
              <a:rPr lang="zh-CN" altLang="en-US" dirty="0"/>
              <a:t>进程管理的作用描述正确的有（）</a:t>
            </a:r>
            <a:r>
              <a:rPr lang="en-US" altLang="zh-CN" dirty="0"/>
              <a:t>BC</a:t>
            </a:r>
            <a:endParaRPr lang="en-US" altLang="zh-CN" dirty="0"/>
          </a:p>
          <a:p>
            <a:r>
              <a:rPr lang="en-US" altLang="zh-CN" dirty="0"/>
              <a:t>A.</a:t>
            </a:r>
            <a:r>
              <a:rPr lang="zh-CN" altLang="en-US" dirty="0"/>
              <a:t>判断服务器的健康状态 设备信息管理</a:t>
            </a:r>
            <a:endParaRPr lang="en-US" altLang="zh-CN" dirty="0"/>
          </a:p>
          <a:p>
            <a:r>
              <a:rPr lang="en-US" altLang="zh-CN" dirty="0"/>
              <a:t>B.</a:t>
            </a:r>
            <a:r>
              <a:rPr lang="zh-CN" altLang="en-US" dirty="0"/>
              <a:t>查看系统中所有的进程  </a:t>
            </a:r>
            <a:endParaRPr lang="en-US" altLang="zh-CN" dirty="0"/>
          </a:p>
          <a:p>
            <a:r>
              <a:rPr lang="en-US" altLang="zh-CN" dirty="0"/>
              <a:t>C.</a:t>
            </a:r>
            <a:r>
              <a:rPr lang="zh-CN" altLang="en-US" dirty="0"/>
              <a:t>杀死进程</a:t>
            </a:r>
            <a:endParaRPr lang="en-US" altLang="zh-CN" dirty="0"/>
          </a:p>
          <a:p>
            <a:r>
              <a:rPr lang="en-US" altLang="zh-CN" dirty="0"/>
              <a:t>D.</a:t>
            </a:r>
            <a:r>
              <a:rPr lang="zh-CN" altLang="en-US" dirty="0"/>
              <a:t>查看服务器</a:t>
            </a:r>
            <a:r>
              <a:rPr lang="en-US" altLang="zh-CN" dirty="0"/>
              <a:t>CPU</a:t>
            </a:r>
            <a:r>
              <a:rPr lang="zh-CN" altLang="en-US" dirty="0"/>
              <a:t>信息 设备信息管理</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1.Vi</a:t>
            </a:r>
            <a:r>
              <a:rPr lang="zh-CN" altLang="en-US" dirty="0"/>
              <a:t>编辑器从文本输入模式切换到指令模式的功能键是（）</a:t>
            </a:r>
            <a:endParaRPr lang="en-US" altLang="zh-CN" dirty="0"/>
          </a:p>
          <a:p>
            <a:r>
              <a:rPr lang="en-US" altLang="zh-CN" dirty="0"/>
              <a:t>A.F2</a:t>
            </a:r>
            <a:endParaRPr lang="en-US" altLang="zh-CN" dirty="0"/>
          </a:p>
          <a:p>
            <a:r>
              <a:rPr lang="en-US" altLang="zh-CN" dirty="0" err="1"/>
              <a:t>B.Shift</a:t>
            </a:r>
            <a:endParaRPr lang="en-US" altLang="zh-CN" dirty="0"/>
          </a:p>
          <a:p>
            <a:r>
              <a:rPr lang="en-US" altLang="zh-CN" dirty="0" err="1"/>
              <a:t>C.Tab</a:t>
            </a:r>
            <a:endParaRPr lang="en-US" altLang="zh-CN" dirty="0"/>
          </a:p>
          <a:p>
            <a:r>
              <a:rPr lang="en-US" altLang="zh-CN" dirty="0" err="1"/>
              <a:t>D.Esc</a:t>
            </a:r>
            <a:endParaRPr lang="en-US" altLang="zh-CN" dirty="0"/>
          </a:p>
          <a:p>
            <a:pPr marL="0" indent="0">
              <a:buNone/>
            </a:pPr>
            <a:endParaRPr lang="en-US" altLang="zh-CN" dirty="0"/>
          </a:p>
          <a:p>
            <a:pPr marL="0" indent="0">
              <a:buNone/>
            </a:pPr>
            <a:r>
              <a:rPr lang="zh-CN" altLang="en-US" sz="2400" dirty="0"/>
              <a:t>（答案：</a:t>
            </a:r>
            <a:r>
              <a:rPr lang="en-US" altLang="zh-CN" sz="2400" dirty="0"/>
              <a:t>D</a:t>
            </a:r>
            <a:r>
              <a:rPr lang="zh-CN" altLang="en-US" sz="2400" dirty="0"/>
              <a:t>）</a:t>
            </a:r>
            <a:endParaRPr lang="en-US"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2.</a:t>
            </a:r>
            <a:r>
              <a:rPr lang="zh-CN" altLang="en-US" dirty="0"/>
              <a:t>在</a:t>
            </a:r>
            <a:r>
              <a:rPr lang="en-US" altLang="zh-CN" dirty="0"/>
              <a:t>vi</a:t>
            </a:r>
            <a:r>
              <a:rPr lang="zh-CN" altLang="en-US" dirty="0"/>
              <a:t>编辑器中，要从光标所在行的第一个非空白字符前开始插入文本，所用的命令是（）</a:t>
            </a:r>
            <a:endParaRPr lang="en-US" altLang="zh-CN" dirty="0"/>
          </a:p>
          <a:p>
            <a:r>
              <a:rPr lang="en-US" altLang="zh-CN" dirty="0" err="1"/>
              <a:t>A.i</a:t>
            </a:r>
            <a:endParaRPr lang="en-US" altLang="zh-CN" dirty="0"/>
          </a:p>
          <a:p>
            <a:r>
              <a:rPr lang="en-US" altLang="zh-CN" dirty="0"/>
              <a:t>B.I</a:t>
            </a:r>
            <a:endParaRPr lang="en-US" altLang="zh-CN" dirty="0"/>
          </a:p>
          <a:p>
            <a:r>
              <a:rPr lang="en-US" altLang="zh-CN" dirty="0" err="1"/>
              <a:t>C.a</a:t>
            </a:r>
            <a:endParaRPr lang="en-US" altLang="zh-CN" dirty="0"/>
          </a:p>
          <a:p>
            <a:r>
              <a:rPr lang="en-US" altLang="zh-CN" dirty="0"/>
              <a:t>D.S</a:t>
            </a:r>
            <a:endParaRPr lang="en-US" altLang="zh-CN" dirty="0"/>
          </a:p>
          <a:p>
            <a:endParaRPr lang="en-US" altLang="zh-CN" dirty="0"/>
          </a:p>
          <a:p>
            <a:r>
              <a:rPr lang="zh-CN" altLang="en-US" sz="2400" dirty="0"/>
              <a:t>（答案：</a:t>
            </a:r>
            <a:r>
              <a:rPr lang="en-US" altLang="zh-CN" sz="2400" dirty="0"/>
              <a:t>B</a:t>
            </a:r>
            <a:r>
              <a:rPr lang="zh-CN" altLang="en-US" sz="2400" dirty="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小测试</a:t>
            </a:r>
            <a:endParaRPr lang="zh-CN" altLang="en-US" dirty="0"/>
          </a:p>
        </p:txBody>
      </p:sp>
      <p:sp>
        <p:nvSpPr>
          <p:cNvPr id="3" name="内容占位符 2"/>
          <p:cNvSpPr>
            <a:spLocks noGrp="1"/>
          </p:cNvSpPr>
          <p:nvPr>
            <p:ph idx="1"/>
          </p:nvPr>
        </p:nvSpPr>
        <p:spPr/>
        <p:txBody>
          <a:bodyPr/>
          <a:lstStyle/>
          <a:p>
            <a:r>
              <a:rPr lang="en-US" altLang="zh-CN" dirty="0"/>
              <a:t>3.</a:t>
            </a:r>
            <a:r>
              <a:rPr lang="zh-CN" altLang="en-US" dirty="0"/>
              <a:t>在</a:t>
            </a:r>
            <a:r>
              <a:rPr lang="en-US" altLang="zh-CN" dirty="0"/>
              <a:t>vi</a:t>
            </a:r>
            <a:r>
              <a:rPr lang="zh-CN" altLang="en-US" dirty="0"/>
              <a:t>编辑器中，存盘并退出</a:t>
            </a:r>
            <a:r>
              <a:rPr lang="en-US" altLang="zh-CN" dirty="0"/>
              <a:t>vi</a:t>
            </a:r>
            <a:r>
              <a:rPr lang="zh-CN" altLang="en-US" dirty="0"/>
              <a:t>的指令是（）</a:t>
            </a:r>
            <a:endParaRPr lang="en-US" altLang="zh-CN" dirty="0"/>
          </a:p>
          <a:p>
            <a:r>
              <a:rPr lang="en-US" altLang="zh-CN" dirty="0"/>
              <a:t>A.		:q!</a:t>
            </a:r>
            <a:endParaRPr lang="en-US" altLang="zh-CN" dirty="0"/>
          </a:p>
          <a:p>
            <a:r>
              <a:rPr lang="en-US" altLang="zh-CN" dirty="0"/>
              <a:t>B.		:q</a:t>
            </a:r>
            <a:endParaRPr lang="en-US" altLang="zh-CN" dirty="0"/>
          </a:p>
          <a:p>
            <a:r>
              <a:rPr lang="en-US" altLang="zh-CN" dirty="0"/>
              <a:t>C.		:w</a:t>
            </a:r>
            <a:endParaRPr lang="en-US" altLang="zh-CN" dirty="0"/>
          </a:p>
          <a:p>
            <a:r>
              <a:rPr lang="en-US" altLang="zh-CN" dirty="0"/>
              <a:t>D.		:</a:t>
            </a:r>
            <a:r>
              <a:rPr lang="en-US" altLang="zh-CN" dirty="0" err="1"/>
              <a:t>wq</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RAINPROBLEM" val="ProblemBody"/>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Item"/>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Wrong"/>
</p:tagLst>
</file>

<file path=ppt/tags/tag10.xml><?xml version="1.0" encoding="utf-8"?>
<p:tagLst xmlns:p="http://schemas.openxmlformats.org/presentationml/2006/main">
  <p:tag name="RAINPROBLEM" val="ProblemBullet"/>
  <p:tag name="RAINPROBLEMTYPE" val="MultipleChoice"/>
  <p:tag name="RAINBULLET" val="Correct"/>
</p:tagLst>
</file>

<file path=ppt/tags/tag11.xml><?xml version="1.0" encoding="utf-8"?>
<p:tagLst xmlns:p="http://schemas.openxmlformats.org/presentationml/2006/main">
  <p:tag name="RAINPROBLEM" val="ProblemSubmit"/>
  <p:tag name="RAINPROBLEMTYPE" val="MultipleChoice"/>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TYPE" val="ProblemTypeMarker"/>
</p:tagLst>
</file>

<file path=ppt/tags/tag17.xml><?xml version="1.0" encoding="utf-8"?>
<p:tagLst xmlns:p="http://schemas.openxmlformats.org/presentationml/2006/main">
  <p:tag name="RAINPROBLEM" val="ProblemSetting"/>
  <p:tag name="RAINPROBLEMTYPE" val="MultipleChoice"/>
</p:tagLst>
</file>

<file path=ppt/tags/tag18.xml><?xml version="1.0" encoding="utf-8"?>
<p:tagLst xmlns:p="http://schemas.openxmlformats.org/presentationml/2006/main">
  <p:tag name="RAINPROBLEM" val="MultipleChoice"/>
  <p:tag name="PROBLEMSCORE" val="1.0"/>
</p:tagLst>
</file>

<file path=ppt/tags/tag19.xml><?xml version="1.0" encoding="utf-8"?>
<p:tagLst xmlns:p="http://schemas.openxmlformats.org/presentationml/2006/main">
  <p:tag name="RAINPROBLEM" val="ProblemBody"/>
</p:tagLst>
</file>

<file path=ppt/tags/tag20.xml><?xml version="1.0" encoding="utf-8"?>
<p:tagLst xmlns:p="http://schemas.openxmlformats.org/presentationml/2006/main">
  <p:tag name="RAINPROBLEM" val="ProblemItem"/>
</p:tagLst>
</file>

<file path=ppt/tags/tag21.xml><?xml version="1.0" encoding="utf-8"?>
<p:tagLst xmlns:p="http://schemas.openxmlformats.org/presentationml/2006/main">
  <p:tag name="RAINPROBLEM" val="ProblemItem"/>
</p:tagLst>
</file>

<file path=ppt/tags/tag22.xml><?xml version="1.0" encoding="utf-8"?>
<p:tagLst xmlns:p="http://schemas.openxmlformats.org/presentationml/2006/main">
  <p:tag name="RAINPROBLEM" val="ProblemItem"/>
</p:tagLst>
</file>

<file path=ppt/tags/tag23.xml><?xml version="1.0" encoding="utf-8"?>
<p:tagLst xmlns:p="http://schemas.openxmlformats.org/presentationml/2006/main">
  <p:tag name="RAINPROBLEM" val="ProblemItem"/>
</p:tagLst>
</file>

<file path=ppt/tags/tag24.xml><?xml version="1.0" encoding="utf-8"?>
<p:tagLst xmlns:p="http://schemas.openxmlformats.org/presentationml/2006/main">
  <p:tag name="RAINPROBLEM" val="ProblemBullet"/>
  <p:tag name="RAINPROBLEMTYPE" val="MultipleChoice"/>
  <p:tag name="RAINBULLET" val="Wrong"/>
</p:tagLst>
</file>

<file path=ppt/tags/tag25.xml><?xml version="1.0" encoding="utf-8"?>
<p:tagLst xmlns:p="http://schemas.openxmlformats.org/presentationml/2006/main">
  <p:tag name="RAINPROBLEM" val="ProblemBullet"/>
  <p:tag name="RAINPROBLEMTYPE" val="MultipleChoice"/>
  <p:tag name="RAINBULLET" val="Wrong"/>
</p:tagLst>
</file>

<file path=ppt/tags/tag26.xml><?xml version="1.0" encoding="utf-8"?>
<p:tagLst xmlns:p="http://schemas.openxmlformats.org/presentationml/2006/main">
  <p:tag name="RAINPROBLEM" val="ProblemBullet"/>
  <p:tag name="RAINPROBLEMTYPE" val="MultipleChoice"/>
  <p:tag name="RAINBULLET" val="Correct"/>
</p:tagLst>
</file>

<file path=ppt/tags/tag27.xml><?xml version="1.0" encoding="utf-8"?>
<p:tagLst xmlns:p="http://schemas.openxmlformats.org/presentationml/2006/main">
  <p:tag name="RAINPROBLEM" val="ProblemBullet"/>
  <p:tag name="RAINPROBLEMTYPE" val="MultipleChoice"/>
  <p:tag name="RAINBULLET" val="Wrong"/>
</p:tagLst>
</file>

<file path=ppt/tags/tag28.xml><?xml version="1.0" encoding="utf-8"?>
<p:tagLst xmlns:p="http://schemas.openxmlformats.org/presentationml/2006/main">
  <p:tag name="RAINPROBLEM" val="ProblemSubmit"/>
  <p:tag name="RAINPROBLEMTYPE" val="MultipleChoice"/>
</p:tagLst>
</file>

<file path=ppt/tags/tag29.xml><?xml version="1.0" encoding="utf-8"?>
<p:tagLst xmlns:p="http://schemas.openxmlformats.org/presentationml/2006/main">
  <p:tag name="RAINPROBLEMTYPE" val="ProblemTypeMarker"/>
</p:tagLst>
</file>

<file path=ppt/tags/tag30.xml><?xml version="1.0" encoding="utf-8"?>
<p:tagLst xmlns:p="http://schemas.openxmlformats.org/presentationml/2006/main">
  <p:tag name="RAINPROBLEMTYPE" val="ProblemTypeMarker"/>
</p:tagLst>
</file>

<file path=ppt/tags/tag31.xml><?xml version="1.0" encoding="utf-8"?>
<p:tagLst xmlns:p="http://schemas.openxmlformats.org/presentationml/2006/main">
  <p:tag name="RAINPROBLEMTYPE" val="ProblemTypeMarker"/>
</p:tagLst>
</file>

<file path=ppt/tags/tag32.xml><?xml version="1.0" encoding="utf-8"?>
<p:tagLst xmlns:p="http://schemas.openxmlformats.org/presentationml/2006/main">
  <p:tag name="RAINPROBLEMTYPE" val="ProblemTypeMarker"/>
</p:tagLst>
</file>

<file path=ppt/tags/tag33.xml><?xml version="1.0" encoding="utf-8"?>
<p:tagLst xmlns:p="http://schemas.openxmlformats.org/presentationml/2006/main">
  <p:tag name="RAINPROBLEMTYPE" val="ProblemTypeMarker"/>
</p:tagLst>
</file>

<file path=ppt/tags/tag34.xml><?xml version="1.0" encoding="utf-8"?>
<p:tagLst xmlns:p="http://schemas.openxmlformats.org/presentationml/2006/main">
  <p:tag name="RAINPROBLEM" val="ProblemSetting"/>
  <p:tag name="RAINPROBLEMTYPE" val="MultipleChoice"/>
</p:tagLst>
</file>

<file path=ppt/tags/tag35.xml><?xml version="1.0" encoding="utf-8"?>
<p:tagLst xmlns:p="http://schemas.openxmlformats.org/presentationml/2006/main">
  <p:tag name="RAINPROBLEM" val="MultipleChoice"/>
  <p:tag name="PROBLEMSCORE" val="1.0"/>
</p:tagLst>
</file>

<file path=ppt/tags/tag36.xml><?xml version="1.0" encoding="utf-8"?>
<p:tagLst xmlns:p="http://schemas.openxmlformats.org/presentationml/2006/main">
  <p:tag name="RAINPROBLEM" val="ProblemBody"/>
</p:tagLst>
</file>

<file path=ppt/tags/tag37.xml><?xml version="1.0" encoding="utf-8"?>
<p:tagLst xmlns:p="http://schemas.openxmlformats.org/presentationml/2006/main">
  <p:tag name="RAINPROBLEM" val="ProblemItem"/>
</p:tagLst>
</file>

<file path=ppt/tags/tag38.xml><?xml version="1.0" encoding="utf-8"?>
<p:tagLst xmlns:p="http://schemas.openxmlformats.org/presentationml/2006/main">
  <p:tag name="RAINPROBLEM" val="ProblemItem"/>
</p:tagLst>
</file>

<file path=ppt/tags/tag39.xml><?xml version="1.0" encoding="utf-8"?>
<p:tagLst xmlns:p="http://schemas.openxmlformats.org/presentationml/2006/main">
  <p:tag name="RAINPROBLEM" val="ProblemItem"/>
</p:tagLst>
</file>

<file path=ppt/tags/tag40.xml><?xml version="1.0" encoding="utf-8"?>
<p:tagLst xmlns:p="http://schemas.openxmlformats.org/presentationml/2006/main">
  <p:tag name="RAINPROBLEM" val="ProblemItem"/>
</p:tagLst>
</file>

<file path=ppt/tags/tag41.xml><?xml version="1.0" encoding="utf-8"?>
<p:tagLst xmlns:p="http://schemas.openxmlformats.org/presentationml/2006/main">
  <p:tag name="RAINPROBLEM" val="ProblemBullet"/>
  <p:tag name="RAINPROBLEMTYPE" val="MultipleChoice"/>
  <p:tag name="RAINBULLET" val="Wrong"/>
</p:tagLst>
</file>

<file path=ppt/tags/tag42.xml><?xml version="1.0" encoding="utf-8"?>
<p:tagLst xmlns:p="http://schemas.openxmlformats.org/presentationml/2006/main">
  <p:tag name="RAINPROBLEM" val="ProblemBullet"/>
  <p:tag name="RAINPROBLEMTYPE" val="MultipleChoice"/>
  <p:tag name="RAINBULLET" val="Correct"/>
</p:tagLst>
</file>

<file path=ppt/tags/tag43.xml><?xml version="1.0" encoding="utf-8"?>
<p:tagLst xmlns:p="http://schemas.openxmlformats.org/presentationml/2006/main">
  <p:tag name="RAINPROBLEM" val="ProblemBullet"/>
  <p:tag name="RAINPROBLEMTYPE" val="MultipleChoice"/>
  <p:tag name="RAINBULLET" val="Wrong"/>
</p:tagLst>
</file>

<file path=ppt/tags/tag44.xml><?xml version="1.0" encoding="utf-8"?>
<p:tagLst xmlns:p="http://schemas.openxmlformats.org/presentationml/2006/main">
  <p:tag name="RAINPROBLEM" val="ProblemBullet"/>
  <p:tag name="RAINPROBLEMTYPE" val="MultipleChoice"/>
  <p:tag name="RAINBULLET" val="Wrong"/>
</p:tagLst>
</file>

<file path=ppt/tags/tag45.xml><?xml version="1.0" encoding="utf-8"?>
<p:tagLst xmlns:p="http://schemas.openxmlformats.org/presentationml/2006/main">
  <p:tag name="RAINPROBLEM" val="ProblemSubmit"/>
  <p:tag name="RAINPROBLEMTYPE" val="MultipleChoice"/>
</p:tagLst>
</file>

<file path=ppt/tags/tag46.xml><?xml version="1.0" encoding="utf-8"?>
<p:tagLst xmlns:p="http://schemas.openxmlformats.org/presentationml/2006/main">
  <p:tag name="RAINPROBLEMTYPE" val="ProblemTypeMarker"/>
</p:tagLst>
</file>

<file path=ppt/tags/tag47.xml><?xml version="1.0" encoding="utf-8"?>
<p:tagLst xmlns:p="http://schemas.openxmlformats.org/presentationml/2006/main">
  <p:tag name="RAINPROBLEMTYPE" val="ProblemTypeMarker"/>
</p:tagLst>
</file>

<file path=ppt/tags/tag48.xml><?xml version="1.0" encoding="utf-8"?>
<p:tagLst xmlns:p="http://schemas.openxmlformats.org/presentationml/2006/main">
  <p:tag name="RAINPROBLEMTYPE" val="ProblemTypeMarker"/>
</p:tagLst>
</file>

<file path=ppt/tags/tag49.xml><?xml version="1.0" encoding="utf-8"?>
<p:tagLst xmlns:p="http://schemas.openxmlformats.org/presentationml/2006/main">
  <p:tag name="RAINPROBLEMTYPE" val="ProblemTypeMarker"/>
</p:tagLst>
</file>

<file path=ppt/tags/tag50.xml><?xml version="1.0" encoding="utf-8"?>
<p:tagLst xmlns:p="http://schemas.openxmlformats.org/presentationml/2006/main">
  <p:tag name="RAINPROBLEMTYPE" val="ProblemTypeMarker"/>
</p:tagLst>
</file>

<file path=ppt/tags/tag51.xml><?xml version="1.0" encoding="utf-8"?>
<p:tagLst xmlns:p="http://schemas.openxmlformats.org/presentationml/2006/main">
  <p:tag name="RAINPROBLEM" val="ProblemSetting"/>
  <p:tag name="RAINPROBLEMTYPE" val="MultipleChoice"/>
</p:tagLst>
</file>

<file path=ppt/tags/tag52.xml><?xml version="1.0" encoding="utf-8"?>
<p:tagLst xmlns:p="http://schemas.openxmlformats.org/presentationml/2006/main">
  <p:tag name="RAINPROBLEM" val="MultipleChoice"/>
  <p:tag name="PROBLEMSCORE" val="1.0"/>
</p:tagLst>
</file>

<file path=ppt/tags/tag53.xml><?xml version="1.0" encoding="utf-8"?>
<p:tagLst xmlns:p="http://schemas.openxmlformats.org/presentationml/2006/main">
  <p:tag name="RAINPROBLEM" val="ProblemBody"/>
</p:tagLst>
</file>

<file path=ppt/tags/tag54.xml><?xml version="1.0" encoding="utf-8"?>
<p:tagLst xmlns:p="http://schemas.openxmlformats.org/presentationml/2006/main">
  <p:tag name="RAINPROBLEM" val="ProblemItem"/>
</p:tagLst>
</file>

<file path=ppt/tags/tag55.xml><?xml version="1.0" encoding="utf-8"?>
<p:tagLst xmlns:p="http://schemas.openxmlformats.org/presentationml/2006/main">
  <p:tag name="RAINPROBLEM" val="ProblemItem"/>
</p:tagLst>
</file>

<file path=ppt/tags/tag56.xml><?xml version="1.0" encoding="utf-8"?>
<p:tagLst xmlns:p="http://schemas.openxmlformats.org/presentationml/2006/main">
  <p:tag name="RAINPROBLEM" val="ProblemItem"/>
</p:tagLst>
</file>

<file path=ppt/tags/tag57.xml><?xml version="1.0" encoding="utf-8"?>
<p:tagLst xmlns:p="http://schemas.openxmlformats.org/presentationml/2006/main">
  <p:tag name="RAINPROBLEM" val="ProblemItem"/>
</p:tagLst>
</file>

<file path=ppt/tags/tag58.xml><?xml version="1.0" encoding="utf-8"?>
<p:tagLst xmlns:p="http://schemas.openxmlformats.org/presentationml/2006/main">
  <p:tag name="RAINPROBLEM" val="ProblemBullet"/>
  <p:tag name="RAINPROBLEMTYPE" val="MultipleChoice"/>
  <p:tag name="RAINBULLET" val="Wrong"/>
</p:tagLst>
</file>

<file path=ppt/tags/tag59.xml><?xml version="1.0" encoding="utf-8"?>
<p:tagLst xmlns:p="http://schemas.openxmlformats.org/presentationml/2006/main">
  <p:tag name="RAINPROBLEM" val="ProblemBullet"/>
  <p:tag name="RAINPROBLEMTYPE" val="MultipleChoice"/>
  <p:tag name="RAINBULLET" val="Correct"/>
</p:tagLst>
</file>

<file path=ppt/tags/tag60.xml><?xml version="1.0" encoding="utf-8"?>
<p:tagLst xmlns:p="http://schemas.openxmlformats.org/presentationml/2006/main">
  <p:tag name="RAINPROBLEM" val="ProblemBullet"/>
  <p:tag name="RAINPROBLEMTYPE" val="MultipleChoice"/>
  <p:tag name="RAINBULLET" val="Wrong"/>
</p:tagLst>
</file>

<file path=ppt/tags/tag61.xml><?xml version="1.0" encoding="utf-8"?>
<p:tagLst xmlns:p="http://schemas.openxmlformats.org/presentationml/2006/main">
  <p:tag name="RAINPROBLEM" val="ProblemBullet"/>
  <p:tag name="RAINPROBLEMTYPE" val="MultipleChoice"/>
  <p:tag name="RAINBULLET" val="Wrong"/>
</p:tagLst>
</file>

<file path=ppt/tags/tag62.xml><?xml version="1.0" encoding="utf-8"?>
<p:tagLst xmlns:p="http://schemas.openxmlformats.org/presentationml/2006/main">
  <p:tag name="RAINPROBLEM" val="ProblemSubmit"/>
  <p:tag name="RAINPROBLEMTYPE" val="MultipleChoice"/>
</p:tagLst>
</file>

<file path=ppt/tags/tag63.xml><?xml version="1.0" encoding="utf-8"?>
<p:tagLst xmlns:p="http://schemas.openxmlformats.org/presentationml/2006/main">
  <p:tag name="RAINPROBLEMTYPE" val="ProblemTypeMarker"/>
</p:tagLst>
</file>

<file path=ppt/tags/tag64.xml><?xml version="1.0" encoding="utf-8"?>
<p:tagLst xmlns:p="http://schemas.openxmlformats.org/presentationml/2006/main">
  <p:tag name="RAINPROBLEMTYPE" val="ProblemTypeMarker"/>
</p:tagLst>
</file>

<file path=ppt/tags/tag65.xml><?xml version="1.0" encoding="utf-8"?>
<p:tagLst xmlns:p="http://schemas.openxmlformats.org/presentationml/2006/main">
  <p:tag name="RAINPROBLEMTYPE" val="ProblemTypeMarker"/>
</p:tagLst>
</file>

<file path=ppt/tags/tag66.xml><?xml version="1.0" encoding="utf-8"?>
<p:tagLst xmlns:p="http://schemas.openxmlformats.org/presentationml/2006/main">
  <p:tag name="RAINPROBLEMTYPE" val="ProblemTypeMarker"/>
</p:tagLst>
</file>

<file path=ppt/tags/tag67.xml><?xml version="1.0" encoding="utf-8"?>
<p:tagLst xmlns:p="http://schemas.openxmlformats.org/presentationml/2006/main">
  <p:tag name="RAINPROBLEMTYPE" val="ProblemTypeMarker"/>
</p:tagLst>
</file>

<file path=ppt/tags/tag68.xml><?xml version="1.0" encoding="utf-8"?>
<p:tagLst xmlns:p="http://schemas.openxmlformats.org/presentationml/2006/main">
  <p:tag name="RAINPROBLEM" val="ProblemSetting"/>
  <p:tag name="RAINPROBLEMTYPE" val="MultipleChoice"/>
</p:tagLst>
</file>

<file path=ppt/tags/tag69.xml><?xml version="1.0" encoding="utf-8"?>
<p:tagLst xmlns:p="http://schemas.openxmlformats.org/presentationml/2006/main">
  <p:tag name="RAINPROBLEM" val="MultipleChoice"/>
  <p:tag name="PROBLEMSCORE" val="1.0"/>
</p:tagLst>
</file>

<file path=ppt/tags/tag70.xml><?xml version="1.0" encoding="utf-8"?>
<p:tagLst xmlns:p="http://schemas.openxmlformats.org/presentationml/2006/main">
  <p:tag name="RAINPROBLEM" val="ProblemBody"/>
</p:tagLst>
</file>

<file path=ppt/tags/tag71.xml><?xml version="1.0" encoding="utf-8"?>
<p:tagLst xmlns:p="http://schemas.openxmlformats.org/presentationml/2006/main">
  <p:tag name="RAINPROBLEM" val="ProblemItem"/>
</p:tagLst>
</file>

<file path=ppt/tags/tag72.xml><?xml version="1.0" encoding="utf-8"?>
<p:tagLst xmlns:p="http://schemas.openxmlformats.org/presentationml/2006/main">
  <p:tag name="RAINPROBLEM" val="ProblemItem"/>
</p:tagLst>
</file>

<file path=ppt/tags/tag73.xml><?xml version="1.0" encoding="utf-8"?>
<p:tagLst xmlns:p="http://schemas.openxmlformats.org/presentationml/2006/main">
  <p:tag name="RAINPROBLEM" val="ProblemItem"/>
</p:tagLst>
</file>

<file path=ppt/tags/tag74.xml><?xml version="1.0" encoding="utf-8"?>
<p:tagLst xmlns:p="http://schemas.openxmlformats.org/presentationml/2006/main">
  <p:tag name="RAINPROBLEM" val="ProblemItem"/>
</p:tagLst>
</file>

<file path=ppt/tags/tag75.xml><?xml version="1.0" encoding="utf-8"?>
<p:tagLst xmlns:p="http://schemas.openxmlformats.org/presentationml/2006/main">
  <p:tag name="RAINPROBLEM" val="ProblemBullet"/>
  <p:tag name="RAINPROBLEMTYPE" val="MultipleChoice"/>
  <p:tag name="RAINBULLET" val="Wrong"/>
</p:tagLst>
</file>

<file path=ppt/tags/tag76.xml><?xml version="1.0" encoding="utf-8"?>
<p:tagLst xmlns:p="http://schemas.openxmlformats.org/presentationml/2006/main">
  <p:tag name="RAINPROBLEM" val="ProblemBullet"/>
  <p:tag name="RAINPROBLEMTYPE" val="MultipleChoice"/>
  <p:tag name="RAINBULLET" val="Correct"/>
</p:tagLst>
</file>

<file path=ppt/tags/tag77.xml><?xml version="1.0" encoding="utf-8"?>
<p:tagLst xmlns:p="http://schemas.openxmlformats.org/presentationml/2006/main">
  <p:tag name="RAINPROBLEM" val="ProblemBullet"/>
  <p:tag name="RAINPROBLEMTYPE" val="MultipleChoice"/>
  <p:tag name="RAINBULLET" val="Wrong"/>
</p:tagLst>
</file>

<file path=ppt/tags/tag78.xml><?xml version="1.0" encoding="utf-8"?>
<p:tagLst xmlns:p="http://schemas.openxmlformats.org/presentationml/2006/main">
  <p:tag name="RAINPROBLEM" val="ProblemBullet"/>
  <p:tag name="RAINPROBLEMTYPE" val="MultipleChoice"/>
  <p:tag name="RAINBULLET" val="Wrong"/>
</p:tagLst>
</file>

<file path=ppt/tags/tag79.xml><?xml version="1.0" encoding="utf-8"?>
<p:tagLst xmlns:p="http://schemas.openxmlformats.org/presentationml/2006/main">
  <p:tag name="RAINPROBLEM" val="ProblemSubmit"/>
  <p:tag name="RAINPROBLEMTYPE" val="MultipleChoice"/>
</p:tagLst>
</file>

<file path=ppt/tags/tag80.xml><?xml version="1.0" encoding="utf-8"?>
<p:tagLst xmlns:p="http://schemas.openxmlformats.org/presentationml/2006/main">
  <p:tag name="RAINPROBLEMTYPE" val="ProblemTypeMarker"/>
</p:tagLst>
</file>

<file path=ppt/tags/tag81.xml><?xml version="1.0" encoding="utf-8"?>
<p:tagLst xmlns:p="http://schemas.openxmlformats.org/presentationml/2006/main">
  <p:tag name="RAINPROBLEMTYPE" val="ProblemTypeMarker"/>
</p:tagLst>
</file>

<file path=ppt/tags/tag82.xml><?xml version="1.0" encoding="utf-8"?>
<p:tagLst xmlns:p="http://schemas.openxmlformats.org/presentationml/2006/main">
  <p:tag name="RAINPROBLEMTYPE" val="ProblemTypeMarker"/>
</p:tagLst>
</file>

<file path=ppt/tags/tag83.xml><?xml version="1.0" encoding="utf-8"?>
<p:tagLst xmlns:p="http://schemas.openxmlformats.org/presentationml/2006/main">
  <p:tag name="RAINPROBLEMTYPE" val="ProblemTypeMarker"/>
</p:tagLst>
</file>

<file path=ppt/tags/tag84.xml><?xml version="1.0" encoding="utf-8"?>
<p:tagLst xmlns:p="http://schemas.openxmlformats.org/presentationml/2006/main">
  <p:tag name="RAINPROBLEMTYPE" val="ProblemTypeMarker"/>
</p:tagLst>
</file>

<file path=ppt/tags/tag85.xml><?xml version="1.0" encoding="utf-8"?>
<p:tagLst xmlns:p="http://schemas.openxmlformats.org/presentationml/2006/main">
  <p:tag name="RAINPROBLEM" val="ProblemSetting"/>
  <p:tag name="RAINPROBLEMTYPE" val="MultipleChoice"/>
</p:tagLst>
</file>

<file path=ppt/tags/tag86.xml><?xml version="1.0" encoding="utf-8"?>
<p:tagLst xmlns:p="http://schemas.openxmlformats.org/presentationml/2006/main">
  <p:tag name="RAINPROBLEM" val="MultipleChoice"/>
  <p:tag name="PROBLEMSCORE" val="1.0"/>
</p:tagLst>
</file>

<file path=ppt/tags/tag87.xml><?xml version="1.0" encoding="utf-8"?>
<p:tagLst xmlns:p="http://schemas.openxmlformats.org/presentationml/2006/main">
  <p:tag name="TIMING" val="|29.3|7.8|8.5|10.8|16.3|15.5"/>
</p:tagLst>
</file>

<file path=ppt/tags/tag88.xml><?xml version="1.0" encoding="utf-8"?>
<p:tagLst xmlns:p="http://schemas.openxmlformats.org/presentationml/2006/main">
  <p:tag name="TIMING" val="|7.5|15.6|1.7|1.6|15.4|41.1|16.5|3.2|9.1"/>
</p:tagLst>
</file>

<file path=ppt/tags/tag89.xml><?xml version="1.0" encoding="utf-8"?>
<p:tagLst xmlns:p="http://schemas.openxmlformats.org/presentationml/2006/main">
  <p:tag name="TIMING" val="|3.9|12.7|3.1|24.7"/>
</p:tagLst>
</file>

<file path=ppt/tags/tag90.xml><?xml version="1.0" encoding="utf-8"?>
<p:tagLst xmlns:p="http://schemas.openxmlformats.org/presentationml/2006/main">
  <p:tag name="TIMING" val="|10.7|5.6"/>
</p:tagLst>
</file>

<file path=ppt/tags/tag91.xml><?xml version="1.0" encoding="utf-8"?>
<p:tagLst xmlns:p="http://schemas.openxmlformats.org/presentationml/2006/main">
  <p:tag name="TIMING" val="|3.8"/>
</p:tagLst>
</file>

<file path=ppt/tags/tag92.xml><?xml version="1.0" encoding="utf-8"?>
<p:tagLst xmlns:p="http://schemas.openxmlformats.org/presentationml/2006/main">
  <p:tag name="KSO_WPP_MARK_KEY" val="f4952f3a-9b9e-420b-979a-27fd92b33c87"/>
  <p:tag name="COMMONDATA" val="eyJoZGlkIjoiNjYyOTk1ZDUzOGFkM2Q3NzQ4YWIyNjI3OTgwMWVmY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27214</Words>
  <Application>WPS 演示</Application>
  <PresentationFormat>宽屏</PresentationFormat>
  <Paragraphs>3286</Paragraphs>
  <Slides>193</Slides>
  <Notes>0</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4</vt:i4>
      </vt:variant>
      <vt:variant>
        <vt:lpstr>幻灯片标题</vt:lpstr>
      </vt:variant>
      <vt:variant>
        <vt:i4>193</vt:i4>
      </vt:variant>
    </vt:vector>
  </HeadingPairs>
  <TitlesOfParts>
    <vt:vector size="222" baseType="lpstr">
      <vt:lpstr>Arial</vt:lpstr>
      <vt:lpstr>宋体</vt:lpstr>
      <vt:lpstr>Wingdings</vt:lpstr>
      <vt:lpstr>华文楷体</vt:lpstr>
      <vt:lpstr>微软雅黑</vt:lpstr>
      <vt:lpstr>等线</vt:lpstr>
      <vt:lpstr>Calibri Light</vt:lpstr>
      <vt:lpstr>Calibri</vt:lpstr>
      <vt:lpstr>Arial Unicode MS</vt:lpstr>
      <vt:lpstr>楷体_GB2312</vt:lpstr>
      <vt:lpstr>新宋体</vt:lpstr>
      <vt:lpstr>Times New Roman</vt:lpstr>
      <vt:lpstr>Times</vt:lpstr>
      <vt:lpstr>Tahoma</vt:lpstr>
      <vt:lpstr>仿宋_GB2312</vt:lpstr>
      <vt:lpstr>Courier New</vt:lpstr>
      <vt:lpstr>仿宋</vt:lpstr>
      <vt:lpstr>Times New Roman</vt:lpstr>
      <vt:lpstr>张海山锐谐体2.0-授权联系：Samtype@QQ.com</vt:lpstr>
      <vt:lpstr>MS PGothic</vt:lpstr>
      <vt:lpstr>Arial</vt:lpstr>
      <vt:lpstr>黑体</vt:lpstr>
      <vt:lpstr>楷体</vt:lpstr>
      <vt:lpstr>Verdana</vt:lpstr>
      <vt:lpstr>Office 主题</vt:lpstr>
      <vt:lpstr>WangImage.Document</vt:lpstr>
      <vt:lpstr>Visio.Drawing.11</vt:lpstr>
      <vt:lpstr>Visio.Drawing.11</vt:lpstr>
      <vt:lpstr>Visio.Drawing.4</vt:lpstr>
      <vt:lpstr>第一章 操作系统引论</vt:lpstr>
      <vt:lpstr>PowerPoint 演示文稿</vt:lpstr>
      <vt:lpstr>PowerPoint 演示文稿</vt:lpstr>
      <vt:lpstr>典型问题</vt:lpstr>
      <vt:lpstr>PowerPoint 演示文稿</vt:lpstr>
      <vt:lpstr>实例计算</vt:lpstr>
      <vt:lpstr>单道运行的安排</vt:lpstr>
      <vt:lpstr>多道运行的安排</vt:lpstr>
      <vt:lpstr>PowerPoint 演示文稿</vt:lpstr>
      <vt:lpstr>练习题</vt:lpstr>
      <vt:lpstr>影响响应时间的若干因素</vt:lpstr>
      <vt:lpstr>计算机考研《操作系统》单项选择题</vt:lpstr>
      <vt:lpstr>计算机考研《操作系统》单项选择题</vt:lpstr>
      <vt:lpstr>小测试</vt:lpstr>
      <vt:lpstr>典型问题</vt:lpstr>
      <vt:lpstr>典型问题</vt:lpstr>
      <vt:lpstr>典型问题</vt:lpstr>
      <vt:lpstr>PowerPoint 演示文稿</vt:lpstr>
      <vt:lpstr>小测试</vt:lpstr>
      <vt:lpstr>小练习</vt:lpstr>
      <vt:lpstr>小测试</vt:lpstr>
      <vt:lpstr>典型问题</vt:lpstr>
      <vt:lpstr>典型问题</vt:lpstr>
      <vt:lpstr>其他可能的解答题</vt:lpstr>
      <vt:lpstr>第二章 进程描述与控制</vt:lpstr>
      <vt:lpstr>小测试</vt:lpstr>
      <vt:lpstr>小测试</vt:lpstr>
      <vt:lpstr>小测试</vt:lpstr>
      <vt:lpstr>典型问题</vt:lpstr>
      <vt:lpstr>三种基本状态的思考</vt:lpstr>
      <vt:lpstr>小测试</vt:lpstr>
      <vt:lpstr>小测试</vt:lpstr>
      <vt:lpstr>小测试</vt:lpstr>
      <vt:lpstr>小测试</vt:lpstr>
      <vt:lpstr>典型问题</vt:lpstr>
      <vt:lpstr>典型例题答案</vt:lpstr>
      <vt:lpstr>小测试</vt:lpstr>
      <vt:lpstr>典型问题</vt:lpstr>
      <vt:lpstr>小测试</vt:lpstr>
      <vt:lpstr>小测试</vt:lpstr>
      <vt:lpstr>小测试</vt:lpstr>
      <vt:lpstr>小测试</vt:lpstr>
      <vt:lpstr>小测试</vt:lpstr>
      <vt:lpstr>小测试</vt:lpstr>
      <vt:lpstr>小测试</vt:lpstr>
      <vt:lpstr>小测试</vt:lpstr>
      <vt:lpstr>小测试</vt:lpstr>
      <vt:lpstr>小测试</vt:lpstr>
      <vt:lpstr>小测试</vt:lpstr>
      <vt:lpstr>小测试</vt:lpstr>
      <vt:lpstr>小测试</vt:lpstr>
      <vt:lpstr>信号量用于互斥的总结</vt:lpstr>
      <vt:lpstr>课堂测试</vt:lpstr>
      <vt:lpstr>课堂测试示例</vt:lpstr>
      <vt:lpstr>用信号量解决前趋关系（同步）</vt:lpstr>
      <vt:lpstr>课堂测试：实现如下前趋图的同步</vt:lpstr>
      <vt:lpstr>信号量机制总结</vt:lpstr>
      <vt:lpstr>用信号量解决问题的思路 习题P34</vt:lpstr>
      <vt:lpstr>注意</vt:lpstr>
      <vt:lpstr>练习（容易考）</vt:lpstr>
      <vt:lpstr>答：</vt:lpstr>
      <vt:lpstr>答：</vt:lpstr>
      <vt:lpstr>指导书例17：水果问题</vt:lpstr>
      <vt:lpstr>水果问题分析</vt:lpstr>
      <vt:lpstr>水果问题答案:</vt:lpstr>
      <vt:lpstr>指导书43页例题</vt:lpstr>
      <vt:lpstr>理发师问题分析</vt:lpstr>
      <vt:lpstr>理发师问题分析</vt:lpstr>
      <vt:lpstr>理发师问题分析</vt:lpstr>
      <vt:lpstr>理发师问题分析</vt:lpstr>
      <vt:lpstr>课后作业1</vt:lpstr>
      <vt:lpstr>课后作业2</vt:lpstr>
      <vt:lpstr>小测试</vt:lpstr>
      <vt:lpstr>小测试</vt:lpstr>
      <vt:lpstr>小测试</vt:lpstr>
      <vt:lpstr>第三章 处理机调度与死锁</vt:lpstr>
      <vt:lpstr>小测试</vt:lpstr>
      <vt:lpstr>小测试</vt:lpstr>
      <vt:lpstr>小测试</vt:lpstr>
      <vt:lpstr>小测试</vt:lpstr>
      <vt:lpstr>小测试</vt:lpstr>
      <vt:lpstr>先来先服务</vt:lpstr>
      <vt:lpstr>2．短进程/作业优先调度算法</vt:lpstr>
      <vt:lpstr>问题</vt:lpstr>
      <vt:lpstr>小测试</vt:lpstr>
      <vt:lpstr>小测试</vt:lpstr>
      <vt:lpstr>小测试</vt:lpstr>
      <vt:lpstr>小测试</vt:lpstr>
      <vt:lpstr>小测试</vt:lpstr>
      <vt:lpstr>小测试</vt:lpstr>
      <vt:lpstr>小测试</vt:lpstr>
      <vt:lpstr>小测试</vt:lpstr>
      <vt:lpstr>安全状态示例</vt:lpstr>
      <vt:lpstr>小测试</vt:lpstr>
      <vt:lpstr>银行家算法 </vt:lpstr>
      <vt:lpstr>银行家算法 </vt:lpstr>
      <vt:lpstr>银行家算法 </vt:lpstr>
      <vt:lpstr> (二)．安全性算法</vt:lpstr>
      <vt:lpstr>安全性算法</vt:lpstr>
      <vt:lpstr>(三)．银行家算法之例</vt:lpstr>
      <vt:lpstr>（1）T0时刻的安全性 利用安全性算法对T0时刻的资源分配情况进行分析 </vt:lpstr>
      <vt:lpstr>判断请求是否可以满足</vt:lpstr>
      <vt:lpstr>PowerPoint 演示文稿</vt:lpstr>
      <vt:lpstr>图3一18  P1 申请资源时的安全性检查 </vt:lpstr>
      <vt:lpstr>其他的请求情况</vt:lpstr>
      <vt:lpstr>(5)进行安全性检查：可用资源Available（2，1，0）已不能满足任何进程的需要，故系统进入不安全状态，此时系统不分配资源。 </vt:lpstr>
      <vt:lpstr>举例2  </vt:lpstr>
      <vt:lpstr>PowerPoint 演示文稿</vt:lpstr>
      <vt:lpstr>PowerPoint 演示文稿</vt:lpstr>
      <vt:lpstr>T0时刻的安全性</vt:lpstr>
      <vt:lpstr>请求分配的银行家算法应用</vt:lpstr>
      <vt:lpstr>请求分配的银行家算法应用</vt:lpstr>
      <vt:lpstr>PowerPoint 演示文稿</vt:lpstr>
      <vt:lpstr>小测试</vt:lpstr>
      <vt:lpstr>小测试</vt:lpstr>
      <vt:lpstr>小测试</vt:lpstr>
      <vt:lpstr>小测试</vt:lpstr>
      <vt:lpstr>小测试</vt:lpstr>
      <vt:lpstr>小测试</vt:lpstr>
      <vt:lpstr>伙伴系统（续）</vt:lpstr>
      <vt:lpstr>PowerPoint 演示文稿</vt:lpstr>
      <vt:lpstr>小测试</vt:lpstr>
      <vt:lpstr>小测试</vt:lpstr>
      <vt:lpstr>小测试</vt:lpstr>
      <vt:lpstr>小测试</vt:lpstr>
      <vt:lpstr>PowerPoint 演示文稿</vt:lpstr>
      <vt:lpstr>小测试</vt:lpstr>
      <vt:lpstr>例题</vt:lpstr>
      <vt:lpstr>例题</vt:lpstr>
      <vt:lpstr>例题</vt:lpstr>
      <vt:lpstr>例题</vt:lpstr>
      <vt:lpstr>例题</vt:lpstr>
      <vt:lpstr>PowerPoint 演示文稿</vt:lpstr>
      <vt:lpstr>课堂作业</vt:lpstr>
      <vt:lpstr>例题</vt:lpstr>
      <vt:lpstr>例题</vt:lpstr>
      <vt:lpstr>小测试</vt:lpstr>
      <vt:lpstr>小测试题</vt:lpstr>
      <vt:lpstr>小测试</vt:lpstr>
      <vt:lpstr>例：</vt:lpstr>
      <vt:lpstr>小测试</vt:lpstr>
      <vt:lpstr>小测试(会考 选择或问答)</vt:lpstr>
      <vt:lpstr>小测试</vt:lpstr>
      <vt:lpstr>小测试</vt:lpstr>
      <vt:lpstr>小测试</vt:lpstr>
      <vt:lpstr>小测试</vt:lpstr>
      <vt:lpstr>小测试</vt:lpstr>
      <vt:lpstr>举例:</vt:lpstr>
      <vt:lpstr>2）．先进先出（FIFO）页面置换算法</vt:lpstr>
      <vt:lpstr>3）.最近最久未使用（LRU）置换算法</vt:lpstr>
      <vt:lpstr>寄存器实现LRU算法示例：</vt:lpstr>
      <vt:lpstr>栈实现LRU举例</vt:lpstr>
      <vt:lpstr>Clock算法的流程</vt:lpstr>
      <vt:lpstr>示例</vt:lpstr>
      <vt:lpstr>Clock算法的示例（会考 大题画过程 或选择题）</vt:lpstr>
      <vt:lpstr>小测试</vt:lpstr>
      <vt:lpstr>小测试</vt:lpstr>
      <vt:lpstr>课堂练习</vt:lpstr>
      <vt:lpstr>课堂练习</vt:lpstr>
      <vt:lpstr>1．先来先服务FCFS </vt:lpstr>
      <vt:lpstr>2．最短寻道时间优先SSTF</vt:lpstr>
      <vt:lpstr>3．扫描（SCAN）算法</vt:lpstr>
      <vt:lpstr>4．循环扫描（CSCAN）算法</vt:lpstr>
      <vt:lpstr>小测试</vt:lpstr>
      <vt:lpstr>小测试</vt:lpstr>
      <vt:lpstr>小测试</vt:lpstr>
      <vt:lpstr>小测试</vt:lpstr>
      <vt:lpstr>小测试</vt:lpstr>
      <vt:lpstr>小测试</vt:lpstr>
      <vt:lpstr>小测试</vt:lpstr>
      <vt:lpstr>小测试</vt:lpstr>
      <vt:lpstr>连续组织的目录大小</vt:lpstr>
      <vt:lpstr>隐式链接组织的额外开销（考文件最大可以有多大）</vt:lpstr>
      <vt:lpstr>显示链接的存储开销（不适合大容量系统）</vt:lpstr>
      <vt:lpstr>小测试</vt:lpstr>
      <vt:lpstr>单级索引的额外开销</vt:lpstr>
      <vt:lpstr>索引组织——增量式索引（很可能考）</vt:lpstr>
      <vt:lpstr>小测试</vt:lpstr>
      <vt:lpstr>小测试</vt:lpstr>
      <vt:lpstr>盘块的分配（会考）</vt:lpstr>
      <vt:lpstr>盘块的回收</vt:lpstr>
      <vt:lpstr>位示图的其他问题</vt:lpstr>
      <vt:lpstr>练习题：1 (看第八章例3、4)</vt:lpstr>
      <vt:lpstr>PowerPoint 演示文稿</vt:lpstr>
      <vt:lpstr>练习题：2</vt:lpstr>
      <vt:lpstr>小测试</vt:lpstr>
      <vt:lpstr>小测试</vt:lpstr>
      <vt:lpstr>小测试</vt:lpstr>
      <vt:lpstr>小测试</vt:lpstr>
      <vt:lpstr>小测试</vt:lpstr>
      <vt:lpstr>小测试</vt:lpstr>
      <vt:lpstr>小测试</vt:lpstr>
      <vt:lpstr>小测试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rrriny_</dc:creator>
  <cp:lastModifiedBy>文档存本地丢失不负责</cp:lastModifiedBy>
  <cp:revision>5</cp:revision>
  <dcterms:created xsi:type="dcterms:W3CDTF">2021-07-04T03:28:00Z</dcterms:created>
  <dcterms:modified xsi:type="dcterms:W3CDTF">2023-06-19T10:54:32Z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1DBFAD0C2AA1499E8562097E9010DBD9_12</vt:lpwstr>
  </property>
</Properties>
</file>